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comment1.xml" ContentType="application/vnd.openxmlformats-officedocument.presentationml.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embeddedFontLst>
    <p:embeddedFont>
      <p:font typeface="Roboto"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THARVA FUKEY" initials="" lastIdx="2" clrIdx="0"/>
  <p:cmAuthor id="1" name="HARIOM BALANG"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DCEDA80-B673-418D-BF6B-5EB346B8FE48}">
  <a:tblStyle styleId="{3DCEDA80-B673-418D-BF6B-5EB346B8FE4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86A1C23-824F-4666-8E02-E6327467675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om Balang" userId="21f791f84748f8b8" providerId="LiveId" clId="{3061F0DC-6405-4242-AFCE-66FE3A5BE3E7}"/>
    <pc:docChg chg="undo custSel modSld">
      <pc:chgData name="Hariom Balang" userId="21f791f84748f8b8" providerId="LiveId" clId="{3061F0DC-6405-4242-AFCE-66FE3A5BE3E7}" dt="2025-02-07T04:03:23.786" v="60" actId="20577"/>
      <pc:docMkLst>
        <pc:docMk/>
      </pc:docMkLst>
      <pc:sldChg chg="modSp mod">
        <pc:chgData name="Hariom Balang" userId="21f791f84748f8b8" providerId="LiveId" clId="{3061F0DC-6405-4242-AFCE-66FE3A5BE3E7}" dt="2025-02-07T04:03:23.786" v="60" actId="20577"/>
        <pc:sldMkLst>
          <pc:docMk/>
          <pc:sldMk cId="0" sldId="279"/>
        </pc:sldMkLst>
        <pc:spChg chg="mod">
          <ac:chgData name="Hariom Balang" userId="21f791f84748f8b8" providerId="LiveId" clId="{3061F0DC-6405-4242-AFCE-66FE3A5BE3E7}" dt="2025-02-07T04:03:23.786" v="60" actId="20577"/>
          <ac:spMkLst>
            <pc:docMk/>
            <pc:sldMk cId="0" sldId="279"/>
            <ac:spMk id="214"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5-01-21T05:33:28.560" idx="1">
    <p:pos x="6000" y="0"/>
    <p:text>bolo bhai</p:text>
  </p:cm>
  <p:cm authorId="0" dt="2025-01-21T05:33:55.691" idx="2">
    <p:pos x="6000" y="0"/>
    <p:text>shi bhai</p:text>
  </p:cm>
  <p:cm authorId="1" dt="2025-01-21T07:45:59.312" idx="2">
    <p:pos x="6000" y="0"/>
    <p:text>nahi bhai</p:text>
  </p:cm>
  <p:cm authorId="0" dt="2025-01-22T13:31:10.198" idx="1">
    <p:pos x="6000" y="0"/>
    <p:text>harry bhai
1 total reaction
HARIOM BALANG reacted with 😁 at 2025-01-20 21:33 PM</p:text>
  </p:cm>
  <p:cm authorId="1" dt="2025-01-22T13:31:10.198" idx="3">
    <p:pos x="6000" y="0"/>
    <p:text>ekda Methodology check kershil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26d0df39d8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26d0df39d8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g326d0df39d8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6d508553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26d508553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326d508553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2c30ebd434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2c30ebd43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2c30ebd43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2c45df1d4c_3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2c45df1d4c_3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32c45df1d4c_3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2c45df1d4c_3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2c45df1d4c_3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32c45df1d4c_3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c45df1d4c_3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c45df1d4c_3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32c45df1d4c_3_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2c45df1d4c_3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2c45df1d4c_3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2c45df1d4c_3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2c45df1d4c_3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2c45df1d4c_3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32c45df1d4c_3_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2dfb948f2e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2dfb948f2e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2dfb948f2e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2c45df1d4c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2c45df1d4c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32c45df1d4c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2c45df1d4c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2c45df1d4c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32c45df1d4c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2c45df1d4c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2c45df1d4c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2c45df1d4c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2c45df1d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2c45df1d4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32c45df1d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2c45df1d4c_7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2c45df1d4c_7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g32c45df1d4c_7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27d1d3d9a7_1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27d1d3d9a7_1_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g327d1d3d9a7_1_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5" name="Google Shape;15;p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3" name="Google Shape;23;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6" name="Google Shape;26;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7" name="Google Shape;27;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8" name="Google Shape;28;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31" name="Google Shape;31;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4" name="Google Shape;34;p7"/>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5" name="Google Shape;35;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8" name="Google Shape;38;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2" name="Google Shape;42;p9"/>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 name="Google Shape;43;p9"/>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4" name="Google Shape;44;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7" name="Google Shape;47;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1" name="Google Shape;51;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56" name="Google Shape;56;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57" name="Google Shape;57;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12" name="Google Shape;12;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tps://doi.org/10.3390/en13164231"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p:cNvPicPr preferRelativeResize="0"/>
          <p:nvPr/>
        </p:nvPicPr>
        <p:blipFill rotWithShape="1">
          <a:blip r:embed="rId3">
            <a:alphaModFix/>
          </a:blip>
          <a:srcRect/>
          <a:stretch/>
        </p:blipFill>
        <p:spPr>
          <a:xfrm>
            <a:off x="97435" y="127200"/>
            <a:ext cx="1424065" cy="1272344"/>
          </a:xfrm>
          <a:prstGeom prst="rect">
            <a:avLst/>
          </a:prstGeom>
          <a:noFill/>
          <a:ln>
            <a:noFill/>
          </a:ln>
        </p:spPr>
      </p:pic>
      <p:pic>
        <p:nvPicPr>
          <p:cNvPr id="65" name="Google Shape;65;p14"/>
          <p:cNvPicPr preferRelativeResize="0"/>
          <p:nvPr/>
        </p:nvPicPr>
        <p:blipFill rotWithShape="1">
          <a:blip r:embed="rId4">
            <a:alphaModFix/>
          </a:blip>
          <a:srcRect/>
          <a:stretch/>
        </p:blipFill>
        <p:spPr>
          <a:xfrm>
            <a:off x="10710400" y="110100"/>
            <a:ext cx="1386799" cy="1272350"/>
          </a:xfrm>
          <a:prstGeom prst="rect">
            <a:avLst/>
          </a:prstGeom>
          <a:noFill/>
          <a:ln>
            <a:noFill/>
          </a:ln>
        </p:spPr>
      </p:pic>
      <p:sp>
        <p:nvSpPr>
          <p:cNvPr id="66" name="Google Shape;66;p14"/>
          <p:cNvSpPr txBox="1"/>
          <p:nvPr/>
        </p:nvSpPr>
        <p:spPr>
          <a:xfrm>
            <a:off x="400225" y="3693725"/>
            <a:ext cx="5046600" cy="2893800"/>
          </a:xfrm>
          <a:prstGeom prst="rect">
            <a:avLst/>
          </a:prstGeom>
          <a:noFill/>
          <a:ln>
            <a:noFill/>
          </a:ln>
        </p:spPr>
        <p:txBody>
          <a:bodyPr spcFirstLastPara="1" wrap="square" lIns="121900" tIns="60925" rIns="121900" bIns="60925" anchor="t" anchorCtr="0">
            <a:spAutoFit/>
          </a:bodyPr>
          <a:lstStyle/>
          <a:p>
            <a:pPr marL="0" marR="0" lvl="0" indent="457200" algn="l" rtl="0">
              <a:spcBef>
                <a:spcPts val="0"/>
              </a:spcBef>
              <a:spcAft>
                <a:spcPts val="0"/>
              </a:spcAft>
              <a:buNone/>
            </a:pPr>
            <a:r>
              <a:rPr lang="en-US" sz="1900" b="1"/>
              <a:t>       </a:t>
            </a:r>
            <a:r>
              <a:rPr lang="en-US" sz="1900" b="1" i="0" u="none" strike="noStrike" cap="none">
                <a:solidFill>
                  <a:srgbClr val="000000"/>
                </a:solidFill>
                <a:latin typeface="Arial"/>
                <a:ea typeface="Arial"/>
                <a:cs typeface="Arial"/>
                <a:sym typeface="Arial"/>
              </a:rPr>
              <a:t>PRESENTED BY</a:t>
            </a:r>
            <a:r>
              <a:rPr lang="en-US" sz="1900" b="0" i="0" u="none" strike="noStrike" cap="none">
                <a:solidFill>
                  <a:srgbClr val="000000"/>
                </a:solidFill>
                <a:latin typeface="Arial"/>
                <a:ea typeface="Arial"/>
                <a:cs typeface="Arial"/>
                <a:sym typeface="Arial"/>
              </a:rPr>
              <a:t>: </a:t>
            </a:r>
            <a:r>
              <a:rPr lang="en-US" sz="1900" b="1" i="0" u="none" strike="noStrike" cap="none">
                <a:solidFill>
                  <a:srgbClr val="000000"/>
                </a:solidFill>
                <a:latin typeface="Arial"/>
                <a:ea typeface="Arial"/>
                <a:cs typeface="Arial"/>
                <a:sym typeface="Arial"/>
              </a:rPr>
              <a:t>Group CT- </a:t>
            </a:r>
            <a:r>
              <a:rPr lang="en-US" sz="1900" b="1"/>
              <a:t>23</a:t>
            </a:r>
            <a:endParaRPr sz="1900" b="1">
              <a:solidFill>
                <a:schemeClr val="dk1"/>
              </a:solidFill>
            </a:endParaRPr>
          </a:p>
          <a:p>
            <a:pPr marL="1371600" marR="0" lvl="0" indent="0" algn="l" rtl="0">
              <a:spcBef>
                <a:spcPts val="0"/>
              </a:spcBef>
              <a:spcAft>
                <a:spcPts val="0"/>
              </a:spcAft>
              <a:buNone/>
            </a:pPr>
            <a:r>
              <a:rPr lang="en-US" sz="1900">
                <a:solidFill>
                  <a:schemeClr val="dk1"/>
                </a:solidFill>
              </a:rPr>
              <a:t>Vedika Peshane -31</a:t>
            </a:r>
            <a:r>
              <a:rPr lang="en-US" sz="1900" b="0" i="0" u="none" strike="noStrike" cap="none">
                <a:solidFill>
                  <a:schemeClr val="dk1"/>
                </a:solidFill>
                <a:latin typeface="Arial"/>
                <a:ea typeface="Arial"/>
                <a:cs typeface="Arial"/>
                <a:sym typeface="Arial"/>
              </a:rPr>
              <a:t>        </a:t>
            </a:r>
            <a:endParaRPr sz="1900" b="0" i="0" u="none" strike="noStrike" cap="none">
              <a:solidFill>
                <a:schemeClr val="dk1"/>
              </a:solidFill>
              <a:latin typeface="Arial"/>
              <a:ea typeface="Arial"/>
              <a:cs typeface="Arial"/>
              <a:sym typeface="Arial"/>
            </a:endParaRPr>
          </a:p>
          <a:p>
            <a:pPr marL="1371600" marR="0" lvl="0" indent="0" algn="l" rtl="0">
              <a:spcBef>
                <a:spcPts val="0"/>
              </a:spcBef>
              <a:spcAft>
                <a:spcPts val="0"/>
              </a:spcAft>
              <a:buNone/>
            </a:pPr>
            <a:r>
              <a:rPr lang="en-US" sz="1900">
                <a:solidFill>
                  <a:schemeClr val="dk1"/>
                </a:solidFill>
              </a:rPr>
              <a:t>Aditya Bhone - 39</a:t>
            </a:r>
            <a:endParaRPr sz="1900">
              <a:solidFill>
                <a:schemeClr val="dk1"/>
              </a:solidFill>
            </a:endParaRPr>
          </a:p>
          <a:p>
            <a:pPr marL="1371600" marR="0" lvl="0" indent="0" algn="l" rtl="0">
              <a:spcBef>
                <a:spcPts val="0"/>
              </a:spcBef>
              <a:spcAft>
                <a:spcPts val="0"/>
              </a:spcAft>
              <a:buNone/>
            </a:pPr>
            <a:r>
              <a:rPr lang="en-US" sz="1900"/>
              <a:t>Atharva Pophali-47</a:t>
            </a:r>
            <a:endParaRPr sz="1900"/>
          </a:p>
          <a:p>
            <a:pPr marL="1371600" marR="0" lvl="0" indent="0" algn="l" rtl="0">
              <a:spcBef>
                <a:spcPts val="0"/>
              </a:spcBef>
              <a:spcAft>
                <a:spcPts val="0"/>
              </a:spcAft>
              <a:buNone/>
            </a:pPr>
            <a:r>
              <a:rPr lang="en-US" sz="1900"/>
              <a:t>Atharva Fukey-48</a:t>
            </a:r>
            <a:endParaRPr sz="1900"/>
          </a:p>
          <a:p>
            <a:pPr marL="1371600" marR="0" lvl="0" indent="0" algn="l" rtl="0">
              <a:spcBef>
                <a:spcPts val="0"/>
              </a:spcBef>
              <a:spcAft>
                <a:spcPts val="0"/>
              </a:spcAft>
              <a:buNone/>
            </a:pPr>
            <a:r>
              <a:rPr lang="en-US" sz="1900"/>
              <a:t>Hariom Balang-57</a:t>
            </a:r>
            <a:endParaRPr sz="1900"/>
          </a:p>
          <a:p>
            <a:pPr marL="1371600" marR="0" lvl="0" indent="0" algn="l" rtl="0">
              <a:spcBef>
                <a:spcPts val="0"/>
              </a:spcBef>
              <a:spcAft>
                <a:spcPts val="0"/>
              </a:spcAft>
              <a:buNone/>
            </a:pPr>
            <a:r>
              <a:rPr lang="en-US" sz="1900"/>
              <a:t>Kiran Wande-103</a:t>
            </a:r>
            <a:endParaRPr sz="1900"/>
          </a:p>
          <a:p>
            <a:pPr marL="1371600" marR="0" lvl="0" indent="0" algn="l" rtl="0">
              <a:spcBef>
                <a:spcPts val="0"/>
              </a:spcBef>
              <a:spcAft>
                <a:spcPts val="0"/>
              </a:spcAft>
              <a:buNone/>
            </a:pPr>
            <a:endParaRPr sz="900"/>
          </a:p>
          <a:p>
            <a:pPr marL="457200" lvl="0" indent="457200" algn="l" rtl="0">
              <a:lnSpc>
                <a:spcPct val="100000"/>
              </a:lnSpc>
              <a:spcBef>
                <a:spcPts val="0"/>
              </a:spcBef>
              <a:spcAft>
                <a:spcPts val="0"/>
              </a:spcAft>
              <a:buNone/>
            </a:pPr>
            <a:r>
              <a:rPr lang="en-US" sz="1900" b="1">
                <a:solidFill>
                  <a:schemeClr val="dk1"/>
                </a:solidFill>
              </a:rPr>
              <a:t>COLLEGE GUIDE</a:t>
            </a:r>
            <a:r>
              <a:rPr lang="en-US" sz="1900">
                <a:solidFill>
                  <a:schemeClr val="dk1"/>
                </a:solidFill>
              </a:rPr>
              <a:t>:         </a:t>
            </a:r>
            <a:endParaRPr sz="1900">
              <a:solidFill>
                <a:schemeClr val="dk1"/>
              </a:solidFill>
            </a:endParaRPr>
          </a:p>
          <a:p>
            <a:pPr marL="0" lvl="0" indent="0" algn="l" rtl="0">
              <a:lnSpc>
                <a:spcPct val="100000"/>
              </a:lnSpc>
              <a:spcBef>
                <a:spcPts val="0"/>
              </a:spcBef>
              <a:spcAft>
                <a:spcPts val="0"/>
              </a:spcAft>
              <a:buNone/>
            </a:pPr>
            <a:r>
              <a:rPr lang="en-US" sz="1900">
                <a:solidFill>
                  <a:schemeClr val="dk1"/>
                </a:solidFill>
              </a:rPr>
              <a:t>                    Prof.N.U.Sambhe</a:t>
            </a:r>
            <a:endParaRPr sz="1900">
              <a:solidFill>
                <a:srgbClr val="000000"/>
              </a:solidFill>
              <a:latin typeface="Arial"/>
              <a:ea typeface="Arial"/>
              <a:cs typeface="Arial"/>
              <a:sym typeface="Arial"/>
            </a:endParaRPr>
          </a:p>
        </p:txBody>
      </p:sp>
      <p:sp>
        <p:nvSpPr>
          <p:cNvPr id="67" name="Google Shape;67;p14"/>
          <p:cNvSpPr txBox="1"/>
          <p:nvPr/>
        </p:nvSpPr>
        <p:spPr>
          <a:xfrm>
            <a:off x="8057579" y="4150923"/>
            <a:ext cx="3154800" cy="7080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1900" b="1">
                <a:solidFill>
                  <a:srgbClr val="000000"/>
                </a:solidFill>
                <a:latin typeface="Arial"/>
                <a:ea typeface="Arial"/>
                <a:cs typeface="Arial"/>
                <a:sym typeface="Arial"/>
              </a:rPr>
              <a:t>   SECTION </a:t>
            </a:r>
            <a:r>
              <a:rPr lang="en-US" sz="1900">
                <a:solidFill>
                  <a:srgbClr val="000000"/>
                </a:solidFill>
                <a:latin typeface="Arial"/>
                <a:ea typeface="Arial"/>
                <a:cs typeface="Arial"/>
                <a:sym typeface="Arial"/>
              </a:rPr>
              <a:t>: A &amp; </a:t>
            </a:r>
            <a:r>
              <a:rPr lang="en-US" sz="1900"/>
              <a:t>B</a:t>
            </a:r>
            <a:endParaRPr sz="1900">
              <a:solidFill>
                <a:srgbClr val="000000"/>
              </a:solidFill>
              <a:latin typeface="Arial"/>
              <a:ea typeface="Arial"/>
              <a:cs typeface="Arial"/>
              <a:sym typeface="Arial"/>
            </a:endParaRPr>
          </a:p>
          <a:p>
            <a:pPr marL="0" marR="0" lvl="0" indent="0" algn="l" rtl="0">
              <a:spcBef>
                <a:spcPts val="0"/>
              </a:spcBef>
              <a:spcAft>
                <a:spcPts val="0"/>
              </a:spcAft>
              <a:buNone/>
            </a:pPr>
            <a:r>
              <a:rPr lang="en-US" sz="1900" b="1">
                <a:solidFill>
                  <a:srgbClr val="000000"/>
                </a:solidFill>
                <a:latin typeface="Arial"/>
                <a:ea typeface="Arial"/>
                <a:cs typeface="Arial"/>
                <a:sym typeface="Arial"/>
              </a:rPr>
              <a:t>    YEAR</a:t>
            </a:r>
            <a:r>
              <a:rPr lang="en-US" sz="1900">
                <a:solidFill>
                  <a:srgbClr val="000000"/>
                </a:solidFill>
                <a:latin typeface="Arial"/>
                <a:ea typeface="Arial"/>
                <a:cs typeface="Arial"/>
                <a:sym typeface="Arial"/>
              </a:rPr>
              <a:t>: 202</a:t>
            </a:r>
            <a:r>
              <a:rPr lang="en-US" sz="1900"/>
              <a:t>5</a:t>
            </a:r>
            <a:r>
              <a:rPr lang="en-US" sz="1900">
                <a:solidFill>
                  <a:srgbClr val="000000"/>
                </a:solidFill>
                <a:latin typeface="Arial"/>
                <a:ea typeface="Arial"/>
                <a:cs typeface="Arial"/>
                <a:sym typeface="Arial"/>
              </a:rPr>
              <a:t>-2</a:t>
            </a:r>
            <a:r>
              <a:rPr lang="en-US" sz="1900"/>
              <a:t>6</a:t>
            </a:r>
            <a:endParaRPr sz="1900">
              <a:solidFill>
                <a:srgbClr val="000000"/>
              </a:solidFill>
              <a:latin typeface="Arial"/>
              <a:ea typeface="Arial"/>
              <a:cs typeface="Arial"/>
              <a:sym typeface="Arial"/>
            </a:endParaRPr>
          </a:p>
        </p:txBody>
      </p:sp>
      <p:sp>
        <p:nvSpPr>
          <p:cNvPr id="68" name="Google Shape;68;p14"/>
          <p:cNvSpPr txBox="1"/>
          <p:nvPr/>
        </p:nvSpPr>
        <p:spPr>
          <a:xfrm>
            <a:off x="7615701" y="5095848"/>
            <a:ext cx="4091100" cy="1000500"/>
          </a:xfrm>
          <a:prstGeom prst="rect">
            <a:avLst/>
          </a:prstGeom>
          <a:noFill/>
          <a:ln>
            <a:noFill/>
          </a:ln>
        </p:spPr>
        <p:txBody>
          <a:bodyPr spcFirstLastPara="1" wrap="square" lIns="121900" tIns="60925" rIns="121900" bIns="60925" anchor="t" anchorCtr="0">
            <a:spAutoFit/>
          </a:bodyPr>
          <a:lstStyle/>
          <a:p>
            <a:pPr marL="0" marR="0" lvl="0" indent="0" algn="ctr" rtl="0">
              <a:spcBef>
                <a:spcPts val="0"/>
              </a:spcBef>
              <a:spcAft>
                <a:spcPts val="0"/>
              </a:spcAft>
              <a:buNone/>
            </a:pPr>
            <a:r>
              <a:rPr lang="en-US" sz="1900" b="1">
                <a:solidFill>
                  <a:srgbClr val="000000"/>
                </a:solidFill>
                <a:latin typeface="Arial"/>
                <a:ea typeface="Arial"/>
                <a:cs typeface="Arial"/>
                <a:sym typeface="Arial"/>
              </a:rPr>
              <a:t>Co-guide from Electrical Dept.</a:t>
            </a:r>
            <a:endParaRPr sz="1900" b="1">
              <a:solidFill>
                <a:srgbClr val="000000"/>
              </a:solidFill>
              <a:latin typeface="Arial"/>
              <a:ea typeface="Arial"/>
              <a:cs typeface="Arial"/>
              <a:sym typeface="Arial"/>
            </a:endParaRPr>
          </a:p>
          <a:p>
            <a:pPr marL="0" marR="0" lvl="0" indent="0" algn="ctr" rtl="0">
              <a:spcBef>
                <a:spcPts val="0"/>
              </a:spcBef>
              <a:spcAft>
                <a:spcPts val="0"/>
              </a:spcAft>
              <a:buNone/>
            </a:pPr>
            <a:r>
              <a:rPr lang="en-US" sz="1900"/>
              <a:t>Prof</a:t>
            </a:r>
            <a:r>
              <a:rPr lang="en-US" sz="1900">
                <a:solidFill>
                  <a:srgbClr val="000000"/>
                </a:solidFill>
                <a:latin typeface="Arial"/>
                <a:ea typeface="Arial"/>
                <a:cs typeface="Arial"/>
                <a:sym typeface="Arial"/>
              </a:rPr>
              <a:t>.</a:t>
            </a:r>
            <a:r>
              <a:rPr lang="en-US" sz="1900"/>
              <a:t>P.S.</a:t>
            </a:r>
            <a:r>
              <a:rPr lang="en-US" sz="1900">
                <a:solidFill>
                  <a:srgbClr val="000000"/>
                </a:solidFill>
                <a:latin typeface="Arial"/>
                <a:ea typeface="Arial"/>
                <a:cs typeface="Arial"/>
                <a:sym typeface="Arial"/>
              </a:rPr>
              <a:t>Shete </a:t>
            </a:r>
            <a:endParaRPr sz="1900"/>
          </a:p>
          <a:p>
            <a:pPr marL="0" marR="0" lvl="0" indent="0" algn="ctr" rtl="0">
              <a:spcBef>
                <a:spcPts val="0"/>
              </a:spcBef>
              <a:spcAft>
                <a:spcPts val="0"/>
              </a:spcAft>
              <a:buNone/>
            </a:pPr>
            <a:endParaRPr sz="1900">
              <a:solidFill>
                <a:srgbClr val="000000"/>
              </a:solidFill>
              <a:latin typeface="Arial"/>
              <a:ea typeface="Arial"/>
              <a:cs typeface="Arial"/>
              <a:sym typeface="Arial"/>
            </a:endParaRPr>
          </a:p>
        </p:txBody>
      </p:sp>
      <p:sp>
        <p:nvSpPr>
          <p:cNvPr id="69" name="Google Shape;69;p14"/>
          <p:cNvSpPr txBox="1">
            <a:spLocks noGrp="1"/>
          </p:cNvSpPr>
          <p:nvPr>
            <p:ph type="ctrTitle"/>
          </p:nvPr>
        </p:nvSpPr>
        <p:spPr>
          <a:xfrm>
            <a:off x="809468" y="338629"/>
            <a:ext cx="10411800" cy="9849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800"/>
              <a:buFont typeface="Calibri"/>
              <a:buNone/>
            </a:pPr>
            <a:r>
              <a:rPr lang="en-US" sz="3600" b="1"/>
              <a:t>YESHWANTRAO CHAVAN COLLEGE OF ENGINEERING</a:t>
            </a:r>
            <a:endParaRPr sz="3600"/>
          </a:p>
        </p:txBody>
      </p:sp>
      <p:sp>
        <p:nvSpPr>
          <p:cNvPr id="70" name="Google Shape;70;p14"/>
          <p:cNvSpPr txBox="1"/>
          <p:nvPr/>
        </p:nvSpPr>
        <p:spPr>
          <a:xfrm>
            <a:off x="2189800" y="1508725"/>
            <a:ext cx="7349400" cy="63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a:solidFill>
                  <a:schemeClr val="dk1"/>
                </a:solidFill>
                <a:latin typeface="Calibri"/>
                <a:ea typeface="Calibri"/>
                <a:cs typeface="Calibri"/>
                <a:sym typeface="Calibri"/>
              </a:rPr>
              <a:t>Department of Computer Technology</a:t>
            </a:r>
            <a:endParaRPr sz="3500" b="1">
              <a:solidFill>
                <a:schemeClr val="dk1"/>
              </a:solidFill>
              <a:highlight>
                <a:srgbClr val="FFFF00"/>
              </a:highlight>
              <a:latin typeface="Calibri"/>
              <a:ea typeface="Calibri"/>
              <a:cs typeface="Calibri"/>
              <a:sym typeface="Calibri"/>
            </a:endParaRPr>
          </a:p>
        </p:txBody>
      </p:sp>
      <p:sp>
        <p:nvSpPr>
          <p:cNvPr id="71" name="Google Shape;71;p14"/>
          <p:cNvSpPr txBox="1"/>
          <p:nvPr/>
        </p:nvSpPr>
        <p:spPr>
          <a:xfrm>
            <a:off x="3248517" y="2133738"/>
            <a:ext cx="5533800" cy="477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500" b="1">
                <a:solidFill>
                  <a:schemeClr val="dk1"/>
                </a:solidFill>
                <a:latin typeface="Calibri"/>
                <a:ea typeface="Calibri"/>
                <a:cs typeface="Calibri"/>
                <a:sym typeface="Calibri"/>
              </a:rPr>
              <a:t>Title Selection Seminar </a:t>
            </a:r>
            <a:endParaRPr sz="2500">
              <a:solidFill>
                <a:schemeClr val="dk1"/>
              </a:solidFill>
              <a:latin typeface="Calibri"/>
              <a:ea typeface="Calibri"/>
              <a:cs typeface="Calibri"/>
              <a:sym typeface="Calibri"/>
            </a:endParaRPr>
          </a:p>
        </p:txBody>
      </p:sp>
      <p:sp>
        <p:nvSpPr>
          <p:cNvPr id="72" name="Google Shape;72;p14"/>
          <p:cNvSpPr txBox="1"/>
          <p:nvPr/>
        </p:nvSpPr>
        <p:spPr>
          <a:xfrm>
            <a:off x="857950" y="2509325"/>
            <a:ext cx="10552200" cy="11082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SzPts val="1100"/>
              <a:buNone/>
            </a:pPr>
            <a:r>
              <a:rPr lang="en-US" sz="3300" b="1" dirty="0">
                <a:solidFill>
                  <a:schemeClr val="dk1"/>
                </a:solidFill>
                <a:latin typeface="Calibri"/>
                <a:ea typeface="Calibri"/>
                <a:cs typeface="Calibri"/>
                <a:sym typeface="Calibri"/>
              </a:rPr>
              <a:t>Advanced monitoring and control mechanism for electric vehicle charging station using Machine learning</a:t>
            </a:r>
            <a:endParaRPr sz="33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sz="4000" b="1">
                <a:latin typeface="Arial"/>
                <a:ea typeface="Arial"/>
                <a:cs typeface="Arial"/>
                <a:sym typeface="Arial"/>
              </a:rPr>
              <a:t>Department Vision and Mission</a:t>
            </a:r>
            <a:endParaRPr sz="4000" b="1">
              <a:latin typeface="Arial"/>
              <a:ea typeface="Arial"/>
              <a:cs typeface="Arial"/>
              <a:sym typeface="Arial"/>
            </a:endParaRPr>
          </a:p>
        </p:txBody>
      </p:sp>
      <p:sp>
        <p:nvSpPr>
          <p:cNvPr id="78" name="Google Shape;78;p15"/>
          <p:cNvSpPr txBox="1">
            <a:spLocks noGrp="1"/>
          </p:cNvSpPr>
          <p:nvPr>
            <p:ph type="body" idx="1"/>
          </p:nvPr>
        </p:nvSpPr>
        <p:spPr>
          <a:xfrm>
            <a:off x="838200" y="1739432"/>
            <a:ext cx="10515600" cy="35859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2800"/>
              <a:buNone/>
            </a:pPr>
            <a:r>
              <a:rPr lang="en-US" sz="3000" b="1" i="0">
                <a:solidFill>
                  <a:schemeClr val="dk1"/>
                </a:solidFill>
                <a:latin typeface="Arial"/>
                <a:ea typeface="Arial"/>
                <a:cs typeface="Arial"/>
                <a:sym typeface="Arial"/>
              </a:rPr>
              <a:t>Vision </a:t>
            </a:r>
            <a:endParaRPr sz="3000" i="0">
              <a:solidFill>
                <a:schemeClr val="dk1"/>
              </a:solidFill>
              <a:latin typeface="Arial"/>
              <a:ea typeface="Arial"/>
              <a:cs typeface="Arial"/>
              <a:sym typeface="Arial"/>
            </a:endParaRPr>
          </a:p>
          <a:p>
            <a:pPr marL="0" lvl="0" indent="0" algn="just" rtl="0">
              <a:lnSpc>
                <a:spcPct val="90000"/>
              </a:lnSpc>
              <a:spcBef>
                <a:spcPts val="1000"/>
              </a:spcBef>
              <a:spcAft>
                <a:spcPts val="0"/>
              </a:spcAft>
              <a:buClr>
                <a:srgbClr val="18100F"/>
              </a:buClr>
              <a:buSzPts val="2800"/>
              <a:buNone/>
            </a:pPr>
            <a:r>
              <a:rPr lang="en-US" sz="2150" i="0">
                <a:solidFill>
                  <a:schemeClr val="dk1"/>
                </a:solidFill>
                <a:latin typeface="Arial"/>
                <a:ea typeface="Arial"/>
                <a:cs typeface="Arial"/>
                <a:sym typeface="Arial"/>
              </a:rPr>
              <a:t>To be a well-known center for pursuing computer education through innovative pedagogy, value-based education and industry collaboration. </a:t>
            </a:r>
            <a:endParaRPr sz="2150" i="0">
              <a:solidFill>
                <a:schemeClr val="dk1"/>
              </a:solidFill>
              <a:latin typeface="Arial"/>
              <a:ea typeface="Arial"/>
              <a:cs typeface="Arial"/>
              <a:sym typeface="Arial"/>
            </a:endParaRPr>
          </a:p>
          <a:p>
            <a:pPr marL="0" lvl="0" indent="0" algn="just" rtl="0">
              <a:lnSpc>
                <a:spcPct val="90000"/>
              </a:lnSpc>
              <a:spcBef>
                <a:spcPts val="1000"/>
              </a:spcBef>
              <a:spcAft>
                <a:spcPts val="0"/>
              </a:spcAft>
              <a:buClr>
                <a:srgbClr val="18100F"/>
              </a:buClr>
              <a:buSzPts val="2800"/>
              <a:buNone/>
            </a:pPr>
            <a:endParaRPr sz="3150">
              <a:solidFill>
                <a:schemeClr val="dk1"/>
              </a:solidFill>
              <a:latin typeface="Arial"/>
              <a:ea typeface="Arial"/>
              <a:cs typeface="Arial"/>
              <a:sym typeface="Arial"/>
            </a:endParaRPr>
          </a:p>
          <a:p>
            <a:pPr marL="0" lvl="0" indent="0" algn="ctr" rtl="0">
              <a:lnSpc>
                <a:spcPct val="90000"/>
              </a:lnSpc>
              <a:spcBef>
                <a:spcPts val="1000"/>
              </a:spcBef>
              <a:spcAft>
                <a:spcPts val="0"/>
              </a:spcAft>
              <a:buClr>
                <a:schemeClr val="dk1"/>
              </a:buClr>
              <a:buSzPts val="2800"/>
              <a:buNone/>
            </a:pPr>
            <a:r>
              <a:rPr lang="en-US" sz="3000" b="1" i="0">
                <a:solidFill>
                  <a:schemeClr val="dk1"/>
                </a:solidFill>
                <a:latin typeface="Arial"/>
                <a:ea typeface="Arial"/>
                <a:cs typeface="Arial"/>
                <a:sym typeface="Arial"/>
              </a:rPr>
              <a:t>Mission</a:t>
            </a:r>
            <a:endParaRPr sz="3000">
              <a:solidFill>
                <a:schemeClr val="dk1"/>
              </a:solidFill>
              <a:latin typeface="Arial"/>
              <a:ea typeface="Arial"/>
              <a:cs typeface="Arial"/>
              <a:sym typeface="Arial"/>
            </a:endParaRPr>
          </a:p>
          <a:p>
            <a:pPr marL="0" lvl="0" indent="0" algn="just" rtl="0">
              <a:lnSpc>
                <a:spcPct val="90000"/>
              </a:lnSpc>
              <a:spcBef>
                <a:spcPts val="1000"/>
              </a:spcBef>
              <a:spcAft>
                <a:spcPts val="0"/>
              </a:spcAft>
              <a:buClr>
                <a:srgbClr val="18100F"/>
              </a:buClr>
              <a:buSzPts val="2800"/>
              <a:buNone/>
            </a:pPr>
            <a:r>
              <a:rPr lang="en-US" sz="2000" i="0">
                <a:solidFill>
                  <a:schemeClr val="dk1"/>
                </a:solidFill>
                <a:latin typeface="Arial"/>
                <a:ea typeface="Arial"/>
                <a:cs typeface="Arial"/>
                <a:sym typeface="Arial"/>
              </a:rPr>
              <a:t>To establish learning ambience for ushering in computer engineering professionals in core and mul</a:t>
            </a:r>
            <a:r>
              <a:rPr lang="en-US" sz="2000">
                <a:solidFill>
                  <a:schemeClr val="dk1"/>
                </a:solidFill>
                <a:latin typeface="Arial"/>
                <a:ea typeface="Arial"/>
                <a:cs typeface="Arial"/>
                <a:sym typeface="Arial"/>
              </a:rPr>
              <a:t>t</a:t>
            </a:r>
            <a:r>
              <a:rPr lang="en-US" sz="2000" i="0">
                <a:solidFill>
                  <a:schemeClr val="dk1"/>
                </a:solidFill>
                <a:latin typeface="Arial"/>
                <a:ea typeface="Arial"/>
                <a:cs typeface="Arial"/>
                <a:sym typeface="Arial"/>
              </a:rPr>
              <a:t>idisciplinary arena by developing problem-solving skills through emerging technologies. </a:t>
            </a:r>
            <a:endParaRPr sz="2000" i="0">
              <a:solidFill>
                <a:schemeClr val="dk1"/>
              </a:solidFill>
              <a:latin typeface="Arial"/>
              <a:ea typeface="Arial"/>
              <a:cs typeface="Arial"/>
              <a:sym typeface="Arial"/>
            </a:endParaRPr>
          </a:p>
          <a:p>
            <a:pPr marL="0" lvl="0" indent="0" algn="just" rtl="0">
              <a:lnSpc>
                <a:spcPct val="90000"/>
              </a:lnSpc>
              <a:spcBef>
                <a:spcPts val="1000"/>
              </a:spcBef>
              <a:spcAft>
                <a:spcPts val="1600"/>
              </a:spcAft>
              <a:buClr>
                <a:schemeClr val="dk1"/>
              </a:buClr>
              <a:buSzPts val="2800"/>
              <a:buNone/>
            </a:pPr>
            <a:endParaRPr>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879764" y="18761"/>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Program Outcomes/Program Specific Outcomes</a:t>
            </a:r>
            <a:endParaRPr sz="3000" b="1">
              <a:latin typeface="Arial"/>
              <a:ea typeface="Arial"/>
              <a:cs typeface="Arial"/>
              <a:sym typeface="Arial"/>
            </a:endParaRPr>
          </a:p>
        </p:txBody>
      </p:sp>
      <p:sp>
        <p:nvSpPr>
          <p:cNvPr id="84" name="Google Shape;84;p16"/>
          <p:cNvSpPr txBox="1">
            <a:spLocks noGrp="1"/>
          </p:cNvSpPr>
          <p:nvPr>
            <p:ph type="body" idx="1"/>
          </p:nvPr>
        </p:nvSpPr>
        <p:spPr>
          <a:xfrm>
            <a:off x="692525" y="1097600"/>
            <a:ext cx="10859400" cy="5195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2000">
                <a:solidFill>
                  <a:schemeClr val="dk1"/>
                </a:solidFill>
                <a:latin typeface="Arial"/>
                <a:ea typeface="Arial"/>
                <a:cs typeface="Arial"/>
                <a:sym typeface="Arial"/>
              </a:rPr>
              <a:t>At the end of Program, Graduate students will have</a:t>
            </a:r>
            <a:endParaRPr sz="2000">
              <a:solidFill>
                <a:schemeClr val="dk1"/>
              </a:solidFill>
              <a:latin typeface="Arial"/>
              <a:ea typeface="Arial"/>
              <a:cs typeface="Arial"/>
              <a:sym typeface="Arial"/>
            </a:endParaRPr>
          </a:p>
          <a:p>
            <a:pPr marL="228600" lvl="0" indent="-24130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PO1: Engineering Knowledge: Apply knowledge of mathematics, natural science, computing, engineering fundamentals and an engineering specialization as specified in WK1 to WK4 respectively to develop to the solution of complex engineering problems.</a:t>
            </a:r>
            <a:endParaRPr sz="2000">
              <a:solidFill>
                <a:schemeClr val="dk1"/>
              </a:solidFill>
              <a:latin typeface="Arial"/>
              <a:ea typeface="Arial"/>
              <a:cs typeface="Arial"/>
              <a:sym typeface="Arial"/>
            </a:endParaRPr>
          </a:p>
          <a:p>
            <a:pPr marL="228600" lvl="0" indent="-24130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PO2: Problem Analysis: Identify, formulate, review research literature and analyze complex engineering problems reaching substantiated conclusions with consideration for sustainable development. (WK1 to WK4)</a:t>
            </a:r>
            <a:endParaRPr sz="2000">
              <a:solidFill>
                <a:schemeClr val="dk1"/>
              </a:solidFill>
              <a:latin typeface="Arial"/>
              <a:ea typeface="Arial"/>
              <a:cs typeface="Arial"/>
              <a:sym typeface="Arial"/>
            </a:endParaRPr>
          </a:p>
          <a:p>
            <a:pPr marL="228600" lvl="0" indent="-24130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PO3: Design/Development of Solutions: Design creative solutions for complex engineering problems and design/develop systems/components/processes to meet identified needs with consideration for the public health and safety, whole-life cost, net zero carbon, culture, society and environment as required. (WK5)</a:t>
            </a:r>
            <a:endParaRPr sz="2000">
              <a:solidFill>
                <a:schemeClr val="dk1"/>
              </a:solidFill>
              <a:latin typeface="Arial"/>
              <a:ea typeface="Arial"/>
              <a:cs typeface="Arial"/>
              <a:sym typeface="Arial"/>
            </a:endParaRPr>
          </a:p>
          <a:p>
            <a:pPr marL="228600" lvl="0" indent="-24130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PO4: Conduct Investigations of Complex Problems: Conduct investigations of complex engineering problems using research-based knowledge including design of experiments, modelling, analysis &amp; interpretation of data to provide valid conclusions. (WK8).</a:t>
            </a:r>
            <a:endParaRPr sz="2000">
              <a:solidFill>
                <a:schemeClr val="dk1"/>
              </a:solidFill>
              <a:latin typeface="Arial"/>
              <a:ea typeface="Arial"/>
              <a:cs typeface="Arial"/>
              <a:sym typeface="Arial"/>
            </a:endParaRPr>
          </a:p>
          <a:p>
            <a:pPr marL="228600" lvl="0" indent="-24130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PO5: Engineering Tool Usage: Create, select and apply appropriate techniques, resources and modern engineering &amp; IT tools, including prediction and modelling recognizing their limitations to solve complex engineering problems. (WK2 and WK6)</a:t>
            </a:r>
            <a:endParaRPr sz="2000">
              <a:solidFill>
                <a:schemeClr val="dk1"/>
              </a:solidFill>
              <a:latin typeface="Arial"/>
              <a:ea typeface="Arial"/>
              <a:cs typeface="Arial"/>
              <a:sym typeface="Arial"/>
            </a:endParaRPr>
          </a:p>
          <a:p>
            <a:pPr marL="228600" lvl="0" indent="-114300" algn="l" rtl="0">
              <a:lnSpc>
                <a:spcPct val="90000"/>
              </a:lnSpc>
              <a:spcBef>
                <a:spcPts val="1000"/>
              </a:spcBef>
              <a:spcAft>
                <a:spcPts val="0"/>
              </a:spcAft>
              <a:buClr>
                <a:schemeClr val="dk1"/>
              </a:buClr>
              <a:buSzPts val="1800"/>
              <a:buNone/>
            </a:pPr>
            <a:endParaRPr sz="2000">
              <a:solidFill>
                <a:schemeClr val="dk1"/>
              </a:solidFill>
              <a:latin typeface="Arial"/>
              <a:ea typeface="Arial"/>
              <a:cs typeface="Arial"/>
              <a:sym typeface="Arial"/>
            </a:endParaRPr>
          </a:p>
          <a:p>
            <a:pPr marL="228600" lvl="0" indent="-114300" algn="l" rtl="0">
              <a:lnSpc>
                <a:spcPct val="90000"/>
              </a:lnSpc>
              <a:spcBef>
                <a:spcPts val="1000"/>
              </a:spcBef>
              <a:spcAft>
                <a:spcPts val="1600"/>
              </a:spcAft>
              <a:buClr>
                <a:schemeClr val="dk1"/>
              </a:buClr>
              <a:buSzPts val="1800"/>
              <a:buNone/>
            </a:pPr>
            <a:endParaRPr sz="2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914400" y="-158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Program Outcomes/Program Specific Outcomes</a:t>
            </a:r>
            <a:endParaRPr sz="3000" b="1">
              <a:latin typeface="Arial"/>
              <a:ea typeface="Arial"/>
              <a:cs typeface="Arial"/>
              <a:sym typeface="Arial"/>
            </a:endParaRPr>
          </a:p>
        </p:txBody>
      </p:sp>
      <p:sp>
        <p:nvSpPr>
          <p:cNvPr id="90" name="Google Shape;90;p17"/>
          <p:cNvSpPr txBox="1">
            <a:spLocks noGrp="1"/>
          </p:cNvSpPr>
          <p:nvPr>
            <p:ph type="body" idx="1"/>
          </p:nvPr>
        </p:nvSpPr>
        <p:spPr>
          <a:xfrm>
            <a:off x="692525" y="1108375"/>
            <a:ext cx="10849800" cy="5175600"/>
          </a:xfrm>
          <a:prstGeom prst="rect">
            <a:avLst/>
          </a:prstGeom>
          <a:noFill/>
          <a:ln>
            <a:noFill/>
          </a:ln>
        </p:spPr>
        <p:txBody>
          <a:bodyPr spcFirstLastPara="1" wrap="square" lIns="91425" tIns="45700" rIns="91425" bIns="45700" anchor="t" anchorCtr="0">
            <a:noAutofit/>
          </a:bodyPr>
          <a:lstStyle/>
          <a:p>
            <a:pPr marL="228600" lvl="0" indent="-241300" algn="l" rtl="0">
              <a:spcBef>
                <a:spcPts val="1000"/>
              </a:spcBef>
              <a:spcAft>
                <a:spcPts val="0"/>
              </a:spcAft>
              <a:buSzPts val="2000"/>
              <a:buChar char="●"/>
            </a:pPr>
            <a:r>
              <a:rPr lang="en-US" sz="2000">
                <a:solidFill>
                  <a:schemeClr val="dk1"/>
                </a:solidFill>
                <a:latin typeface="Arial"/>
                <a:ea typeface="Arial"/>
                <a:cs typeface="Arial"/>
                <a:sym typeface="Arial"/>
              </a:rPr>
              <a:t>PO6: The Engineer and The World: Analyze and evaluate societal and environmental aspects while solving complex engineering problems for its impact on sustainability with reference to economy, health, safety, legal framework, culture and environment. (WK1, WK5, and WK7). </a:t>
            </a:r>
            <a:endParaRPr sz="2000">
              <a:solidFill>
                <a:schemeClr val="dk1"/>
              </a:solidFill>
              <a:latin typeface="Arial"/>
              <a:ea typeface="Arial"/>
              <a:cs typeface="Arial"/>
              <a:sym typeface="Arial"/>
            </a:endParaRPr>
          </a:p>
          <a:p>
            <a:pPr marL="228600" lvl="0" indent="-231140" algn="l" rtl="0">
              <a:lnSpc>
                <a:spcPct val="90000"/>
              </a:lnSpc>
              <a:spcBef>
                <a:spcPts val="1600"/>
              </a:spcBef>
              <a:spcAft>
                <a:spcPts val="0"/>
              </a:spcAft>
              <a:buSzPts val="2000"/>
              <a:buChar char="●"/>
            </a:pPr>
            <a:r>
              <a:rPr lang="en-US" sz="2000">
                <a:solidFill>
                  <a:schemeClr val="dk1"/>
                </a:solidFill>
                <a:latin typeface="Arial"/>
                <a:ea typeface="Arial"/>
                <a:cs typeface="Arial"/>
                <a:sym typeface="Arial"/>
              </a:rPr>
              <a:t>PO7: Ethics: Apply ethical principles and commit to professional ethics, human values, diversity and inclusion; adhere to national &amp; international laws. (WK9).</a:t>
            </a:r>
            <a:endParaRPr sz="2000">
              <a:solidFill>
                <a:schemeClr val="dk1"/>
              </a:solidFill>
              <a:latin typeface="Arial"/>
              <a:ea typeface="Arial"/>
              <a:cs typeface="Arial"/>
              <a:sym typeface="Arial"/>
            </a:endParaRPr>
          </a:p>
          <a:p>
            <a:pPr marL="228600" lvl="0" indent="-23114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PO8: Individual and Collaborative Team work: Function effectively as an individual, and as a member or leader in diverse/multi-disciplinary teams.</a:t>
            </a:r>
            <a:endParaRPr sz="2000">
              <a:solidFill>
                <a:schemeClr val="dk1"/>
              </a:solidFill>
              <a:latin typeface="Arial"/>
              <a:ea typeface="Arial"/>
              <a:cs typeface="Arial"/>
              <a:sym typeface="Arial"/>
            </a:endParaRPr>
          </a:p>
          <a:p>
            <a:pPr marL="228600" lvl="0" indent="-23114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PO9: Communication: Communicate effectively and inclusively within the engineering community and society at large, such as being able to comprehend and write effective reports and design documentation, make effective presentations considering cultural, language, and learning differences</a:t>
            </a:r>
            <a:endParaRPr sz="2000">
              <a:solidFill>
                <a:schemeClr val="dk1"/>
              </a:solidFill>
              <a:latin typeface="Arial"/>
              <a:ea typeface="Arial"/>
              <a:cs typeface="Arial"/>
              <a:sym typeface="Arial"/>
            </a:endParaRPr>
          </a:p>
          <a:p>
            <a:pPr marL="228600" lvl="0" indent="-23114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PO10: Project Management and Finance: Apply knowledge and understanding of engineering management principles and economic decision-making and apply these to one’s own work, as a member and leader in a team, and to manage projects and in multidisciplinary environments.</a:t>
            </a:r>
            <a:endParaRPr sz="2000">
              <a:solidFill>
                <a:schemeClr val="dk1"/>
              </a:solidFill>
              <a:latin typeface="Arial"/>
              <a:ea typeface="Arial"/>
              <a:cs typeface="Arial"/>
              <a:sym typeface="Arial"/>
            </a:endParaRPr>
          </a:p>
          <a:p>
            <a:pPr marL="228600" lvl="0" indent="0" algn="l" rtl="0">
              <a:lnSpc>
                <a:spcPct val="90000"/>
              </a:lnSpc>
              <a:spcBef>
                <a:spcPts val="1000"/>
              </a:spcBef>
              <a:spcAft>
                <a:spcPts val="0"/>
              </a:spcAft>
              <a:buNone/>
            </a:pPr>
            <a:endParaRPr sz="2000">
              <a:solidFill>
                <a:schemeClr val="dk1"/>
              </a:solidFill>
              <a:latin typeface="Arial"/>
              <a:ea typeface="Arial"/>
              <a:cs typeface="Arial"/>
              <a:sym typeface="Arial"/>
            </a:endParaRPr>
          </a:p>
          <a:p>
            <a:pPr marL="228600" lvl="0" indent="-104140" algn="l" rtl="0">
              <a:lnSpc>
                <a:spcPct val="90000"/>
              </a:lnSpc>
              <a:spcBef>
                <a:spcPts val="1000"/>
              </a:spcBef>
              <a:spcAft>
                <a:spcPts val="0"/>
              </a:spcAft>
              <a:buClr>
                <a:schemeClr val="dk1"/>
              </a:buClr>
              <a:buSzPts val="2800"/>
              <a:buNone/>
            </a:pPr>
            <a:endParaRPr sz="2000">
              <a:solidFill>
                <a:schemeClr val="dk1"/>
              </a:solidFill>
              <a:latin typeface="Arial"/>
              <a:ea typeface="Arial"/>
              <a:cs typeface="Arial"/>
              <a:sym typeface="Arial"/>
            </a:endParaRPr>
          </a:p>
          <a:p>
            <a:pPr marL="228600" lvl="0" indent="-104140" algn="l" rtl="0">
              <a:lnSpc>
                <a:spcPct val="90000"/>
              </a:lnSpc>
              <a:spcBef>
                <a:spcPts val="1000"/>
              </a:spcBef>
              <a:spcAft>
                <a:spcPts val="1600"/>
              </a:spcAft>
              <a:buClr>
                <a:schemeClr val="dk1"/>
              </a:buClr>
              <a:buSzPts val="2800"/>
              <a:buNone/>
            </a:pPr>
            <a:endParaRPr sz="20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914400" y="-1587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000" b="1">
                <a:latin typeface="Arial"/>
                <a:ea typeface="Arial"/>
                <a:cs typeface="Arial"/>
                <a:sym typeface="Arial"/>
              </a:rPr>
              <a:t>Program Outcomes/Program Specific Outcomes</a:t>
            </a:r>
            <a:endParaRPr>
              <a:latin typeface="Arial"/>
              <a:ea typeface="Arial"/>
              <a:cs typeface="Arial"/>
              <a:sym typeface="Arial"/>
            </a:endParaRPr>
          </a:p>
        </p:txBody>
      </p:sp>
      <p:sp>
        <p:nvSpPr>
          <p:cNvPr id="97" name="Google Shape;97;p18"/>
          <p:cNvSpPr txBox="1">
            <a:spLocks noGrp="1"/>
          </p:cNvSpPr>
          <p:nvPr>
            <p:ph type="body" idx="1"/>
          </p:nvPr>
        </p:nvSpPr>
        <p:spPr>
          <a:xfrm>
            <a:off x="692525" y="1292225"/>
            <a:ext cx="10859400" cy="4351200"/>
          </a:xfrm>
          <a:prstGeom prst="rect">
            <a:avLst/>
          </a:prstGeom>
        </p:spPr>
        <p:txBody>
          <a:bodyPr spcFirstLastPara="1" wrap="square" lIns="91425" tIns="45700" rIns="91425" bIns="45700" anchor="t" anchorCtr="0">
            <a:normAutofit/>
          </a:bodyPr>
          <a:lstStyle/>
          <a:p>
            <a:pPr marL="228600" lvl="0" indent="-231140" algn="l" rtl="0">
              <a:spcBef>
                <a:spcPts val="1000"/>
              </a:spcBef>
              <a:spcAft>
                <a:spcPts val="0"/>
              </a:spcAft>
              <a:buSzPts val="2000"/>
              <a:buChar char="●"/>
            </a:pPr>
            <a:r>
              <a:rPr lang="en-US" sz="2000">
                <a:solidFill>
                  <a:schemeClr val="dk1"/>
                </a:solidFill>
                <a:latin typeface="Arial"/>
                <a:ea typeface="Arial"/>
                <a:cs typeface="Arial"/>
                <a:sym typeface="Arial"/>
              </a:rPr>
              <a:t>PO11: Lifelong Learning: Recognize the need for, and have the preparation and ability for i) independent and life-long learning ii) adaptability to new and emerging technologies</a:t>
            </a:r>
            <a:endParaRPr sz="2000">
              <a:solidFill>
                <a:schemeClr val="dk1"/>
              </a:solidFill>
              <a:latin typeface="Arial"/>
              <a:ea typeface="Arial"/>
              <a:cs typeface="Arial"/>
              <a:sym typeface="Arial"/>
            </a:endParaRPr>
          </a:p>
          <a:p>
            <a:pPr marL="228600" lvl="0" indent="-231140" algn="l" rtl="0">
              <a:spcBef>
                <a:spcPts val="1600"/>
              </a:spcBef>
              <a:spcAft>
                <a:spcPts val="0"/>
              </a:spcAft>
              <a:buSzPts val="2000"/>
              <a:buChar char="●"/>
            </a:pPr>
            <a:r>
              <a:rPr lang="en-US" sz="2000">
                <a:solidFill>
                  <a:schemeClr val="dk1"/>
                </a:solidFill>
                <a:latin typeface="Arial"/>
                <a:ea typeface="Arial"/>
                <a:cs typeface="Arial"/>
                <a:sym typeface="Arial"/>
              </a:rPr>
              <a:t>[PSO 1] An ability to acquire skills to design &amp; develop quality software using cutting-edge technologies of Computer Engineering. </a:t>
            </a:r>
            <a:endParaRPr sz="2000">
              <a:solidFill>
                <a:schemeClr val="dk1"/>
              </a:solidFill>
              <a:latin typeface="Arial"/>
              <a:ea typeface="Arial"/>
              <a:cs typeface="Arial"/>
              <a:sym typeface="Arial"/>
            </a:endParaRPr>
          </a:p>
          <a:p>
            <a:pPr marL="228600" lvl="0" indent="-231140" algn="l" rtl="0">
              <a:spcBef>
                <a:spcPts val="1600"/>
              </a:spcBef>
              <a:spcAft>
                <a:spcPts val="1600"/>
              </a:spcAft>
              <a:buSzPts val="2000"/>
              <a:buChar char="●"/>
            </a:pPr>
            <a:r>
              <a:rPr lang="en-US" sz="2000">
                <a:solidFill>
                  <a:schemeClr val="dk1"/>
                </a:solidFill>
                <a:latin typeface="Arial"/>
                <a:ea typeface="Arial"/>
                <a:cs typeface="Arial"/>
                <a:sym typeface="Arial"/>
              </a:rPr>
              <a:t>[PSO 2] An ability to use knowledge of various domains as per thrust areas to formulate and implement ideas for providing innovative solutions. </a:t>
            </a:r>
            <a:endParaRPr>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91515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Course Outcomes</a:t>
            </a:r>
            <a:endParaRPr sz="3000" b="1">
              <a:latin typeface="Arial"/>
              <a:ea typeface="Arial"/>
              <a:cs typeface="Arial"/>
              <a:sym typeface="Arial"/>
            </a:endParaRPr>
          </a:p>
        </p:txBody>
      </p:sp>
      <p:graphicFrame>
        <p:nvGraphicFramePr>
          <p:cNvPr id="103" name="Google Shape;103;p19"/>
          <p:cNvGraphicFramePr/>
          <p:nvPr/>
        </p:nvGraphicFramePr>
        <p:xfrm>
          <a:off x="676895" y="1607129"/>
          <a:ext cx="10865975" cy="3627150"/>
        </p:xfrm>
        <a:graphic>
          <a:graphicData uri="http://schemas.openxmlformats.org/drawingml/2006/table">
            <a:tbl>
              <a:tblPr firstRow="1" bandRow="1">
                <a:noFill/>
                <a:tableStyleId>{3DCEDA80-B673-418D-BF6B-5EB346B8FE48}</a:tableStyleId>
              </a:tblPr>
              <a:tblGrid>
                <a:gridCol w="3159525">
                  <a:extLst>
                    <a:ext uri="{9D8B030D-6E8A-4147-A177-3AD203B41FA5}">
                      <a16:colId xmlns:a16="http://schemas.microsoft.com/office/drawing/2014/main" val="20000"/>
                    </a:ext>
                  </a:extLst>
                </a:gridCol>
                <a:gridCol w="568325">
                  <a:extLst>
                    <a:ext uri="{9D8B030D-6E8A-4147-A177-3AD203B41FA5}">
                      <a16:colId xmlns:a16="http://schemas.microsoft.com/office/drawing/2014/main" val="20001"/>
                    </a:ext>
                  </a:extLst>
                </a:gridCol>
                <a:gridCol w="581850">
                  <a:extLst>
                    <a:ext uri="{9D8B030D-6E8A-4147-A177-3AD203B41FA5}">
                      <a16:colId xmlns:a16="http://schemas.microsoft.com/office/drawing/2014/main" val="20002"/>
                    </a:ext>
                  </a:extLst>
                </a:gridCol>
                <a:gridCol w="514200">
                  <a:extLst>
                    <a:ext uri="{9D8B030D-6E8A-4147-A177-3AD203B41FA5}">
                      <a16:colId xmlns:a16="http://schemas.microsoft.com/office/drawing/2014/main" val="20003"/>
                    </a:ext>
                  </a:extLst>
                </a:gridCol>
                <a:gridCol w="622425">
                  <a:extLst>
                    <a:ext uri="{9D8B030D-6E8A-4147-A177-3AD203B41FA5}">
                      <a16:colId xmlns:a16="http://schemas.microsoft.com/office/drawing/2014/main" val="20004"/>
                    </a:ext>
                  </a:extLst>
                </a:gridCol>
                <a:gridCol w="568325">
                  <a:extLst>
                    <a:ext uri="{9D8B030D-6E8A-4147-A177-3AD203B41FA5}">
                      <a16:colId xmlns:a16="http://schemas.microsoft.com/office/drawing/2014/main" val="20005"/>
                    </a:ext>
                  </a:extLst>
                </a:gridCol>
                <a:gridCol w="541225">
                  <a:extLst>
                    <a:ext uri="{9D8B030D-6E8A-4147-A177-3AD203B41FA5}">
                      <a16:colId xmlns:a16="http://schemas.microsoft.com/office/drawing/2014/main" val="20006"/>
                    </a:ext>
                  </a:extLst>
                </a:gridCol>
                <a:gridCol w="568325">
                  <a:extLst>
                    <a:ext uri="{9D8B030D-6E8A-4147-A177-3AD203B41FA5}">
                      <a16:colId xmlns:a16="http://schemas.microsoft.com/office/drawing/2014/main" val="20007"/>
                    </a:ext>
                  </a:extLst>
                </a:gridCol>
                <a:gridCol w="554775">
                  <a:extLst>
                    <a:ext uri="{9D8B030D-6E8A-4147-A177-3AD203B41FA5}">
                      <a16:colId xmlns:a16="http://schemas.microsoft.com/office/drawing/2014/main" val="20008"/>
                    </a:ext>
                  </a:extLst>
                </a:gridCol>
                <a:gridCol w="473550">
                  <a:extLst>
                    <a:ext uri="{9D8B030D-6E8A-4147-A177-3AD203B41FA5}">
                      <a16:colId xmlns:a16="http://schemas.microsoft.com/office/drawing/2014/main" val="20009"/>
                    </a:ext>
                  </a:extLst>
                </a:gridCol>
                <a:gridCol w="655800">
                  <a:extLst>
                    <a:ext uri="{9D8B030D-6E8A-4147-A177-3AD203B41FA5}">
                      <a16:colId xmlns:a16="http://schemas.microsoft.com/office/drawing/2014/main" val="20010"/>
                    </a:ext>
                  </a:extLst>
                </a:gridCol>
                <a:gridCol w="456150">
                  <a:extLst>
                    <a:ext uri="{9D8B030D-6E8A-4147-A177-3AD203B41FA5}">
                      <a16:colId xmlns:a16="http://schemas.microsoft.com/office/drawing/2014/main" val="20011"/>
                    </a:ext>
                  </a:extLst>
                </a:gridCol>
                <a:gridCol w="800750">
                  <a:extLst>
                    <a:ext uri="{9D8B030D-6E8A-4147-A177-3AD203B41FA5}">
                      <a16:colId xmlns:a16="http://schemas.microsoft.com/office/drawing/2014/main" val="20012"/>
                    </a:ext>
                  </a:extLst>
                </a:gridCol>
                <a:gridCol w="800750">
                  <a:extLst>
                    <a:ext uri="{9D8B030D-6E8A-4147-A177-3AD203B41FA5}">
                      <a16:colId xmlns:a16="http://schemas.microsoft.com/office/drawing/2014/main" val="20013"/>
                    </a:ext>
                  </a:extLst>
                </a:gridCol>
              </a:tblGrid>
              <a:tr h="784875">
                <a:tc>
                  <a:txBody>
                    <a:bodyPr/>
                    <a:lstStyle/>
                    <a:p>
                      <a:pPr marL="0" marR="0" lvl="0" indent="0" algn="l" rtl="0">
                        <a:spcBef>
                          <a:spcPts val="0"/>
                        </a:spcBef>
                        <a:spcAft>
                          <a:spcPts val="0"/>
                        </a:spcAft>
                        <a:buNone/>
                      </a:pPr>
                      <a:r>
                        <a:rPr lang="en-US" sz="2000" u="none" strike="noStrike" cap="none">
                          <a:latin typeface="Arial"/>
                          <a:ea typeface="Arial"/>
                          <a:cs typeface="Arial"/>
                          <a:sym typeface="Arial"/>
                        </a:rPr>
                        <a:t>Course Outcomes </a:t>
                      </a:r>
                      <a:endParaRPr sz="2000">
                        <a:latin typeface="Arial"/>
                        <a:ea typeface="Arial"/>
                        <a:cs typeface="Arial"/>
                        <a:sym typeface="Arial"/>
                      </a:endParaRPr>
                    </a:p>
                  </a:txBody>
                  <a:tcPr marL="91450" marR="91450" marT="45725" marB="45725"/>
                </a:tc>
                <a:tc gridSpan="11">
                  <a:txBody>
                    <a:bodyPr/>
                    <a:lstStyle/>
                    <a:p>
                      <a:pPr marL="0" marR="0" lvl="0" indent="0" algn="ctr" rtl="0">
                        <a:spcBef>
                          <a:spcPts val="0"/>
                        </a:spcBef>
                        <a:spcAft>
                          <a:spcPts val="0"/>
                        </a:spcAft>
                        <a:buNone/>
                      </a:pPr>
                      <a:r>
                        <a:rPr lang="en-US" sz="2000">
                          <a:latin typeface="Arial"/>
                          <a:ea typeface="Arial"/>
                          <a:cs typeface="Arial"/>
                          <a:sym typeface="Arial"/>
                        </a:rPr>
                        <a:t>Program Outcomes</a:t>
                      </a:r>
                      <a:endParaRPr sz="2000">
                        <a:latin typeface="Arial"/>
                        <a:ea typeface="Arial"/>
                        <a:cs typeface="Arial"/>
                        <a:sym typeface="Arial"/>
                      </a:endParaRPr>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US" sz="2000">
                          <a:latin typeface="Arial"/>
                          <a:ea typeface="Arial"/>
                          <a:cs typeface="Arial"/>
                          <a:sym typeface="Arial"/>
                        </a:rPr>
                        <a:t>Program Specific Outcomes</a:t>
                      </a:r>
                      <a:endParaRPr sz="2000">
                        <a:latin typeface="Arial"/>
                        <a:ea typeface="Arial"/>
                        <a:cs typeface="Arial"/>
                        <a:sym typeface="Arial"/>
                      </a:endParaRPr>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435325">
                <a:tc>
                  <a:txBody>
                    <a:bodyPr/>
                    <a:lstStyle/>
                    <a:p>
                      <a:pPr marL="0" marR="0" lvl="0" indent="0" algn="l" rtl="0">
                        <a:spcBef>
                          <a:spcPts val="0"/>
                        </a:spcBef>
                        <a:spcAft>
                          <a:spcPts val="0"/>
                        </a:spcAft>
                        <a:buNone/>
                      </a:pP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2</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3</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4</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5</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6</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7</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8</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9</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10</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PSO1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PSO2</a:t>
                      </a:r>
                      <a:endParaRPr sz="20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35325">
                <a:tc>
                  <a:txBody>
                    <a:bodyPr/>
                    <a:lstStyle/>
                    <a:p>
                      <a:pPr marL="0" marR="0" lvl="0" indent="0" algn="l" rtl="0">
                        <a:spcBef>
                          <a:spcPts val="0"/>
                        </a:spcBef>
                        <a:spcAft>
                          <a:spcPts val="0"/>
                        </a:spcAft>
                        <a:buNone/>
                      </a:pPr>
                      <a:r>
                        <a:rPr lang="en-US" sz="2000">
                          <a:latin typeface="Arial"/>
                          <a:ea typeface="Arial"/>
                          <a:cs typeface="Arial"/>
                          <a:sym typeface="Arial"/>
                        </a:rPr>
                        <a:t>Identify a problem, analyze research gaps through a literature survey, and propose an ethical, innovative solution with societal impact.</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1600"/>
              </a:spcAft>
              <a:buNone/>
            </a:pPr>
            <a:endParaRPr/>
          </a:p>
        </p:txBody>
      </p:sp>
      <p:graphicFrame>
        <p:nvGraphicFramePr>
          <p:cNvPr id="110" name="Google Shape;110;p20"/>
          <p:cNvGraphicFramePr/>
          <p:nvPr/>
        </p:nvGraphicFramePr>
        <p:xfrm>
          <a:off x="676895" y="83129"/>
          <a:ext cx="10865975" cy="6592325"/>
        </p:xfrm>
        <a:graphic>
          <a:graphicData uri="http://schemas.openxmlformats.org/drawingml/2006/table">
            <a:tbl>
              <a:tblPr firstRow="1" bandRow="1">
                <a:noFill/>
                <a:tableStyleId>{3DCEDA80-B673-418D-BF6B-5EB346B8FE48}</a:tableStyleId>
              </a:tblPr>
              <a:tblGrid>
                <a:gridCol w="3159525">
                  <a:extLst>
                    <a:ext uri="{9D8B030D-6E8A-4147-A177-3AD203B41FA5}">
                      <a16:colId xmlns:a16="http://schemas.microsoft.com/office/drawing/2014/main" val="20000"/>
                    </a:ext>
                  </a:extLst>
                </a:gridCol>
                <a:gridCol w="568325">
                  <a:extLst>
                    <a:ext uri="{9D8B030D-6E8A-4147-A177-3AD203B41FA5}">
                      <a16:colId xmlns:a16="http://schemas.microsoft.com/office/drawing/2014/main" val="20001"/>
                    </a:ext>
                  </a:extLst>
                </a:gridCol>
                <a:gridCol w="581850">
                  <a:extLst>
                    <a:ext uri="{9D8B030D-6E8A-4147-A177-3AD203B41FA5}">
                      <a16:colId xmlns:a16="http://schemas.microsoft.com/office/drawing/2014/main" val="20002"/>
                    </a:ext>
                  </a:extLst>
                </a:gridCol>
                <a:gridCol w="514200">
                  <a:extLst>
                    <a:ext uri="{9D8B030D-6E8A-4147-A177-3AD203B41FA5}">
                      <a16:colId xmlns:a16="http://schemas.microsoft.com/office/drawing/2014/main" val="20003"/>
                    </a:ext>
                  </a:extLst>
                </a:gridCol>
                <a:gridCol w="622425">
                  <a:extLst>
                    <a:ext uri="{9D8B030D-6E8A-4147-A177-3AD203B41FA5}">
                      <a16:colId xmlns:a16="http://schemas.microsoft.com/office/drawing/2014/main" val="20004"/>
                    </a:ext>
                  </a:extLst>
                </a:gridCol>
                <a:gridCol w="568325">
                  <a:extLst>
                    <a:ext uri="{9D8B030D-6E8A-4147-A177-3AD203B41FA5}">
                      <a16:colId xmlns:a16="http://schemas.microsoft.com/office/drawing/2014/main" val="20005"/>
                    </a:ext>
                  </a:extLst>
                </a:gridCol>
                <a:gridCol w="541225">
                  <a:extLst>
                    <a:ext uri="{9D8B030D-6E8A-4147-A177-3AD203B41FA5}">
                      <a16:colId xmlns:a16="http://schemas.microsoft.com/office/drawing/2014/main" val="20006"/>
                    </a:ext>
                  </a:extLst>
                </a:gridCol>
                <a:gridCol w="568325">
                  <a:extLst>
                    <a:ext uri="{9D8B030D-6E8A-4147-A177-3AD203B41FA5}">
                      <a16:colId xmlns:a16="http://schemas.microsoft.com/office/drawing/2014/main" val="20007"/>
                    </a:ext>
                  </a:extLst>
                </a:gridCol>
                <a:gridCol w="554775">
                  <a:extLst>
                    <a:ext uri="{9D8B030D-6E8A-4147-A177-3AD203B41FA5}">
                      <a16:colId xmlns:a16="http://schemas.microsoft.com/office/drawing/2014/main" val="20008"/>
                    </a:ext>
                  </a:extLst>
                </a:gridCol>
                <a:gridCol w="473550">
                  <a:extLst>
                    <a:ext uri="{9D8B030D-6E8A-4147-A177-3AD203B41FA5}">
                      <a16:colId xmlns:a16="http://schemas.microsoft.com/office/drawing/2014/main" val="20009"/>
                    </a:ext>
                  </a:extLst>
                </a:gridCol>
                <a:gridCol w="655800">
                  <a:extLst>
                    <a:ext uri="{9D8B030D-6E8A-4147-A177-3AD203B41FA5}">
                      <a16:colId xmlns:a16="http://schemas.microsoft.com/office/drawing/2014/main" val="20010"/>
                    </a:ext>
                  </a:extLst>
                </a:gridCol>
                <a:gridCol w="456150">
                  <a:extLst>
                    <a:ext uri="{9D8B030D-6E8A-4147-A177-3AD203B41FA5}">
                      <a16:colId xmlns:a16="http://schemas.microsoft.com/office/drawing/2014/main" val="20011"/>
                    </a:ext>
                  </a:extLst>
                </a:gridCol>
                <a:gridCol w="800750">
                  <a:extLst>
                    <a:ext uri="{9D8B030D-6E8A-4147-A177-3AD203B41FA5}">
                      <a16:colId xmlns:a16="http://schemas.microsoft.com/office/drawing/2014/main" val="20012"/>
                    </a:ext>
                  </a:extLst>
                </a:gridCol>
                <a:gridCol w="800750">
                  <a:extLst>
                    <a:ext uri="{9D8B030D-6E8A-4147-A177-3AD203B41FA5}">
                      <a16:colId xmlns:a16="http://schemas.microsoft.com/office/drawing/2014/main" val="20013"/>
                    </a:ext>
                  </a:extLst>
                </a:gridCol>
              </a:tblGrid>
              <a:tr h="784875">
                <a:tc>
                  <a:txBody>
                    <a:bodyPr/>
                    <a:lstStyle/>
                    <a:p>
                      <a:pPr marL="0" marR="0" lvl="0" indent="0" algn="l" rtl="0">
                        <a:spcBef>
                          <a:spcPts val="0"/>
                        </a:spcBef>
                        <a:spcAft>
                          <a:spcPts val="0"/>
                        </a:spcAft>
                        <a:buNone/>
                      </a:pPr>
                      <a:r>
                        <a:rPr lang="en-US" sz="2000" u="none" strike="noStrike" cap="none">
                          <a:latin typeface="Arial"/>
                          <a:ea typeface="Arial"/>
                          <a:cs typeface="Arial"/>
                          <a:sym typeface="Arial"/>
                        </a:rPr>
                        <a:t>Course Outcomes </a:t>
                      </a:r>
                      <a:endParaRPr sz="2000">
                        <a:latin typeface="Arial"/>
                        <a:ea typeface="Arial"/>
                        <a:cs typeface="Arial"/>
                        <a:sym typeface="Arial"/>
                      </a:endParaRPr>
                    </a:p>
                  </a:txBody>
                  <a:tcPr marL="91450" marR="91450" marT="45725" marB="45725"/>
                </a:tc>
                <a:tc gridSpan="11">
                  <a:txBody>
                    <a:bodyPr/>
                    <a:lstStyle/>
                    <a:p>
                      <a:pPr marL="0" marR="0" lvl="0" indent="0" algn="ctr" rtl="0">
                        <a:spcBef>
                          <a:spcPts val="0"/>
                        </a:spcBef>
                        <a:spcAft>
                          <a:spcPts val="0"/>
                        </a:spcAft>
                        <a:buNone/>
                      </a:pPr>
                      <a:r>
                        <a:rPr lang="en-US" sz="2000">
                          <a:latin typeface="Arial"/>
                          <a:ea typeface="Arial"/>
                          <a:cs typeface="Arial"/>
                          <a:sym typeface="Arial"/>
                        </a:rPr>
                        <a:t>Program Outcomes</a:t>
                      </a:r>
                      <a:endParaRPr sz="2000">
                        <a:latin typeface="Arial"/>
                        <a:ea typeface="Arial"/>
                        <a:cs typeface="Arial"/>
                        <a:sym typeface="Arial"/>
                      </a:endParaRPr>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US" sz="2000">
                          <a:latin typeface="Arial"/>
                          <a:ea typeface="Arial"/>
                          <a:cs typeface="Arial"/>
                          <a:sym typeface="Arial"/>
                        </a:rPr>
                        <a:t>Program Specific Outcomes</a:t>
                      </a:r>
                      <a:endParaRPr sz="2000">
                        <a:latin typeface="Arial"/>
                        <a:ea typeface="Arial"/>
                        <a:cs typeface="Arial"/>
                        <a:sym typeface="Arial"/>
                      </a:endParaRPr>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435325">
                <a:tc>
                  <a:txBody>
                    <a:bodyPr/>
                    <a:lstStyle/>
                    <a:p>
                      <a:pPr marL="0" marR="0" lvl="0" indent="0" algn="l" rtl="0">
                        <a:spcBef>
                          <a:spcPts val="0"/>
                        </a:spcBef>
                        <a:spcAft>
                          <a:spcPts val="0"/>
                        </a:spcAft>
                        <a:buNone/>
                      </a:pP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2</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3</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4</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5</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6</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7</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8</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9</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10</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11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PSO1</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a:latin typeface="Arial"/>
                          <a:ea typeface="Arial"/>
                          <a:cs typeface="Arial"/>
                          <a:sym typeface="Arial"/>
                        </a:rPr>
                        <a:t>PSO2</a:t>
                      </a:r>
                      <a:endParaRPr sz="20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35325">
                <a:tc>
                  <a:txBody>
                    <a:bodyPr/>
                    <a:lstStyle/>
                    <a:p>
                      <a:pPr marL="0" marR="0" lvl="0" indent="0" algn="l" rtl="0">
                        <a:spcBef>
                          <a:spcPts val="0"/>
                        </a:spcBef>
                        <a:spcAft>
                          <a:spcPts val="0"/>
                        </a:spcAft>
                        <a:buNone/>
                      </a:pPr>
                      <a:r>
                        <a:rPr lang="en-US" sz="2000">
                          <a:latin typeface="Arial"/>
                          <a:ea typeface="Arial"/>
                          <a:cs typeface="Arial"/>
                          <a:sym typeface="Arial"/>
                        </a:rPr>
                        <a:t>Develop a structured project report detailing the problem, methodology, proposed solution, and findings, adhering to professional and ethical standards.</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extLst>
                  <a:ext uri="{0D108BD9-81ED-4DB2-BD59-A6C34878D82A}">
                    <a16:rowId xmlns:a16="http://schemas.microsoft.com/office/drawing/2014/main" val="10002"/>
                  </a:ext>
                </a:extLst>
              </a:tr>
              <a:tr h="435325">
                <a:tc>
                  <a:txBody>
                    <a:bodyPr/>
                    <a:lstStyle/>
                    <a:p>
                      <a:pPr marL="0" marR="0" lvl="0" indent="0" algn="l" rtl="0">
                        <a:spcBef>
                          <a:spcPts val="0"/>
                        </a:spcBef>
                        <a:spcAft>
                          <a:spcPts val="0"/>
                        </a:spcAft>
                        <a:buNone/>
                      </a:pPr>
                      <a:r>
                        <a:rPr lang="en-US" sz="2000">
                          <a:latin typeface="Arial"/>
                          <a:ea typeface="Arial"/>
                          <a:cs typeface="Arial"/>
                          <a:sym typeface="Arial"/>
                        </a:rPr>
                        <a:t>Implement a basic prototype/model to validate the proposed solution, demonstrating practical application of knowledge and technical skills.</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 </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extLst>
                  <a:ext uri="{0D108BD9-81ED-4DB2-BD59-A6C34878D82A}">
                    <a16:rowId xmlns:a16="http://schemas.microsoft.com/office/drawing/2014/main" val="10003"/>
                  </a:ext>
                </a:extLst>
              </a:tr>
              <a:tr h="435325">
                <a:tc>
                  <a:txBody>
                    <a:bodyPr/>
                    <a:lstStyle/>
                    <a:p>
                      <a:pPr marL="0" marR="0" lvl="0" indent="0" algn="l" rtl="0">
                        <a:spcBef>
                          <a:spcPts val="0"/>
                        </a:spcBef>
                        <a:spcAft>
                          <a:spcPts val="0"/>
                        </a:spcAft>
                        <a:buNone/>
                      </a:pPr>
                      <a:r>
                        <a:rPr lang="en-US" sz="2000">
                          <a:latin typeface="Arial"/>
                          <a:ea typeface="Arial"/>
                          <a:cs typeface="Arial"/>
                          <a:sym typeface="Arial"/>
                        </a:rPr>
                        <a:t>Avg</a:t>
                      </a:r>
                      <a:endParaRPr sz="20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2.5</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3</a:t>
                      </a:r>
                      <a:endParaRPr sz="2000">
                        <a:latin typeface="Arial"/>
                        <a:ea typeface="Arial"/>
                        <a:cs typeface="Arial"/>
                        <a:sym typeface="Arial"/>
                      </a:endParaRPr>
                    </a:p>
                  </a:txBody>
                  <a:tcPr marL="9525" marR="9525" marT="9525" marB="0" anchor="ctr"/>
                </a:tc>
                <a:tc>
                  <a:txBody>
                    <a:bodyPr/>
                    <a:lstStyle/>
                    <a:p>
                      <a:pPr marL="0" marR="0" lvl="0" indent="0" algn="ctr" rtl="0">
                        <a:spcBef>
                          <a:spcPts val="0"/>
                        </a:spcBef>
                        <a:spcAft>
                          <a:spcPts val="0"/>
                        </a:spcAft>
                        <a:buNone/>
                      </a:pPr>
                      <a:r>
                        <a:rPr lang="en-US" sz="2000" i="0" u="none" strike="noStrike">
                          <a:solidFill>
                            <a:srgbClr val="000000"/>
                          </a:solidFill>
                          <a:latin typeface="Arial"/>
                          <a:ea typeface="Arial"/>
                          <a:cs typeface="Arial"/>
                          <a:sym typeface="Arial"/>
                        </a:rPr>
                        <a:t>2.6667</a:t>
                      </a:r>
                      <a:endParaRPr sz="2000">
                        <a:latin typeface="Arial"/>
                        <a:ea typeface="Arial"/>
                        <a:cs typeface="Arial"/>
                        <a:sym typeface="Arial"/>
                      </a:endParaRPr>
                    </a:p>
                  </a:txBody>
                  <a:tcPr marL="9525" marR="9525" marT="9525"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914400" y="-158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Contents</a:t>
            </a:r>
            <a:endParaRPr sz="3000" b="1">
              <a:latin typeface="Arial"/>
              <a:ea typeface="Arial"/>
              <a:cs typeface="Arial"/>
              <a:sym typeface="Arial"/>
            </a:endParaRPr>
          </a:p>
        </p:txBody>
      </p:sp>
      <p:sp>
        <p:nvSpPr>
          <p:cNvPr id="116" name="Google Shape;116;p21"/>
          <p:cNvSpPr txBox="1">
            <a:spLocks noGrp="1"/>
          </p:cNvSpPr>
          <p:nvPr>
            <p:ph type="body" idx="1"/>
          </p:nvPr>
        </p:nvSpPr>
        <p:spPr>
          <a:xfrm>
            <a:off x="692525" y="1063625"/>
            <a:ext cx="10859400" cy="4351200"/>
          </a:xfrm>
          <a:prstGeom prst="rect">
            <a:avLst/>
          </a:prstGeom>
          <a:noFill/>
          <a:ln>
            <a:noFill/>
          </a:ln>
        </p:spPr>
        <p:txBody>
          <a:bodyPr spcFirstLastPara="1" wrap="square" lIns="91425" tIns="45700" rIns="91425" bIns="45700" anchor="t" anchorCtr="0">
            <a:noAutofit/>
          </a:bodyPr>
          <a:lstStyle/>
          <a:p>
            <a:pPr marL="228600" lvl="0" indent="-204470" algn="l" rtl="0">
              <a:lnSpc>
                <a:spcPct val="90000"/>
              </a:lnSpc>
              <a:spcBef>
                <a:spcPts val="0"/>
              </a:spcBef>
              <a:spcAft>
                <a:spcPts val="0"/>
              </a:spcAft>
              <a:buSzPts val="2000"/>
              <a:buChar char="●"/>
            </a:pPr>
            <a:r>
              <a:rPr lang="en-US" sz="2000">
                <a:solidFill>
                  <a:schemeClr val="dk1"/>
                </a:solidFill>
                <a:latin typeface="Arial"/>
                <a:ea typeface="Arial"/>
                <a:cs typeface="Arial"/>
                <a:sym typeface="Arial"/>
              </a:rPr>
              <a:t>Introduction</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Literature Review</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Patent Search</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Gaps Identified</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Problem Statement</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Objectives</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Rationale for Proposed Title</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Methodology Overview</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Expected Outcome</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Feasibility and Timeline</a:t>
            </a:r>
            <a:endParaRPr sz="2000">
              <a:solidFill>
                <a:schemeClr val="dk1"/>
              </a:solidFill>
              <a:latin typeface="Arial"/>
              <a:ea typeface="Arial"/>
              <a:cs typeface="Arial"/>
              <a:sym typeface="Arial"/>
            </a:endParaRPr>
          </a:p>
          <a:p>
            <a:pPr marL="228600" lvl="0" indent="-204470" algn="l" rtl="0">
              <a:lnSpc>
                <a:spcPct val="90000"/>
              </a:lnSpc>
              <a:spcBef>
                <a:spcPts val="1000"/>
              </a:spcBef>
              <a:spcAft>
                <a:spcPts val="0"/>
              </a:spcAft>
              <a:buSzPts val="2000"/>
              <a:buChar char="●"/>
            </a:pPr>
            <a:r>
              <a:rPr lang="en-US" sz="2000">
                <a:solidFill>
                  <a:schemeClr val="dk1"/>
                </a:solidFill>
                <a:latin typeface="Arial"/>
                <a:ea typeface="Arial"/>
                <a:cs typeface="Arial"/>
                <a:sym typeface="Arial"/>
              </a:rPr>
              <a:t>Conclusion</a:t>
            </a:r>
            <a:endParaRPr sz="2000">
              <a:solidFill>
                <a:schemeClr val="dk1"/>
              </a:solidFill>
              <a:latin typeface="Arial"/>
              <a:ea typeface="Arial"/>
              <a:cs typeface="Arial"/>
              <a:sym typeface="Arial"/>
            </a:endParaRPr>
          </a:p>
          <a:p>
            <a:pPr marL="228600" lvl="0" indent="-77470" algn="l" rtl="0">
              <a:lnSpc>
                <a:spcPct val="90000"/>
              </a:lnSpc>
              <a:spcBef>
                <a:spcPts val="1000"/>
              </a:spcBef>
              <a:spcAft>
                <a:spcPts val="1600"/>
              </a:spcAft>
              <a:buClr>
                <a:schemeClr val="dk1"/>
              </a:buClr>
              <a:buSzPts val="2800"/>
              <a:buNone/>
            </a:pP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9434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100" b="1">
                <a:latin typeface="Arial"/>
                <a:ea typeface="Arial"/>
                <a:cs typeface="Arial"/>
                <a:sym typeface="Arial"/>
              </a:rPr>
              <a:t>Introduction</a:t>
            </a:r>
            <a:endParaRPr sz="3100" b="1">
              <a:latin typeface="Arial"/>
              <a:ea typeface="Arial"/>
              <a:cs typeface="Arial"/>
              <a:sym typeface="Arial"/>
            </a:endParaRPr>
          </a:p>
        </p:txBody>
      </p:sp>
      <p:sp>
        <p:nvSpPr>
          <p:cNvPr id="122" name="Google Shape;122;p22"/>
          <p:cNvSpPr txBox="1">
            <a:spLocks noGrp="1"/>
          </p:cNvSpPr>
          <p:nvPr>
            <p:ph type="body" idx="1"/>
          </p:nvPr>
        </p:nvSpPr>
        <p:spPr>
          <a:xfrm>
            <a:off x="682925" y="1165725"/>
            <a:ext cx="10869000" cy="5321100"/>
          </a:xfrm>
          <a:prstGeom prst="rect">
            <a:avLst/>
          </a:prstGeom>
          <a:noFill/>
          <a:ln w="1905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As electric vehicles (EVs) become an integral part of our daily lives, the need for smarter and more efficient charging infrastructure has never been greater. Charging stations must do more than just provide power — they need to be reliable, adaptable, and capable of meeting growing demand while minimizing energy waste.</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Our project tackles this challenge by creating a predictive model using a data-driven approach and supervised machine learning. By analyzing both historical and real-time data, the model can forecast charging demand at public stations, allowing energy to be distributed efficiently, reducing grid stress, and enhancing the user experience.</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But it doesn’t stop there. The project also integrates advanced monitoring and control mechanisms, enabling real-time fault detection and better energy management. These features ensure charging stations remain efficient, safe, and capable of adapting to fluctuating energy loads and user needs.</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endParaRPr sz="2000">
              <a:solidFill>
                <a:schemeClr val="dk1"/>
              </a:solidFill>
            </a:endParaRPr>
          </a:p>
          <a:p>
            <a:pPr marL="0" lvl="0" indent="0" algn="just" rtl="0">
              <a:lnSpc>
                <a:spcPct val="90000"/>
              </a:lnSpc>
              <a:spcBef>
                <a:spcPts val="1200"/>
              </a:spcBef>
              <a:spcAft>
                <a:spcPts val="1600"/>
              </a:spcAft>
              <a:buNone/>
            </a:pP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754925" y="0"/>
            <a:ext cx="10515600" cy="1325700"/>
          </a:xfrm>
          <a:prstGeom prst="rect">
            <a:avLst/>
          </a:prstGeom>
        </p:spPr>
        <p:txBody>
          <a:bodyPr spcFirstLastPara="1" wrap="square" lIns="91425" tIns="45700" rIns="91425" bIns="45700" anchor="ctr" anchorCtr="0">
            <a:normAutofit/>
          </a:bodyPr>
          <a:lstStyle/>
          <a:p>
            <a:pPr marL="0" lvl="0" indent="0" algn="l" rtl="0">
              <a:spcBef>
                <a:spcPts val="1000"/>
              </a:spcBef>
              <a:spcAft>
                <a:spcPts val="0"/>
              </a:spcAft>
              <a:buNone/>
            </a:pPr>
            <a:r>
              <a:rPr lang="en-US" sz="3000" b="1">
                <a:latin typeface="Arial"/>
                <a:ea typeface="Arial"/>
                <a:cs typeface="Arial"/>
                <a:sym typeface="Arial"/>
              </a:rPr>
              <a:t>Importance of selecting a relevant and impactful title in current scenario</a:t>
            </a:r>
            <a:endParaRPr sz="3000" b="1">
              <a:latin typeface="Arial"/>
              <a:ea typeface="Arial"/>
              <a:cs typeface="Arial"/>
              <a:sym typeface="Arial"/>
            </a:endParaRPr>
          </a:p>
        </p:txBody>
      </p:sp>
      <p:sp>
        <p:nvSpPr>
          <p:cNvPr id="129" name="Google Shape;129;p23"/>
          <p:cNvSpPr txBox="1">
            <a:spLocks noGrp="1"/>
          </p:cNvSpPr>
          <p:nvPr>
            <p:ph type="body" idx="1"/>
          </p:nvPr>
        </p:nvSpPr>
        <p:spPr>
          <a:xfrm>
            <a:off x="682925" y="1292225"/>
            <a:ext cx="10859400" cy="5049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Arial"/>
                <a:ea typeface="Arial"/>
                <a:cs typeface="Arial"/>
                <a:sym typeface="Arial"/>
              </a:rPr>
              <a:t>The </a:t>
            </a:r>
            <a:r>
              <a:rPr lang="en-US" sz="2000">
                <a:solidFill>
                  <a:schemeClr val="dk1"/>
                </a:solidFill>
              </a:rPr>
              <a:t>T</a:t>
            </a:r>
            <a:r>
              <a:rPr lang="en-US" sz="2000">
                <a:solidFill>
                  <a:schemeClr val="dk1"/>
                </a:solidFill>
                <a:latin typeface="Arial"/>
                <a:ea typeface="Arial"/>
                <a:cs typeface="Arial"/>
                <a:sym typeface="Arial"/>
              </a:rPr>
              <a:t>itle, “</a:t>
            </a:r>
            <a:r>
              <a:rPr lang="en-US" sz="2000" b="1">
                <a:solidFill>
                  <a:schemeClr val="dk1"/>
                </a:solidFill>
              </a:rPr>
              <a:t>Advanced monitoring and control mechanism for electric vehicle charging station using Machine learning</a:t>
            </a:r>
            <a:r>
              <a:rPr lang="en-US" sz="2000">
                <a:solidFill>
                  <a:schemeClr val="dk1"/>
                </a:solidFill>
                <a:latin typeface="Arial"/>
                <a:ea typeface="Arial"/>
                <a:cs typeface="Arial"/>
                <a:sym typeface="Arial"/>
              </a:rPr>
              <a:t>” perfectly captures the heart of the project by focusing on real-world challenges in EV charging.</a:t>
            </a:r>
            <a:endParaRPr sz="2000">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Solves Real Problems</a:t>
            </a:r>
            <a:r>
              <a:rPr lang="en-US" sz="2000">
                <a:solidFill>
                  <a:schemeClr val="dk1"/>
                </a:solidFill>
                <a:latin typeface="Arial"/>
                <a:ea typeface="Arial"/>
                <a:cs typeface="Arial"/>
                <a:sym typeface="Arial"/>
              </a:rPr>
              <a:t>: Predicting charging demand helps ensure enough energy is available, reduces waiting times, and prevents grid overload.</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Supports Smarter Systems</a:t>
            </a:r>
            <a:r>
              <a:rPr lang="en-US" sz="2000">
                <a:solidFill>
                  <a:schemeClr val="dk1"/>
                </a:solidFill>
                <a:latin typeface="Arial"/>
                <a:ea typeface="Arial"/>
                <a:cs typeface="Arial"/>
                <a:sym typeface="Arial"/>
              </a:rPr>
              <a:t>: It strengthens LVDC microgrids, making them more reliable and adaptable to changing energy needs.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Matches Global Trends</a:t>
            </a:r>
            <a:r>
              <a:rPr lang="en-US" sz="2000">
                <a:solidFill>
                  <a:schemeClr val="dk1"/>
                </a:solidFill>
                <a:latin typeface="Arial"/>
                <a:ea typeface="Arial"/>
                <a:cs typeface="Arial"/>
                <a:sym typeface="Arial"/>
              </a:rPr>
              <a:t>: Fits the push for renewable energy, smart grids, and EV-friendly systems around the world.</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Future-Ready</a:t>
            </a:r>
            <a:r>
              <a:rPr lang="en-US" sz="2000">
                <a:solidFill>
                  <a:schemeClr val="dk1"/>
                </a:solidFill>
                <a:latin typeface="Arial"/>
                <a:ea typeface="Arial"/>
                <a:cs typeface="Arial"/>
                <a:sym typeface="Arial"/>
              </a:rPr>
              <a:t>: Uses advanced machine learning to keep up with the growing EV demand and make charging infrastructure better for everyone.</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2000">
              <a:solidFill>
                <a:schemeClr val="dk1"/>
              </a:solidFill>
              <a:latin typeface="Arial"/>
              <a:ea typeface="Arial"/>
              <a:cs typeface="Arial"/>
              <a:sym typeface="Arial"/>
            </a:endParaRPr>
          </a:p>
          <a:p>
            <a:pPr marL="0" lvl="0" indent="0" algn="l" rtl="0">
              <a:spcBef>
                <a:spcPts val="1200"/>
              </a:spcBef>
              <a:spcAft>
                <a:spcPts val="1600"/>
              </a:spcAft>
              <a:buNone/>
            </a:pPr>
            <a:endParaRPr sz="20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684300" y="-3732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dirty="0">
                <a:latin typeface="Arial"/>
                <a:ea typeface="Arial"/>
                <a:cs typeface="Arial"/>
                <a:sym typeface="Arial"/>
              </a:rPr>
              <a:t>      Literature Review</a:t>
            </a:r>
            <a:endParaRPr sz="3000" dirty="0">
              <a:latin typeface="Arial"/>
              <a:ea typeface="Arial"/>
              <a:cs typeface="Arial"/>
              <a:sym typeface="Arial"/>
            </a:endParaRPr>
          </a:p>
        </p:txBody>
      </p:sp>
      <p:graphicFrame>
        <p:nvGraphicFramePr>
          <p:cNvPr id="135" name="Google Shape;135;p24"/>
          <p:cNvGraphicFramePr/>
          <p:nvPr/>
        </p:nvGraphicFramePr>
        <p:xfrm>
          <a:off x="452324" y="641650"/>
          <a:ext cx="11328425" cy="5736237"/>
        </p:xfrm>
        <a:graphic>
          <a:graphicData uri="http://schemas.openxmlformats.org/drawingml/2006/table">
            <a:tbl>
              <a:tblPr firstRow="1" bandRow="1">
                <a:noFill/>
                <a:tableStyleId>{3DCEDA80-B673-418D-BF6B-5EB346B8FE48}</a:tableStyleId>
              </a:tblPr>
              <a:tblGrid>
                <a:gridCol w="973375">
                  <a:extLst>
                    <a:ext uri="{9D8B030D-6E8A-4147-A177-3AD203B41FA5}">
                      <a16:colId xmlns:a16="http://schemas.microsoft.com/office/drawing/2014/main" val="20000"/>
                    </a:ext>
                  </a:extLst>
                </a:gridCol>
                <a:gridCol w="1738025">
                  <a:extLst>
                    <a:ext uri="{9D8B030D-6E8A-4147-A177-3AD203B41FA5}">
                      <a16:colId xmlns:a16="http://schemas.microsoft.com/office/drawing/2014/main" val="20001"/>
                    </a:ext>
                  </a:extLst>
                </a:gridCol>
                <a:gridCol w="1633125">
                  <a:extLst>
                    <a:ext uri="{9D8B030D-6E8A-4147-A177-3AD203B41FA5}">
                      <a16:colId xmlns:a16="http://schemas.microsoft.com/office/drawing/2014/main" val="20002"/>
                    </a:ext>
                  </a:extLst>
                </a:gridCol>
                <a:gridCol w="2121700">
                  <a:extLst>
                    <a:ext uri="{9D8B030D-6E8A-4147-A177-3AD203B41FA5}">
                      <a16:colId xmlns:a16="http://schemas.microsoft.com/office/drawing/2014/main" val="20003"/>
                    </a:ext>
                  </a:extLst>
                </a:gridCol>
                <a:gridCol w="1520525">
                  <a:extLst>
                    <a:ext uri="{9D8B030D-6E8A-4147-A177-3AD203B41FA5}">
                      <a16:colId xmlns:a16="http://schemas.microsoft.com/office/drawing/2014/main" val="20004"/>
                    </a:ext>
                  </a:extLst>
                </a:gridCol>
                <a:gridCol w="1522200">
                  <a:extLst>
                    <a:ext uri="{9D8B030D-6E8A-4147-A177-3AD203B41FA5}">
                      <a16:colId xmlns:a16="http://schemas.microsoft.com/office/drawing/2014/main" val="20005"/>
                    </a:ext>
                  </a:extLst>
                </a:gridCol>
                <a:gridCol w="1819475">
                  <a:extLst>
                    <a:ext uri="{9D8B030D-6E8A-4147-A177-3AD203B41FA5}">
                      <a16:colId xmlns:a16="http://schemas.microsoft.com/office/drawing/2014/main" val="20006"/>
                    </a:ext>
                  </a:extLst>
                </a:gridCol>
              </a:tblGrid>
              <a:tr h="1298900">
                <a:tc>
                  <a:txBody>
                    <a:bodyPr/>
                    <a:lstStyle/>
                    <a:p>
                      <a:pPr marL="0" marR="0" lvl="0" indent="0" algn="l" rtl="0">
                        <a:spcBef>
                          <a:spcPts val="0"/>
                        </a:spcBef>
                        <a:spcAft>
                          <a:spcPts val="0"/>
                        </a:spcAft>
                        <a:buNone/>
                      </a:pPr>
                      <a:r>
                        <a:rPr lang="en-US" sz="1700">
                          <a:latin typeface="Arial"/>
                          <a:ea typeface="Arial"/>
                          <a:cs typeface="Arial"/>
                          <a:sym typeface="Arial"/>
                        </a:rPr>
                        <a:t>Ref no, Year of publication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Title </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Methodology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Dataset Used/Existing real time application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parameters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Clr>
                          <a:srgbClr val="000000"/>
                        </a:buClr>
                        <a:buFont typeface="Arial"/>
                        <a:buNone/>
                      </a:pPr>
                      <a:r>
                        <a:rPr lang="en-US" sz="1700">
                          <a:latin typeface="Arial"/>
                          <a:ea typeface="Arial"/>
                          <a:cs typeface="Arial"/>
                          <a:sym typeface="Arial"/>
                        </a:rPr>
                        <a:t>Performance Analysis</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Limitations /Gaps</a:t>
                      </a:r>
                      <a:endParaRPr sz="17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031525">
                <a:tc>
                  <a:txBody>
                    <a:bodyPr/>
                    <a:lstStyle/>
                    <a:p>
                      <a:pPr marL="0" marR="0" lvl="0" indent="0" algn="l" rtl="0">
                        <a:spcBef>
                          <a:spcPts val="0"/>
                        </a:spcBef>
                        <a:spcAft>
                          <a:spcPts val="0"/>
                        </a:spcAft>
                        <a:buNone/>
                      </a:pPr>
                      <a:r>
                        <a:rPr lang="en-US" sz="1450">
                          <a:latin typeface="Arial"/>
                          <a:ea typeface="Arial"/>
                          <a:cs typeface="Arial"/>
                          <a:sym typeface="Arial"/>
                        </a:rPr>
                        <a:t>[1],2020</a:t>
                      </a: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Data-Driven Charging Demand Prediction at Public Charging Stations Using Supervised Machine Learning Regression Methods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Gradient Boosting (XGBoost),</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random Forest (RF),</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Support Vector Machine (SVM)</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The research utilized seven years of charging data from Nebraska to explore applications in scheduling, grid stability, and smart grids.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Coefficient of Determination</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Root Mean Square Error (RMSE),</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Mean Absolute Error (MAE)</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XGBoost achieved an RMSE of 6.68 kWh and an R-squared of 51.9%.</a:t>
                      </a:r>
                      <a:endParaRPr sz="1450">
                        <a:latin typeface="Arial"/>
                        <a:ea typeface="Arial"/>
                        <a:cs typeface="Arial"/>
                        <a:sym typeface="Arial"/>
                      </a:endParaRPr>
                    </a:p>
                    <a:p>
                      <a:pPr marL="0" marR="0" lvl="0" indent="0" algn="l" rtl="0">
                        <a:spcBef>
                          <a:spcPts val="1200"/>
                        </a:spcBef>
                        <a:spcAft>
                          <a:spcPts val="0"/>
                        </a:spcAft>
                        <a:buNone/>
                      </a:pP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Limited dataset, potential difficulties in real-world application, and unforeseen challenges.</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1159875">
                <a:tc>
                  <a:txBody>
                    <a:bodyPr/>
                    <a:lstStyle/>
                    <a:p>
                      <a:pPr marL="0" marR="0" lvl="0" indent="0" algn="l" rtl="0">
                        <a:spcBef>
                          <a:spcPts val="0"/>
                        </a:spcBef>
                        <a:spcAft>
                          <a:spcPts val="0"/>
                        </a:spcAft>
                        <a:buNone/>
                      </a:pPr>
                      <a:r>
                        <a:rPr lang="en-US" sz="1450">
                          <a:latin typeface="Arial"/>
                          <a:ea typeface="Arial"/>
                          <a:cs typeface="Arial"/>
                          <a:sym typeface="Arial"/>
                        </a:rPr>
                        <a:t>[2],2024</a:t>
                      </a:r>
                      <a:endParaRPr sz="1450">
                        <a:latin typeface="Arial"/>
                        <a:ea typeface="Arial"/>
                        <a:cs typeface="Arial"/>
                        <a:sym typeface="Arial"/>
                      </a:endParaRPr>
                    </a:p>
                    <a:p>
                      <a:pPr marL="0" marR="0" lvl="0" indent="0" algn="l" rtl="0">
                        <a:spcBef>
                          <a:spcPts val="0"/>
                        </a:spcBef>
                        <a:spcAft>
                          <a:spcPts val="0"/>
                        </a:spcAft>
                        <a:buNone/>
                      </a:pPr>
                      <a:endParaRPr sz="180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Automatic Fault Detection And Analysis Of Electric Vehicle Charging Station By Machine learning</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Font typeface="Arial"/>
                        <a:buNone/>
                      </a:pPr>
                      <a:r>
                        <a:rPr lang="en-US" sz="1450">
                          <a:latin typeface="Arial"/>
                          <a:ea typeface="Arial"/>
                          <a:cs typeface="Arial"/>
                          <a:sym typeface="Arial"/>
                        </a:rPr>
                        <a:t> SVM, tree-based models, neural networks, semi-supervised learning, XGBoost.</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Font typeface="Arial"/>
                        <a:buNone/>
                      </a:pPr>
                      <a:r>
                        <a:rPr lang="en-US" sz="1450">
                          <a:latin typeface="Arial"/>
                          <a:ea typeface="Arial"/>
                          <a:cs typeface="Arial"/>
                          <a:sym typeface="Arial"/>
                        </a:rPr>
                        <a:t>Real-world EV data (charging rate, temperature, SOC, mileage),  load resistance, simulated fault datasets.</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Fault detection accuracy, training/execution time, algorithm generalizability, statistical error distribution, precision, recall.</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Font typeface="Arial"/>
                        <a:buNone/>
                      </a:pPr>
                      <a:r>
                        <a:rPr lang="en-US" sz="1450">
                          <a:latin typeface="Arial"/>
                          <a:ea typeface="Arial"/>
                          <a:cs typeface="Arial"/>
                          <a:sym typeface="Arial"/>
                        </a:rPr>
                        <a:t> XGBoost achieved 90.34% accuracy; proposed ML algo. reached 94.59% accuracy; </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Clr>
                          <a:schemeClr val="dk1"/>
                        </a:buClr>
                        <a:buSzPts val="1100"/>
                        <a:buFont typeface="Arial"/>
                        <a:buNone/>
                      </a:pPr>
                      <a:r>
                        <a:rPr lang="en-US" sz="1450">
                          <a:latin typeface="Arial"/>
                          <a:ea typeface="Arial"/>
                          <a:cs typeface="Arial"/>
                          <a:sym typeface="Arial"/>
                        </a:rPr>
                        <a:t>Inefficient traditional methods, limited real-world datasets, lack of scalability, need for higher accuracy/ speed.</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aphicFrame>
        <p:nvGraphicFramePr>
          <p:cNvPr id="141" name="Google Shape;141;p25"/>
          <p:cNvGraphicFramePr/>
          <p:nvPr/>
        </p:nvGraphicFramePr>
        <p:xfrm>
          <a:off x="463224" y="256100"/>
          <a:ext cx="11309100" cy="6171810"/>
        </p:xfrm>
        <a:graphic>
          <a:graphicData uri="http://schemas.openxmlformats.org/drawingml/2006/table">
            <a:tbl>
              <a:tblPr firstRow="1" bandRow="1">
                <a:noFill/>
                <a:tableStyleId>{3DCEDA80-B673-418D-BF6B-5EB346B8FE48}</a:tableStyleId>
              </a:tblPr>
              <a:tblGrid>
                <a:gridCol w="1097725">
                  <a:extLst>
                    <a:ext uri="{9D8B030D-6E8A-4147-A177-3AD203B41FA5}">
                      <a16:colId xmlns:a16="http://schemas.microsoft.com/office/drawing/2014/main" val="20000"/>
                    </a:ext>
                  </a:extLst>
                </a:gridCol>
                <a:gridCol w="1528350">
                  <a:extLst>
                    <a:ext uri="{9D8B030D-6E8A-4147-A177-3AD203B41FA5}">
                      <a16:colId xmlns:a16="http://schemas.microsoft.com/office/drawing/2014/main" val="20001"/>
                    </a:ext>
                  </a:extLst>
                </a:gridCol>
                <a:gridCol w="1651750">
                  <a:extLst>
                    <a:ext uri="{9D8B030D-6E8A-4147-A177-3AD203B41FA5}">
                      <a16:colId xmlns:a16="http://schemas.microsoft.com/office/drawing/2014/main" val="20002"/>
                    </a:ext>
                  </a:extLst>
                </a:gridCol>
                <a:gridCol w="1863150">
                  <a:extLst>
                    <a:ext uri="{9D8B030D-6E8A-4147-A177-3AD203B41FA5}">
                      <a16:colId xmlns:a16="http://schemas.microsoft.com/office/drawing/2014/main" val="20003"/>
                    </a:ext>
                  </a:extLst>
                </a:gridCol>
                <a:gridCol w="1655500">
                  <a:extLst>
                    <a:ext uri="{9D8B030D-6E8A-4147-A177-3AD203B41FA5}">
                      <a16:colId xmlns:a16="http://schemas.microsoft.com/office/drawing/2014/main" val="20004"/>
                    </a:ext>
                  </a:extLst>
                </a:gridCol>
                <a:gridCol w="1312125">
                  <a:extLst>
                    <a:ext uri="{9D8B030D-6E8A-4147-A177-3AD203B41FA5}">
                      <a16:colId xmlns:a16="http://schemas.microsoft.com/office/drawing/2014/main" val="20005"/>
                    </a:ext>
                  </a:extLst>
                </a:gridCol>
                <a:gridCol w="2200500">
                  <a:extLst>
                    <a:ext uri="{9D8B030D-6E8A-4147-A177-3AD203B41FA5}">
                      <a16:colId xmlns:a16="http://schemas.microsoft.com/office/drawing/2014/main" val="20006"/>
                    </a:ext>
                  </a:extLst>
                </a:gridCol>
              </a:tblGrid>
              <a:tr h="1165450">
                <a:tc>
                  <a:txBody>
                    <a:bodyPr/>
                    <a:lstStyle/>
                    <a:p>
                      <a:pPr marL="0" marR="0" lvl="0" indent="0" algn="l" rtl="0">
                        <a:spcBef>
                          <a:spcPts val="0"/>
                        </a:spcBef>
                        <a:spcAft>
                          <a:spcPts val="0"/>
                        </a:spcAft>
                        <a:buNone/>
                      </a:pPr>
                      <a:r>
                        <a:rPr lang="en-US" sz="1700">
                          <a:latin typeface="Arial"/>
                          <a:ea typeface="Arial"/>
                          <a:cs typeface="Arial"/>
                          <a:sym typeface="Arial"/>
                        </a:rPr>
                        <a:t>Ref no, Year of publication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      Title </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Methodology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Dataset Used/Existing real time application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parameters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Analysis</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Limitations /Gaps</a:t>
                      </a:r>
                      <a:endParaRPr sz="17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024150">
                <a:tc>
                  <a:txBody>
                    <a:bodyPr/>
                    <a:lstStyle/>
                    <a:p>
                      <a:pPr marL="0" marR="0" lvl="0" indent="0" algn="l" rtl="0">
                        <a:spcBef>
                          <a:spcPts val="0"/>
                        </a:spcBef>
                        <a:spcAft>
                          <a:spcPts val="0"/>
                        </a:spcAft>
                        <a:buNone/>
                      </a:pPr>
                      <a:r>
                        <a:rPr lang="en-US" sz="1500">
                          <a:latin typeface="Arial"/>
                          <a:ea typeface="Arial"/>
                          <a:cs typeface="Arial"/>
                          <a:sym typeface="Arial"/>
                        </a:rPr>
                        <a:t>[3],2024</a:t>
                      </a: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Data-driven Short-term Electric Vehicle Charging Station Demand Forecasting</a:t>
                      </a: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a:latin typeface="Arial"/>
                          <a:ea typeface="Arial"/>
                          <a:cs typeface="Arial"/>
                          <a:sym typeface="Arial"/>
                        </a:rPr>
                        <a:t>Random Forest,Support Vector Machine,Reinforcement Learning</a:t>
                      </a:r>
                      <a:endParaRPr sz="1500">
                        <a:latin typeface="Arial"/>
                        <a:ea typeface="Arial"/>
                        <a:cs typeface="Arial"/>
                        <a:sym typeface="Arial"/>
                      </a:endParaRPr>
                    </a:p>
                    <a:p>
                      <a:pPr marL="0" lvl="0" indent="0" algn="l" rtl="0">
                        <a:spcBef>
                          <a:spcPts val="1200"/>
                        </a:spcBef>
                        <a:spcAft>
                          <a:spcPts val="0"/>
                        </a:spcAft>
                        <a:buClr>
                          <a:schemeClr val="dk1"/>
                        </a:buClr>
                        <a:buSzPts val="1100"/>
                        <a:buFont typeface="Arial"/>
                        <a:buNone/>
                      </a:pPr>
                      <a:endParaRPr sz="15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-Battery Performance Data, Charging and Discharging Cycles Data.</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-Charging Stations, Battery Management Systems.</a:t>
                      </a:r>
                      <a:endParaRPr sz="15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Mean Absolute Error,Root Mean Square Error,</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Coefficient of Determination (R²),Mean Absolute Percentage Error</a:t>
                      </a:r>
                      <a:endParaRPr sz="1500">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High prediction accuracy achieved but requires optimization for real-time deployment.</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a:latin typeface="Arial"/>
                          <a:ea typeface="Arial"/>
                          <a:cs typeface="Arial"/>
                          <a:sym typeface="Arial"/>
                        </a:rPr>
                        <a:t>Data scarcity, integration challenges, and limited adaptability to dynamic conditions.</a:t>
                      </a:r>
                      <a:endParaRPr sz="1500">
                        <a:latin typeface="Arial"/>
                        <a:ea typeface="Arial"/>
                        <a:cs typeface="Arial"/>
                        <a:sym typeface="Arial"/>
                      </a:endParaRPr>
                    </a:p>
                    <a:p>
                      <a:pPr marL="0" lvl="0" indent="0" algn="l" rtl="0">
                        <a:spcBef>
                          <a:spcPts val="1200"/>
                        </a:spcBef>
                        <a:spcAft>
                          <a:spcPts val="0"/>
                        </a:spcAft>
                        <a:buClr>
                          <a:schemeClr val="dk1"/>
                        </a:buClr>
                        <a:buSzPts val="1100"/>
                        <a:buFont typeface="Arial"/>
                        <a:buNone/>
                      </a:pPr>
                      <a:endParaRPr sz="15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marR="0" lvl="0" indent="0" algn="l" rtl="0">
                        <a:spcBef>
                          <a:spcPts val="0"/>
                        </a:spcBef>
                        <a:spcAft>
                          <a:spcPts val="0"/>
                        </a:spcAft>
                        <a:buNone/>
                      </a:pPr>
                      <a:endParaRPr sz="15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853925">
                <a:tc>
                  <a:txBody>
                    <a:bodyPr/>
                    <a:lstStyle/>
                    <a:p>
                      <a:pPr marL="0" marR="0" lvl="0" indent="0" algn="l" rtl="0">
                        <a:spcBef>
                          <a:spcPts val="0"/>
                        </a:spcBef>
                        <a:spcAft>
                          <a:spcPts val="0"/>
                        </a:spcAft>
                        <a:buNone/>
                      </a:pPr>
                      <a:r>
                        <a:rPr lang="en-US">
                          <a:latin typeface="Arial"/>
                          <a:ea typeface="Arial"/>
                          <a:cs typeface="Arial"/>
                          <a:sym typeface="Arial"/>
                        </a:rPr>
                        <a:t>[4],2023</a:t>
                      </a:r>
                      <a:endParaRPr>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Machine Learning-based Electric Vehicle User Behavior Prediction</a:t>
                      </a: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supervised learning techniques, feature engineering, data cleaning, and preprocessing.</a:t>
                      </a:r>
                      <a:endParaRPr>
                        <a:latin typeface="Arial"/>
                        <a:ea typeface="Arial"/>
                        <a:cs typeface="Arial"/>
                        <a:sym typeface="Arial"/>
                      </a:endParaRPr>
                    </a:p>
                    <a:p>
                      <a:pPr marL="0" marR="0" lvl="0" indent="0" algn="l" rtl="0">
                        <a:spcBef>
                          <a:spcPts val="1200"/>
                        </a:spcBef>
                        <a:spcAft>
                          <a:spcPts val="0"/>
                        </a:spcAft>
                        <a:buNone/>
                      </a:pPr>
                      <a:endParaRPr>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Public charging dataset from Caltech Adaptive Charging Network (ACN), weather data from local station, and U.S. federal holidays calendar (2019)</a:t>
                      </a:r>
                      <a:endParaRPr>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Mean Absolute Error (MAE), Symmetric Mean Absolute Percentage Error (SMAPE), Root Mean Squared Error (RMSE), R² score</a:t>
                      </a:r>
                      <a:endParaRPr>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Achieved MAE of 1.45 kWh (energy consumption) and 66.5 minutes (session duration); improved prediction errors </a:t>
                      </a:r>
                      <a:endParaRPr>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Clr>
                          <a:schemeClr val="dk1"/>
                        </a:buClr>
                        <a:buSzPts val="1100"/>
                        <a:buFont typeface="Arial"/>
                        <a:buNone/>
                      </a:pPr>
                      <a:r>
                        <a:rPr lang="en-US" sz="1450">
                          <a:latin typeface="Arial"/>
                          <a:ea typeface="Arial"/>
                          <a:cs typeface="Arial"/>
                          <a:sym typeface="Arial"/>
                        </a:rPr>
                        <a:t>Highly stochastic nature of public charging behavior compared to residential; dataset limited to a single location and year.</a:t>
                      </a:r>
                      <a:endParaRPr>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graphicFrame>
        <p:nvGraphicFramePr>
          <p:cNvPr id="147" name="Google Shape;147;p26"/>
          <p:cNvGraphicFramePr/>
          <p:nvPr/>
        </p:nvGraphicFramePr>
        <p:xfrm>
          <a:off x="455274" y="312013"/>
          <a:ext cx="3000000" cy="3000000"/>
        </p:xfrm>
        <a:graphic>
          <a:graphicData uri="http://schemas.openxmlformats.org/drawingml/2006/table">
            <a:tbl>
              <a:tblPr firstRow="1" bandRow="1">
                <a:noFill/>
                <a:tableStyleId>{3DCEDA80-B673-418D-BF6B-5EB346B8FE48}</a:tableStyleId>
              </a:tblPr>
              <a:tblGrid>
                <a:gridCol w="1016525">
                  <a:extLst>
                    <a:ext uri="{9D8B030D-6E8A-4147-A177-3AD203B41FA5}">
                      <a16:colId xmlns:a16="http://schemas.microsoft.com/office/drawing/2014/main" val="20000"/>
                    </a:ext>
                  </a:extLst>
                </a:gridCol>
                <a:gridCol w="1689125">
                  <a:extLst>
                    <a:ext uri="{9D8B030D-6E8A-4147-A177-3AD203B41FA5}">
                      <a16:colId xmlns:a16="http://schemas.microsoft.com/office/drawing/2014/main" val="20001"/>
                    </a:ext>
                  </a:extLst>
                </a:gridCol>
                <a:gridCol w="1763525">
                  <a:extLst>
                    <a:ext uri="{9D8B030D-6E8A-4147-A177-3AD203B41FA5}">
                      <a16:colId xmlns:a16="http://schemas.microsoft.com/office/drawing/2014/main" val="20002"/>
                    </a:ext>
                  </a:extLst>
                </a:gridCol>
                <a:gridCol w="1711700">
                  <a:extLst>
                    <a:ext uri="{9D8B030D-6E8A-4147-A177-3AD203B41FA5}">
                      <a16:colId xmlns:a16="http://schemas.microsoft.com/office/drawing/2014/main" val="20003"/>
                    </a:ext>
                  </a:extLst>
                </a:gridCol>
                <a:gridCol w="1657325">
                  <a:extLst>
                    <a:ext uri="{9D8B030D-6E8A-4147-A177-3AD203B41FA5}">
                      <a16:colId xmlns:a16="http://schemas.microsoft.com/office/drawing/2014/main" val="20004"/>
                    </a:ext>
                  </a:extLst>
                </a:gridCol>
                <a:gridCol w="1736700">
                  <a:extLst>
                    <a:ext uri="{9D8B030D-6E8A-4147-A177-3AD203B41FA5}">
                      <a16:colId xmlns:a16="http://schemas.microsoft.com/office/drawing/2014/main" val="20005"/>
                    </a:ext>
                  </a:extLst>
                </a:gridCol>
                <a:gridCol w="1741050">
                  <a:extLst>
                    <a:ext uri="{9D8B030D-6E8A-4147-A177-3AD203B41FA5}">
                      <a16:colId xmlns:a16="http://schemas.microsoft.com/office/drawing/2014/main" val="20006"/>
                    </a:ext>
                  </a:extLst>
                </a:gridCol>
              </a:tblGrid>
              <a:tr h="1072150">
                <a:tc>
                  <a:txBody>
                    <a:bodyPr/>
                    <a:lstStyle/>
                    <a:p>
                      <a:pPr marL="0" marR="0" lvl="0" indent="0" algn="l" rtl="0">
                        <a:spcBef>
                          <a:spcPts val="0"/>
                        </a:spcBef>
                        <a:spcAft>
                          <a:spcPts val="0"/>
                        </a:spcAft>
                        <a:buNone/>
                      </a:pPr>
                      <a:r>
                        <a:rPr lang="en-US" sz="1700">
                          <a:latin typeface="Arial"/>
                          <a:ea typeface="Arial"/>
                          <a:cs typeface="Arial"/>
                          <a:sym typeface="Arial"/>
                        </a:rPr>
                        <a:t>Ref no, Year of publication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Title </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Methodology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Dataset Used/Existing real time application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parameters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Analysis</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Limitations /Gaps</a:t>
                      </a:r>
                      <a:endParaRPr sz="17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553500">
                <a:tc>
                  <a:txBody>
                    <a:bodyPr/>
                    <a:lstStyle/>
                    <a:p>
                      <a:pPr marL="0" marR="0" lvl="0" indent="0" algn="l" rtl="0">
                        <a:spcBef>
                          <a:spcPts val="0"/>
                        </a:spcBef>
                        <a:spcAft>
                          <a:spcPts val="0"/>
                        </a:spcAft>
                        <a:buNone/>
                      </a:pPr>
                      <a:r>
                        <a:rPr lang="en-US" sz="1500">
                          <a:latin typeface="Arial"/>
                          <a:ea typeface="Arial"/>
                          <a:cs typeface="Arial"/>
                          <a:sym typeface="Arial"/>
                        </a:rPr>
                        <a:t>[5],2023</a:t>
                      </a: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Quality of Service Evaluation and Forecast for EV Charging Based on Real-World Data.</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Clr>
                          <a:schemeClr val="dk1"/>
                        </a:buClr>
                        <a:buSzPts val="1100"/>
                        <a:buFont typeface="Arial"/>
                        <a:buNone/>
                      </a:pPr>
                      <a:r>
                        <a:rPr lang="en-US" sz="1450">
                          <a:latin typeface="Arial"/>
                          <a:ea typeface="Arial"/>
                          <a:cs typeface="Arial"/>
                          <a:sym typeface="Arial"/>
                        </a:rPr>
                        <a:t>M/G/K queue model, SARIMAX forecasting, simulation framework.</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None/>
                      </a:pPr>
                      <a:r>
                        <a:rPr lang="en-US" sz="1450">
                          <a:latin typeface="Arial"/>
                          <a:ea typeface="Arial"/>
                          <a:cs typeface="Arial"/>
                          <a:sym typeface="Arial"/>
                        </a:rPr>
                        <a:t>6M records from Hydro-Quebec (2018-2022).</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Charging Requests, Site Utilization, Occupancy, Blocking Probability, Waiting EVs, Avg. Waiting Time, QoS Evaluation.</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QoS evaluation, demand forecasting, simulation of charging behavior.</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Data gaps, regional generalization, COVID data gaps, limited exogenous factors, scalability issues.</a:t>
                      </a:r>
                      <a:endParaRPr sz="1450">
                        <a:latin typeface="Arial"/>
                        <a:ea typeface="Arial"/>
                        <a:cs typeface="Arial"/>
                        <a:sym typeface="Arial"/>
                      </a:endParaRPr>
                    </a:p>
                    <a:p>
                      <a:pPr marL="0" marR="0" lvl="0" indent="0" algn="l" rtl="0">
                        <a:spcBef>
                          <a:spcPts val="1200"/>
                        </a:spcBef>
                        <a:spcAft>
                          <a:spcPts val="0"/>
                        </a:spcAft>
                        <a:buNone/>
                      </a:pP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2530125">
                <a:tc>
                  <a:txBody>
                    <a:bodyPr/>
                    <a:lstStyle/>
                    <a:p>
                      <a:pPr marL="0" marR="0" lvl="0" indent="0" algn="l" rtl="0">
                        <a:spcBef>
                          <a:spcPts val="0"/>
                        </a:spcBef>
                        <a:spcAft>
                          <a:spcPts val="0"/>
                        </a:spcAft>
                        <a:buNone/>
                      </a:pPr>
                      <a:r>
                        <a:rPr lang="en-US">
                          <a:latin typeface="Arial"/>
                          <a:ea typeface="Arial"/>
                          <a:cs typeface="Arial"/>
                          <a:sym typeface="Arial"/>
                        </a:rPr>
                        <a:t>[6],2023</a:t>
                      </a:r>
                      <a:endParaRPr>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Optimizing Electric Vehicle Charging Station Placement in Urban Areas: A Data-Driven Approach.</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Data Analysis,</a:t>
                      </a:r>
                      <a:endParaRPr>
                        <a:latin typeface="Arial"/>
                        <a:ea typeface="Arial"/>
                        <a:cs typeface="Arial"/>
                        <a:sym typeface="Arial"/>
                      </a:endParaRPr>
                    </a:p>
                    <a:p>
                      <a:pPr marL="0" lvl="0" indent="0" algn="l" rtl="0">
                        <a:spcBef>
                          <a:spcPts val="0"/>
                        </a:spcBef>
                        <a:spcAft>
                          <a:spcPts val="0"/>
                        </a:spcAft>
                        <a:buSzPts val="1100"/>
                        <a:buNone/>
                      </a:pPr>
                      <a:r>
                        <a:rPr lang="en-US">
                          <a:latin typeface="Arial"/>
                          <a:ea typeface="Arial"/>
                          <a:cs typeface="Arial"/>
                          <a:sym typeface="Arial"/>
                        </a:rPr>
                        <a:t>ML( k-means clustering,),Optimization Algorithm</a:t>
                      </a:r>
                      <a:r>
                        <a:rPr lang="en-US" sz="1350">
                          <a:latin typeface="Arial"/>
                          <a:ea typeface="Arial"/>
                          <a:cs typeface="Arial"/>
                          <a:sym typeface="Arial"/>
                        </a:rPr>
                        <a:t>.</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Real-world driving and charging data from metropolitan urban areas.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Peak-to-Average Ratio (PAR)</a:t>
                      </a:r>
                      <a:endParaRPr>
                        <a:latin typeface="Arial"/>
                        <a:ea typeface="Arial"/>
                        <a:cs typeface="Arial"/>
                        <a:sym typeface="Arial"/>
                      </a:endParaRPr>
                    </a:p>
                    <a:p>
                      <a:pPr marL="0" lvl="0" indent="0" algn="l" rtl="0">
                        <a:spcBef>
                          <a:spcPts val="0"/>
                        </a:spcBef>
                        <a:spcAft>
                          <a:spcPts val="0"/>
                        </a:spcAft>
                        <a:buNone/>
                      </a:pPr>
                      <a:r>
                        <a:rPr lang="en-US">
                          <a:latin typeface="Arial"/>
                          <a:ea typeface="Arial"/>
                          <a:cs typeface="Arial"/>
                          <a:sym typeface="Arial"/>
                        </a:rPr>
                        <a:t>Charging Waiting Time</a:t>
                      </a:r>
                      <a:endParaRPr>
                        <a:latin typeface="Arial"/>
                        <a:ea typeface="Arial"/>
                        <a:cs typeface="Arial"/>
                        <a:sym typeface="Arial"/>
                      </a:endParaRPr>
                    </a:p>
                    <a:p>
                      <a:pPr marL="0" lvl="0" indent="0" algn="l" rtl="0">
                        <a:spcBef>
                          <a:spcPts val="0"/>
                        </a:spcBef>
                        <a:spcAft>
                          <a:spcPts val="0"/>
                        </a:spcAft>
                        <a:buNone/>
                      </a:pPr>
                      <a:r>
                        <a:rPr lang="en-US">
                          <a:latin typeface="Arial"/>
                          <a:ea typeface="Arial"/>
                          <a:cs typeface="Arial"/>
                          <a:sym typeface="Arial"/>
                        </a:rPr>
                        <a:t>Operating Cost.</a:t>
                      </a:r>
                      <a:endParaRPr sz="150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Clr>
                          <a:schemeClr val="dk1"/>
                        </a:buClr>
                        <a:buSzPts val="1100"/>
                        <a:buFont typeface="Arial"/>
                        <a:buNone/>
                      </a:pPr>
                      <a:r>
                        <a:rPr lang="en-US">
                          <a:latin typeface="Arial"/>
                          <a:ea typeface="Arial"/>
                          <a:cs typeface="Arial"/>
                          <a:sym typeface="Arial"/>
                        </a:rPr>
                        <a:t>Reduced waiting time (67.6 to 22.8 min), power consumption (PAR 3.17 to 1.23), and costs (electricity 17.4%, maintenance 31.8%)</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Limited dataset and user behavior variability</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Missing real-time traffic/weather data, generalization issues.</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aphicFrame>
        <p:nvGraphicFramePr>
          <p:cNvPr id="152" name="Google Shape;152;p27"/>
          <p:cNvGraphicFramePr/>
          <p:nvPr/>
        </p:nvGraphicFramePr>
        <p:xfrm>
          <a:off x="461049" y="282750"/>
          <a:ext cx="3000000" cy="3000000"/>
        </p:xfrm>
        <a:graphic>
          <a:graphicData uri="http://schemas.openxmlformats.org/drawingml/2006/table">
            <a:tbl>
              <a:tblPr firstRow="1" bandRow="1">
                <a:noFill/>
                <a:tableStyleId>{3DCEDA80-B673-418D-BF6B-5EB346B8FE48}</a:tableStyleId>
              </a:tblPr>
              <a:tblGrid>
                <a:gridCol w="110845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703975">
                  <a:extLst>
                    <a:ext uri="{9D8B030D-6E8A-4147-A177-3AD203B41FA5}">
                      <a16:colId xmlns:a16="http://schemas.microsoft.com/office/drawing/2014/main" val="20002"/>
                    </a:ext>
                  </a:extLst>
                </a:gridCol>
                <a:gridCol w="1709150">
                  <a:extLst>
                    <a:ext uri="{9D8B030D-6E8A-4147-A177-3AD203B41FA5}">
                      <a16:colId xmlns:a16="http://schemas.microsoft.com/office/drawing/2014/main" val="20003"/>
                    </a:ext>
                  </a:extLst>
                </a:gridCol>
                <a:gridCol w="1659775">
                  <a:extLst>
                    <a:ext uri="{9D8B030D-6E8A-4147-A177-3AD203B41FA5}">
                      <a16:colId xmlns:a16="http://schemas.microsoft.com/office/drawing/2014/main" val="20004"/>
                    </a:ext>
                  </a:extLst>
                </a:gridCol>
                <a:gridCol w="1525600">
                  <a:extLst>
                    <a:ext uri="{9D8B030D-6E8A-4147-A177-3AD203B41FA5}">
                      <a16:colId xmlns:a16="http://schemas.microsoft.com/office/drawing/2014/main" val="20005"/>
                    </a:ext>
                  </a:extLst>
                </a:gridCol>
                <a:gridCol w="1942000">
                  <a:extLst>
                    <a:ext uri="{9D8B030D-6E8A-4147-A177-3AD203B41FA5}">
                      <a16:colId xmlns:a16="http://schemas.microsoft.com/office/drawing/2014/main" val="20006"/>
                    </a:ext>
                  </a:extLst>
                </a:gridCol>
              </a:tblGrid>
              <a:tr h="1301150">
                <a:tc>
                  <a:txBody>
                    <a:bodyPr/>
                    <a:lstStyle/>
                    <a:p>
                      <a:pPr marL="0" marR="0" lvl="0" indent="0" algn="l" rtl="0">
                        <a:spcBef>
                          <a:spcPts val="0"/>
                        </a:spcBef>
                        <a:spcAft>
                          <a:spcPts val="0"/>
                        </a:spcAft>
                        <a:buNone/>
                      </a:pPr>
                      <a:r>
                        <a:rPr lang="en-US" sz="1800">
                          <a:latin typeface="Arial"/>
                          <a:ea typeface="Arial"/>
                          <a:cs typeface="Arial"/>
                          <a:sym typeface="Arial"/>
                        </a:rPr>
                        <a:t>Ref no, Year of publication</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Title </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Methodology Used</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Dataset Used/Existing real time application</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Performance parameters used</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Performance Analysis</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Limitations /Gaps</a:t>
                      </a:r>
                      <a:endParaRPr sz="18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337250">
                <a:tc>
                  <a:txBody>
                    <a:bodyPr/>
                    <a:lstStyle/>
                    <a:p>
                      <a:pPr marL="0" marR="0" lvl="0" indent="0" algn="l" rtl="0">
                        <a:spcBef>
                          <a:spcPts val="0"/>
                        </a:spcBef>
                        <a:spcAft>
                          <a:spcPts val="0"/>
                        </a:spcAft>
                        <a:buNone/>
                      </a:pPr>
                      <a:r>
                        <a:rPr lang="en-US" sz="1450">
                          <a:latin typeface="Arial"/>
                          <a:ea typeface="Arial"/>
                          <a:cs typeface="Arial"/>
                          <a:sym typeface="Arial"/>
                        </a:rPr>
                        <a:t>[7],2023</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Enhancement of Charging Efficiency of Batteries for Electric Vehicles: Review.</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Support Vector Machines,Fuzzy Logic Systems,Artificial Neural Networks (ANN).</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Datasets: Battery performance, charge cycles.</a:t>
                      </a:r>
                      <a:endParaRPr sz="1450">
                        <a:latin typeface="Arial"/>
                        <a:ea typeface="Arial"/>
                        <a:cs typeface="Arial"/>
                        <a:sym typeface="Arial"/>
                      </a:endParaRPr>
                    </a:p>
                    <a:p>
                      <a:pPr marL="0" lvl="0" indent="0" algn="l" rtl="0">
                        <a:spcBef>
                          <a:spcPts val="0"/>
                        </a:spcBef>
                        <a:spcAft>
                          <a:spcPts val="0"/>
                        </a:spcAft>
                        <a:buClr>
                          <a:schemeClr val="dk1"/>
                        </a:buClr>
                        <a:buFont typeface="Arial"/>
                        <a:buNone/>
                      </a:pPr>
                      <a:r>
                        <a:rPr lang="en-US" sz="1450">
                          <a:latin typeface="Arial"/>
                          <a:ea typeface="Arial"/>
                          <a:cs typeface="Arial"/>
                          <a:sym typeface="Arial"/>
                        </a:rPr>
                        <a:t>Applications: EV stations, BMS.</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Charging efficiency, state of charge (SOC) prediction accuracy, battery health monitoring effectiveness.</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Machine learning improves SOC prediction accuracy, advanced BMS enhances battery monitoring and protection.</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High Computational Demands,Data Availability,affordable charging challenges.</a:t>
                      </a:r>
                      <a:endParaRPr sz="145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45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1450">
                        <a:latin typeface="Arial"/>
                        <a:ea typeface="Arial"/>
                        <a:cs typeface="Arial"/>
                        <a:sym typeface="Arial"/>
                      </a:endParaRPr>
                    </a:p>
                    <a:p>
                      <a:pPr marL="0" marR="0" lvl="0" indent="0" algn="l" rtl="0">
                        <a:spcBef>
                          <a:spcPts val="1200"/>
                        </a:spcBef>
                        <a:spcAft>
                          <a:spcPts val="0"/>
                        </a:spcAft>
                        <a:buNone/>
                      </a:pP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853925">
                <a:tc>
                  <a:txBody>
                    <a:bodyPr/>
                    <a:lstStyle/>
                    <a:p>
                      <a:pPr marL="0" marR="0" lvl="0" indent="0" algn="l" rtl="0">
                        <a:spcBef>
                          <a:spcPts val="0"/>
                        </a:spcBef>
                        <a:spcAft>
                          <a:spcPts val="0"/>
                        </a:spcAft>
                        <a:buNone/>
                      </a:pPr>
                      <a:r>
                        <a:rPr lang="en-US" sz="1450">
                          <a:latin typeface="Arial"/>
                          <a:ea typeface="Arial"/>
                          <a:cs typeface="Arial"/>
                          <a:sym typeface="Arial"/>
                        </a:rPr>
                        <a:t>[8],2023</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Design and Development of Smart Charging Infrastructure for Electric Vehicles.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Cloud-based intelligent models, , Linear and Binary Search for station filtering, priority scheduling for slot allocation..</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Combined dataset of 24,740 US EV stations and 3,395 charging sessions from Harvard Dataverse.</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Accuracy , classification metrics (confusion matrix), price and distance prediction accuracy, scheduling efficiency.</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Clr>
                          <a:schemeClr val="dk1"/>
                        </a:buClr>
                        <a:buSzPts val="1100"/>
                        <a:buFont typeface="Arial"/>
                        <a:buNone/>
                      </a:pPr>
                      <a:r>
                        <a:rPr lang="en-US" sz="1450">
                          <a:latin typeface="Arial"/>
                          <a:ea typeface="Arial"/>
                          <a:cs typeface="Arial"/>
                          <a:sym typeface="Arial"/>
                        </a:rPr>
                        <a:t>Gradient Boosting showed high accuracy,, effective station filtering with search algorithms.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Limited real-time dynamic factors, less personalized user preferences, V2G functionality not implemented.</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graphicFrame>
        <p:nvGraphicFramePr>
          <p:cNvPr id="158" name="Google Shape;158;p28"/>
          <p:cNvGraphicFramePr/>
          <p:nvPr/>
        </p:nvGraphicFramePr>
        <p:xfrm>
          <a:off x="451888" y="375240"/>
          <a:ext cx="3000000" cy="3000000"/>
        </p:xfrm>
        <a:graphic>
          <a:graphicData uri="http://schemas.openxmlformats.org/drawingml/2006/table">
            <a:tbl>
              <a:tblPr firstRow="1" bandRow="1">
                <a:noFill/>
                <a:tableStyleId>{3DCEDA80-B673-418D-BF6B-5EB346B8FE48}</a:tableStyleId>
              </a:tblPr>
              <a:tblGrid>
                <a:gridCol w="1070850">
                  <a:extLst>
                    <a:ext uri="{9D8B030D-6E8A-4147-A177-3AD203B41FA5}">
                      <a16:colId xmlns:a16="http://schemas.microsoft.com/office/drawing/2014/main" val="20000"/>
                    </a:ext>
                  </a:extLst>
                </a:gridCol>
                <a:gridCol w="1799275">
                  <a:extLst>
                    <a:ext uri="{9D8B030D-6E8A-4147-A177-3AD203B41FA5}">
                      <a16:colId xmlns:a16="http://schemas.microsoft.com/office/drawing/2014/main" val="20001"/>
                    </a:ext>
                  </a:extLst>
                </a:gridCol>
                <a:gridCol w="1605325">
                  <a:extLst>
                    <a:ext uri="{9D8B030D-6E8A-4147-A177-3AD203B41FA5}">
                      <a16:colId xmlns:a16="http://schemas.microsoft.com/office/drawing/2014/main" val="20002"/>
                    </a:ext>
                  </a:extLst>
                </a:gridCol>
                <a:gridCol w="1714100">
                  <a:extLst>
                    <a:ext uri="{9D8B030D-6E8A-4147-A177-3AD203B41FA5}">
                      <a16:colId xmlns:a16="http://schemas.microsoft.com/office/drawing/2014/main" val="20003"/>
                    </a:ext>
                  </a:extLst>
                </a:gridCol>
                <a:gridCol w="1537125">
                  <a:extLst>
                    <a:ext uri="{9D8B030D-6E8A-4147-A177-3AD203B41FA5}">
                      <a16:colId xmlns:a16="http://schemas.microsoft.com/office/drawing/2014/main" val="20004"/>
                    </a:ext>
                  </a:extLst>
                </a:gridCol>
                <a:gridCol w="1657425">
                  <a:extLst>
                    <a:ext uri="{9D8B030D-6E8A-4147-A177-3AD203B41FA5}">
                      <a16:colId xmlns:a16="http://schemas.microsoft.com/office/drawing/2014/main" val="20005"/>
                    </a:ext>
                  </a:extLst>
                </a:gridCol>
                <a:gridCol w="1947575">
                  <a:extLst>
                    <a:ext uri="{9D8B030D-6E8A-4147-A177-3AD203B41FA5}">
                      <a16:colId xmlns:a16="http://schemas.microsoft.com/office/drawing/2014/main" val="20006"/>
                    </a:ext>
                  </a:extLst>
                </a:gridCol>
              </a:tblGrid>
              <a:tr h="969425">
                <a:tc>
                  <a:txBody>
                    <a:bodyPr/>
                    <a:lstStyle/>
                    <a:p>
                      <a:pPr marL="0" marR="0" lvl="0" indent="0" algn="l" rtl="0">
                        <a:spcBef>
                          <a:spcPts val="0"/>
                        </a:spcBef>
                        <a:spcAft>
                          <a:spcPts val="0"/>
                        </a:spcAft>
                        <a:buNone/>
                      </a:pPr>
                      <a:r>
                        <a:rPr lang="en-US" sz="1700">
                          <a:latin typeface="Arial"/>
                          <a:ea typeface="Arial"/>
                          <a:cs typeface="Arial"/>
                          <a:sym typeface="Arial"/>
                        </a:rPr>
                        <a:t>Ref no, Year of publication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Title </a:t>
                      </a:r>
                      <a:endParaRPr sz="1700">
                        <a:latin typeface="Arial"/>
                        <a:ea typeface="Arial"/>
                        <a:cs typeface="Arial"/>
                        <a:sym typeface="Arial"/>
                      </a:endParaRPr>
                    </a:p>
                  </a:txBody>
                  <a:tcPr marL="91450" marR="91450" marT="45725" marB="45725">
                    <a:lnB w="76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700">
                          <a:latin typeface="Arial"/>
                          <a:ea typeface="Arial"/>
                          <a:cs typeface="Arial"/>
                          <a:sym typeface="Arial"/>
                        </a:rPr>
                        <a:t>Methodology Used</a:t>
                      </a:r>
                      <a:endParaRPr sz="1700">
                        <a:latin typeface="Arial"/>
                        <a:ea typeface="Arial"/>
                        <a:cs typeface="Arial"/>
                        <a:sym typeface="Arial"/>
                      </a:endParaRPr>
                    </a:p>
                  </a:txBody>
                  <a:tcPr marL="91450" marR="91450" marT="45725" marB="45725">
                    <a:lnB w="76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700">
                          <a:latin typeface="Arial"/>
                          <a:ea typeface="Arial"/>
                          <a:cs typeface="Arial"/>
                          <a:sym typeface="Arial"/>
                        </a:rPr>
                        <a:t>Dataset Used/Existing real time application</a:t>
                      </a:r>
                      <a:endParaRPr sz="1700">
                        <a:latin typeface="Arial"/>
                        <a:ea typeface="Arial"/>
                        <a:cs typeface="Arial"/>
                        <a:sym typeface="Arial"/>
                      </a:endParaRPr>
                    </a:p>
                  </a:txBody>
                  <a:tcPr marL="91450" marR="91450" marT="45725" marB="45725">
                    <a:lnB w="76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700">
                          <a:latin typeface="Arial"/>
                          <a:ea typeface="Arial"/>
                          <a:cs typeface="Arial"/>
                          <a:sym typeface="Arial"/>
                        </a:rPr>
                        <a:t>Performance parameters used</a:t>
                      </a:r>
                      <a:endParaRPr sz="1700">
                        <a:latin typeface="Arial"/>
                        <a:ea typeface="Arial"/>
                        <a:cs typeface="Arial"/>
                        <a:sym typeface="Arial"/>
                      </a:endParaRPr>
                    </a:p>
                  </a:txBody>
                  <a:tcPr marL="91450" marR="91450" marT="45725" marB="45725">
                    <a:lnB w="76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700">
                          <a:latin typeface="Arial"/>
                          <a:ea typeface="Arial"/>
                          <a:cs typeface="Arial"/>
                          <a:sym typeface="Arial"/>
                        </a:rPr>
                        <a:t>Performance Analysis</a:t>
                      </a:r>
                      <a:endParaRPr sz="1700">
                        <a:latin typeface="Arial"/>
                        <a:ea typeface="Arial"/>
                        <a:cs typeface="Arial"/>
                        <a:sym typeface="Arial"/>
                      </a:endParaRPr>
                    </a:p>
                  </a:txBody>
                  <a:tcPr marL="91450" marR="91450" marT="45725" marB="45725">
                    <a:lnB w="76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700">
                          <a:latin typeface="Arial"/>
                          <a:ea typeface="Arial"/>
                          <a:cs typeface="Arial"/>
                          <a:sym typeface="Arial"/>
                        </a:rPr>
                        <a:t>Limitations /Gaps</a:t>
                      </a:r>
                      <a:endParaRPr sz="17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307825">
                <a:tc>
                  <a:txBody>
                    <a:bodyPr/>
                    <a:lstStyle/>
                    <a:p>
                      <a:pPr marL="0" marR="0" lvl="0" indent="0" algn="l" rtl="0">
                        <a:spcBef>
                          <a:spcPts val="0"/>
                        </a:spcBef>
                        <a:spcAft>
                          <a:spcPts val="0"/>
                        </a:spcAft>
                        <a:buNone/>
                      </a:pPr>
                      <a:r>
                        <a:rPr lang="en-US" sz="1600">
                          <a:latin typeface="Arial"/>
                          <a:ea typeface="Arial"/>
                          <a:cs typeface="Arial"/>
                          <a:sym typeface="Arial"/>
                        </a:rPr>
                        <a:t>[9],2022</a:t>
                      </a:r>
                      <a:endParaRPr sz="1600">
                        <a:latin typeface="Arial"/>
                        <a:ea typeface="Arial"/>
                        <a:cs typeface="Arial"/>
                        <a:sym typeface="Arial"/>
                      </a:endParaRPr>
                    </a:p>
                  </a:txBody>
                  <a:tcPr marL="91450" marR="91450" marT="45725" marB="45725">
                    <a:lnR w="7625" cap="flat" cmpd="sng">
                      <a:solidFill>
                        <a:schemeClr val="lt1"/>
                      </a:solidFill>
                      <a:prstDash val="solid"/>
                      <a:round/>
                      <a:headEnd type="none" w="sm" len="sm"/>
                      <a:tailEnd type="none" w="sm" len="sm"/>
                    </a:lnR>
                  </a:tcPr>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Electric Vehicle Charging Behavior Prediction using Machine Learning Models</a:t>
                      </a:r>
                      <a:endParaRPr>
                        <a:latin typeface="Arial"/>
                        <a:ea typeface="Arial"/>
                        <a:cs typeface="Arial"/>
                        <a:sym typeface="Arial"/>
                      </a:endParaRPr>
                    </a:p>
                  </a:txBody>
                  <a:tcPr marL="68575" marR="68575" marT="91425" marB="91425">
                    <a:lnL w="7625" cap="flat" cmpd="sng">
                      <a:solidFill>
                        <a:schemeClr val="lt1"/>
                      </a:solidFill>
                      <a:prstDash val="solid"/>
                      <a:round/>
                      <a:headEnd type="none" w="sm" len="sm"/>
                      <a:tailEnd type="none" w="sm" len="sm"/>
                    </a:lnL>
                    <a:lnR w="7625" cap="flat" cmpd="sng">
                      <a:solidFill>
                        <a:schemeClr val="lt1"/>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chemeClr val="lt1"/>
                      </a:solidFill>
                      <a:prstDash val="solid"/>
                      <a:round/>
                      <a:headEnd type="none" w="sm" len="sm"/>
                      <a:tailEnd type="none" w="sm" len="sm"/>
                    </a:lnB>
                  </a:tcPr>
                </a:tc>
                <a:tc>
                  <a:txBody>
                    <a:bodyPr/>
                    <a:lstStyle/>
                    <a:p>
                      <a:pPr marL="0" lvl="0" indent="0" algn="l" rtl="0">
                        <a:lnSpc>
                          <a:spcPct val="115000"/>
                        </a:lnSpc>
                        <a:spcBef>
                          <a:spcPts val="1200"/>
                        </a:spcBef>
                        <a:spcAft>
                          <a:spcPts val="1200"/>
                        </a:spcAft>
                        <a:buClr>
                          <a:schemeClr val="dk1"/>
                        </a:buClr>
                        <a:buSzPts val="1100"/>
                        <a:buFont typeface="Arial"/>
                        <a:buNone/>
                      </a:pPr>
                      <a:r>
                        <a:rPr lang="en-US">
                          <a:latin typeface="Arial"/>
                          <a:ea typeface="Arial"/>
                          <a:cs typeface="Arial"/>
                          <a:sym typeface="Arial"/>
                        </a:rPr>
                        <a:t>K-means clustering,Machine Learning models (Random Forest, XGBoost).</a:t>
                      </a:r>
                      <a:endParaRPr>
                        <a:latin typeface="Arial"/>
                        <a:ea typeface="Arial"/>
                        <a:cs typeface="Arial"/>
                        <a:sym typeface="Arial"/>
                      </a:endParaRPr>
                    </a:p>
                  </a:txBody>
                  <a:tcPr marL="68575" marR="68575" marT="91425" marB="91425">
                    <a:lnL w="7625" cap="flat" cmpd="sng">
                      <a:solidFill>
                        <a:schemeClr val="lt1"/>
                      </a:solidFill>
                      <a:prstDash val="solid"/>
                      <a:round/>
                      <a:headEnd type="none" w="sm" len="sm"/>
                      <a:tailEnd type="none" w="sm" len="sm"/>
                    </a:lnL>
                    <a:lnR w="7625" cap="flat" cmpd="sng">
                      <a:solidFill>
                        <a:schemeClr val="lt1"/>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Adaptive Charging Network (ACN) dataset with over 30,000 charging sessions from Pasadena, California.</a:t>
                      </a:r>
                      <a:endParaRPr>
                        <a:latin typeface="Arial"/>
                        <a:ea typeface="Arial"/>
                        <a:cs typeface="Arial"/>
                        <a:sym typeface="Arial"/>
                      </a:endParaRPr>
                    </a:p>
                  </a:txBody>
                  <a:tcPr marL="68575" marR="68575" marT="91425" marB="91425">
                    <a:lnL w="7625" cap="flat" cmpd="sng">
                      <a:solidFill>
                        <a:schemeClr val="lt1"/>
                      </a:solidFill>
                      <a:prstDash val="solid"/>
                      <a:round/>
                      <a:headEnd type="none" w="sm" len="sm"/>
                      <a:tailEnd type="none" w="sm" len="sm"/>
                    </a:lnL>
                    <a:lnR w="7625" cap="flat" cmpd="sng">
                      <a:solidFill>
                        <a:schemeClr val="lt1"/>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Silhouette Index for clustering; Mean Absolute Percentage Error (MAPE) for prediction</a:t>
                      </a:r>
                      <a:endParaRPr>
                        <a:latin typeface="Arial"/>
                        <a:ea typeface="Arial"/>
                        <a:cs typeface="Arial"/>
                        <a:sym typeface="Arial"/>
                      </a:endParaRPr>
                    </a:p>
                  </a:txBody>
                  <a:tcPr marL="68575" marR="68575" marT="91425" marB="91425">
                    <a:lnL w="7625" cap="flat" cmpd="sng">
                      <a:solidFill>
                        <a:schemeClr val="lt1"/>
                      </a:solidFill>
                      <a:prstDash val="solid"/>
                      <a:round/>
                      <a:headEnd type="none" w="sm" len="sm"/>
                      <a:tailEnd type="none" w="sm" len="sm"/>
                    </a:lnL>
                    <a:lnR w="7625" cap="flat" cmpd="sng">
                      <a:solidFill>
                        <a:schemeClr val="lt1"/>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US">
                          <a:latin typeface="Arial"/>
                          <a:ea typeface="Arial"/>
                          <a:cs typeface="Arial"/>
                          <a:sym typeface="Arial"/>
                        </a:rPr>
                        <a:t>K-means clustering (0.7726–0.7879). XGBoost achieved a MAPE of 0.146%, outperforming Random Forest (0.151%)</a:t>
                      </a:r>
                      <a:endParaRPr>
                        <a:latin typeface="Arial"/>
                        <a:ea typeface="Arial"/>
                        <a:cs typeface="Arial"/>
                        <a:sym typeface="Arial"/>
                      </a:endParaRPr>
                    </a:p>
                  </a:txBody>
                  <a:tcPr marL="68575" marR="68575" marT="91425" marB="91425">
                    <a:lnL w="7625" cap="flat" cmpd="sng">
                      <a:solidFill>
                        <a:schemeClr val="lt1"/>
                      </a:solidFill>
                      <a:prstDash val="solid"/>
                      <a:round/>
                      <a:headEnd type="none" w="sm" len="sm"/>
                      <a:tailEnd type="none" w="sm" len="sm"/>
                    </a:lnL>
                    <a:lnR w="7625" cap="flat" cmpd="sng">
                      <a:solidFill>
                        <a:schemeClr val="lt1"/>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chemeClr val="lt1"/>
                      </a:solidFill>
                      <a:prstDash val="solid"/>
                      <a:round/>
                      <a:headEnd type="none" w="sm" len="sm"/>
                      <a:tailEnd type="none" w="sm" len="sm"/>
                    </a:lnB>
                  </a:tcPr>
                </a:tc>
                <a:tc>
                  <a:txBody>
                    <a:bodyPr/>
                    <a:lstStyle/>
                    <a:p>
                      <a:pPr marL="0" lvl="0" indent="0" algn="l" rtl="0">
                        <a:lnSpc>
                          <a:spcPct val="115000"/>
                        </a:lnSpc>
                        <a:spcBef>
                          <a:spcPts val="1200"/>
                        </a:spcBef>
                        <a:spcAft>
                          <a:spcPts val="1200"/>
                        </a:spcAft>
                        <a:buClr>
                          <a:schemeClr val="dk1"/>
                        </a:buClr>
                        <a:buSzPts val="1100"/>
                        <a:buFont typeface="Arial"/>
                        <a:buNone/>
                      </a:pPr>
                      <a:r>
                        <a:rPr lang="en-US">
                          <a:latin typeface="Arial"/>
                          <a:ea typeface="Arial"/>
                          <a:cs typeface="Arial"/>
                          <a:sym typeface="Arial"/>
                        </a:rPr>
                        <a:t>Limited to charging sessions from a specific location; cannot generalize findings globally, exploration needed for scalability and variations in real-world conditions.</a:t>
                      </a:r>
                      <a:endParaRPr>
                        <a:latin typeface="Arial"/>
                        <a:ea typeface="Arial"/>
                        <a:cs typeface="Arial"/>
                        <a:sym typeface="Arial"/>
                      </a:endParaRPr>
                    </a:p>
                  </a:txBody>
                  <a:tcPr marL="91450" marR="91450" marT="45725" marB="45725">
                    <a:lnL w="7625" cap="flat" cmpd="sng">
                      <a:solidFill>
                        <a:schemeClr val="lt1"/>
                      </a:solidFill>
                      <a:prstDash val="solid"/>
                      <a:round/>
                      <a:headEnd type="none" w="sm" len="sm"/>
                      <a:tailEnd type="none" w="sm" len="sm"/>
                    </a:lnL>
                  </a:tcPr>
                </a:tc>
                <a:extLst>
                  <a:ext uri="{0D108BD9-81ED-4DB2-BD59-A6C34878D82A}">
                    <a16:rowId xmlns:a16="http://schemas.microsoft.com/office/drawing/2014/main" val="10001"/>
                  </a:ext>
                </a:extLst>
              </a:tr>
              <a:tr h="2688325">
                <a:tc>
                  <a:txBody>
                    <a:bodyPr/>
                    <a:lstStyle/>
                    <a:p>
                      <a:pPr marL="0" marR="0" lvl="0" indent="0" algn="l" rtl="0">
                        <a:spcBef>
                          <a:spcPts val="0"/>
                        </a:spcBef>
                        <a:spcAft>
                          <a:spcPts val="0"/>
                        </a:spcAft>
                        <a:buNone/>
                      </a:pPr>
                      <a:r>
                        <a:rPr lang="en-US" sz="1500">
                          <a:latin typeface="Arial"/>
                          <a:ea typeface="Arial"/>
                          <a:cs typeface="Arial"/>
                          <a:sym typeface="Arial"/>
                        </a:rPr>
                        <a:t>[10],2022</a:t>
                      </a:r>
                      <a:endParaRPr sz="150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SzPts val="1100"/>
                        <a:buNone/>
                      </a:pPr>
                      <a:r>
                        <a:rPr lang="en-US">
                          <a:latin typeface="Arial"/>
                          <a:ea typeface="Arial"/>
                          <a:cs typeface="Arial"/>
                          <a:sym typeface="Arial"/>
                        </a:rPr>
                        <a:t>Machine Learning for Solving Charging Infrastructure Planning: A Comprehensive Review</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500">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lnT w="76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Reinforcement Learning (RL),</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Linear Regression Mode,</a:t>
                      </a: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Support Vector Machine,Deep Learning</a:t>
                      </a: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lnT w="76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Real-world applications in Helsinki and Dundee for hotspot detection and grid planning.</a:t>
                      </a:r>
                      <a:endParaRPr sz="1300">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p>
                      <a:pPr marL="0" marR="0" lvl="0" indent="0" algn="l" rtl="0">
                        <a:spcBef>
                          <a:spcPts val="0"/>
                        </a:spcBef>
                        <a:spcAft>
                          <a:spcPts val="0"/>
                        </a:spcAft>
                        <a:buNone/>
                      </a:pPr>
                      <a:r>
                        <a:rPr lang="en-US">
                          <a:latin typeface="Arial"/>
                          <a:ea typeface="Arial"/>
                          <a:cs typeface="Arial"/>
                          <a:sym typeface="Arial"/>
                        </a:rPr>
                        <a:t> </a:t>
                      </a:r>
                      <a:endParaRPr>
                        <a:latin typeface="Arial"/>
                        <a:ea typeface="Arial"/>
                        <a:cs typeface="Arial"/>
                        <a:sym typeface="Arial"/>
                      </a:endParaRPr>
                    </a:p>
                  </a:txBody>
                  <a:tcPr marL="91450" marR="91450" marT="45725" marB="45725">
                    <a:lnT w="76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Accuracy, error rates, costs, battery capacity, and efficiency</a:t>
                      </a:r>
                      <a:endParaRPr sz="13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lnT w="76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a:latin typeface="Arial"/>
                          <a:ea typeface="Arial"/>
                          <a:cs typeface="Arial"/>
                          <a:sym typeface="Arial"/>
                        </a:rPr>
                        <a:t>Supervised for accuracy; reinforcement for management</a:t>
                      </a:r>
                      <a:endParaRPr sz="1200">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p>
                      <a:pPr marL="0" marR="0" lvl="0" indent="0" algn="l" rtl="0">
                        <a:spcBef>
                          <a:spcPts val="0"/>
                        </a:spcBef>
                        <a:spcAft>
                          <a:spcPts val="0"/>
                        </a:spcAft>
                        <a:buNone/>
                      </a:pPr>
                      <a:endParaRPr>
                        <a:latin typeface="Arial"/>
                        <a:ea typeface="Arial"/>
                        <a:cs typeface="Arial"/>
                        <a:sym typeface="Arial"/>
                      </a:endParaRPr>
                    </a:p>
                  </a:txBody>
                  <a:tcPr marL="91450" marR="91450" marT="45725" marB="45725">
                    <a:lnT w="7625" cap="flat" cmpd="sng">
                      <a:solidFill>
                        <a:schemeClr val="lt1"/>
                      </a:solidFill>
                      <a:prstDash val="solid"/>
                      <a:round/>
                      <a:headEnd type="none" w="sm" len="sm"/>
                      <a:tailEnd type="none" w="sm" len="sm"/>
                    </a:lnT>
                  </a:tcPr>
                </a:tc>
                <a:tc>
                  <a:txBody>
                    <a:bodyPr/>
                    <a:lstStyle/>
                    <a:p>
                      <a:pPr marL="0" lvl="0" indent="0" algn="l" rtl="0">
                        <a:lnSpc>
                          <a:spcPct val="115000"/>
                        </a:lnSpc>
                        <a:spcBef>
                          <a:spcPts val="1200"/>
                        </a:spcBef>
                        <a:spcAft>
                          <a:spcPts val="1200"/>
                        </a:spcAft>
                        <a:buSzPts val="1100"/>
                        <a:buNone/>
                      </a:pPr>
                      <a:r>
                        <a:rPr lang="en-US">
                          <a:latin typeface="Arial"/>
                          <a:ea typeface="Arial"/>
                          <a:cs typeface="Arial"/>
                          <a:sym typeface="Arial"/>
                        </a:rPr>
                        <a:t>Data scarcity, integration issues, limited adaptability, and V2G gaps</a:t>
                      </a:r>
                      <a:r>
                        <a:rPr lang="en-US" sz="1500">
                          <a:latin typeface="Arial"/>
                          <a:ea typeface="Arial"/>
                          <a:cs typeface="Arial"/>
                          <a:sym typeface="Arial"/>
                        </a:rPr>
                        <a:t>.</a:t>
                      </a:r>
                      <a:r>
                        <a:rPr lang="en-US">
                          <a:latin typeface="Arial"/>
                          <a:ea typeface="Arial"/>
                          <a:cs typeface="Arial"/>
                          <a:sym typeface="Arial"/>
                        </a:rPr>
                        <a:t> </a:t>
                      </a:r>
                      <a:endParaRPr>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aphicFrame>
        <p:nvGraphicFramePr>
          <p:cNvPr id="164" name="Google Shape;164;p29"/>
          <p:cNvGraphicFramePr/>
          <p:nvPr/>
        </p:nvGraphicFramePr>
        <p:xfrm>
          <a:off x="399311" y="260450"/>
          <a:ext cx="3000000" cy="3000000"/>
        </p:xfrm>
        <a:graphic>
          <a:graphicData uri="http://schemas.openxmlformats.org/drawingml/2006/table">
            <a:tbl>
              <a:tblPr firstRow="1" bandRow="1">
                <a:noFill/>
                <a:tableStyleId>{3DCEDA80-B673-418D-BF6B-5EB346B8FE48}</a:tableStyleId>
              </a:tblPr>
              <a:tblGrid>
                <a:gridCol w="1108475">
                  <a:extLst>
                    <a:ext uri="{9D8B030D-6E8A-4147-A177-3AD203B41FA5}">
                      <a16:colId xmlns:a16="http://schemas.microsoft.com/office/drawing/2014/main" val="20000"/>
                    </a:ext>
                  </a:extLst>
                </a:gridCol>
                <a:gridCol w="1753350">
                  <a:extLst>
                    <a:ext uri="{9D8B030D-6E8A-4147-A177-3AD203B41FA5}">
                      <a16:colId xmlns:a16="http://schemas.microsoft.com/office/drawing/2014/main" val="20001"/>
                    </a:ext>
                  </a:extLst>
                </a:gridCol>
                <a:gridCol w="1680025">
                  <a:extLst>
                    <a:ext uri="{9D8B030D-6E8A-4147-A177-3AD203B41FA5}">
                      <a16:colId xmlns:a16="http://schemas.microsoft.com/office/drawing/2014/main" val="20002"/>
                    </a:ext>
                  </a:extLst>
                </a:gridCol>
                <a:gridCol w="1629750">
                  <a:extLst>
                    <a:ext uri="{9D8B030D-6E8A-4147-A177-3AD203B41FA5}">
                      <a16:colId xmlns:a16="http://schemas.microsoft.com/office/drawing/2014/main" val="20003"/>
                    </a:ext>
                  </a:extLst>
                </a:gridCol>
                <a:gridCol w="1654850">
                  <a:extLst>
                    <a:ext uri="{9D8B030D-6E8A-4147-A177-3AD203B41FA5}">
                      <a16:colId xmlns:a16="http://schemas.microsoft.com/office/drawing/2014/main" val="20004"/>
                    </a:ext>
                  </a:extLst>
                </a:gridCol>
                <a:gridCol w="1734075">
                  <a:extLst>
                    <a:ext uri="{9D8B030D-6E8A-4147-A177-3AD203B41FA5}">
                      <a16:colId xmlns:a16="http://schemas.microsoft.com/office/drawing/2014/main" val="20005"/>
                    </a:ext>
                  </a:extLst>
                </a:gridCol>
                <a:gridCol w="1738450">
                  <a:extLst>
                    <a:ext uri="{9D8B030D-6E8A-4147-A177-3AD203B41FA5}">
                      <a16:colId xmlns:a16="http://schemas.microsoft.com/office/drawing/2014/main" val="20006"/>
                    </a:ext>
                  </a:extLst>
                </a:gridCol>
              </a:tblGrid>
              <a:tr h="1222725">
                <a:tc>
                  <a:txBody>
                    <a:bodyPr/>
                    <a:lstStyle/>
                    <a:p>
                      <a:pPr marL="0" marR="0" lvl="0" indent="0" algn="l" rtl="0">
                        <a:spcBef>
                          <a:spcPts val="0"/>
                        </a:spcBef>
                        <a:spcAft>
                          <a:spcPts val="0"/>
                        </a:spcAft>
                        <a:buNone/>
                      </a:pPr>
                      <a:r>
                        <a:rPr lang="en-US" sz="1800">
                          <a:latin typeface="Arial"/>
                          <a:ea typeface="Arial"/>
                          <a:cs typeface="Arial"/>
                          <a:sym typeface="Arial"/>
                        </a:rPr>
                        <a:t>Ref no, Year of publication</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Title </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Methodology Used</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Dataset Used/Existing real time application</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Performance parameters used</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Performance Analysis</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Limitations /Gaps</a:t>
                      </a:r>
                      <a:endParaRPr sz="18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555025">
                <a:tc>
                  <a:txBody>
                    <a:bodyPr/>
                    <a:lstStyle/>
                    <a:p>
                      <a:pPr marL="0" marR="0" lvl="0" indent="0" algn="l" rtl="0">
                        <a:spcBef>
                          <a:spcPts val="0"/>
                        </a:spcBef>
                        <a:spcAft>
                          <a:spcPts val="0"/>
                        </a:spcAft>
                        <a:buNone/>
                      </a:pPr>
                      <a:r>
                        <a:rPr lang="en-US" sz="1450">
                          <a:latin typeface="Arial"/>
                          <a:ea typeface="Arial"/>
                          <a:cs typeface="Arial"/>
                          <a:sym typeface="Arial"/>
                        </a:rPr>
                        <a:t>[11],2023</a:t>
                      </a: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 Data-Driven Analysis of EV Energy Prediction and Planning of EV Charging Infrastructure.</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SARIMAX,</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Meta Fusion Regression,</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K-Means Clustering Algorithm.</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California EV Charging Station Dataset</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Palo Alto Charging Station Dataset.</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Mean Absolute Error (MAE),</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Root Mean Square Error,</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Coefficient of Determination.</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SARIMAX: R² = 0.97, MAE = 6.50, RMSE = 17.43</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Meta Fusion Regression: R² = 0.98, MAE = 0.91, RMSE = 2.26</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Limited dataset and user behavior variability,</a:t>
                      </a:r>
                      <a:endParaRPr sz="145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missing real-time traffic/weather data, generalization issues, and need for more resources.</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2555025">
                <a:tc>
                  <a:txBody>
                    <a:bodyPr/>
                    <a:lstStyle/>
                    <a:p>
                      <a:pPr marL="0" lvl="0" indent="0" algn="l" rtl="0">
                        <a:spcBef>
                          <a:spcPts val="0"/>
                        </a:spcBef>
                        <a:spcAft>
                          <a:spcPts val="0"/>
                        </a:spcAft>
                        <a:buNone/>
                      </a:pPr>
                      <a:r>
                        <a:rPr lang="en-US" sz="1450">
                          <a:latin typeface="Arial"/>
                          <a:ea typeface="Arial"/>
                          <a:cs typeface="Arial"/>
                          <a:sym typeface="Arial"/>
                        </a:rPr>
                        <a:t>[12],2021</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Analysis of Energy Consumption at slow Charging Infrastructure for Electric Vehicle.</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Statistical analysis, transformed beta distribution, machine learning.</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Geospatial datasets, historical electricity data, EV infrastructure planning.</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None/>
                      </a:pPr>
                      <a:r>
                        <a:rPr lang="en-US" sz="1450">
                          <a:latin typeface="Arial"/>
                          <a:ea typeface="Arial"/>
                          <a:cs typeface="Arial"/>
                          <a:sym typeface="Arial"/>
                        </a:rPr>
                        <a:t>Energy  consumption distribution, location features, charging events, statistical significance.</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Font typeface="Arial"/>
                        <a:buNone/>
                      </a:pPr>
                      <a:r>
                        <a:rPr lang="en-US" sz="1450">
                          <a:latin typeface="Arial"/>
                          <a:ea typeface="Arial"/>
                          <a:cs typeface="Arial"/>
                          <a:sym typeface="Arial"/>
                        </a:rPr>
                        <a:t>High income/expensive housing increases usage, social assistance areas decrease it, XGBoost performs well.</a:t>
                      </a:r>
                      <a:endParaRPr sz="145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1200"/>
                        </a:spcAft>
                        <a:buSzPts val="1100"/>
                        <a:buNone/>
                      </a:pPr>
                      <a:r>
                        <a:rPr lang="en-US" sz="1450">
                          <a:latin typeface="Arial"/>
                          <a:ea typeface="Arial"/>
                          <a:cs typeface="Arial"/>
                          <a:sym typeface="Arial"/>
                        </a:rPr>
                        <a:t>Limited inclusion of location- specific features, insufficient focus on dynamic spatial and temporal aspects, reliance on deterministic models.</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graphicFrame>
        <p:nvGraphicFramePr>
          <p:cNvPr id="170" name="Google Shape;170;p30"/>
          <p:cNvGraphicFramePr/>
          <p:nvPr/>
        </p:nvGraphicFramePr>
        <p:xfrm>
          <a:off x="455799" y="438675"/>
          <a:ext cx="3000000" cy="3000000"/>
        </p:xfrm>
        <a:graphic>
          <a:graphicData uri="http://schemas.openxmlformats.org/drawingml/2006/table">
            <a:tbl>
              <a:tblPr firstRow="1" bandRow="1">
                <a:noFill/>
                <a:tableStyleId>{3DCEDA80-B673-418D-BF6B-5EB346B8FE48}</a:tableStyleId>
              </a:tblPr>
              <a:tblGrid>
                <a:gridCol w="1184050">
                  <a:extLst>
                    <a:ext uri="{9D8B030D-6E8A-4147-A177-3AD203B41FA5}">
                      <a16:colId xmlns:a16="http://schemas.microsoft.com/office/drawing/2014/main" val="20000"/>
                    </a:ext>
                  </a:extLst>
                </a:gridCol>
                <a:gridCol w="1723775">
                  <a:extLst>
                    <a:ext uri="{9D8B030D-6E8A-4147-A177-3AD203B41FA5}">
                      <a16:colId xmlns:a16="http://schemas.microsoft.com/office/drawing/2014/main" val="20001"/>
                    </a:ext>
                  </a:extLst>
                </a:gridCol>
                <a:gridCol w="1573650">
                  <a:extLst>
                    <a:ext uri="{9D8B030D-6E8A-4147-A177-3AD203B41FA5}">
                      <a16:colId xmlns:a16="http://schemas.microsoft.com/office/drawing/2014/main" val="20002"/>
                    </a:ext>
                  </a:extLst>
                </a:gridCol>
                <a:gridCol w="1680325">
                  <a:extLst>
                    <a:ext uri="{9D8B030D-6E8A-4147-A177-3AD203B41FA5}">
                      <a16:colId xmlns:a16="http://schemas.microsoft.com/office/drawing/2014/main" val="20003"/>
                    </a:ext>
                  </a:extLst>
                </a:gridCol>
                <a:gridCol w="1626950">
                  <a:extLst>
                    <a:ext uri="{9D8B030D-6E8A-4147-A177-3AD203B41FA5}">
                      <a16:colId xmlns:a16="http://schemas.microsoft.com/office/drawing/2014/main" val="20004"/>
                    </a:ext>
                  </a:extLst>
                </a:gridCol>
                <a:gridCol w="1704825">
                  <a:extLst>
                    <a:ext uri="{9D8B030D-6E8A-4147-A177-3AD203B41FA5}">
                      <a16:colId xmlns:a16="http://schemas.microsoft.com/office/drawing/2014/main" val="20005"/>
                    </a:ext>
                  </a:extLst>
                </a:gridCol>
                <a:gridCol w="1709125">
                  <a:extLst>
                    <a:ext uri="{9D8B030D-6E8A-4147-A177-3AD203B41FA5}">
                      <a16:colId xmlns:a16="http://schemas.microsoft.com/office/drawing/2014/main" val="20006"/>
                    </a:ext>
                  </a:extLst>
                </a:gridCol>
              </a:tblGrid>
              <a:tr h="1166625">
                <a:tc>
                  <a:txBody>
                    <a:bodyPr/>
                    <a:lstStyle/>
                    <a:p>
                      <a:pPr marL="0" marR="0" lvl="0" indent="0" algn="l" rtl="0">
                        <a:spcBef>
                          <a:spcPts val="0"/>
                        </a:spcBef>
                        <a:spcAft>
                          <a:spcPts val="0"/>
                        </a:spcAft>
                        <a:buNone/>
                      </a:pPr>
                      <a:r>
                        <a:rPr lang="en-US" sz="1700">
                          <a:latin typeface="Arial"/>
                          <a:ea typeface="Arial"/>
                          <a:cs typeface="Arial"/>
                          <a:sym typeface="Arial"/>
                        </a:rPr>
                        <a:t>Ref no, Year of publication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Title </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Methodology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Dataset Used/Existing real time application</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parameters used</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Performance Analysis</a:t>
                      </a:r>
                      <a:endParaRPr sz="17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700">
                          <a:latin typeface="Arial"/>
                          <a:ea typeface="Arial"/>
                          <a:cs typeface="Arial"/>
                          <a:sym typeface="Arial"/>
                        </a:rPr>
                        <a:t>Limitations /Gaps</a:t>
                      </a:r>
                      <a:endParaRPr sz="17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2037225">
                <a:tc>
                  <a:txBody>
                    <a:bodyPr/>
                    <a:lstStyle/>
                    <a:p>
                      <a:pPr marL="0" marR="0" lvl="0" indent="0" algn="l" rtl="0">
                        <a:spcBef>
                          <a:spcPts val="0"/>
                        </a:spcBef>
                        <a:spcAft>
                          <a:spcPts val="0"/>
                        </a:spcAft>
                        <a:buNone/>
                      </a:pPr>
                      <a:r>
                        <a:rPr lang="en-US" sz="1450">
                          <a:latin typeface="Arial"/>
                          <a:ea typeface="Arial"/>
                          <a:cs typeface="Arial"/>
                          <a:sym typeface="Arial"/>
                        </a:rPr>
                        <a:t>[13],2020</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Machine Learning Approaches for EV Charging Behavior: A Review.</a:t>
                      </a:r>
                      <a:endParaRPr sz="1450">
                        <a:latin typeface="Arial"/>
                        <a:ea typeface="Arial"/>
                        <a:cs typeface="Arial"/>
                        <a:sym typeface="Arial"/>
                      </a:endParaRPr>
                    </a:p>
                    <a:p>
                      <a:pPr marL="0" marR="0" lvl="0" indent="0" algn="l" rtl="0">
                        <a:spcBef>
                          <a:spcPts val="0"/>
                        </a:spcBef>
                        <a:spcAft>
                          <a:spcPts val="0"/>
                        </a:spcAft>
                        <a:buNone/>
                      </a:pP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Decision trees,SVMs,neural networks, clustering, and regression models.</a:t>
                      </a: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EV charging station logs,user behaviour patterns and simulation data.</a:t>
                      </a: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Accuracy, precision, recall, and latency.</a:t>
                      </a:r>
                      <a:endParaRPr sz="145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50">
                          <a:latin typeface="Arial"/>
                          <a:ea typeface="Arial"/>
                          <a:cs typeface="Arial"/>
                          <a:sym typeface="Arial"/>
                        </a:rPr>
                        <a:t>Decision trees,SVMs, and neural networks can effectively predict and optimize charging behaviour.</a:t>
                      </a:r>
                      <a:endParaRPr sz="1450">
                        <a:latin typeface="Arial"/>
                        <a:ea typeface="Arial"/>
                        <a:cs typeface="Arial"/>
                        <a:sym typeface="Arial"/>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marR="0" lvl="0" indent="0" algn="l" rtl="0">
                        <a:spcBef>
                          <a:spcPts val="0"/>
                        </a:spcBef>
                        <a:spcAft>
                          <a:spcPts val="0"/>
                        </a:spcAft>
                        <a:buNone/>
                      </a:pPr>
                      <a:r>
                        <a:rPr lang="en-US" sz="1450">
                          <a:latin typeface="Arial"/>
                          <a:ea typeface="Arial"/>
                          <a:cs typeface="Arial"/>
                          <a:sym typeface="Arial"/>
                        </a:rPr>
                        <a:t>Limited diversity in datasets, lacks of real-world implementation and scalability testing in varied geographic regions.</a:t>
                      </a:r>
                      <a:endParaRPr sz="145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2789050">
                <a:tc>
                  <a:txBody>
                    <a:bodyPr/>
                    <a:lstStyle/>
                    <a:p>
                      <a:pPr marL="0" marR="0" lvl="0" indent="0" algn="l" rtl="0">
                        <a:spcBef>
                          <a:spcPts val="0"/>
                        </a:spcBef>
                        <a:spcAft>
                          <a:spcPts val="0"/>
                        </a:spcAft>
                        <a:buNone/>
                      </a:pPr>
                      <a:r>
                        <a:rPr lang="en-US" sz="1450">
                          <a:latin typeface="Arial"/>
                          <a:ea typeface="Arial"/>
                          <a:cs typeface="Arial"/>
                          <a:sym typeface="Arial"/>
                        </a:rPr>
                        <a:t>[14],2021</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Analysis of Energy Consumption at Public Charging station.</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Data-centric analysis, statistical methods.</a:t>
                      </a:r>
                      <a:endParaRPr sz="1450">
                        <a:latin typeface="Arial"/>
                        <a:ea typeface="Arial"/>
                        <a:cs typeface="Arial"/>
                        <a:sym typeface="Arial"/>
                      </a:endParaRPr>
                    </a:p>
                    <a:p>
                      <a:pPr marL="0" lvl="0" indent="0" algn="l" rtl="0">
                        <a:lnSpc>
                          <a:spcPct val="115000"/>
                        </a:lnSpc>
                        <a:spcBef>
                          <a:spcPts val="1200"/>
                        </a:spcBef>
                        <a:spcAft>
                          <a:spcPts val="0"/>
                        </a:spcAft>
                        <a:buSzPts val="1100"/>
                        <a:buNone/>
                      </a:pPr>
                      <a:endParaRPr sz="1450">
                        <a:latin typeface="Arial"/>
                        <a:ea typeface="Arial"/>
                        <a:cs typeface="Arial"/>
                        <a:sym typeface="Arial"/>
                      </a:endParaRPr>
                    </a:p>
                    <a:p>
                      <a:pPr marL="0" marR="0" lvl="0" indent="0" algn="l" rtl="0">
                        <a:spcBef>
                          <a:spcPts val="1200"/>
                        </a:spcBef>
                        <a:spcAft>
                          <a:spcPts val="0"/>
                        </a:spcAft>
                        <a:buNone/>
                      </a:pP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Geospatial and socioeconomic datasets; charging events.</a:t>
                      </a:r>
                      <a:endParaRPr sz="1450">
                        <a:latin typeface="Arial"/>
                        <a:ea typeface="Arial"/>
                        <a:cs typeface="Arial"/>
                        <a:sym typeface="Arial"/>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450">
                          <a:latin typeface="Arial"/>
                          <a:ea typeface="Arial"/>
                          <a:cs typeface="Arial"/>
                          <a:sym typeface="Arial"/>
                        </a:rPr>
                        <a:t>Energy modeled by transformed beta distribution; key factors include transactions, income, housing proximity, and social assistance.</a:t>
                      </a:r>
                      <a:endParaRPr sz="1450">
                        <a:latin typeface="Arial"/>
                        <a:ea typeface="Arial"/>
                        <a:cs typeface="Arial"/>
                        <a:sym typeface="Arial"/>
                      </a:endParaRPr>
                    </a:p>
                  </a:txBody>
                  <a:tcPr marL="91450" marR="91450" marT="45725" marB="45725">
                    <a:lnR w="12700" cap="flat" cmpd="sng">
                      <a:solidFill>
                        <a:srgbClr val="FFFFFF"/>
                      </a:solidFill>
                      <a:prstDash val="solid"/>
                      <a:round/>
                      <a:headEnd type="none" w="sm" len="sm"/>
                      <a:tailEnd type="none" w="sm" len="sm"/>
                    </a:lnR>
                  </a:tcPr>
                </a:tc>
                <a:tc>
                  <a:txBody>
                    <a:bodyPr/>
                    <a:lstStyle/>
                    <a:p>
                      <a:pPr marL="0" marR="0" lvl="0" indent="0" algn="l" rtl="0">
                        <a:spcBef>
                          <a:spcPts val="0"/>
                        </a:spcBef>
                        <a:spcAft>
                          <a:spcPts val="0"/>
                        </a:spcAft>
                        <a:buNone/>
                      </a:pPr>
                      <a:r>
                        <a:rPr lang="en-US" sz="1450">
                          <a:latin typeface="Arial"/>
                          <a:ea typeface="Arial"/>
                          <a:cs typeface="Arial"/>
                          <a:sym typeface="Arial"/>
                        </a:rPr>
                        <a:t>Higher consumption linked to prosperous areas and businesses; lower in areas with high social assistance.</a:t>
                      </a:r>
                      <a:endParaRPr sz="1450">
                        <a:latin typeface="Arial"/>
                        <a:ea typeface="Arial"/>
                        <a:cs typeface="Arial"/>
                        <a:sym typeface="Arial"/>
                      </a:endParaRPr>
                    </a:p>
                  </a:txBody>
                  <a:tcPr marL="88900" marR="88900" marT="50800" marB="508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Clr>
                          <a:schemeClr val="dk1"/>
                        </a:buClr>
                        <a:buSzPts val="1100"/>
                        <a:buFont typeface="Arial"/>
                        <a:buNone/>
                      </a:pPr>
                      <a:r>
                        <a:rPr lang="en-US" sz="1450">
                          <a:latin typeface="Arial"/>
                          <a:ea typeface="Arial"/>
                          <a:cs typeface="Arial"/>
                          <a:sym typeface="Arial"/>
                        </a:rPr>
                        <a:t>Time-intensive data collection; needs refined prediction models for deployment and grid planning.</a:t>
                      </a:r>
                      <a:endParaRPr sz="1450">
                        <a:latin typeface="Arial"/>
                        <a:ea typeface="Arial"/>
                        <a:cs typeface="Arial"/>
                        <a:sym typeface="Arial"/>
                      </a:endParaRPr>
                    </a:p>
                    <a:p>
                      <a:pPr marL="0" marR="0" lvl="0" indent="0" algn="l" rtl="0">
                        <a:spcBef>
                          <a:spcPts val="1200"/>
                        </a:spcBef>
                        <a:spcAft>
                          <a:spcPts val="0"/>
                        </a:spcAft>
                        <a:buNone/>
                      </a:pPr>
                      <a:endParaRPr sz="1450">
                        <a:latin typeface="Arial"/>
                        <a:ea typeface="Arial"/>
                        <a:cs typeface="Arial"/>
                        <a:sym typeface="Arial"/>
                      </a:endParaRPr>
                    </a:p>
                  </a:txBody>
                  <a:tcPr marL="91450" marR="91450" marT="45725" marB="45725">
                    <a:lnL w="12700" cap="flat" cmpd="sng">
                      <a:solidFill>
                        <a:srgbClr val="FFFFFF"/>
                      </a:solidFill>
                      <a:prstDash val="solid"/>
                      <a:round/>
                      <a:headEnd type="none" w="sm" len="sm"/>
                      <a:tailEnd type="none" w="sm" len="sm"/>
                    </a:ln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Patent Search</a:t>
            </a:r>
            <a:endParaRPr sz="3000">
              <a:latin typeface="Arial"/>
              <a:ea typeface="Arial"/>
              <a:cs typeface="Arial"/>
              <a:sym typeface="Arial"/>
            </a:endParaRPr>
          </a:p>
        </p:txBody>
      </p:sp>
      <p:graphicFrame>
        <p:nvGraphicFramePr>
          <p:cNvPr id="176" name="Google Shape;176;p31"/>
          <p:cNvGraphicFramePr/>
          <p:nvPr/>
        </p:nvGraphicFramePr>
        <p:xfrm>
          <a:off x="452549" y="1090825"/>
          <a:ext cx="3000000" cy="3000000"/>
        </p:xfrm>
        <a:graphic>
          <a:graphicData uri="http://schemas.openxmlformats.org/drawingml/2006/table">
            <a:tbl>
              <a:tblPr firstRow="1" bandRow="1">
                <a:noFill/>
                <a:tableStyleId>{3DCEDA80-B673-418D-BF6B-5EB346B8FE48}</a:tableStyleId>
              </a:tblPr>
              <a:tblGrid>
                <a:gridCol w="3829725">
                  <a:extLst>
                    <a:ext uri="{9D8B030D-6E8A-4147-A177-3AD203B41FA5}">
                      <a16:colId xmlns:a16="http://schemas.microsoft.com/office/drawing/2014/main" val="20000"/>
                    </a:ext>
                  </a:extLst>
                </a:gridCol>
                <a:gridCol w="1287475">
                  <a:extLst>
                    <a:ext uri="{9D8B030D-6E8A-4147-A177-3AD203B41FA5}">
                      <a16:colId xmlns:a16="http://schemas.microsoft.com/office/drawing/2014/main" val="20001"/>
                    </a:ext>
                  </a:extLst>
                </a:gridCol>
                <a:gridCol w="1689150">
                  <a:extLst>
                    <a:ext uri="{9D8B030D-6E8A-4147-A177-3AD203B41FA5}">
                      <a16:colId xmlns:a16="http://schemas.microsoft.com/office/drawing/2014/main" val="20002"/>
                    </a:ext>
                  </a:extLst>
                </a:gridCol>
                <a:gridCol w="44085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Title</a:t>
                      </a:r>
                      <a:endParaRPr sz="1400" u="none" strike="noStrike" cap="none">
                        <a:latin typeface="Arial"/>
                        <a:ea typeface="Arial"/>
                        <a:cs typeface="Arial"/>
                        <a:sym typeface="Aria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Publication Year</a:t>
                      </a:r>
                      <a:endParaRPr sz="1400" u="none" strike="noStrike" cap="none">
                        <a:latin typeface="Arial"/>
                        <a:ea typeface="Arial"/>
                        <a:cs typeface="Arial"/>
                        <a:sym typeface="Aria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Publication Type</a:t>
                      </a:r>
                      <a:endParaRPr sz="1400" u="none" strike="noStrike" cap="none">
                        <a:latin typeface="Arial"/>
                        <a:ea typeface="Arial"/>
                        <a:cs typeface="Arial"/>
                        <a:sym typeface="Aria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Abstract</a:t>
                      </a:r>
                      <a:endParaRPr sz="1400" u="none" strike="noStrike" cap="none">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r h="370850">
                <a:tc>
                  <a:txBody>
                    <a:bodyPr/>
                    <a:lstStyle/>
                    <a:p>
                      <a:pPr marL="0" lvl="0" indent="0" algn="l" rtl="0">
                        <a:lnSpc>
                          <a:spcPct val="115000"/>
                        </a:lnSpc>
                        <a:spcBef>
                          <a:spcPts val="0"/>
                        </a:spcBef>
                        <a:spcAft>
                          <a:spcPts val="1500"/>
                        </a:spcAft>
                        <a:buSzPts val="1100"/>
                        <a:buNone/>
                      </a:pPr>
                      <a:r>
                        <a:rPr lang="en-US" sz="1900">
                          <a:solidFill>
                            <a:srgbClr val="333333"/>
                          </a:solidFill>
                          <a:latin typeface="Arial"/>
                          <a:ea typeface="Arial"/>
                          <a:cs typeface="Arial"/>
                          <a:sym typeface="Arial"/>
                        </a:rPr>
                        <a:t>Vehicle power source device and its method for diagnosing faults</a:t>
                      </a:r>
                      <a:endParaRPr sz="1800">
                        <a:latin typeface="Arial"/>
                        <a:ea typeface="Arial"/>
                        <a:cs typeface="Arial"/>
                        <a:sym typeface="Arial"/>
                      </a:endParaRPr>
                    </a:p>
                  </a:txBody>
                  <a:tcPr marL="91450" marR="91450" marT="45725" marB="45725">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rgbClr val="202124"/>
                          </a:solidFill>
                          <a:latin typeface="Arial"/>
                          <a:ea typeface="Arial"/>
                          <a:cs typeface="Arial"/>
                          <a:sym typeface="Arial"/>
                        </a:rPr>
                        <a:t>2018</a:t>
                      </a:r>
                      <a:endParaRPr sz="2800">
                        <a:latin typeface="Arial"/>
                        <a:ea typeface="Arial"/>
                        <a:cs typeface="Arial"/>
                        <a:sym typeface="Arial"/>
                      </a:endParaRPr>
                    </a:p>
                  </a:txBody>
                  <a:tcPr marL="91450" marR="91450" marT="45725" marB="45725"/>
                </a:tc>
                <a:tc>
                  <a:txBody>
                    <a:bodyPr/>
                    <a:lstStyle/>
                    <a:p>
                      <a:pPr marL="0" marR="0" lvl="0" indent="0" algn="ctr" rtl="0">
                        <a:spcBef>
                          <a:spcPts val="0"/>
                        </a:spcBef>
                        <a:spcAft>
                          <a:spcPts val="0"/>
                        </a:spcAft>
                        <a:buNone/>
                      </a:pPr>
                      <a:r>
                        <a:rPr lang="en-US" sz="1800">
                          <a:latin typeface="Arial"/>
                          <a:ea typeface="Arial"/>
                          <a:cs typeface="Arial"/>
                          <a:sym typeface="Arial"/>
                        </a:rPr>
                        <a:t>China Patent</a:t>
                      </a:r>
                      <a:endParaRPr sz="18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800">
                          <a:latin typeface="Arial"/>
                          <a:ea typeface="Arial"/>
                          <a:cs typeface="Arial"/>
                          <a:sym typeface="Arial"/>
                        </a:rPr>
                        <a:t>The invention provides a vehicle power source device with fault diagnosis capabilities to simplify identifying issues in electrical paths during charging and power delivery.</a:t>
                      </a:r>
                      <a:endParaRPr sz="1800">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370850">
                <a:tc>
                  <a:txBody>
                    <a:bodyPr/>
                    <a:lstStyle/>
                    <a:p>
                      <a:pPr marL="0" lvl="0" indent="0" algn="l" rtl="0">
                        <a:lnSpc>
                          <a:spcPct val="115000"/>
                        </a:lnSpc>
                        <a:spcBef>
                          <a:spcPts val="0"/>
                        </a:spcBef>
                        <a:spcAft>
                          <a:spcPts val="1500"/>
                        </a:spcAft>
                        <a:buSzPts val="1100"/>
                        <a:buNone/>
                      </a:pPr>
                      <a:r>
                        <a:rPr lang="en-US" sz="2000">
                          <a:solidFill>
                            <a:srgbClr val="333333"/>
                          </a:solidFill>
                          <a:latin typeface="Arial"/>
                          <a:ea typeface="Arial"/>
                          <a:cs typeface="Arial"/>
                          <a:sym typeface="Arial"/>
                        </a:rPr>
                        <a:t>Power grid aware machine learning device</a:t>
                      </a:r>
                      <a:endParaRPr sz="2000">
                        <a:solidFill>
                          <a:srgbClr val="333333"/>
                        </a:solidFill>
                        <a:highlight>
                          <a:srgbClr val="FFFFFF"/>
                        </a:highlight>
                        <a:latin typeface="Arial"/>
                        <a:ea typeface="Arial"/>
                        <a:cs typeface="Arial"/>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rgbClr val="202124"/>
                          </a:solidFill>
                          <a:latin typeface="Arial"/>
                          <a:ea typeface="Arial"/>
                          <a:cs typeface="Arial"/>
                          <a:sym typeface="Arial"/>
                        </a:rPr>
                        <a:t>2022</a:t>
                      </a:r>
                      <a:endParaRPr sz="2800">
                        <a:latin typeface="Arial"/>
                        <a:ea typeface="Arial"/>
                        <a:cs typeface="Arial"/>
                        <a:sym typeface="Arial"/>
                      </a:endParaRPr>
                    </a:p>
                  </a:txBody>
                  <a:tcPr marL="91450" marR="91450" marT="45725" marB="45725">
                    <a:lnL w="12700" cap="flat" cmpd="sng">
                      <a:solidFill>
                        <a:schemeClr val="lt1"/>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a:latin typeface="Arial"/>
                          <a:ea typeface="Arial"/>
                          <a:cs typeface="Arial"/>
                          <a:sym typeface="Arial"/>
                        </a:rPr>
                        <a:t>U.S Patent</a:t>
                      </a:r>
                      <a:endParaRPr sz="1800">
                        <a:latin typeface="Arial"/>
                        <a:ea typeface="Arial"/>
                        <a:cs typeface="Arial"/>
                        <a:sym typeface="Arial"/>
                      </a:endParaRPr>
                    </a:p>
                  </a:txBody>
                  <a:tcPr marL="91450" marR="91450" marT="45725" marB="45725"/>
                </a:tc>
                <a:tc>
                  <a:txBody>
                    <a:bodyPr/>
                    <a:lstStyle/>
                    <a:p>
                      <a:pPr marL="0" lvl="0" indent="0" algn="l" rtl="0">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A system uses machine learning to optimize the operation of electrical devices by forecasting power source status and generating operational rules, enhancing energy efficiency, grid stability, and cost savings.</a:t>
                      </a:r>
                      <a:endParaRPr sz="1800">
                        <a:latin typeface="Arial"/>
                        <a:ea typeface="Arial"/>
                        <a:cs typeface="Arial"/>
                        <a:sym typeface="Arial"/>
                      </a:endParaRPr>
                    </a:p>
                    <a:p>
                      <a:pPr marL="0" marR="0" lvl="0" indent="0" algn="l" rtl="0">
                        <a:spcBef>
                          <a:spcPts val="1200"/>
                        </a:spcBef>
                        <a:spcAft>
                          <a:spcPts val="0"/>
                        </a:spcAft>
                        <a:buNone/>
                      </a:pPr>
                      <a:endParaRPr sz="180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8973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Gaps Identified</a:t>
            </a:r>
            <a:endParaRPr sz="3000" b="1">
              <a:latin typeface="Arial"/>
              <a:ea typeface="Arial"/>
              <a:cs typeface="Arial"/>
              <a:sym typeface="Arial"/>
            </a:endParaRPr>
          </a:p>
        </p:txBody>
      </p:sp>
      <p:sp>
        <p:nvSpPr>
          <p:cNvPr id="182" name="Google Shape;182;p32"/>
          <p:cNvSpPr txBox="1">
            <a:spLocks noGrp="1"/>
          </p:cNvSpPr>
          <p:nvPr>
            <p:ph type="body" idx="1"/>
          </p:nvPr>
        </p:nvSpPr>
        <p:spPr>
          <a:xfrm>
            <a:off x="667425" y="1028825"/>
            <a:ext cx="10853400" cy="5487000"/>
          </a:xfrm>
          <a:prstGeom prst="rect">
            <a:avLst/>
          </a:prstGeom>
          <a:noFill/>
          <a:ln>
            <a:noFill/>
          </a:ln>
        </p:spPr>
        <p:txBody>
          <a:bodyPr spcFirstLastPara="1" wrap="square" lIns="91425" tIns="45700" rIns="91425" bIns="45700" anchor="t" anchorCtr="0">
            <a:noAutofit/>
          </a:bodyPr>
          <a:lstStyle/>
          <a:p>
            <a:pPr marL="457200" lvl="0" indent="-355600" algn="just" rtl="0">
              <a:lnSpc>
                <a:spcPct val="150000"/>
              </a:lnSpc>
              <a:spcBef>
                <a:spcPts val="0"/>
              </a:spcBef>
              <a:spcAft>
                <a:spcPts val="0"/>
              </a:spcAft>
              <a:buClr>
                <a:schemeClr val="dk1"/>
              </a:buClr>
              <a:buSzPts val="2000"/>
              <a:buFont typeface="Arial"/>
              <a:buAutoNum type="arabicPeriod"/>
            </a:pPr>
            <a:r>
              <a:rPr lang="en-US" sz="2000" b="1">
                <a:solidFill>
                  <a:schemeClr val="dk1"/>
                </a:solidFill>
                <a:latin typeface="Arial"/>
                <a:ea typeface="Arial"/>
                <a:cs typeface="Arial"/>
                <a:sym typeface="Arial"/>
              </a:rPr>
              <a:t>Session-Level Demand Prediction</a:t>
            </a:r>
            <a:r>
              <a:rPr lang="en-US" sz="2000">
                <a:solidFill>
                  <a:schemeClr val="dk1"/>
                </a:solidFill>
                <a:latin typeface="Arial"/>
                <a:ea typeface="Arial"/>
                <a:cs typeface="Arial"/>
                <a:sym typeface="Arial"/>
              </a:rPr>
              <a:t>: Limited studies focus on predicting energy demand at the individual session level, which is crucial for real-time management.</a:t>
            </a:r>
            <a:endParaRPr sz="2000">
              <a:solidFill>
                <a:schemeClr val="dk1"/>
              </a:solidFill>
              <a:latin typeface="Arial"/>
              <a:ea typeface="Arial"/>
              <a:cs typeface="Arial"/>
              <a:sym typeface="Arial"/>
            </a:endParaRPr>
          </a:p>
          <a:p>
            <a:pPr marL="457200" lvl="0" indent="-355600" algn="just" rtl="0">
              <a:lnSpc>
                <a:spcPct val="150000"/>
              </a:lnSpc>
              <a:spcBef>
                <a:spcPts val="0"/>
              </a:spcBef>
              <a:spcAft>
                <a:spcPts val="0"/>
              </a:spcAft>
              <a:buClr>
                <a:schemeClr val="dk1"/>
              </a:buClr>
              <a:buSzPts val="2000"/>
              <a:buFont typeface="Arial"/>
              <a:buAutoNum type="arabicPeriod"/>
            </a:pPr>
            <a:r>
              <a:rPr lang="en-US" sz="2000" b="1">
                <a:solidFill>
                  <a:schemeClr val="dk1"/>
                </a:solidFill>
                <a:latin typeface="Arial"/>
                <a:ea typeface="Arial"/>
                <a:cs typeface="Arial"/>
                <a:sym typeface="Arial"/>
              </a:rPr>
              <a:t>Dynamic Charging Behavior Analysis</a:t>
            </a:r>
            <a:r>
              <a:rPr lang="en-US" sz="2000">
                <a:solidFill>
                  <a:schemeClr val="dk1"/>
                </a:solidFill>
                <a:latin typeface="Arial"/>
                <a:ea typeface="Arial"/>
                <a:cs typeface="Arial"/>
                <a:sym typeface="Arial"/>
              </a:rPr>
              <a:t>: Insufficient exploration of how variations in user behavior, charging locations, and session timing impact energy demand.</a:t>
            </a:r>
            <a:endParaRPr sz="2000">
              <a:solidFill>
                <a:schemeClr val="dk1"/>
              </a:solidFill>
              <a:latin typeface="Arial"/>
              <a:ea typeface="Arial"/>
              <a:cs typeface="Arial"/>
              <a:sym typeface="Arial"/>
            </a:endParaRPr>
          </a:p>
          <a:p>
            <a:pPr marL="457200" lvl="0" indent="-355600" algn="just" rtl="0">
              <a:lnSpc>
                <a:spcPct val="150000"/>
              </a:lnSpc>
              <a:spcBef>
                <a:spcPts val="0"/>
              </a:spcBef>
              <a:spcAft>
                <a:spcPts val="0"/>
              </a:spcAft>
              <a:buClr>
                <a:schemeClr val="dk1"/>
              </a:buClr>
              <a:buSzPts val="2000"/>
              <a:buFont typeface="Arial"/>
              <a:buAutoNum type="arabicPeriod"/>
            </a:pPr>
            <a:r>
              <a:rPr lang="en-US" sz="2000" b="1">
                <a:solidFill>
                  <a:schemeClr val="dk1"/>
                </a:solidFill>
                <a:latin typeface="Arial"/>
                <a:ea typeface="Arial"/>
                <a:cs typeface="Arial"/>
                <a:sym typeface="Arial"/>
              </a:rPr>
              <a:t>Integration with Grid Management</a:t>
            </a:r>
            <a:r>
              <a:rPr lang="en-US" sz="2000">
                <a:solidFill>
                  <a:schemeClr val="dk1"/>
                </a:solidFill>
                <a:latin typeface="Arial"/>
                <a:ea typeface="Arial"/>
                <a:cs typeface="Arial"/>
                <a:sym typeface="Arial"/>
              </a:rPr>
              <a:t>: Existing solutions lack a comprehensive approach to integrate charging demand predictions with grid reliability and optimization strategies.</a:t>
            </a:r>
            <a:endParaRPr sz="2000">
              <a:solidFill>
                <a:schemeClr val="dk1"/>
              </a:solidFill>
              <a:latin typeface="Arial"/>
              <a:ea typeface="Arial"/>
              <a:cs typeface="Arial"/>
              <a:sym typeface="Arial"/>
            </a:endParaRPr>
          </a:p>
          <a:p>
            <a:pPr marL="457200" lvl="0" indent="-355600" algn="just" rtl="0">
              <a:lnSpc>
                <a:spcPct val="150000"/>
              </a:lnSpc>
              <a:spcBef>
                <a:spcPts val="0"/>
              </a:spcBef>
              <a:spcAft>
                <a:spcPts val="0"/>
              </a:spcAft>
              <a:buClr>
                <a:schemeClr val="dk1"/>
              </a:buClr>
              <a:buSzPts val="2000"/>
              <a:buFont typeface="Arial"/>
              <a:buAutoNum type="arabicPeriod"/>
            </a:pPr>
            <a:r>
              <a:rPr lang="en-US" sz="2000" b="1">
                <a:solidFill>
                  <a:schemeClr val="dk1"/>
                </a:solidFill>
                <a:latin typeface="Arial"/>
                <a:ea typeface="Arial"/>
                <a:cs typeface="Arial"/>
                <a:sym typeface="Arial"/>
              </a:rPr>
              <a:t>Limited Dataset Utilization</a:t>
            </a:r>
            <a:r>
              <a:rPr lang="en-US" sz="2000">
                <a:solidFill>
                  <a:schemeClr val="dk1"/>
                </a:solidFill>
                <a:latin typeface="Arial"/>
                <a:ea typeface="Arial"/>
                <a:cs typeface="Arial"/>
                <a:sym typeface="Arial"/>
              </a:rPr>
              <a:t>: Many studies use small or geographically constrained datasets, limiting the generalizability of findings to diverse charging scenarios.</a:t>
            </a:r>
            <a:endParaRPr sz="2000">
              <a:solidFill>
                <a:schemeClr val="dk1"/>
              </a:solidFill>
              <a:latin typeface="Arial"/>
              <a:ea typeface="Arial"/>
              <a:cs typeface="Arial"/>
              <a:sym typeface="Arial"/>
            </a:endParaRPr>
          </a:p>
          <a:p>
            <a:pPr marL="457200" lvl="0" indent="-355600" algn="just" rtl="0">
              <a:lnSpc>
                <a:spcPct val="150000"/>
              </a:lnSpc>
              <a:spcBef>
                <a:spcPts val="0"/>
              </a:spcBef>
              <a:spcAft>
                <a:spcPts val="0"/>
              </a:spcAft>
              <a:buClr>
                <a:schemeClr val="dk1"/>
              </a:buClr>
              <a:buSzPts val="2000"/>
              <a:buFont typeface="Arial"/>
              <a:buAutoNum type="arabicPeriod"/>
            </a:pPr>
            <a:r>
              <a:rPr lang="en-US" sz="2000" b="1">
                <a:solidFill>
                  <a:schemeClr val="dk1"/>
                </a:solidFill>
                <a:latin typeface="Arial"/>
                <a:ea typeface="Arial"/>
                <a:cs typeface="Arial"/>
                <a:sym typeface="Arial"/>
              </a:rPr>
              <a:t>Scalability for Rapid EV Growth</a:t>
            </a:r>
            <a:r>
              <a:rPr lang="en-US" sz="2000">
                <a:solidFill>
                  <a:schemeClr val="dk1"/>
                </a:solidFill>
                <a:latin typeface="Arial"/>
                <a:ea typeface="Arial"/>
                <a:cs typeface="Arial"/>
                <a:sym typeface="Arial"/>
              </a:rPr>
              <a:t>: Existing predictive models struggle to scale with the rapid </a:t>
            </a:r>
            <a:r>
              <a:rPr lang="en-US" sz="2000">
                <a:solidFill>
                  <a:schemeClr val="dk1"/>
                </a:solidFill>
              </a:rPr>
              <a:t>growth</a:t>
            </a:r>
            <a:r>
              <a:rPr lang="en-US" sz="2000">
                <a:solidFill>
                  <a:schemeClr val="dk1"/>
                </a:solidFill>
                <a:latin typeface="Arial"/>
                <a:ea typeface="Arial"/>
                <a:cs typeface="Arial"/>
                <a:sym typeface="Arial"/>
              </a:rPr>
              <a:t> of EVs and the increasing complexity of charging demand patterns</a:t>
            </a:r>
            <a:endParaRPr sz="20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8536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Problem Statement</a:t>
            </a:r>
            <a:endParaRPr sz="3000" b="1">
              <a:latin typeface="Arial"/>
              <a:ea typeface="Arial"/>
              <a:cs typeface="Arial"/>
              <a:sym typeface="Arial"/>
            </a:endParaRPr>
          </a:p>
        </p:txBody>
      </p:sp>
      <p:sp>
        <p:nvSpPr>
          <p:cNvPr id="188" name="Google Shape;188;p33"/>
          <p:cNvSpPr txBox="1">
            <a:spLocks noGrp="1"/>
          </p:cNvSpPr>
          <p:nvPr>
            <p:ph type="body" idx="1"/>
          </p:nvPr>
        </p:nvSpPr>
        <p:spPr>
          <a:xfrm>
            <a:off x="681550" y="1085650"/>
            <a:ext cx="10859700" cy="4351200"/>
          </a:xfrm>
          <a:prstGeom prst="rect">
            <a:avLst/>
          </a:prstGeom>
          <a:noFill/>
          <a:ln>
            <a:noFill/>
          </a:ln>
        </p:spPr>
        <p:txBody>
          <a:bodyPr spcFirstLastPara="1" wrap="square" lIns="91425" tIns="45700" rIns="91425" bIns="45700" anchor="t" anchorCtr="0">
            <a:noAutofit/>
          </a:bodyPr>
          <a:lstStyle/>
          <a:p>
            <a:pPr marL="457200" lvl="0" indent="-355600" algn="just" rtl="0">
              <a:lnSpc>
                <a:spcPct val="115000"/>
              </a:lnSpc>
              <a:spcBef>
                <a:spcPts val="1200"/>
              </a:spcBef>
              <a:spcAft>
                <a:spcPts val="0"/>
              </a:spcAft>
              <a:buSzPts val="2000"/>
              <a:buAutoNum type="arabicPeriod"/>
            </a:pPr>
            <a:r>
              <a:rPr lang="en-US" sz="2000" b="1">
                <a:solidFill>
                  <a:schemeClr val="dk1"/>
                </a:solidFill>
                <a:latin typeface="Arial"/>
                <a:ea typeface="Arial"/>
                <a:cs typeface="Arial"/>
                <a:sym typeface="Arial"/>
              </a:rPr>
              <a:t>Predicting Charger Current Output:</a:t>
            </a:r>
            <a:r>
              <a:rPr lang="en-US" sz="2000">
                <a:solidFill>
                  <a:schemeClr val="dk1"/>
                </a:solidFill>
                <a:latin typeface="Arial"/>
                <a:ea typeface="Arial"/>
                <a:cs typeface="Arial"/>
                <a:sym typeface="Arial"/>
              </a:rPr>
              <a:t> The need for a machine learning model to predict the optimal current output at EV charging stations, ensuring efficient charging.</a:t>
            </a:r>
            <a:br>
              <a:rPr lang="en-US"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marL="457200" lvl="0" indent="-355600" algn="just" rtl="0">
              <a:lnSpc>
                <a:spcPct val="115000"/>
              </a:lnSpc>
              <a:spcBef>
                <a:spcPts val="0"/>
              </a:spcBef>
              <a:spcAft>
                <a:spcPts val="0"/>
              </a:spcAft>
              <a:buSzPts val="2000"/>
              <a:buAutoNum type="arabicPeriod"/>
            </a:pPr>
            <a:r>
              <a:rPr lang="en-US" sz="2000" b="1">
                <a:solidFill>
                  <a:schemeClr val="dk1"/>
                </a:solidFill>
                <a:latin typeface="Arial"/>
                <a:ea typeface="Arial"/>
                <a:cs typeface="Arial"/>
                <a:sym typeface="Arial"/>
              </a:rPr>
              <a:t>Fault Detection and Correction:</a:t>
            </a:r>
            <a:r>
              <a:rPr lang="en-US" sz="2000">
                <a:solidFill>
                  <a:schemeClr val="dk1"/>
                </a:solidFill>
                <a:latin typeface="Arial"/>
                <a:ea typeface="Arial"/>
                <a:cs typeface="Arial"/>
                <a:sym typeface="Arial"/>
              </a:rPr>
              <a:t> Addressing the challenge of real-time fault detection in charging equipment, with an automated control mechanism to correct faults or alert authorized personnel if correction is not possible.</a:t>
            </a:r>
            <a:br>
              <a:rPr lang="en-US"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marL="457200" lvl="0" indent="-355600" algn="just" rtl="0">
              <a:lnSpc>
                <a:spcPct val="115000"/>
              </a:lnSpc>
              <a:spcBef>
                <a:spcPts val="0"/>
              </a:spcBef>
              <a:spcAft>
                <a:spcPts val="0"/>
              </a:spcAft>
              <a:buSzPts val="2000"/>
              <a:buAutoNum type="arabicPeriod"/>
            </a:pPr>
            <a:r>
              <a:rPr lang="en-US" sz="2000" b="1">
                <a:solidFill>
                  <a:schemeClr val="dk1"/>
                </a:solidFill>
                <a:latin typeface="Arial"/>
                <a:ea typeface="Arial"/>
                <a:cs typeface="Arial"/>
                <a:sym typeface="Arial"/>
              </a:rPr>
              <a:t>Optimizing Charging</a:t>
            </a:r>
            <a:r>
              <a:rPr lang="en-US" sz="2000" b="1">
                <a:solidFill>
                  <a:schemeClr val="dk1"/>
                </a:solidFill>
              </a:rPr>
              <a:t> </a:t>
            </a:r>
            <a:r>
              <a:rPr lang="en-US" sz="2000" b="1">
                <a:solidFill>
                  <a:schemeClr val="dk1"/>
                </a:solidFill>
                <a:latin typeface="Arial"/>
                <a:ea typeface="Arial"/>
                <a:cs typeface="Arial"/>
                <a:sym typeface="Arial"/>
              </a:rPr>
              <a:t>Operations:</a:t>
            </a:r>
            <a:r>
              <a:rPr lang="en-US" sz="2000">
                <a:solidFill>
                  <a:schemeClr val="dk1"/>
                </a:solidFill>
                <a:latin typeface="Arial"/>
                <a:ea typeface="Arial"/>
                <a:cs typeface="Arial"/>
                <a:sym typeface="Arial"/>
              </a:rPr>
              <a:t> Enhancing charging station performance by dynamically optimizing charging parameters to prevent load imbalances, reduce downtime, and ensure a seamless and efficient user experience.</a:t>
            </a:r>
            <a:br>
              <a:rPr lang="en-US"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marL="0" marR="0" lvl="0" indent="0" algn="l" rtl="0">
              <a:lnSpc>
                <a:spcPct val="115000"/>
              </a:lnSpc>
              <a:spcBef>
                <a:spcPts val="1200"/>
              </a:spcBef>
              <a:spcAft>
                <a:spcPts val="0"/>
              </a:spcAft>
              <a:buClr>
                <a:schemeClr val="dk1"/>
              </a:buClr>
              <a:buSzPts val="1100"/>
              <a:buFont typeface="Arial"/>
              <a:buNone/>
            </a:pPr>
            <a:endParaRPr sz="2000">
              <a:solidFill>
                <a:schemeClr val="dk1"/>
              </a:solidFill>
              <a:latin typeface="Arial"/>
              <a:ea typeface="Arial"/>
              <a:cs typeface="Arial"/>
              <a:sym typeface="Arial"/>
            </a:endParaRPr>
          </a:p>
          <a:p>
            <a:pPr marL="228600" lvl="0" indent="0" algn="l" rtl="0">
              <a:lnSpc>
                <a:spcPct val="90000"/>
              </a:lnSpc>
              <a:spcBef>
                <a:spcPts val="1200"/>
              </a:spcBef>
              <a:spcAft>
                <a:spcPts val="0"/>
              </a:spcAft>
              <a:buNone/>
            </a:pPr>
            <a:endParaRPr sz="20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925200" y="0"/>
            <a:ext cx="9986700" cy="11571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000" b="1"/>
              <a:t>How the Proposed Research Fills the Gaps</a:t>
            </a:r>
            <a:endParaRPr sz="3000" b="1"/>
          </a:p>
        </p:txBody>
      </p:sp>
      <p:sp>
        <p:nvSpPr>
          <p:cNvPr id="195" name="Google Shape;195;p34"/>
          <p:cNvSpPr txBox="1">
            <a:spLocks noGrp="1"/>
          </p:cNvSpPr>
          <p:nvPr>
            <p:ph type="body" idx="1"/>
          </p:nvPr>
        </p:nvSpPr>
        <p:spPr>
          <a:xfrm>
            <a:off x="838200" y="1191350"/>
            <a:ext cx="10515600" cy="5666700"/>
          </a:xfrm>
          <a:prstGeom prst="rect">
            <a:avLst/>
          </a:prstGeom>
        </p:spPr>
        <p:txBody>
          <a:bodyPr spcFirstLastPara="1" wrap="square" lIns="91425" tIns="45700" rIns="91425" bIns="45700" anchor="t" anchorCtr="0">
            <a:noAutofit/>
          </a:bodyPr>
          <a:lstStyle/>
          <a:p>
            <a:pPr marL="457200" lvl="0" indent="-355600" algn="just" rtl="0">
              <a:lnSpc>
                <a:spcPct val="115000"/>
              </a:lnSpc>
              <a:spcBef>
                <a:spcPts val="1200"/>
              </a:spcBef>
              <a:spcAft>
                <a:spcPts val="0"/>
              </a:spcAft>
              <a:buSzPts val="2000"/>
              <a:buAutoNum type="arabicPeriod"/>
            </a:pPr>
            <a:r>
              <a:rPr lang="en-US" sz="2000" b="1">
                <a:solidFill>
                  <a:schemeClr val="dk1"/>
                </a:solidFill>
              </a:rPr>
              <a:t>Lack of Real-Time Charger Prediction:</a:t>
            </a:r>
            <a:r>
              <a:rPr lang="en-US" sz="2000">
                <a:solidFill>
                  <a:schemeClr val="dk1"/>
                </a:solidFill>
              </a:rPr>
              <a:t> Current EV chargers lack smart systems to predict and adjust charging currents efficiently during operation; this research introduces ML-based forecasting.</a:t>
            </a:r>
            <a:endParaRPr sz="2000">
              <a:solidFill>
                <a:schemeClr val="dk1"/>
              </a:solidFill>
            </a:endParaRPr>
          </a:p>
          <a:p>
            <a:pPr marL="0" lvl="0" indent="0" algn="just" rtl="0">
              <a:lnSpc>
                <a:spcPct val="115000"/>
              </a:lnSpc>
              <a:spcBef>
                <a:spcPts val="1200"/>
              </a:spcBef>
              <a:spcAft>
                <a:spcPts val="0"/>
              </a:spcAft>
              <a:buNone/>
            </a:pPr>
            <a:endParaRPr sz="2000">
              <a:solidFill>
                <a:schemeClr val="dk1"/>
              </a:solidFill>
            </a:endParaRPr>
          </a:p>
          <a:p>
            <a:pPr marL="457200" lvl="0" indent="-355600" algn="just" rtl="0">
              <a:lnSpc>
                <a:spcPct val="115000"/>
              </a:lnSpc>
              <a:spcBef>
                <a:spcPts val="1200"/>
              </a:spcBef>
              <a:spcAft>
                <a:spcPts val="0"/>
              </a:spcAft>
              <a:buSzPts val="2000"/>
              <a:buAutoNum type="arabicPeriod"/>
            </a:pPr>
            <a:r>
              <a:rPr lang="en-US" sz="2000" b="1">
                <a:solidFill>
                  <a:schemeClr val="dk1"/>
                </a:solidFill>
              </a:rPr>
              <a:t>Missing Fault Detection Mechanisms:</a:t>
            </a:r>
            <a:r>
              <a:rPr lang="en-US" sz="2000">
                <a:solidFill>
                  <a:schemeClr val="dk1"/>
                </a:solidFill>
              </a:rPr>
              <a:t> Existing chargers rarely detect faults in real-time; this study uses ML to monitor faults, enabling quick fixes or instant alerts.</a:t>
            </a:r>
            <a:endParaRPr sz="2000">
              <a:solidFill>
                <a:schemeClr val="dk1"/>
              </a:solidFill>
            </a:endParaRPr>
          </a:p>
          <a:p>
            <a:pPr marL="0" lvl="0" indent="0" algn="just" rtl="0">
              <a:lnSpc>
                <a:spcPct val="115000"/>
              </a:lnSpc>
              <a:spcBef>
                <a:spcPts val="1200"/>
              </a:spcBef>
              <a:spcAft>
                <a:spcPts val="0"/>
              </a:spcAft>
              <a:buNone/>
            </a:pPr>
            <a:endParaRPr sz="2000">
              <a:solidFill>
                <a:schemeClr val="dk1"/>
              </a:solidFill>
            </a:endParaRPr>
          </a:p>
          <a:p>
            <a:pPr marL="457200" lvl="0" indent="-355600" algn="just" rtl="0">
              <a:lnSpc>
                <a:spcPct val="115000"/>
              </a:lnSpc>
              <a:spcBef>
                <a:spcPts val="1200"/>
              </a:spcBef>
              <a:spcAft>
                <a:spcPts val="0"/>
              </a:spcAft>
              <a:buSzPts val="2000"/>
              <a:buAutoNum type="arabicPeriod"/>
            </a:pPr>
            <a:r>
              <a:rPr lang="en-US" sz="2000" b="1">
                <a:solidFill>
                  <a:schemeClr val="dk1"/>
                </a:solidFill>
              </a:rPr>
              <a:t>Static and Inefficient Operations:</a:t>
            </a:r>
            <a:r>
              <a:rPr lang="en-US" sz="2000">
                <a:solidFill>
                  <a:schemeClr val="dk1"/>
                </a:solidFill>
              </a:rPr>
              <a:t> Many chargers lack dynamic optimization, causing inefficiencies. This research applies ML to enhance real-time performance, reduce downtime, and boost user satisfaction.</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just" rtl="0">
              <a:lnSpc>
                <a:spcPct val="80000"/>
              </a:lnSpc>
              <a:spcBef>
                <a:spcPts val="1000"/>
              </a:spcBef>
              <a:spcAft>
                <a:spcPts val="1600"/>
              </a:spcAft>
              <a:buSzPts val="688"/>
              <a:buNone/>
            </a:pPr>
            <a:endParaRPr sz="2000" b="1">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918500" y="238300"/>
            <a:ext cx="10515600" cy="923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Objectives</a:t>
            </a:r>
            <a:endParaRPr sz="3000">
              <a:latin typeface="Arial"/>
              <a:ea typeface="Arial"/>
              <a:cs typeface="Arial"/>
              <a:sym typeface="Arial"/>
            </a:endParaRPr>
          </a:p>
        </p:txBody>
      </p:sp>
      <p:sp>
        <p:nvSpPr>
          <p:cNvPr id="201" name="Google Shape;201;p35"/>
          <p:cNvSpPr txBox="1">
            <a:spLocks noGrp="1"/>
          </p:cNvSpPr>
          <p:nvPr>
            <p:ph type="body" idx="1"/>
          </p:nvPr>
        </p:nvSpPr>
        <p:spPr>
          <a:xfrm>
            <a:off x="597000" y="1162000"/>
            <a:ext cx="10845600" cy="5151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147995" lvl="0" indent="0" algn="just" rtl="0">
              <a:lnSpc>
                <a:spcPct val="70000"/>
              </a:lnSpc>
              <a:spcBef>
                <a:spcPts val="1000"/>
              </a:spcBef>
              <a:spcAft>
                <a:spcPts val="0"/>
              </a:spcAft>
              <a:buNone/>
            </a:pPr>
            <a:r>
              <a:rPr lang="en-US" sz="2000" b="1">
                <a:solidFill>
                  <a:schemeClr val="dk1"/>
                </a:solidFill>
                <a:latin typeface="Arial"/>
                <a:ea typeface="Arial"/>
                <a:cs typeface="Arial"/>
                <a:sym typeface="Arial"/>
              </a:rPr>
              <a:t>Primary Objective/Problem Definition: </a:t>
            </a:r>
            <a:endParaRPr sz="2000" b="1">
              <a:solidFill>
                <a:schemeClr val="dk1"/>
              </a:solidFill>
            </a:endParaRPr>
          </a:p>
          <a:p>
            <a:pPr marL="0" marR="147995" lvl="0" indent="0" algn="just" rtl="0">
              <a:lnSpc>
                <a:spcPct val="70000"/>
              </a:lnSpc>
              <a:spcBef>
                <a:spcPts val="1000"/>
              </a:spcBef>
              <a:spcAft>
                <a:spcPts val="0"/>
              </a:spcAft>
              <a:buNone/>
            </a:pPr>
            <a:r>
              <a:rPr lang="en-US" sz="2000">
                <a:solidFill>
                  <a:schemeClr val="dk1"/>
                </a:solidFill>
                <a:latin typeface="Arial"/>
                <a:ea typeface="Arial"/>
                <a:cs typeface="Arial"/>
                <a:sym typeface="Arial"/>
              </a:rPr>
              <a:t>To design and develop a data-driven predictive model using supervised machine learning regression methods to accurately forecast charging demand at public charging stations, and to propose advanced monitoring and control mechanisms to optimize energy management, reduce peak demand, and enhance the overall charging experience.</a:t>
            </a:r>
            <a:endParaRPr sz="2000">
              <a:solidFill>
                <a:schemeClr val="dk1"/>
              </a:solidFill>
              <a:latin typeface="Arial"/>
              <a:ea typeface="Arial"/>
              <a:cs typeface="Arial"/>
              <a:sym typeface="Arial"/>
            </a:endParaRPr>
          </a:p>
          <a:p>
            <a:pPr marL="0" lvl="0" indent="0" algn="just" rtl="0">
              <a:lnSpc>
                <a:spcPct val="70000"/>
              </a:lnSpc>
              <a:spcBef>
                <a:spcPts val="1000"/>
              </a:spcBef>
              <a:spcAft>
                <a:spcPts val="0"/>
              </a:spcAft>
              <a:buNone/>
            </a:pPr>
            <a:endParaRPr sz="2000" b="1">
              <a:solidFill>
                <a:schemeClr val="dk1"/>
              </a:solidFill>
            </a:endParaRPr>
          </a:p>
          <a:p>
            <a:pPr marL="0" lvl="0" indent="0" algn="just" rtl="0">
              <a:lnSpc>
                <a:spcPct val="70000"/>
              </a:lnSpc>
              <a:spcBef>
                <a:spcPts val="1600"/>
              </a:spcBef>
              <a:spcAft>
                <a:spcPts val="0"/>
              </a:spcAft>
              <a:buNone/>
            </a:pPr>
            <a:r>
              <a:rPr lang="en-US" sz="2000" b="1">
                <a:solidFill>
                  <a:schemeClr val="dk1"/>
                </a:solidFill>
              </a:rPr>
              <a:t>Specific Objectives:</a:t>
            </a:r>
            <a:endParaRPr sz="2000" b="1">
              <a:solidFill>
                <a:schemeClr val="dk1"/>
              </a:solidFill>
            </a:endParaRPr>
          </a:p>
          <a:p>
            <a:pPr marL="0" lvl="0" indent="0" algn="just" rtl="0">
              <a:lnSpc>
                <a:spcPct val="70000"/>
              </a:lnSpc>
              <a:spcBef>
                <a:spcPts val="1600"/>
              </a:spcBef>
              <a:spcAft>
                <a:spcPts val="0"/>
              </a:spcAft>
              <a:buNone/>
            </a:pPr>
            <a:r>
              <a:rPr lang="en-US" sz="2000" b="1">
                <a:solidFill>
                  <a:schemeClr val="dk1"/>
                </a:solidFill>
              </a:rPr>
              <a:t>1.To Collect Dataset: </a:t>
            </a:r>
            <a:r>
              <a:rPr lang="en-US" sz="2000">
                <a:solidFill>
                  <a:schemeClr val="dk1"/>
                </a:solidFill>
              </a:rPr>
              <a:t>Gather historical data on electric vehicle charging patterns, energy consumption, and other relevant factors to support predictive modeling.</a:t>
            </a:r>
            <a:endParaRPr sz="2000">
              <a:solidFill>
                <a:schemeClr val="dk1"/>
              </a:solidFill>
            </a:endParaRPr>
          </a:p>
          <a:p>
            <a:pPr marL="0" lvl="0" indent="0" algn="just" rtl="0">
              <a:lnSpc>
                <a:spcPct val="70000"/>
              </a:lnSpc>
              <a:spcBef>
                <a:spcPts val="1600"/>
              </a:spcBef>
              <a:spcAft>
                <a:spcPts val="0"/>
              </a:spcAft>
              <a:buNone/>
            </a:pPr>
            <a:r>
              <a:rPr lang="en-US" sz="2000" b="1">
                <a:solidFill>
                  <a:schemeClr val="dk1"/>
                </a:solidFill>
              </a:rPr>
              <a:t>2.To design and develop model for Predictive analysis:</a:t>
            </a:r>
            <a:r>
              <a:rPr lang="en-US" sz="2000">
                <a:solidFill>
                  <a:schemeClr val="dk1"/>
                </a:solidFill>
              </a:rPr>
              <a:t>Develop a machine learning-based predictive model that utilizes collected data to forecast charging demand and energy consumption.</a:t>
            </a:r>
            <a:endParaRPr sz="2000">
              <a:solidFill>
                <a:schemeClr val="dk1"/>
              </a:solidFill>
            </a:endParaRPr>
          </a:p>
          <a:p>
            <a:pPr marL="0" lvl="0" indent="0" algn="just" rtl="0">
              <a:lnSpc>
                <a:spcPct val="70000"/>
              </a:lnSpc>
              <a:spcBef>
                <a:spcPts val="1600"/>
              </a:spcBef>
              <a:spcAft>
                <a:spcPts val="0"/>
              </a:spcAft>
              <a:buNone/>
            </a:pPr>
            <a:r>
              <a:rPr lang="en-US" sz="2000" b="1">
                <a:solidFill>
                  <a:schemeClr val="dk1"/>
                </a:solidFill>
              </a:rPr>
              <a:t>3.To monitor and Predict:</a:t>
            </a:r>
            <a:r>
              <a:rPr lang="en-US" sz="2000">
                <a:solidFill>
                  <a:schemeClr val="dk1"/>
                </a:solidFill>
              </a:rPr>
              <a:t>  Design a real-time monitoring system that utilizes predictive analytics to forecast charging demand, detect anomalies, and optimize charging station operations.</a:t>
            </a:r>
            <a:endParaRPr sz="2000">
              <a:solidFill>
                <a:schemeClr val="dk1"/>
              </a:solidFill>
            </a:endParaRPr>
          </a:p>
          <a:p>
            <a:pPr marL="0" lvl="0" indent="0" algn="just" rtl="0">
              <a:lnSpc>
                <a:spcPct val="70000"/>
              </a:lnSpc>
              <a:spcBef>
                <a:spcPts val="1600"/>
              </a:spcBef>
              <a:spcAft>
                <a:spcPts val="0"/>
              </a:spcAft>
              <a:buNone/>
            </a:pPr>
            <a:r>
              <a:rPr lang="en-US" sz="2000" b="1">
                <a:solidFill>
                  <a:schemeClr val="dk1"/>
                </a:solidFill>
              </a:rPr>
              <a:t>4.To detect and manage fault:</a:t>
            </a:r>
            <a:r>
              <a:rPr lang="en-US" sz="2000">
                <a:solidFill>
                  <a:schemeClr val="dk1"/>
                </a:solidFill>
              </a:rPr>
              <a:t> Develop a fault detection and management system that uses automated control mechanism  to identify potential faults, alert operators, and provide recommendations for maintenance and repair.</a:t>
            </a:r>
            <a:endParaRPr sz="2000">
              <a:solidFill>
                <a:schemeClr val="dk1"/>
              </a:solidFill>
            </a:endParaRPr>
          </a:p>
          <a:p>
            <a:pPr marL="0" lvl="0" indent="0" algn="just" rtl="0">
              <a:lnSpc>
                <a:spcPct val="70000"/>
              </a:lnSpc>
              <a:spcBef>
                <a:spcPts val="1600"/>
              </a:spcBef>
              <a:spcAft>
                <a:spcPts val="0"/>
              </a:spcAft>
              <a:buNone/>
            </a:pPr>
            <a:endParaRPr sz="2000" b="1">
              <a:solidFill>
                <a:schemeClr val="dk1"/>
              </a:solidFill>
            </a:endParaRPr>
          </a:p>
          <a:p>
            <a:pPr marL="0" lvl="0" indent="0" algn="just" rtl="0">
              <a:lnSpc>
                <a:spcPct val="70000"/>
              </a:lnSpc>
              <a:spcBef>
                <a:spcPts val="1600"/>
              </a:spcBef>
              <a:spcAft>
                <a:spcPts val="0"/>
              </a:spcAft>
              <a:buNone/>
            </a:pPr>
            <a:endParaRPr sz="2000" b="1">
              <a:solidFill>
                <a:schemeClr val="dk1"/>
              </a:solidFill>
            </a:endParaRPr>
          </a:p>
          <a:p>
            <a:pPr marL="0" lvl="0" indent="0" algn="just" rtl="0">
              <a:lnSpc>
                <a:spcPct val="70000"/>
              </a:lnSpc>
              <a:spcBef>
                <a:spcPts val="1600"/>
              </a:spcBef>
              <a:spcAft>
                <a:spcPts val="0"/>
              </a:spcAft>
              <a:buClr>
                <a:schemeClr val="dk1"/>
              </a:buClr>
              <a:buSzPts val="1100"/>
              <a:buFont typeface="Arial"/>
              <a:buNone/>
            </a:pPr>
            <a:endParaRPr sz="2000" b="1">
              <a:solidFill>
                <a:schemeClr val="dk1"/>
              </a:solidFill>
            </a:endParaRPr>
          </a:p>
          <a:p>
            <a:pPr marL="0" lvl="0" indent="0" algn="l" rtl="0">
              <a:lnSpc>
                <a:spcPct val="70000"/>
              </a:lnSpc>
              <a:spcBef>
                <a:spcPts val="1600"/>
              </a:spcBef>
              <a:spcAft>
                <a:spcPts val="1600"/>
              </a:spcAft>
              <a:buNone/>
            </a:pPr>
            <a:endParaRPr sz="2000" b="1">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6"/>
          <p:cNvSpPr txBox="1">
            <a:spLocks noGrp="1"/>
          </p:cNvSpPr>
          <p:nvPr>
            <p:ph type="title"/>
          </p:nvPr>
        </p:nvSpPr>
        <p:spPr>
          <a:xfrm>
            <a:off x="854825" y="2087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Rationale for Proposed Title</a:t>
            </a:r>
            <a:endParaRPr sz="3000">
              <a:latin typeface="Arial"/>
              <a:ea typeface="Arial"/>
              <a:cs typeface="Arial"/>
              <a:sym typeface="Arial"/>
            </a:endParaRPr>
          </a:p>
        </p:txBody>
      </p:sp>
      <p:sp>
        <p:nvSpPr>
          <p:cNvPr id="207" name="Google Shape;207;p36"/>
          <p:cNvSpPr txBox="1">
            <a:spLocks noGrp="1"/>
          </p:cNvSpPr>
          <p:nvPr>
            <p:ph type="body" idx="1"/>
          </p:nvPr>
        </p:nvSpPr>
        <p:spPr>
          <a:xfrm>
            <a:off x="682925" y="1382050"/>
            <a:ext cx="10859400" cy="4351200"/>
          </a:xfrm>
          <a:prstGeom prst="rect">
            <a:avLst/>
          </a:prstGeom>
          <a:noFill/>
          <a:ln>
            <a:noFill/>
          </a:ln>
        </p:spPr>
        <p:txBody>
          <a:bodyPr spcFirstLastPara="1" wrap="square" lIns="91425" tIns="45700" rIns="91425" bIns="45700" anchor="t" anchorCtr="0">
            <a:normAutofit/>
          </a:bodyPr>
          <a:lstStyle/>
          <a:p>
            <a:pPr marL="228600" lvl="0" indent="-177800" algn="l" rtl="0">
              <a:lnSpc>
                <a:spcPct val="90000"/>
              </a:lnSpc>
              <a:spcBef>
                <a:spcPts val="0"/>
              </a:spcBef>
              <a:spcAft>
                <a:spcPts val="0"/>
              </a:spcAft>
              <a:buSzPts val="2000"/>
              <a:buChar char="•"/>
            </a:pPr>
            <a:r>
              <a:rPr lang="en-US" sz="2000" b="1">
                <a:solidFill>
                  <a:schemeClr val="dk1"/>
                </a:solidFill>
                <a:latin typeface="Arial"/>
                <a:ea typeface="Arial"/>
                <a:cs typeface="Arial"/>
                <a:sym typeface="Arial"/>
              </a:rPr>
              <a:t>Domain: </a:t>
            </a:r>
            <a:endParaRPr sz="2000">
              <a:solidFill>
                <a:schemeClr val="dk1"/>
              </a:solidFill>
              <a:latin typeface="Arial"/>
              <a:ea typeface="Arial"/>
              <a:cs typeface="Arial"/>
              <a:sym typeface="Arial"/>
            </a:endParaRPr>
          </a:p>
          <a:p>
            <a:pPr marL="685800" lvl="1" indent="-203200" algn="l" rtl="0">
              <a:lnSpc>
                <a:spcPct val="90000"/>
              </a:lnSpc>
              <a:spcBef>
                <a:spcPts val="500"/>
              </a:spcBef>
              <a:spcAft>
                <a:spcPts val="0"/>
              </a:spcAft>
              <a:buSzPts val="2000"/>
              <a:buChar char="○"/>
            </a:pPr>
            <a:r>
              <a:rPr lang="en-US" sz="2000">
                <a:solidFill>
                  <a:schemeClr val="dk1"/>
                </a:solidFill>
                <a:latin typeface="Arial"/>
                <a:ea typeface="Arial"/>
                <a:cs typeface="Arial"/>
                <a:sym typeface="Arial"/>
              </a:rPr>
              <a:t>IOT/Product Development</a:t>
            </a:r>
            <a:endParaRPr sz="2000">
              <a:solidFill>
                <a:schemeClr val="dk1"/>
              </a:solidFill>
              <a:latin typeface="Arial"/>
              <a:ea typeface="Arial"/>
              <a:cs typeface="Arial"/>
              <a:sym typeface="Arial"/>
            </a:endParaRPr>
          </a:p>
          <a:p>
            <a:pPr marL="685800" lvl="1" indent="-203200" algn="l" rtl="0">
              <a:lnSpc>
                <a:spcPct val="90000"/>
              </a:lnSpc>
              <a:spcBef>
                <a:spcPts val="500"/>
              </a:spcBef>
              <a:spcAft>
                <a:spcPts val="0"/>
              </a:spcAft>
              <a:buSzPts val="2000"/>
              <a:buChar char="○"/>
            </a:pPr>
            <a:r>
              <a:rPr lang="en-US" sz="2000">
                <a:solidFill>
                  <a:schemeClr val="dk1"/>
                </a:solidFill>
                <a:latin typeface="Arial"/>
                <a:ea typeface="Arial"/>
                <a:cs typeface="Arial"/>
                <a:sym typeface="Arial"/>
              </a:rPr>
              <a:t>Multidisciplinary: </a:t>
            </a:r>
            <a:r>
              <a:rPr lang="en-US" sz="2000">
                <a:solidFill>
                  <a:schemeClr val="dk1"/>
                </a:solidFill>
              </a:rPr>
              <a:t>Yes</a:t>
            </a:r>
            <a:endParaRPr sz="2000">
              <a:solidFill>
                <a:schemeClr val="dk1"/>
              </a:solidFill>
            </a:endParaRPr>
          </a:p>
          <a:p>
            <a:pPr marL="685800" lvl="0" indent="0" algn="l" rtl="0">
              <a:lnSpc>
                <a:spcPct val="90000"/>
              </a:lnSpc>
              <a:spcBef>
                <a:spcPts val="500"/>
              </a:spcBef>
              <a:spcAft>
                <a:spcPts val="0"/>
              </a:spcAft>
              <a:buNone/>
            </a:pPr>
            <a:endParaRPr sz="2000">
              <a:solidFill>
                <a:schemeClr val="dk1"/>
              </a:solidFill>
            </a:endParaRPr>
          </a:p>
          <a:p>
            <a:pPr marL="228600" lvl="0" indent="-177800" algn="l" rtl="0">
              <a:lnSpc>
                <a:spcPct val="90000"/>
              </a:lnSpc>
              <a:spcBef>
                <a:spcPts val="1000"/>
              </a:spcBef>
              <a:spcAft>
                <a:spcPts val="0"/>
              </a:spcAft>
              <a:buSzPts val="2000"/>
              <a:buChar char="•"/>
            </a:pPr>
            <a:r>
              <a:rPr lang="en-US" sz="2000" b="1">
                <a:solidFill>
                  <a:schemeClr val="dk1"/>
                </a:solidFill>
                <a:latin typeface="Arial"/>
                <a:ea typeface="Arial"/>
                <a:cs typeface="Arial"/>
                <a:sym typeface="Arial"/>
              </a:rPr>
              <a:t>Why This Title?</a:t>
            </a:r>
            <a:endParaRPr sz="2000">
              <a:solidFill>
                <a:schemeClr val="dk1"/>
              </a:solidFill>
              <a:latin typeface="Arial"/>
              <a:ea typeface="Arial"/>
              <a:cs typeface="Arial"/>
              <a:sym typeface="Arial"/>
            </a:endParaRPr>
          </a:p>
          <a:p>
            <a:pPr marL="685800" lvl="0" indent="0" algn="l" rtl="0">
              <a:lnSpc>
                <a:spcPct val="90000"/>
              </a:lnSpc>
              <a:spcBef>
                <a:spcPts val="500"/>
              </a:spcBef>
              <a:spcAft>
                <a:spcPts val="0"/>
              </a:spcAft>
              <a:buNone/>
            </a:pPr>
            <a:r>
              <a:rPr lang="en-US" sz="2000">
                <a:solidFill>
                  <a:schemeClr val="dk1"/>
                </a:solidFill>
                <a:latin typeface="Arial"/>
                <a:ea typeface="Arial"/>
                <a:cs typeface="Arial"/>
                <a:sym typeface="Arial"/>
              </a:rPr>
              <a:t>The title encapsulates the primary challenge: managing and optimizing smart charging systems to ensure safety, efficiency, and real-time control.</a:t>
            </a:r>
            <a:endParaRPr sz="2000">
              <a:solidFill>
                <a:schemeClr val="dk1"/>
              </a:solidFill>
              <a:latin typeface="Arial"/>
              <a:ea typeface="Arial"/>
              <a:cs typeface="Arial"/>
              <a:sym typeface="Arial"/>
            </a:endParaRPr>
          </a:p>
          <a:p>
            <a:pPr marL="685800" lvl="0" indent="0" algn="l" rtl="0">
              <a:lnSpc>
                <a:spcPct val="90000"/>
              </a:lnSpc>
              <a:spcBef>
                <a:spcPts val="500"/>
              </a:spcBef>
              <a:spcAft>
                <a:spcPts val="0"/>
              </a:spcAft>
              <a:buNone/>
            </a:pPr>
            <a:endParaRPr sz="2000">
              <a:solidFill>
                <a:schemeClr val="dk1"/>
              </a:solidFill>
            </a:endParaRPr>
          </a:p>
          <a:p>
            <a:pPr marL="228600" lvl="0" indent="-177800" algn="l" rtl="0">
              <a:lnSpc>
                <a:spcPct val="90000"/>
              </a:lnSpc>
              <a:spcBef>
                <a:spcPts val="1000"/>
              </a:spcBef>
              <a:spcAft>
                <a:spcPts val="0"/>
              </a:spcAft>
              <a:buSzPts val="2000"/>
              <a:buChar char="•"/>
            </a:pPr>
            <a:r>
              <a:rPr lang="en-US" sz="2000" b="1">
                <a:solidFill>
                  <a:schemeClr val="dk1"/>
                </a:solidFill>
                <a:latin typeface="Arial"/>
                <a:ea typeface="Arial"/>
                <a:cs typeface="Arial"/>
                <a:sym typeface="Arial"/>
              </a:rPr>
              <a:t>Alignment with Research Objectives:</a:t>
            </a:r>
            <a:endParaRPr sz="2000">
              <a:solidFill>
                <a:schemeClr val="dk1"/>
              </a:solidFill>
              <a:latin typeface="Arial"/>
              <a:ea typeface="Arial"/>
              <a:cs typeface="Arial"/>
              <a:sym typeface="Arial"/>
            </a:endParaRPr>
          </a:p>
          <a:p>
            <a:pPr marL="742950" lvl="1" indent="-260350" algn="l" rtl="0">
              <a:lnSpc>
                <a:spcPct val="90000"/>
              </a:lnSpc>
              <a:spcBef>
                <a:spcPts val="500"/>
              </a:spcBef>
              <a:spcAft>
                <a:spcPts val="0"/>
              </a:spcAft>
              <a:buSzPts val="2000"/>
              <a:buChar char="○"/>
            </a:pPr>
            <a:r>
              <a:rPr lang="en-US" sz="2000">
                <a:solidFill>
                  <a:schemeClr val="dk1"/>
                </a:solidFill>
                <a:latin typeface="Arial"/>
                <a:ea typeface="Arial"/>
                <a:cs typeface="Arial"/>
                <a:sym typeface="Arial"/>
              </a:rPr>
              <a:t>The title represents the goal of the project: to create a smart charging station solution that utilizes real-time monitoring, predictive analysis, and optimization.</a:t>
            </a:r>
            <a:endParaRPr sz="20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xfrm>
            <a:off x="287925" y="235125"/>
            <a:ext cx="49782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Methodology Overview</a:t>
            </a:r>
            <a:endParaRPr sz="3000">
              <a:latin typeface="Arial"/>
              <a:ea typeface="Arial"/>
              <a:cs typeface="Arial"/>
              <a:sym typeface="Arial"/>
            </a:endParaRPr>
          </a:p>
        </p:txBody>
      </p:sp>
      <p:pic>
        <p:nvPicPr>
          <p:cNvPr id="213" name="Google Shape;213;p37"/>
          <p:cNvPicPr preferRelativeResize="0"/>
          <p:nvPr/>
        </p:nvPicPr>
        <p:blipFill>
          <a:blip r:embed="rId3">
            <a:alphaModFix/>
          </a:blip>
          <a:stretch>
            <a:fillRect/>
          </a:stretch>
        </p:blipFill>
        <p:spPr>
          <a:xfrm>
            <a:off x="5034950" y="152400"/>
            <a:ext cx="6171677" cy="6553201"/>
          </a:xfrm>
          <a:prstGeom prst="rect">
            <a:avLst/>
          </a:prstGeom>
          <a:noFill/>
          <a:ln>
            <a:noFill/>
          </a:ln>
        </p:spPr>
      </p:pic>
      <p:sp>
        <p:nvSpPr>
          <p:cNvPr id="214" name="Google Shape;214;p37"/>
          <p:cNvSpPr txBox="1"/>
          <p:nvPr/>
        </p:nvSpPr>
        <p:spPr>
          <a:xfrm>
            <a:off x="606925" y="1560825"/>
            <a:ext cx="3736800" cy="50620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dk1"/>
                </a:solidFill>
              </a:rPr>
              <a:t>1. Data Acquisition</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dirty="0">
                <a:solidFill>
                  <a:schemeClr val="dk1"/>
                </a:solidFill>
              </a:rPr>
              <a:t>2. Data Preprocessing</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dirty="0">
                <a:solidFill>
                  <a:schemeClr val="dk1"/>
                </a:solidFill>
              </a:rPr>
              <a:t>3. Model Development</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dirty="0">
                <a:solidFill>
                  <a:schemeClr val="dk1"/>
                </a:solidFill>
              </a:rPr>
              <a:t>4. Model Evaluation</a:t>
            </a:r>
          </a:p>
          <a:p>
            <a:pPr marL="0" lvl="0" indent="0" algn="l" rtl="0">
              <a:spcBef>
                <a:spcPts val="0"/>
              </a:spcBef>
              <a:spcAft>
                <a:spcPts val="0"/>
              </a:spcAft>
              <a:buNone/>
            </a:pPr>
            <a:endParaRPr lang="en-US" sz="2000" dirty="0">
              <a:solidFill>
                <a:schemeClr val="dk1"/>
              </a:solidFill>
            </a:endParaRPr>
          </a:p>
          <a:p>
            <a:pPr marL="0" lvl="0" indent="0" algn="l" rtl="0">
              <a:spcBef>
                <a:spcPts val="0"/>
              </a:spcBef>
              <a:spcAft>
                <a:spcPts val="0"/>
              </a:spcAft>
              <a:buNone/>
            </a:pPr>
            <a:r>
              <a:rPr lang="en-US" sz="2000" dirty="0">
                <a:solidFill>
                  <a:schemeClr val="dk1"/>
                </a:solidFill>
              </a:rPr>
              <a:t>5. Real-Time Prediction and Monitoring</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dirty="0">
                <a:solidFill>
                  <a:schemeClr val="dk1"/>
                </a:solidFill>
              </a:rPr>
              <a:t>6. Grid Integration</a:t>
            </a:r>
            <a:endParaRPr sz="2000" dirty="0">
              <a:solidFill>
                <a:schemeClr val="dk1"/>
              </a:solidFill>
            </a:endParaRPr>
          </a:p>
          <a:p>
            <a:pPr marL="0" lvl="0" indent="0" algn="l" rtl="0">
              <a:spcBef>
                <a:spcPts val="0"/>
              </a:spcBef>
              <a:spcAft>
                <a:spcPts val="0"/>
              </a:spcAft>
              <a:buNone/>
            </a:pPr>
            <a:endParaRPr sz="2000" dirty="0">
              <a:solidFill>
                <a:schemeClr val="dk1"/>
              </a:solidFill>
            </a:endParaRPr>
          </a:p>
          <a:p>
            <a:pPr marL="0" lvl="0" indent="0" algn="l" rtl="0">
              <a:spcBef>
                <a:spcPts val="0"/>
              </a:spcBef>
              <a:spcAft>
                <a:spcPts val="0"/>
              </a:spcAft>
              <a:buNone/>
            </a:pPr>
            <a:r>
              <a:rPr lang="en-US" sz="2000" dirty="0">
                <a:solidFill>
                  <a:schemeClr val="dk1"/>
                </a:solidFill>
              </a:rPr>
              <a:t>7. Alerts and Feedback System</a:t>
            </a:r>
          </a:p>
          <a:p>
            <a:pPr marL="0" lvl="0" indent="0" algn="l" rtl="0">
              <a:spcBef>
                <a:spcPts val="0"/>
              </a:spcBef>
              <a:spcAft>
                <a:spcPts val="0"/>
              </a:spcAft>
              <a:buNone/>
            </a:pPr>
            <a:r>
              <a:rPr lang="en-US" sz="2000" dirty="0">
                <a:solidFill>
                  <a:schemeClr val="dk1"/>
                </a:solidFill>
              </a:rPr>
              <a:t>8. Integration with </a:t>
            </a:r>
            <a:r>
              <a:rPr lang="en-US" sz="2000">
                <a:solidFill>
                  <a:schemeClr val="dk1"/>
                </a:solidFill>
              </a:rPr>
              <a:t>grid system</a:t>
            </a:r>
            <a:endParaRPr sz="2000" dirty="0">
              <a:solidFill>
                <a:schemeClr val="dk1"/>
              </a:solidFill>
            </a:endParaRPr>
          </a:p>
          <a:p>
            <a:pPr marL="0" lvl="0" indent="0" algn="l" rtl="0">
              <a:spcBef>
                <a:spcPts val="0"/>
              </a:spcBef>
              <a:spcAft>
                <a:spcPts val="0"/>
              </a:spcAft>
              <a:buNone/>
            </a:pPr>
            <a:endParaRPr sz="2000" dirty="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8"/>
          <p:cNvSpPr txBox="1">
            <a:spLocks noGrp="1"/>
          </p:cNvSpPr>
          <p:nvPr>
            <p:ph type="title"/>
          </p:nvPr>
        </p:nvSpPr>
        <p:spPr>
          <a:xfrm>
            <a:off x="697500" y="10225"/>
            <a:ext cx="10515600" cy="990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Expected Outcomes</a:t>
            </a:r>
            <a:endParaRPr sz="3000">
              <a:latin typeface="Arial"/>
              <a:ea typeface="Arial"/>
              <a:cs typeface="Arial"/>
              <a:sym typeface="Arial"/>
            </a:endParaRPr>
          </a:p>
        </p:txBody>
      </p:sp>
      <p:sp>
        <p:nvSpPr>
          <p:cNvPr id="220" name="Google Shape;220;p38"/>
          <p:cNvSpPr txBox="1">
            <a:spLocks noGrp="1"/>
          </p:cNvSpPr>
          <p:nvPr>
            <p:ph type="body" idx="1"/>
          </p:nvPr>
        </p:nvSpPr>
        <p:spPr>
          <a:xfrm>
            <a:off x="353700" y="932675"/>
            <a:ext cx="11484600" cy="5849100"/>
          </a:xfrm>
          <a:prstGeom prst="rect">
            <a:avLst/>
          </a:prstGeom>
          <a:noFill/>
          <a:ln>
            <a:noFill/>
          </a:ln>
        </p:spPr>
        <p:txBody>
          <a:bodyPr spcFirstLastPara="1" wrap="square" lIns="91425" tIns="45700" rIns="91425" bIns="45700" anchor="t" anchorCtr="0">
            <a:noAutofit/>
          </a:bodyPr>
          <a:lstStyle/>
          <a:p>
            <a:pPr marL="12700" lvl="0" indent="0" algn="just" rtl="0">
              <a:lnSpc>
                <a:spcPct val="115000"/>
              </a:lnSpc>
              <a:spcBef>
                <a:spcPts val="0"/>
              </a:spcBef>
              <a:spcAft>
                <a:spcPts val="0"/>
              </a:spcAft>
              <a:buClr>
                <a:schemeClr val="dk1"/>
              </a:buClr>
              <a:buSzPts val="1100"/>
              <a:buFont typeface="Arial"/>
              <a:buNone/>
            </a:pPr>
            <a:r>
              <a:rPr lang="en-US" sz="2000" b="1">
                <a:solidFill>
                  <a:schemeClr val="dk1"/>
                </a:solidFill>
              </a:rPr>
              <a:t>Outcome 1: </a:t>
            </a:r>
            <a:r>
              <a:rPr lang="en-US" sz="2000">
                <a:solidFill>
                  <a:schemeClr val="dk1"/>
                </a:solidFill>
              </a:rPr>
              <a:t>A machine learning model that  dynamically adjust voltage/current according charging demand and energy consumption for </a:t>
            </a:r>
            <a:r>
              <a:rPr lang="en-US" sz="2000" b="1">
                <a:solidFill>
                  <a:schemeClr val="dk1"/>
                </a:solidFill>
              </a:rPr>
              <a:t>faster charging</a:t>
            </a:r>
            <a:r>
              <a:rPr lang="en-US" sz="2000">
                <a:solidFill>
                  <a:schemeClr val="dk1"/>
                </a:solidFill>
              </a:rPr>
              <a:t> while maintaining battery health.</a:t>
            </a:r>
            <a:endParaRPr sz="2000">
              <a:solidFill>
                <a:schemeClr val="dk1"/>
              </a:solidFill>
            </a:endParaRPr>
          </a:p>
          <a:p>
            <a:pPr marL="12700" lvl="0" indent="0" algn="just" rtl="0">
              <a:lnSpc>
                <a:spcPct val="115000"/>
              </a:lnSpc>
              <a:spcBef>
                <a:spcPts val="0"/>
              </a:spcBef>
              <a:spcAft>
                <a:spcPts val="0"/>
              </a:spcAft>
              <a:buClr>
                <a:schemeClr val="dk1"/>
              </a:buClr>
              <a:buSzPts val="1100"/>
              <a:buFont typeface="Arial"/>
              <a:buNone/>
            </a:pPr>
            <a:endParaRPr sz="2000">
              <a:solidFill>
                <a:schemeClr val="dk1"/>
              </a:solidFill>
            </a:endParaRPr>
          </a:p>
          <a:p>
            <a:pPr marL="12700" lvl="0" indent="0" algn="just" rtl="0">
              <a:lnSpc>
                <a:spcPct val="115000"/>
              </a:lnSpc>
              <a:spcBef>
                <a:spcPts val="0"/>
              </a:spcBef>
              <a:spcAft>
                <a:spcPts val="0"/>
              </a:spcAft>
              <a:buClr>
                <a:schemeClr val="dk1"/>
              </a:buClr>
              <a:buSzPts val="1100"/>
              <a:buFont typeface="Arial"/>
              <a:buNone/>
            </a:pPr>
            <a:r>
              <a:rPr lang="en-US" sz="2000" b="1">
                <a:solidFill>
                  <a:schemeClr val="dk1"/>
                </a:solidFill>
              </a:rPr>
              <a:t>Outcome 2:</a:t>
            </a:r>
            <a:r>
              <a:rPr lang="en-US" sz="2000">
                <a:solidFill>
                  <a:schemeClr val="dk1"/>
                </a:solidFill>
              </a:rPr>
              <a:t> Real-time </a:t>
            </a:r>
            <a:r>
              <a:rPr lang="en-US" sz="2000" b="1">
                <a:solidFill>
                  <a:schemeClr val="dk1"/>
                </a:solidFill>
              </a:rPr>
              <a:t>Fault Detection and Management</a:t>
            </a:r>
            <a:r>
              <a:rPr lang="en-US" sz="2000">
                <a:solidFill>
                  <a:schemeClr val="dk1"/>
                </a:solidFill>
              </a:rPr>
              <a:t> and sends alerts for voltage/current anomalies to prevent hardware failures.</a:t>
            </a:r>
            <a:endParaRPr sz="2000">
              <a:solidFill>
                <a:schemeClr val="dk1"/>
              </a:solidFill>
            </a:endParaRPr>
          </a:p>
          <a:p>
            <a:pPr marL="12700" lvl="0" indent="0" algn="just" rtl="0">
              <a:lnSpc>
                <a:spcPct val="115000"/>
              </a:lnSpc>
              <a:spcBef>
                <a:spcPts val="0"/>
              </a:spcBef>
              <a:spcAft>
                <a:spcPts val="0"/>
              </a:spcAft>
              <a:buClr>
                <a:schemeClr val="dk1"/>
              </a:buClr>
              <a:buSzPts val="1100"/>
              <a:buFont typeface="Arial"/>
              <a:buNone/>
            </a:pPr>
            <a:endParaRPr sz="2000">
              <a:solidFill>
                <a:schemeClr val="dk1"/>
              </a:solidFill>
            </a:endParaRPr>
          </a:p>
          <a:p>
            <a:pPr marL="12700" lvl="0" indent="0" algn="just" rtl="0">
              <a:lnSpc>
                <a:spcPct val="115000"/>
              </a:lnSpc>
              <a:spcBef>
                <a:spcPts val="0"/>
              </a:spcBef>
              <a:spcAft>
                <a:spcPts val="0"/>
              </a:spcAft>
              <a:buClr>
                <a:schemeClr val="dk1"/>
              </a:buClr>
              <a:buSzPts val="1100"/>
              <a:buFont typeface="Arial"/>
              <a:buNone/>
            </a:pPr>
            <a:r>
              <a:rPr lang="en-US" sz="2000" b="1">
                <a:solidFill>
                  <a:schemeClr val="dk1"/>
                </a:solidFill>
              </a:rPr>
              <a:t>Outcome 3: Optimized grid</a:t>
            </a:r>
            <a:r>
              <a:rPr lang="en-US" sz="2000">
                <a:solidFill>
                  <a:schemeClr val="dk1"/>
                </a:solidFill>
              </a:rPr>
              <a:t> load by managing power distribution during peak hours.</a:t>
            </a:r>
            <a:endParaRPr sz="2000">
              <a:solidFill>
                <a:schemeClr val="dk1"/>
              </a:solidFill>
            </a:endParaRPr>
          </a:p>
          <a:p>
            <a:pPr marL="0" lvl="0" indent="0" algn="just" rtl="0">
              <a:lnSpc>
                <a:spcPct val="115000"/>
              </a:lnSpc>
              <a:spcBef>
                <a:spcPts val="0"/>
              </a:spcBef>
              <a:spcAft>
                <a:spcPts val="0"/>
              </a:spcAft>
              <a:buClr>
                <a:schemeClr val="dk1"/>
              </a:buClr>
              <a:buSzPts val="1100"/>
              <a:buFont typeface="Arial"/>
              <a:buNone/>
            </a:pPr>
            <a:endParaRPr sz="2000">
              <a:solidFill>
                <a:schemeClr val="dk1"/>
              </a:solidFill>
            </a:endParaRPr>
          </a:p>
          <a:p>
            <a:pPr marL="0" lvl="0" indent="0" algn="just" rtl="0">
              <a:lnSpc>
                <a:spcPct val="115000"/>
              </a:lnSpc>
              <a:spcBef>
                <a:spcPts val="0"/>
              </a:spcBef>
              <a:spcAft>
                <a:spcPts val="0"/>
              </a:spcAft>
              <a:buClr>
                <a:schemeClr val="dk1"/>
              </a:buClr>
              <a:buSzPts val="1100"/>
              <a:buFont typeface="Arial"/>
              <a:buNone/>
            </a:pPr>
            <a:r>
              <a:rPr lang="en-US" sz="2000">
                <a:solidFill>
                  <a:schemeClr val="dk1"/>
                </a:solidFill>
              </a:rPr>
              <a:t>•Patent: Yes/NO </a:t>
            </a:r>
            <a:r>
              <a:rPr lang="en-US" sz="2000">
                <a:solidFill>
                  <a:srgbClr val="FF0000"/>
                </a:solidFill>
              </a:rPr>
              <a:t>(*To be decided by Committee and Guide)</a:t>
            </a:r>
            <a:endParaRPr sz="2000">
              <a:solidFill>
                <a:srgbClr val="FF0000"/>
              </a:solidFill>
            </a:endParaRPr>
          </a:p>
          <a:p>
            <a:pPr marL="12700" lvl="0" indent="0" algn="just" rtl="0">
              <a:lnSpc>
                <a:spcPct val="115000"/>
              </a:lnSpc>
              <a:spcBef>
                <a:spcPts val="0"/>
              </a:spcBef>
              <a:spcAft>
                <a:spcPts val="0"/>
              </a:spcAft>
              <a:buClr>
                <a:schemeClr val="dk1"/>
              </a:buClr>
              <a:buSzPts val="1100"/>
              <a:buFont typeface="Arial"/>
              <a:buNone/>
            </a:pPr>
            <a:r>
              <a:rPr lang="en-US" sz="2000">
                <a:solidFill>
                  <a:schemeClr val="dk1"/>
                </a:solidFill>
              </a:rPr>
              <a:t>•Research Paper: Conference/Journal </a:t>
            </a:r>
            <a:r>
              <a:rPr lang="en-US" sz="2000">
                <a:solidFill>
                  <a:srgbClr val="FF0000"/>
                </a:solidFill>
              </a:rPr>
              <a:t>(*To be decided by Committee and Guide)</a:t>
            </a:r>
            <a:endParaRPr sz="2000">
              <a:solidFill>
                <a:srgbClr val="FF0000"/>
              </a:solidFill>
            </a:endParaRPr>
          </a:p>
          <a:p>
            <a:pPr marL="0" lvl="0" indent="0" algn="just" rtl="0">
              <a:lnSpc>
                <a:spcPct val="115000"/>
              </a:lnSpc>
              <a:spcBef>
                <a:spcPts val="0"/>
              </a:spcBef>
              <a:spcAft>
                <a:spcPts val="0"/>
              </a:spcAft>
              <a:buClr>
                <a:schemeClr val="dk1"/>
              </a:buClr>
              <a:buSzPts val="1100"/>
              <a:buFont typeface="Arial"/>
              <a:buNone/>
            </a:pPr>
            <a:r>
              <a:rPr lang="en-US" sz="2000">
                <a:solidFill>
                  <a:schemeClr val="dk1"/>
                </a:solidFill>
              </a:rPr>
              <a:t>    	</a:t>
            </a:r>
            <a:r>
              <a:rPr lang="en-US" sz="2000">
                <a:solidFill>
                  <a:srgbClr val="FF0000"/>
                </a:solidFill>
              </a:rPr>
              <a:t> (*Note: POST - PROJECT SUBMISSION REQUIREMENT:  : As mentioned earlier, the project titles and the scope of projects shall be such that at least ONE SCOPUS / WoS indexed publication / Book Chapter / Patent is derived out of the project work. The student has to pay the fees for publication. It shall clarify to all Project Guides and the project students that if the desired aim is not achieved before ESE Viva Voce of VII Sem ESE, the project may be extended to next SIX months and the final viva voce of project shall be conducted at the time of VIII Sem ESE.)</a:t>
            </a:r>
            <a:endParaRPr sz="2000">
              <a:solidFill>
                <a:srgbClr val="FF0000"/>
              </a:solidFill>
            </a:endParaRPr>
          </a:p>
          <a:p>
            <a:pPr marL="457200" lvl="0" indent="0" algn="just" rtl="0">
              <a:lnSpc>
                <a:spcPct val="115000"/>
              </a:lnSpc>
              <a:spcBef>
                <a:spcPts val="1200"/>
              </a:spcBef>
              <a:spcAft>
                <a:spcPts val="0"/>
              </a:spcAft>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57200" lvl="0" indent="0" algn="just" rtl="0">
              <a:lnSpc>
                <a:spcPct val="115000"/>
              </a:lnSpc>
              <a:spcBef>
                <a:spcPts val="1200"/>
              </a:spcBef>
              <a:spcAft>
                <a:spcPts val="1200"/>
              </a:spcAft>
              <a:buNone/>
            </a:pPr>
            <a:endParaRPr sz="20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9"/>
          <p:cNvSpPr txBox="1">
            <a:spLocks noGrp="1"/>
          </p:cNvSpPr>
          <p:nvPr>
            <p:ph type="title"/>
          </p:nvPr>
        </p:nvSpPr>
        <p:spPr>
          <a:xfrm>
            <a:off x="914400" y="0"/>
            <a:ext cx="10515600" cy="1163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Feasibility and Timeline</a:t>
            </a:r>
            <a:endParaRPr sz="3000" b="1">
              <a:latin typeface="Arial"/>
              <a:ea typeface="Arial"/>
              <a:cs typeface="Arial"/>
              <a:sym typeface="Arial"/>
            </a:endParaRPr>
          </a:p>
        </p:txBody>
      </p:sp>
      <p:sp>
        <p:nvSpPr>
          <p:cNvPr id="226" name="Google Shape;226;p39"/>
          <p:cNvSpPr txBox="1">
            <a:spLocks noGrp="1"/>
          </p:cNvSpPr>
          <p:nvPr>
            <p:ph type="body" idx="1"/>
          </p:nvPr>
        </p:nvSpPr>
        <p:spPr>
          <a:xfrm>
            <a:off x="681550" y="1253400"/>
            <a:ext cx="10859700" cy="4798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Software Tools:</a:t>
            </a:r>
            <a:endParaRPr sz="2000" b="1">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1. Backend Technologies (Django)</a:t>
            </a:r>
            <a:endParaRPr sz="2000" b="1">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Django</a:t>
            </a:r>
            <a:r>
              <a:rPr lang="en-US" sz="2000">
                <a:solidFill>
                  <a:schemeClr val="dk1"/>
                </a:solidFill>
                <a:latin typeface="Arial"/>
                <a:ea typeface="Arial"/>
                <a:cs typeface="Arial"/>
                <a:sym typeface="Arial"/>
              </a:rPr>
              <a:t>: For building the backend.</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Django REST Framework (DRF)</a:t>
            </a:r>
            <a:r>
              <a:rPr lang="en-US" sz="2000">
                <a:solidFill>
                  <a:schemeClr val="dk1"/>
                </a:solidFill>
                <a:latin typeface="Arial"/>
                <a:ea typeface="Arial"/>
                <a:cs typeface="Arial"/>
                <a:sym typeface="Arial"/>
              </a:rPr>
              <a:t>: To create RESTful APIs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Django Channels</a:t>
            </a:r>
            <a:r>
              <a:rPr lang="en-US" sz="2000">
                <a:solidFill>
                  <a:schemeClr val="dk1"/>
                </a:solidFill>
                <a:latin typeface="Arial"/>
                <a:ea typeface="Arial"/>
                <a:cs typeface="Arial"/>
                <a:sym typeface="Arial"/>
              </a:rPr>
              <a:t>: To handle WebSocket connections for real-time updates.</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2. Frontend Technologies</a:t>
            </a:r>
            <a:endParaRPr sz="2000" b="1">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Django Templates</a:t>
            </a:r>
            <a:r>
              <a:rPr lang="en-US" sz="2000">
                <a:solidFill>
                  <a:schemeClr val="dk1"/>
                </a:solidFill>
                <a:latin typeface="Arial"/>
                <a:ea typeface="Arial"/>
                <a:cs typeface="Arial"/>
                <a:sym typeface="Arial"/>
              </a:rPr>
              <a:t>: For server-side rendering of HTML pages.</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3.Database</a:t>
            </a:r>
            <a:endParaRPr sz="2000" b="1">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MySQL</a:t>
            </a:r>
            <a:r>
              <a:rPr lang="en-US" sz="2000">
                <a:solidFill>
                  <a:schemeClr val="dk1"/>
                </a:solidFill>
                <a:latin typeface="Arial"/>
                <a:ea typeface="Arial"/>
                <a:cs typeface="Arial"/>
                <a:sym typeface="Arial"/>
              </a:rPr>
              <a:t>: For structured data like logs, predictions, and user information.</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MongoDB</a:t>
            </a:r>
            <a:r>
              <a:rPr lang="en-US" sz="2000">
                <a:solidFill>
                  <a:schemeClr val="dk1"/>
                </a:solidFill>
                <a:latin typeface="Arial"/>
                <a:ea typeface="Arial"/>
                <a:cs typeface="Arial"/>
                <a:sym typeface="Arial"/>
              </a:rPr>
              <a:t>: (Optional) For storing unstructured or real-time log data.</a:t>
            </a:r>
            <a:endParaRPr sz="2000">
              <a:solidFill>
                <a:schemeClr val="dk1"/>
              </a:solidFill>
              <a:latin typeface="Arial"/>
              <a:ea typeface="Arial"/>
              <a:cs typeface="Arial"/>
              <a:sym typeface="Arial"/>
            </a:endParaRPr>
          </a:p>
          <a:p>
            <a:pPr marL="457200" lvl="0" indent="0" algn="l" rtl="0">
              <a:lnSpc>
                <a:spcPct val="115000"/>
              </a:lnSpc>
              <a:spcBef>
                <a:spcPts val="1200"/>
              </a:spcBef>
              <a:spcAft>
                <a:spcPts val="0"/>
              </a:spcAft>
              <a:buNone/>
            </a:pPr>
            <a:endParaRPr sz="2000">
              <a:solidFill>
                <a:schemeClr val="dk1"/>
              </a:solidFill>
              <a:latin typeface="Arial"/>
              <a:ea typeface="Arial"/>
              <a:cs typeface="Arial"/>
              <a:sym typeface="Arial"/>
            </a:endParaRPr>
          </a:p>
          <a:p>
            <a:pPr marL="0" lvl="0" indent="0" algn="l" rtl="0">
              <a:lnSpc>
                <a:spcPct val="90000"/>
              </a:lnSpc>
              <a:spcBef>
                <a:spcPts val="1200"/>
              </a:spcBef>
              <a:spcAft>
                <a:spcPts val="0"/>
              </a:spcAft>
              <a:buNone/>
            </a:pPr>
            <a:endParaRPr sz="2000">
              <a:solidFill>
                <a:schemeClr val="dk1"/>
              </a:solidFill>
              <a:latin typeface="Arial"/>
              <a:ea typeface="Arial"/>
              <a:cs typeface="Arial"/>
              <a:sym typeface="Arial"/>
            </a:endParaRPr>
          </a:p>
          <a:p>
            <a:pPr marL="228600" lvl="0" indent="0" algn="l" rtl="0">
              <a:lnSpc>
                <a:spcPct val="90000"/>
              </a:lnSpc>
              <a:spcBef>
                <a:spcPts val="0"/>
              </a:spcBef>
              <a:spcAft>
                <a:spcPts val="0"/>
              </a:spcAft>
              <a:buNone/>
            </a:pPr>
            <a:endParaRPr sz="20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0"/>
          <p:cNvSpPr txBox="1">
            <a:spLocks noGrp="1"/>
          </p:cNvSpPr>
          <p:nvPr>
            <p:ph type="title"/>
          </p:nvPr>
        </p:nvSpPr>
        <p:spPr>
          <a:xfrm>
            <a:off x="908900" y="0"/>
            <a:ext cx="10515600" cy="959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3000" b="1">
                <a:latin typeface="Arial"/>
                <a:ea typeface="Arial"/>
                <a:cs typeface="Arial"/>
                <a:sym typeface="Arial"/>
              </a:rPr>
              <a:t>Feasibility and Timeline</a:t>
            </a:r>
            <a:endParaRPr/>
          </a:p>
        </p:txBody>
      </p:sp>
      <p:sp>
        <p:nvSpPr>
          <p:cNvPr id="233" name="Google Shape;233;p40"/>
          <p:cNvSpPr txBox="1">
            <a:spLocks noGrp="1"/>
          </p:cNvSpPr>
          <p:nvPr>
            <p:ph type="body" idx="1"/>
          </p:nvPr>
        </p:nvSpPr>
        <p:spPr>
          <a:xfrm>
            <a:off x="695700" y="1115750"/>
            <a:ext cx="10845600" cy="4712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4. Machine Learning Technologies</a:t>
            </a:r>
            <a:endParaRPr sz="2000" b="1">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Scikit-learn</a:t>
            </a:r>
            <a:r>
              <a:rPr lang="en-US" sz="2000">
                <a:solidFill>
                  <a:schemeClr val="dk1"/>
                </a:solidFill>
                <a:latin typeface="Arial"/>
                <a:ea typeface="Arial"/>
                <a:cs typeface="Arial"/>
                <a:sym typeface="Arial"/>
              </a:rPr>
              <a:t>: For building regression, classification, or clustering models.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Pandas</a:t>
            </a:r>
            <a:r>
              <a:rPr lang="en-US" sz="2000">
                <a:solidFill>
                  <a:schemeClr val="dk1"/>
                </a:solidFill>
                <a:latin typeface="Arial"/>
                <a:ea typeface="Arial"/>
                <a:cs typeface="Arial"/>
                <a:sym typeface="Arial"/>
              </a:rPr>
              <a:t>: For data manipulation and preprocessing.</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NumPy</a:t>
            </a:r>
            <a:r>
              <a:rPr lang="en-US" sz="2000">
                <a:solidFill>
                  <a:schemeClr val="dk1"/>
                </a:solidFill>
                <a:latin typeface="Arial"/>
                <a:ea typeface="Arial"/>
                <a:cs typeface="Arial"/>
                <a:sym typeface="Arial"/>
              </a:rPr>
              <a:t>: For numerical computations.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Matplotlib</a:t>
            </a:r>
            <a:r>
              <a:rPr lang="en-US" sz="2000">
                <a:solidFill>
                  <a:schemeClr val="dk1"/>
                </a:solidFill>
                <a:latin typeface="Arial"/>
                <a:ea typeface="Arial"/>
                <a:cs typeface="Arial"/>
                <a:sym typeface="Arial"/>
              </a:rPr>
              <a:t> and </a:t>
            </a:r>
            <a:r>
              <a:rPr lang="en-US" sz="2000" b="1">
                <a:solidFill>
                  <a:schemeClr val="dk1"/>
                </a:solidFill>
                <a:latin typeface="Arial"/>
                <a:ea typeface="Arial"/>
                <a:cs typeface="Arial"/>
                <a:sym typeface="Arial"/>
              </a:rPr>
              <a:t>Seaborn</a:t>
            </a:r>
            <a:r>
              <a:rPr lang="en-US" sz="2000">
                <a:solidFill>
                  <a:schemeClr val="dk1"/>
                </a:solidFill>
                <a:latin typeface="Arial"/>
                <a:ea typeface="Arial"/>
                <a:cs typeface="Arial"/>
                <a:sym typeface="Arial"/>
              </a:rPr>
              <a:t>: For static data visualization.</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Jupyter Notebook</a:t>
            </a:r>
            <a:r>
              <a:rPr lang="en-US" sz="2000">
                <a:solidFill>
                  <a:schemeClr val="dk1"/>
                </a:solidFill>
                <a:latin typeface="Arial"/>
                <a:ea typeface="Arial"/>
                <a:cs typeface="Arial"/>
                <a:sym typeface="Arial"/>
              </a:rPr>
              <a:t>: For developing, testing, and analyzing machine learning models.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Clr>
                <a:schemeClr val="dk1"/>
              </a:buClr>
              <a:buSzPts val="2000"/>
              <a:buChar char="●"/>
            </a:pPr>
            <a:r>
              <a:rPr lang="en-US" sz="2000" b="1">
                <a:solidFill>
                  <a:schemeClr val="dk1"/>
                </a:solidFill>
              </a:rPr>
              <a:t>Tensorflow : </a:t>
            </a:r>
            <a:r>
              <a:rPr lang="en-US" sz="2000">
                <a:solidFill>
                  <a:schemeClr val="dk1"/>
                </a:solidFill>
                <a:highlight>
                  <a:srgbClr val="FFFFFF"/>
                </a:highlight>
              </a:rPr>
              <a:t>Used for building and deploying machine learning and deep learning models.</a:t>
            </a:r>
            <a:endParaRPr sz="2000">
              <a:solidFill>
                <a:schemeClr val="dk1"/>
              </a:solidFil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5.Hardware Integration Technologies And Tools</a:t>
            </a:r>
            <a:endParaRPr sz="2000" b="1">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Microcontrollers</a:t>
            </a:r>
            <a:endParaRPr sz="2000" b="1">
              <a:solidFill>
                <a:schemeClr val="dk1"/>
              </a:solidFill>
              <a:latin typeface="Arial"/>
              <a:ea typeface="Arial"/>
              <a:cs typeface="Arial"/>
              <a:sym typeface="Arial"/>
            </a:endParaRPr>
          </a:p>
          <a:p>
            <a:pPr marL="457200" lvl="0" indent="-355600" algn="l" rtl="0">
              <a:lnSpc>
                <a:spcPct val="115000"/>
              </a:lnSpc>
              <a:spcBef>
                <a:spcPts val="1200"/>
              </a:spcBef>
              <a:spcAft>
                <a:spcPts val="0"/>
              </a:spcAft>
              <a:buSzPts val="2000"/>
              <a:buChar char="●"/>
            </a:pPr>
            <a:r>
              <a:rPr lang="en-US" sz="2000" b="1">
                <a:solidFill>
                  <a:schemeClr val="dk1"/>
                </a:solidFill>
                <a:latin typeface="Arial"/>
                <a:ea typeface="Arial"/>
                <a:cs typeface="Arial"/>
                <a:sym typeface="Arial"/>
              </a:rPr>
              <a:t>Arduino</a:t>
            </a:r>
            <a:r>
              <a:rPr lang="en-US" sz="2000">
                <a:solidFill>
                  <a:schemeClr val="dk1"/>
                </a:solidFill>
                <a:latin typeface="Arial"/>
                <a:ea typeface="Arial"/>
                <a:cs typeface="Arial"/>
                <a:sym typeface="Arial"/>
              </a:rPr>
              <a:t>: For collecting analog/digital data from voltage, current, or temperature sensors.</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ESP32/ESP8266</a:t>
            </a:r>
            <a:r>
              <a:rPr lang="en-US" sz="2000">
                <a:solidFill>
                  <a:schemeClr val="dk1"/>
                </a:solidFill>
                <a:latin typeface="Arial"/>
                <a:ea typeface="Arial"/>
                <a:cs typeface="Arial"/>
                <a:sym typeface="Arial"/>
              </a:rPr>
              <a:t>: For IoT capabilities with built-in Wi-Fi.</a:t>
            </a:r>
            <a:endParaRPr sz="2000">
              <a:solidFill>
                <a:schemeClr val="dk1"/>
              </a:solidFill>
              <a:latin typeface="Arial"/>
              <a:ea typeface="Arial"/>
              <a:cs typeface="Arial"/>
              <a:sym typeface="Arial"/>
            </a:endParaRPr>
          </a:p>
          <a:p>
            <a:pPr marL="457200" lvl="0" indent="-355600" algn="l" rtl="0">
              <a:lnSpc>
                <a:spcPct val="115000"/>
              </a:lnSpc>
              <a:spcBef>
                <a:spcPts val="0"/>
              </a:spcBef>
              <a:spcAft>
                <a:spcPts val="0"/>
              </a:spcAft>
              <a:buSzPts val="2000"/>
              <a:buChar char="●"/>
            </a:pPr>
            <a:r>
              <a:rPr lang="en-US" sz="2000" b="1">
                <a:solidFill>
                  <a:schemeClr val="dk1"/>
                </a:solidFill>
                <a:latin typeface="Arial"/>
                <a:ea typeface="Arial"/>
                <a:cs typeface="Arial"/>
                <a:sym typeface="Arial"/>
              </a:rPr>
              <a:t>Raspberry Pi</a:t>
            </a:r>
            <a:r>
              <a:rPr lang="en-US" sz="2000">
                <a:solidFill>
                  <a:schemeClr val="dk1"/>
                </a:solidFill>
                <a:latin typeface="Arial"/>
                <a:ea typeface="Arial"/>
                <a:cs typeface="Arial"/>
                <a:sym typeface="Arial"/>
              </a:rPr>
              <a:t>: For edge computing and acting as a bridge between hardware and backend.</a:t>
            </a:r>
            <a:endParaRPr sz="2000">
              <a:solidFill>
                <a:schemeClr val="dk1"/>
              </a:solidFill>
              <a:latin typeface="Arial"/>
              <a:ea typeface="Arial"/>
              <a:cs typeface="Arial"/>
              <a:sym typeface="Arial"/>
            </a:endParaRPr>
          </a:p>
          <a:p>
            <a:pPr marL="0" lvl="0" indent="0" algn="l" rtl="0">
              <a:lnSpc>
                <a:spcPct val="115000"/>
              </a:lnSpc>
              <a:spcBef>
                <a:spcPts val="1200"/>
              </a:spcBef>
              <a:spcAft>
                <a:spcPts val="1200"/>
              </a:spcAft>
              <a:buNone/>
            </a:pPr>
            <a:r>
              <a:rPr lang="en-US" sz="2000" b="1">
                <a:solidFill>
                  <a:schemeClr val="dk1"/>
                </a:solidFill>
                <a:latin typeface="Arial"/>
                <a:ea typeface="Arial"/>
                <a:cs typeface="Arial"/>
                <a:sym typeface="Arial"/>
              </a:rPr>
              <a:t>Django Channels</a:t>
            </a:r>
            <a:r>
              <a:rPr lang="en-US" sz="2000">
                <a:solidFill>
                  <a:schemeClr val="dk1"/>
                </a:solidFill>
                <a:latin typeface="Arial"/>
                <a:ea typeface="Arial"/>
                <a:cs typeface="Arial"/>
                <a:sym typeface="Arial"/>
              </a:rPr>
              <a:t>: To handle WebSocket connections for real-time updates.</a:t>
            </a:r>
            <a:endParaRPr sz="20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1"/>
          <p:cNvSpPr txBox="1">
            <a:spLocks noGrp="1"/>
          </p:cNvSpPr>
          <p:nvPr>
            <p:ph type="title"/>
          </p:nvPr>
        </p:nvSpPr>
        <p:spPr>
          <a:xfrm>
            <a:off x="9298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3000" b="1">
                <a:latin typeface="Arial"/>
                <a:ea typeface="Arial"/>
                <a:cs typeface="Arial"/>
                <a:sym typeface="Arial"/>
              </a:rPr>
              <a:t>Feasibility and Timeline</a:t>
            </a:r>
            <a:endParaRPr/>
          </a:p>
        </p:txBody>
      </p:sp>
      <p:sp>
        <p:nvSpPr>
          <p:cNvPr id="240" name="Google Shape;240;p41"/>
          <p:cNvSpPr txBox="1">
            <a:spLocks noGrp="1"/>
          </p:cNvSpPr>
          <p:nvPr>
            <p:ph type="body" idx="1"/>
          </p:nvPr>
        </p:nvSpPr>
        <p:spPr>
          <a:xfrm>
            <a:off x="681550" y="1181875"/>
            <a:ext cx="10859700" cy="52152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000" b="1">
                <a:solidFill>
                  <a:schemeClr val="dk1"/>
                </a:solidFill>
                <a:latin typeface="Arial"/>
                <a:ea typeface="Arial"/>
                <a:cs typeface="Arial"/>
                <a:sym typeface="Arial"/>
              </a:rPr>
              <a:t>6.Datasets:</a:t>
            </a:r>
            <a:endParaRPr sz="2000" b="1">
              <a:solidFill>
                <a:schemeClr val="dk1"/>
              </a:solidFill>
              <a:latin typeface="Arial"/>
              <a:ea typeface="Arial"/>
              <a:cs typeface="Arial"/>
              <a:sym typeface="Arial"/>
            </a:endParaRPr>
          </a:p>
          <a:p>
            <a:pPr marL="0" lvl="0" indent="0" algn="l" rtl="0">
              <a:spcBef>
                <a:spcPts val="1600"/>
              </a:spcBef>
              <a:spcAft>
                <a:spcPts val="0"/>
              </a:spcAft>
              <a:buNone/>
            </a:pPr>
            <a:r>
              <a:rPr lang="en-US" sz="2000" b="1">
                <a:solidFill>
                  <a:schemeClr val="dk1"/>
                </a:solidFill>
                <a:latin typeface="Arial"/>
                <a:ea typeface="Arial"/>
                <a:cs typeface="Arial"/>
                <a:sym typeface="Arial"/>
              </a:rPr>
              <a:t>Voltage Dataset: </a:t>
            </a:r>
            <a:r>
              <a:rPr lang="en-US" sz="2000">
                <a:solidFill>
                  <a:schemeClr val="dk1"/>
                </a:solidFill>
                <a:latin typeface="Arial"/>
                <a:ea typeface="Arial"/>
                <a:cs typeface="Arial"/>
                <a:sym typeface="Arial"/>
              </a:rPr>
              <a:t>This dataset contains records of voltage readings across different charging stations, measured over time</a:t>
            </a:r>
            <a:endParaRPr sz="2000">
              <a:solidFill>
                <a:schemeClr val="dk1"/>
              </a:solidFill>
              <a:latin typeface="Arial"/>
              <a:ea typeface="Arial"/>
              <a:cs typeface="Arial"/>
              <a:sym typeface="Arial"/>
            </a:endParaRPr>
          </a:p>
          <a:p>
            <a:pPr marL="0" lvl="0" indent="0" algn="l" rtl="0">
              <a:lnSpc>
                <a:spcPct val="115000"/>
              </a:lnSpc>
              <a:spcBef>
                <a:spcPts val="1600"/>
              </a:spcBef>
              <a:spcAft>
                <a:spcPts val="0"/>
              </a:spcAft>
              <a:buNone/>
            </a:pPr>
            <a:r>
              <a:rPr lang="en-US" sz="2000" b="1">
                <a:solidFill>
                  <a:schemeClr val="dk1"/>
                </a:solidFill>
                <a:latin typeface="Arial"/>
                <a:ea typeface="Arial"/>
                <a:cs typeface="Arial"/>
                <a:sym typeface="Arial"/>
              </a:rPr>
              <a:t>Current Dataset</a:t>
            </a:r>
            <a:r>
              <a:rPr lang="en-US" sz="2000">
                <a:solidFill>
                  <a:schemeClr val="dk1"/>
                </a:solidFill>
                <a:latin typeface="Arial"/>
                <a:ea typeface="Arial"/>
                <a:cs typeface="Arial"/>
                <a:sym typeface="Arial"/>
              </a:rPr>
              <a:t> : This dataset records the current drawn by vehicles at various charging stations, measured over time</a:t>
            </a:r>
            <a:endParaRPr sz="2000" b="1">
              <a:solidFill>
                <a:schemeClr val="dk1"/>
              </a:solidFill>
            </a:endParaRPr>
          </a:p>
          <a:p>
            <a:pPr marL="0" lvl="0" indent="0" algn="l" rtl="0">
              <a:lnSpc>
                <a:spcPct val="115000"/>
              </a:lnSpc>
              <a:spcBef>
                <a:spcPts val="1200"/>
              </a:spcBef>
              <a:spcAft>
                <a:spcPts val="0"/>
              </a:spcAft>
              <a:buNone/>
            </a:pPr>
            <a:endParaRPr sz="2000" b="1">
              <a:solidFill>
                <a:schemeClr val="dk1"/>
              </a:solidFill>
            </a:endParaRPr>
          </a:p>
          <a:p>
            <a:pPr marL="0" lvl="0" indent="0" algn="l" rtl="0">
              <a:spcBef>
                <a:spcPts val="200"/>
              </a:spcBef>
              <a:spcAft>
                <a:spcPts val="0"/>
              </a:spcAft>
              <a:buNone/>
            </a:pPr>
            <a:r>
              <a:rPr lang="en-US" sz="2000" b="1">
                <a:solidFill>
                  <a:schemeClr val="dk1"/>
                </a:solidFill>
                <a:latin typeface="Arial"/>
                <a:ea typeface="Arial"/>
                <a:cs typeface="Arial"/>
                <a:sym typeface="Arial"/>
              </a:rPr>
              <a:t>7.Machine Learning Model</a:t>
            </a:r>
            <a:endParaRPr sz="2000" b="1">
              <a:solidFill>
                <a:schemeClr val="dk1"/>
              </a:solidFill>
              <a:latin typeface="Arial"/>
              <a:ea typeface="Arial"/>
              <a:cs typeface="Arial"/>
              <a:sym typeface="Arial"/>
            </a:endParaRPr>
          </a:p>
          <a:p>
            <a:pPr marL="0" lvl="0" indent="0" algn="l" rtl="0">
              <a:lnSpc>
                <a:spcPct val="115000"/>
              </a:lnSpc>
              <a:spcBef>
                <a:spcPts val="1600"/>
              </a:spcBef>
              <a:spcAft>
                <a:spcPts val="0"/>
              </a:spcAft>
              <a:buNone/>
            </a:pPr>
            <a:r>
              <a:rPr lang="en-US" sz="2000" b="1">
                <a:solidFill>
                  <a:schemeClr val="dk1"/>
                </a:solidFill>
                <a:latin typeface="Arial"/>
                <a:ea typeface="Arial"/>
                <a:cs typeface="Arial"/>
                <a:sym typeface="Arial"/>
              </a:rPr>
              <a:t>i. Predict Energy Consumption</a:t>
            </a:r>
            <a:endParaRPr sz="2000" b="1">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Objective:</a:t>
            </a:r>
            <a:r>
              <a:rPr lang="en-US" sz="2000">
                <a:solidFill>
                  <a:schemeClr val="dk1"/>
                </a:solidFill>
                <a:latin typeface="Arial"/>
                <a:ea typeface="Arial"/>
                <a:cs typeface="Arial"/>
                <a:sym typeface="Arial"/>
              </a:rPr>
              <a:t> Predict the energy consumption of vehicles </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Linear Regression:</a:t>
            </a:r>
            <a:r>
              <a:rPr lang="en-US" sz="2000">
                <a:solidFill>
                  <a:schemeClr val="dk1"/>
                </a:solidFill>
                <a:latin typeface="Arial"/>
                <a:ea typeface="Arial"/>
                <a:cs typeface="Arial"/>
                <a:sym typeface="Arial"/>
              </a:rPr>
              <a:t> If the relationship between features (voltage, current, duration) and target (energy consumption) is linear.</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2000" b="1">
                <a:solidFill>
                  <a:schemeClr val="dk1"/>
                </a:solidFill>
                <a:latin typeface="Arial"/>
                <a:ea typeface="Arial"/>
                <a:cs typeface="Arial"/>
                <a:sym typeface="Arial"/>
              </a:rPr>
              <a:t>Gradient Boosting Models (XGBoost, LightGBM):</a:t>
            </a:r>
            <a:r>
              <a:rPr lang="en-US" sz="2000">
                <a:solidFill>
                  <a:schemeClr val="dk1"/>
                </a:solidFill>
                <a:latin typeface="Arial"/>
                <a:ea typeface="Arial"/>
                <a:cs typeface="Arial"/>
                <a:sym typeface="Arial"/>
              </a:rPr>
              <a:t> For high-performance regression tasks with faster computations.</a:t>
            </a:r>
            <a:endParaRPr sz="2000" b="1">
              <a:solidFill>
                <a:schemeClr val="dk1"/>
              </a:solidFill>
              <a:latin typeface="Arial"/>
              <a:ea typeface="Arial"/>
              <a:cs typeface="Arial"/>
              <a:sym typeface="Arial"/>
            </a:endParaRPr>
          </a:p>
          <a:p>
            <a:pPr marL="0" lvl="0" indent="0" algn="l" rtl="0">
              <a:spcBef>
                <a:spcPts val="1200"/>
              </a:spcBef>
              <a:spcAft>
                <a:spcPts val="1600"/>
              </a:spcAft>
              <a:buClr>
                <a:schemeClr val="dk1"/>
              </a:buClr>
              <a:buSzPts val="1100"/>
              <a:buFont typeface="Arial"/>
              <a:buNone/>
            </a:pPr>
            <a:endParaRPr sz="2000" b="1">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2"/>
          <p:cNvSpPr txBox="1">
            <a:spLocks noGrp="1"/>
          </p:cNvSpPr>
          <p:nvPr>
            <p:ph type="title"/>
          </p:nvPr>
        </p:nvSpPr>
        <p:spPr>
          <a:xfrm>
            <a:off x="9175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3000" b="1">
                <a:latin typeface="Arial"/>
                <a:ea typeface="Arial"/>
                <a:cs typeface="Arial"/>
                <a:sym typeface="Arial"/>
              </a:rPr>
              <a:t>Feasibility and Timeline</a:t>
            </a:r>
            <a:endParaRPr sz="3000" b="1">
              <a:latin typeface="Arial"/>
              <a:ea typeface="Arial"/>
              <a:cs typeface="Arial"/>
              <a:sym typeface="Arial"/>
            </a:endParaRPr>
          </a:p>
        </p:txBody>
      </p:sp>
      <p:sp>
        <p:nvSpPr>
          <p:cNvPr id="247" name="Google Shape;247;p42"/>
          <p:cNvSpPr txBox="1">
            <a:spLocks noGrp="1"/>
          </p:cNvSpPr>
          <p:nvPr>
            <p:ph type="body" idx="1"/>
          </p:nvPr>
        </p:nvSpPr>
        <p:spPr>
          <a:xfrm>
            <a:off x="666150" y="1325700"/>
            <a:ext cx="10859700" cy="51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ii. Predictive Maintenance</a:t>
            </a:r>
            <a:endParaRPr sz="2000" b="1">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Objective:</a:t>
            </a:r>
            <a:r>
              <a:rPr lang="en-US" sz="2000">
                <a:solidFill>
                  <a:schemeClr val="dk1"/>
                </a:solidFill>
                <a:latin typeface="Arial"/>
                <a:ea typeface="Arial"/>
                <a:cs typeface="Arial"/>
                <a:sym typeface="Arial"/>
              </a:rPr>
              <a:t> Predict hardware failures in the charging station to ensure seamless operation.</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Logistic Regression:</a:t>
            </a:r>
            <a:r>
              <a:rPr lang="en-US" sz="2000">
                <a:solidFill>
                  <a:schemeClr val="dk1"/>
                </a:solidFill>
                <a:latin typeface="Arial"/>
                <a:ea typeface="Arial"/>
                <a:cs typeface="Arial"/>
                <a:sym typeface="Arial"/>
              </a:rPr>
              <a:t> For binary classification (e.g., "Fail" vs. "No Fail").</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Random Forest Classifier:</a:t>
            </a:r>
            <a:r>
              <a:rPr lang="en-US" sz="2000">
                <a:solidFill>
                  <a:schemeClr val="dk1"/>
                </a:solidFill>
                <a:latin typeface="Arial"/>
                <a:ea typeface="Arial"/>
                <a:cs typeface="Arial"/>
                <a:sym typeface="Arial"/>
              </a:rPr>
              <a:t> Handles imbalanced datasets and complex relationships well.</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iii. Optimize Voltage and Current Delivery</a:t>
            </a:r>
            <a:endParaRPr sz="2000" b="1">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Objective:</a:t>
            </a:r>
            <a:r>
              <a:rPr lang="en-US" sz="2000">
                <a:solidFill>
                  <a:schemeClr val="dk1"/>
                </a:solidFill>
                <a:latin typeface="Arial"/>
                <a:ea typeface="Arial"/>
                <a:cs typeface="Arial"/>
                <a:sym typeface="Arial"/>
              </a:rPr>
              <a:t> Determine the best voltage/current settings for efficient and safe charging.and Understand and predict user behavior, such as preferred charging times or frequently visited stations.</a:t>
            </a:r>
            <a:endParaRPr sz="200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2000" b="1">
                <a:solidFill>
                  <a:schemeClr val="dk1"/>
                </a:solidFill>
                <a:latin typeface="Arial"/>
                <a:ea typeface="Arial"/>
                <a:cs typeface="Arial"/>
                <a:sym typeface="Arial"/>
              </a:rPr>
              <a:t>K-Means Clustering:</a:t>
            </a:r>
            <a:r>
              <a:rPr lang="en-US" sz="2000">
                <a:solidFill>
                  <a:schemeClr val="dk1"/>
                </a:solidFill>
                <a:latin typeface="Arial"/>
                <a:ea typeface="Arial"/>
                <a:cs typeface="Arial"/>
                <a:sym typeface="Arial"/>
              </a:rPr>
              <a:t> Groups charging scenarios based on voltage, current, and other factors.</a:t>
            </a:r>
            <a:endParaRPr>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endParaRPr sz="2000">
              <a:solidFill>
                <a:schemeClr val="dk1"/>
              </a:solidFill>
              <a:latin typeface="Arial"/>
              <a:ea typeface="Arial"/>
              <a:cs typeface="Arial"/>
              <a:sym typeface="Arial"/>
            </a:endParaRPr>
          </a:p>
          <a:p>
            <a:pPr marL="0" lvl="0" indent="0" algn="l" rtl="0">
              <a:spcBef>
                <a:spcPts val="1200"/>
              </a:spcBef>
              <a:spcAft>
                <a:spcPts val="1600"/>
              </a:spcAft>
              <a:buNone/>
            </a:pPr>
            <a:endParaRPr sz="20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3"/>
          <p:cNvSpPr txBox="1">
            <a:spLocks noGrp="1"/>
          </p:cNvSpPr>
          <p:nvPr>
            <p:ph type="title"/>
          </p:nvPr>
        </p:nvSpPr>
        <p:spPr>
          <a:xfrm>
            <a:off x="649725" y="78225"/>
            <a:ext cx="10515600" cy="960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3000" b="1">
                <a:latin typeface="Arial"/>
                <a:ea typeface="Arial"/>
                <a:cs typeface="Arial"/>
                <a:sym typeface="Arial"/>
              </a:rPr>
              <a:t>Gantt Chart</a:t>
            </a:r>
            <a:endParaRPr/>
          </a:p>
        </p:txBody>
      </p:sp>
      <p:pic>
        <p:nvPicPr>
          <p:cNvPr id="254" name="Google Shape;254;p43"/>
          <p:cNvPicPr preferRelativeResize="0"/>
          <p:nvPr/>
        </p:nvPicPr>
        <p:blipFill>
          <a:blip r:embed="rId3">
            <a:alphaModFix/>
          </a:blip>
          <a:stretch>
            <a:fillRect/>
          </a:stretch>
        </p:blipFill>
        <p:spPr>
          <a:xfrm>
            <a:off x="557663" y="1038225"/>
            <a:ext cx="11076687" cy="5514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4"/>
          <p:cNvSpPr txBox="1">
            <a:spLocks noGrp="1"/>
          </p:cNvSpPr>
          <p:nvPr>
            <p:ph type="title"/>
          </p:nvPr>
        </p:nvSpPr>
        <p:spPr>
          <a:xfrm>
            <a:off x="838200" y="365125"/>
            <a:ext cx="10515600" cy="72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latin typeface="Arial"/>
                <a:ea typeface="Arial"/>
                <a:cs typeface="Arial"/>
                <a:sym typeface="Arial"/>
              </a:rPr>
              <a:t>Conclusion</a:t>
            </a:r>
            <a:endParaRPr sz="3000">
              <a:latin typeface="Arial"/>
              <a:ea typeface="Arial"/>
              <a:cs typeface="Arial"/>
              <a:sym typeface="Arial"/>
            </a:endParaRPr>
          </a:p>
        </p:txBody>
      </p:sp>
      <p:sp>
        <p:nvSpPr>
          <p:cNvPr id="260" name="Google Shape;260;p44"/>
          <p:cNvSpPr txBox="1">
            <a:spLocks noGrp="1"/>
          </p:cNvSpPr>
          <p:nvPr>
            <p:ph type="body" idx="1"/>
          </p:nvPr>
        </p:nvSpPr>
        <p:spPr>
          <a:xfrm>
            <a:off x="681550" y="1089325"/>
            <a:ext cx="10859700" cy="5087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000" b="1">
                <a:solidFill>
                  <a:schemeClr val="dk1"/>
                </a:solidFill>
              </a:rPr>
              <a:t>Name of similar project titles from previous years:</a:t>
            </a:r>
            <a:endParaRPr sz="2000" b="1">
              <a:solidFill>
                <a:schemeClr val="dk1"/>
              </a:solidFill>
            </a:endParaRPr>
          </a:p>
          <a:p>
            <a:pPr marL="0" lvl="0" indent="0" algn="l" rtl="0">
              <a:lnSpc>
                <a:spcPct val="90000"/>
              </a:lnSpc>
              <a:spcBef>
                <a:spcPts val="0"/>
              </a:spcBef>
              <a:spcAft>
                <a:spcPts val="0"/>
              </a:spcAft>
              <a:buNone/>
            </a:pPr>
            <a:endParaRPr sz="2000" b="1">
              <a:solidFill>
                <a:schemeClr val="dk1"/>
              </a:solidFill>
            </a:endParaRPr>
          </a:p>
          <a:p>
            <a:pPr marL="0" lvl="0" indent="0" algn="l" rtl="0">
              <a:lnSpc>
                <a:spcPct val="90000"/>
              </a:lnSpc>
              <a:spcBef>
                <a:spcPts val="0"/>
              </a:spcBef>
              <a:spcAft>
                <a:spcPts val="0"/>
              </a:spcAft>
              <a:buNone/>
            </a:pPr>
            <a:endParaRPr sz="2000" b="1">
              <a:solidFill>
                <a:schemeClr val="dk1"/>
              </a:solidFill>
            </a:endParaRPr>
          </a:p>
          <a:p>
            <a:pPr marL="0" lvl="0" indent="0" algn="l" rtl="0">
              <a:lnSpc>
                <a:spcPct val="90000"/>
              </a:lnSpc>
              <a:spcBef>
                <a:spcPts val="0"/>
              </a:spcBef>
              <a:spcAft>
                <a:spcPts val="0"/>
              </a:spcAft>
              <a:buNone/>
            </a:pPr>
            <a:endParaRPr sz="2000" b="1">
              <a:solidFill>
                <a:schemeClr val="dk1"/>
              </a:solidFill>
            </a:endParaRPr>
          </a:p>
          <a:p>
            <a:pPr marL="0" lvl="0" indent="0" algn="l" rtl="0">
              <a:lnSpc>
                <a:spcPct val="90000"/>
              </a:lnSpc>
              <a:spcBef>
                <a:spcPts val="0"/>
              </a:spcBef>
              <a:spcAft>
                <a:spcPts val="0"/>
              </a:spcAft>
              <a:buNone/>
            </a:pPr>
            <a:endParaRPr sz="2000" b="1">
              <a:solidFill>
                <a:schemeClr val="dk1"/>
              </a:solidFill>
            </a:endParaRPr>
          </a:p>
          <a:p>
            <a:pPr marL="0" lvl="0" indent="0" algn="l" rtl="0">
              <a:lnSpc>
                <a:spcPct val="90000"/>
              </a:lnSpc>
              <a:spcBef>
                <a:spcPts val="0"/>
              </a:spcBef>
              <a:spcAft>
                <a:spcPts val="0"/>
              </a:spcAft>
              <a:buNone/>
            </a:pPr>
            <a:endParaRPr sz="2000" b="1">
              <a:solidFill>
                <a:schemeClr val="dk1"/>
              </a:solidFill>
            </a:endParaRPr>
          </a:p>
          <a:p>
            <a:pPr marL="0" lvl="0" indent="0" algn="l" rtl="0">
              <a:lnSpc>
                <a:spcPct val="90000"/>
              </a:lnSpc>
              <a:spcBef>
                <a:spcPts val="1000"/>
              </a:spcBef>
              <a:spcAft>
                <a:spcPts val="0"/>
              </a:spcAft>
              <a:buNone/>
            </a:pPr>
            <a:r>
              <a:rPr lang="en-US" sz="2000" b="1">
                <a:solidFill>
                  <a:schemeClr val="dk1"/>
                </a:solidFill>
                <a:latin typeface="Arial"/>
                <a:ea typeface="Arial"/>
                <a:cs typeface="Arial"/>
                <a:sym typeface="Arial"/>
              </a:rPr>
              <a:t>Proposed Title Reiterated:</a:t>
            </a:r>
            <a:r>
              <a:rPr lang="en-US" sz="2000">
                <a:solidFill>
                  <a:schemeClr val="dk1"/>
                </a:solidFill>
                <a:latin typeface="Arial"/>
                <a:ea typeface="Arial"/>
                <a:cs typeface="Arial"/>
                <a:sym typeface="Arial"/>
              </a:rPr>
              <a:t> </a:t>
            </a:r>
            <a:r>
              <a:rPr lang="en-US" sz="2000">
                <a:solidFill>
                  <a:srgbClr val="FF0000"/>
                </a:solidFill>
                <a:latin typeface="Arial"/>
                <a:ea typeface="Arial"/>
                <a:cs typeface="Arial"/>
                <a:sym typeface="Arial"/>
              </a:rPr>
              <a:t>(*To be finalized by Committee and Guide)</a:t>
            </a:r>
            <a:endParaRPr sz="2000">
              <a:solidFill>
                <a:srgbClr val="FF0000"/>
              </a:solidFill>
              <a:latin typeface="Arial"/>
              <a:ea typeface="Arial"/>
              <a:cs typeface="Arial"/>
              <a:sym typeface="Arial"/>
            </a:endParaRPr>
          </a:p>
          <a:p>
            <a:pPr marL="228600" lvl="0" indent="0" algn="l" rtl="0">
              <a:lnSpc>
                <a:spcPct val="90000"/>
              </a:lnSpc>
              <a:spcBef>
                <a:spcPts val="1000"/>
              </a:spcBef>
              <a:spcAft>
                <a:spcPts val="0"/>
              </a:spcAft>
              <a:buNone/>
            </a:pPr>
            <a:endParaRPr sz="2000">
              <a:solidFill>
                <a:schemeClr val="dk1"/>
              </a:solidFill>
              <a:latin typeface="Arial"/>
              <a:ea typeface="Arial"/>
              <a:cs typeface="Arial"/>
              <a:sym typeface="Arial"/>
            </a:endParaRPr>
          </a:p>
          <a:p>
            <a:pPr marL="0" lvl="0" indent="0" algn="l" rtl="0">
              <a:lnSpc>
                <a:spcPct val="90000"/>
              </a:lnSpc>
              <a:spcBef>
                <a:spcPts val="1000"/>
              </a:spcBef>
              <a:spcAft>
                <a:spcPts val="0"/>
              </a:spcAft>
              <a:buNone/>
            </a:pPr>
            <a:r>
              <a:rPr lang="en-US" sz="2000" b="1">
                <a:solidFill>
                  <a:schemeClr val="dk1"/>
                </a:solidFill>
                <a:latin typeface="Arial"/>
                <a:ea typeface="Arial"/>
                <a:cs typeface="Arial"/>
                <a:sym typeface="Arial"/>
              </a:rPr>
              <a:t>Summary of Justification:</a:t>
            </a:r>
            <a:endParaRPr sz="2000" b="1">
              <a:solidFill>
                <a:schemeClr val="dk1"/>
              </a:solidFill>
              <a:latin typeface="Arial"/>
              <a:ea typeface="Arial"/>
              <a:cs typeface="Arial"/>
              <a:sym typeface="Arial"/>
            </a:endParaRPr>
          </a:p>
          <a:p>
            <a:pPr marL="742950" lvl="1" indent="-260350" algn="just" rtl="0">
              <a:lnSpc>
                <a:spcPct val="90000"/>
              </a:lnSpc>
              <a:spcBef>
                <a:spcPts val="500"/>
              </a:spcBef>
              <a:spcAft>
                <a:spcPts val="0"/>
              </a:spcAft>
              <a:buSzPts val="2000"/>
              <a:buChar char="○"/>
            </a:pPr>
            <a:r>
              <a:rPr lang="en-US" sz="2000" b="1">
                <a:solidFill>
                  <a:schemeClr val="dk1"/>
                </a:solidFill>
                <a:latin typeface="Arial"/>
                <a:ea typeface="Arial"/>
                <a:cs typeface="Arial"/>
                <a:sym typeface="Arial"/>
              </a:rPr>
              <a:t>Optimizes Energy Management:</a:t>
            </a:r>
            <a:r>
              <a:rPr lang="en-US" sz="2000">
                <a:solidFill>
                  <a:schemeClr val="dk1"/>
                </a:solidFill>
                <a:latin typeface="Arial"/>
                <a:ea typeface="Arial"/>
                <a:cs typeface="Arial"/>
                <a:sym typeface="Arial"/>
              </a:rPr>
              <a:t> The proposed mechanism uses machine learning algorithms to predict energy demand and adjust charging rates accordingly, reducing peak demand and energy waste.</a:t>
            </a:r>
            <a:endParaRPr sz="2000">
              <a:solidFill>
                <a:schemeClr val="dk1"/>
              </a:solidFill>
              <a:latin typeface="Arial"/>
              <a:ea typeface="Arial"/>
              <a:cs typeface="Arial"/>
              <a:sym typeface="Arial"/>
            </a:endParaRPr>
          </a:p>
          <a:p>
            <a:pPr marL="685800" lvl="0" indent="0" algn="just" rtl="0">
              <a:lnSpc>
                <a:spcPct val="90000"/>
              </a:lnSpc>
              <a:spcBef>
                <a:spcPts val="500"/>
              </a:spcBef>
              <a:spcAft>
                <a:spcPts val="0"/>
              </a:spcAft>
              <a:buNone/>
            </a:pPr>
            <a:endParaRPr sz="2000">
              <a:solidFill>
                <a:schemeClr val="dk1"/>
              </a:solidFill>
              <a:latin typeface="Arial"/>
              <a:ea typeface="Arial"/>
              <a:cs typeface="Arial"/>
              <a:sym typeface="Arial"/>
            </a:endParaRPr>
          </a:p>
          <a:p>
            <a:pPr marL="742950" lvl="1" indent="-260350" algn="just" rtl="0">
              <a:lnSpc>
                <a:spcPct val="90000"/>
              </a:lnSpc>
              <a:spcBef>
                <a:spcPts val="500"/>
              </a:spcBef>
              <a:spcAft>
                <a:spcPts val="0"/>
              </a:spcAft>
              <a:buSzPts val="2000"/>
              <a:buChar char="○"/>
            </a:pPr>
            <a:r>
              <a:rPr lang="en-US" sz="2000" b="1">
                <a:solidFill>
                  <a:schemeClr val="dk1"/>
                </a:solidFill>
                <a:latin typeface="Arial"/>
                <a:ea typeface="Arial"/>
                <a:cs typeface="Arial"/>
                <a:sym typeface="Arial"/>
              </a:rPr>
              <a:t>Provides Reliable Charging Services:</a:t>
            </a:r>
            <a:r>
              <a:rPr lang="en-US" sz="2000">
                <a:solidFill>
                  <a:schemeClr val="dk1"/>
                </a:solidFill>
                <a:latin typeface="Arial"/>
                <a:ea typeface="Arial"/>
                <a:cs typeface="Arial"/>
                <a:sym typeface="Arial"/>
              </a:rPr>
              <a:t> Real-time monitoring and automated control ensure that charging stations are always available and functioning correctly, providing a reliable charging experience for electric vehicle owners.</a:t>
            </a:r>
            <a:endParaRPr sz="2000">
              <a:solidFill>
                <a:schemeClr val="dk1"/>
              </a:solidFill>
              <a:latin typeface="Arial"/>
              <a:ea typeface="Arial"/>
              <a:cs typeface="Arial"/>
              <a:sym typeface="Arial"/>
            </a:endParaRPr>
          </a:p>
        </p:txBody>
      </p:sp>
      <p:graphicFrame>
        <p:nvGraphicFramePr>
          <p:cNvPr id="261" name="Google Shape;261;p44"/>
          <p:cNvGraphicFramePr/>
          <p:nvPr/>
        </p:nvGraphicFramePr>
        <p:xfrm>
          <a:off x="1028700" y="1676400"/>
          <a:ext cx="3000000" cy="3000000"/>
        </p:xfrm>
        <a:graphic>
          <a:graphicData uri="http://schemas.openxmlformats.org/drawingml/2006/table">
            <a:tbl>
              <a:tblPr>
                <a:noFill/>
                <a:tableStyleId>{B86A1C23-824F-4666-8E02-E63274676759}</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US" sz="2000" b="1">
                          <a:solidFill>
                            <a:schemeClr val="lt1"/>
                          </a:solidFill>
                        </a:rPr>
                        <a:t>Session</a:t>
                      </a:r>
                      <a:endParaRPr sz="2000" b="1">
                        <a:solidFill>
                          <a:schemeClr val="lt1"/>
                        </a:solidFill>
                      </a:endParaRPr>
                    </a:p>
                  </a:txBody>
                  <a:tcPr marL="91425" marR="91425" marT="91425" marB="91425">
                    <a:lnB w="9525" cap="flat" cmpd="sng">
                      <a:solidFill>
                        <a:srgbClr val="9FC5E8"/>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2000" b="1">
                          <a:solidFill>
                            <a:schemeClr val="lt1"/>
                          </a:solidFill>
                        </a:rPr>
                        <a:t>Title</a:t>
                      </a:r>
                      <a:endParaRPr sz="2000" b="1">
                        <a:solidFill>
                          <a:schemeClr val="lt1"/>
                        </a:solidFill>
                      </a:endParaRPr>
                    </a:p>
                  </a:txBody>
                  <a:tcPr marL="91425" marR="91425" marT="91425" marB="91425">
                    <a:lnB w="9525" cap="flat" cmpd="sng">
                      <a:solidFill>
                        <a:srgbClr val="9FC5E8"/>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2000" b="1">
                          <a:solidFill>
                            <a:schemeClr val="lt1"/>
                          </a:solidFill>
                        </a:rPr>
                        <a:t>Guide</a:t>
                      </a:r>
                      <a:endParaRPr sz="2000" b="1">
                        <a:solidFill>
                          <a:schemeClr val="lt1"/>
                        </a:solidFill>
                      </a:endParaRPr>
                    </a:p>
                  </a:txBody>
                  <a:tcPr marL="91425" marR="91425" marT="91425" marB="91425">
                    <a:lnB w="9525" cap="flat" cmpd="sng">
                      <a:solidFill>
                        <a:srgbClr val="9FC5E8"/>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2000" b="1">
                          <a:solidFill>
                            <a:schemeClr val="lt1"/>
                          </a:solidFill>
                        </a:rPr>
                        <a:t>-</a:t>
                      </a:r>
                      <a:endParaRPr sz="2000" b="1">
                        <a:solidFill>
                          <a:schemeClr val="lt1"/>
                        </a:solidFill>
                      </a:endParaRPr>
                    </a:p>
                  </a:txBody>
                  <a:tcPr marL="91425" marR="91425" marT="91425" marB="91425">
                    <a:lnL w="9525" cap="flat" cmpd="sng">
                      <a:solidFill>
                        <a:srgbClr val="9FC5E8"/>
                      </a:solidFill>
                      <a:prstDash val="solid"/>
                      <a:round/>
                      <a:headEnd type="none" w="sm" len="sm"/>
                      <a:tailEnd type="none" w="sm" len="sm"/>
                    </a:lnL>
                    <a:lnR w="9525" cap="flat" cmpd="sng">
                      <a:solidFill>
                        <a:srgbClr val="9FC5E8"/>
                      </a:solidFill>
                      <a:prstDash val="solid"/>
                      <a:round/>
                      <a:headEnd type="none" w="sm" len="sm"/>
                      <a:tailEnd type="none" w="sm" len="sm"/>
                    </a:lnR>
                    <a:lnT w="9525" cap="flat" cmpd="sng">
                      <a:solidFill>
                        <a:srgbClr val="9FC5E8"/>
                      </a:solidFill>
                      <a:prstDash val="solid"/>
                      <a:round/>
                      <a:headEnd type="none" w="sm" len="sm"/>
                      <a:tailEnd type="none" w="sm" len="sm"/>
                    </a:lnT>
                    <a:lnB w="9525" cap="flat" cmpd="sng">
                      <a:solidFill>
                        <a:srgbClr val="9FC5E8"/>
                      </a:solidFill>
                      <a:prstDash val="solid"/>
                      <a:round/>
                      <a:headEnd type="none" w="sm" len="sm"/>
                      <a:tailEnd type="none" w="sm" len="sm"/>
                    </a:lnB>
                    <a:solidFill>
                      <a:srgbClr val="9FC5E8"/>
                    </a:solidFill>
                  </a:tcPr>
                </a:tc>
                <a:tc>
                  <a:txBody>
                    <a:bodyPr/>
                    <a:lstStyle/>
                    <a:p>
                      <a:pPr marL="0" lvl="0" indent="0" algn="l" rtl="0">
                        <a:spcBef>
                          <a:spcPts val="0"/>
                        </a:spcBef>
                        <a:spcAft>
                          <a:spcPts val="0"/>
                        </a:spcAft>
                        <a:buNone/>
                      </a:pPr>
                      <a:r>
                        <a:rPr lang="en-US" sz="2000" b="1">
                          <a:solidFill>
                            <a:schemeClr val="lt1"/>
                          </a:solidFill>
                        </a:rPr>
                        <a:t>-</a:t>
                      </a:r>
                      <a:endParaRPr sz="2000" b="1">
                        <a:solidFill>
                          <a:schemeClr val="lt1"/>
                        </a:solidFill>
                      </a:endParaRPr>
                    </a:p>
                  </a:txBody>
                  <a:tcPr marL="91425" marR="91425" marT="91425" marB="91425">
                    <a:lnL w="9525" cap="flat" cmpd="sng">
                      <a:solidFill>
                        <a:srgbClr val="9FC5E8"/>
                      </a:solidFill>
                      <a:prstDash val="solid"/>
                      <a:round/>
                      <a:headEnd type="none" w="sm" len="sm"/>
                      <a:tailEnd type="none" w="sm" len="sm"/>
                    </a:lnL>
                    <a:lnR w="9525" cap="flat" cmpd="sng">
                      <a:solidFill>
                        <a:srgbClr val="9FC5E8"/>
                      </a:solidFill>
                      <a:prstDash val="solid"/>
                      <a:round/>
                      <a:headEnd type="none" w="sm" len="sm"/>
                      <a:tailEnd type="none" w="sm" len="sm"/>
                    </a:lnR>
                    <a:lnT w="9525" cap="flat" cmpd="sng">
                      <a:solidFill>
                        <a:srgbClr val="9FC5E8"/>
                      </a:solidFill>
                      <a:prstDash val="solid"/>
                      <a:round/>
                      <a:headEnd type="none" w="sm" len="sm"/>
                      <a:tailEnd type="none" w="sm" len="sm"/>
                    </a:lnT>
                    <a:lnB w="9525" cap="flat" cmpd="sng">
                      <a:solidFill>
                        <a:srgbClr val="9FC5E8"/>
                      </a:solidFill>
                      <a:prstDash val="solid"/>
                      <a:round/>
                      <a:headEnd type="none" w="sm" len="sm"/>
                      <a:tailEnd type="none" w="sm" len="sm"/>
                    </a:lnB>
                    <a:solidFill>
                      <a:srgbClr val="9FC5E8"/>
                    </a:solidFill>
                  </a:tcPr>
                </a:tc>
                <a:tc>
                  <a:txBody>
                    <a:bodyPr/>
                    <a:lstStyle/>
                    <a:p>
                      <a:pPr marL="0" lvl="0" indent="0" algn="l" rtl="0">
                        <a:spcBef>
                          <a:spcPts val="0"/>
                        </a:spcBef>
                        <a:spcAft>
                          <a:spcPts val="0"/>
                        </a:spcAft>
                        <a:buNone/>
                      </a:pPr>
                      <a:r>
                        <a:rPr lang="en-US" sz="2000" b="1">
                          <a:solidFill>
                            <a:schemeClr val="lt1"/>
                          </a:solidFill>
                        </a:rPr>
                        <a:t>-</a:t>
                      </a:r>
                      <a:endParaRPr sz="2000" b="1">
                        <a:solidFill>
                          <a:schemeClr val="lt1"/>
                        </a:solidFill>
                      </a:endParaRPr>
                    </a:p>
                  </a:txBody>
                  <a:tcPr marL="91425" marR="91425" marT="91425" marB="91425">
                    <a:lnL w="9525" cap="flat" cmpd="sng">
                      <a:solidFill>
                        <a:srgbClr val="9FC5E8"/>
                      </a:solidFill>
                      <a:prstDash val="solid"/>
                      <a:round/>
                      <a:headEnd type="none" w="sm" len="sm"/>
                      <a:tailEnd type="none" w="sm" len="sm"/>
                    </a:lnL>
                    <a:lnR w="9525" cap="flat" cmpd="sng">
                      <a:solidFill>
                        <a:srgbClr val="9FC5E8"/>
                      </a:solidFill>
                      <a:prstDash val="solid"/>
                      <a:round/>
                      <a:headEnd type="none" w="sm" len="sm"/>
                      <a:tailEnd type="none" w="sm" len="sm"/>
                    </a:lnR>
                    <a:lnT w="9525" cap="flat" cmpd="sng">
                      <a:solidFill>
                        <a:srgbClr val="9FC5E8"/>
                      </a:solidFill>
                      <a:prstDash val="solid"/>
                      <a:round/>
                      <a:headEnd type="none" w="sm" len="sm"/>
                      <a:tailEnd type="none" w="sm" len="sm"/>
                    </a:lnT>
                    <a:lnB w="9525" cap="flat" cmpd="sng">
                      <a:solidFill>
                        <a:srgbClr val="9FC5E8"/>
                      </a:solidFill>
                      <a:prstDash val="solid"/>
                      <a:round/>
                      <a:headEnd type="none" w="sm" len="sm"/>
                      <a:tailEnd type="none" w="sm" len="sm"/>
                    </a:lnB>
                    <a:solidFill>
                      <a:srgbClr val="9FC5E8"/>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5"/>
          <p:cNvSpPr txBox="1">
            <a:spLocks noGrp="1"/>
          </p:cNvSpPr>
          <p:nvPr>
            <p:ph type="body" idx="1"/>
          </p:nvPr>
        </p:nvSpPr>
        <p:spPr>
          <a:xfrm>
            <a:off x="681550" y="395425"/>
            <a:ext cx="10859700" cy="4485900"/>
          </a:xfrm>
          <a:prstGeom prst="rect">
            <a:avLst/>
          </a:prstGeom>
        </p:spPr>
        <p:txBody>
          <a:bodyPr spcFirstLastPara="1" wrap="square" lIns="91425" tIns="45700" rIns="91425" bIns="45700" anchor="t" anchorCtr="0">
            <a:normAutofit/>
          </a:bodyPr>
          <a:lstStyle/>
          <a:p>
            <a:pPr marL="685800" lvl="1" indent="-246336" algn="just" rtl="0">
              <a:spcBef>
                <a:spcPts val="500"/>
              </a:spcBef>
              <a:spcAft>
                <a:spcPts val="0"/>
              </a:spcAft>
              <a:buSzPts val="2079"/>
              <a:buChar char="○"/>
            </a:pPr>
            <a:r>
              <a:rPr lang="en-US" sz="1964" b="1">
                <a:solidFill>
                  <a:schemeClr val="dk1"/>
                </a:solidFill>
                <a:latin typeface="Arial"/>
                <a:ea typeface="Arial"/>
                <a:cs typeface="Arial"/>
                <a:sym typeface="Arial"/>
              </a:rPr>
              <a:t>Addresses a significant gap.</a:t>
            </a:r>
            <a:endParaRPr sz="1964" b="1">
              <a:solidFill>
                <a:schemeClr val="dk1"/>
              </a:solidFill>
              <a:latin typeface="Arial"/>
              <a:ea typeface="Arial"/>
              <a:cs typeface="Arial"/>
              <a:sym typeface="Arial"/>
            </a:endParaRPr>
          </a:p>
          <a:p>
            <a:pPr marL="685800" lvl="1" indent="-239020" algn="just" rtl="0">
              <a:spcBef>
                <a:spcPts val="1600"/>
              </a:spcBef>
              <a:spcAft>
                <a:spcPts val="0"/>
              </a:spcAft>
              <a:buSzPts val="1964"/>
              <a:buChar char="○"/>
            </a:pPr>
            <a:r>
              <a:rPr lang="en-US" sz="1964">
                <a:solidFill>
                  <a:schemeClr val="dk1"/>
                </a:solidFill>
                <a:latin typeface="Arial"/>
                <a:ea typeface="Arial"/>
                <a:cs typeface="Arial"/>
                <a:sym typeface="Arial"/>
              </a:rPr>
              <a:t>Existing systems often struggle to balance grid load and energy demand during peak hours. The ML-driven approach predicts and adjusts energy distribution dynamically.  </a:t>
            </a:r>
            <a:endParaRPr sz="1964">
              <a:solidFill>
                <a:schemeClr val="dk1"/>
              </a:solidFill>
              <a:latin typeface="Arial"/>
              <a:ea typeface="Arial"/>
              <a:cs typeface="Arial"/>
              <a:sym typeface="Arial"/>
            </a:endParaRPr>
          </a:p>
          <a:p>
            <a:pPr marL="685800" lvl="1" indent="-245370" algn="just" rtl="0">
              <a:spcBef>
                <a:spcPts val="1600"/>
              </a:spcBef>
              <a:spcAft>
                <a:spcPts val="0"/>
              </a:spcAft>
              <a:buSzPts val="2064"/>
              <a:buChar char="○"/>
            </a:pPr>
            <a:r>
              <a:rPr lang="en-US" sz="1964">
                <a:solidFill>
                  <a:schemeClr val="dk1"/>
                </a:solidFill>
                <a:latin typeface="Arial"/>
                <a:ea typeface="Arial"/>
                <a:cs typeface="Arial"/>
                <a:sym typeface="Arial"/>
              </a:rPr>
              <a:t>Many charging stations lack advanced fault detection and maintenance scheduling capabilities. ML-based monitoring enables proactive identification of issues. </a:t>
            </a:r>
            <a:r>
              <a:rPr lang="en-US" sz="2064">
                <a:solidFill>
                  <a:schemeClr val="dk1"/>
                </a:solidFill>
                <a:latin typeface="Arial"/>
                <a:ea typeface="Arial"/>
                <a:cs typeface="Arial"/>
                <a:sym typeface="Arial"/>
              </a:rPr>
              <a:t> </a:t>
            </a:r>
            <a:endParaRPr sz="2064">
              <a:solidFill>
                <a:schemeClr val="dk1"/>
              </a:solidFill>
              <a:latin typeface="Arial"/>
              <a:ea typeface="Arial"/>
              <a:cs typeface="Arial"/>
              <a:sym typeface="Arial"/>
            </a:endParaRPr>
          </a:p>
          <a:p>
            <a:pPr marL="228600" lvl="0" indent="-50800" algn="l" rtl="0">
              <a:spcBef>
                <a:spcPts val="1600"/>
              </a:spcBef>
              <a:spcAft>
                <a:spcPts val="0"/>
              </a:spcAft>
              <a:buClr>
                <a:schemeClr val="dk1"/>
              </a:buClr>
              <a:buSzPts val="2800"/>
              <a:buFont typeface="Arial"/>
              <a:buNone/>
            </a:pPr>
            <a:endParaRPr sz="3286">
              <a:solidFill>
                <a:schemeClr val="dk1"/>
              </a:solidFill>
              <a:latin typeface="Arial"/>
              <a:ea typeface="Arial"/>
              <a:cs typeface="Arial"/>
              <a:sym typeface="Arial"/>
            </a:endParaRPr>
          </a:p>
          <a:p>
            <a:pPr marL="0" lvl="0" indent="0" algn="l" rtl="0">
              <a:spcBef>
                <a:spcPts val="1600"/>
              </a:spcBef>
              <a:spcAft>
                <a:spcPts val="1600"/>
              </a:spcAft>
              <a:buNone/>
            </a:pPr>
            <a:endParaRPr sz="2151">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6"/>
          <p:cNvSpPr txBox="1">
            <a:spLocks noGrp="1"/>
          </p:cNvSpPr>
          <p:nvPr>
            <p:ph type="title"/>
          </p:nvPr>
        </p:nvSpPr>
        <p:spPr>
          <a:xfrm>
            <a:off x="781500" y="-530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000" b="1"/>
              <a:t>References</a:t>
            </a:r>
            <a:r>
              <a:rPr lang="en-US" sz="1700" b="1">
                <a:solidFill>
                  <a:srgbClr val="FF0000"/>
                </a:solidFill>
                <a:highlight>
                  <a:schemeClr val="lt1"/>
                </a:highlight>
              </a:rPr>
              <a:t>(*Strictly in IEEE format)</a:t>
            </a:r>
            <a:r>
              <a:rPr lang="en-US" sz="1700" b="1">
                <a:solidFill>
                  <a:srgbClr val="FF0000"/>
                </a:solidFill>
                <a:highlight>
                  <a:schemeClr val="lt1"/>
                </a:highlight>
                <a:latin typeface="Arial"/>
                <a:ea typeface="Arial"/>
                <a:cs typeface="Arial"/>
                <a:sym typeface="Arial"/>
              </a:rPr>
              <a:t> </a:t>
            </a:r>
            <a:endParaRPr sz="2400" b="1">
              <a:solidFill>
                <a:srgbClr val="FF0000"/>
              </a:solidFill>
              <a:highlight>
                <a:schemeClr val="lt1"/>
              </a:highlight>
              <a:latin typeface="Arial"/>
              <a:ea typeface="Arial"/>
              <a:cs typeface="Arial"/>
              <a:sym typeface="Arial"/>
            </a:endParaRPr>
          </a:p>
        </p:txBody>
      </p:sp>
      <p:sp>
        <p:nvSpPr>
          <p:cNvPr id="273" name="Google Shape;273;p46"/>
          <p:cNvSpPr txBox="1">
            <a:spLocks noGrp="1"/>
          </p:cNvSpPr>
          <p:nvPr>
            <p:ph type="body" idx="1"/>
          </p:nvPr>
        </p:nvSpPr>
        <p:spPr>
          <a:xfrm>
            <a:off x="781500" y="876925"/>
            <a:ext cx="10859700" cy="4667700"/>
          </a:xfrm>
          <a:prstGeom prst="rect">
            <a:avLst/>
          </a:prstGeom>
          <a:noFill/>
          <a:ln>
            <a:noFill/>
          </a:ln>
        </p:spPr>
        <p:txBody>
          <a:bodyPr spcFirstLastPara="1" wrap="square" lIns="91425" tIns="45700" rIns="91425" bIns="45700" anchor="t" anchorCtr="0">
            <a:noAutofit/>
          </a:bodyPr>
          <a:lstStyle/>
          <a:p>
            <a:pPr marL="457200" lvl="0" indent="-298450" algn="just" rtl="0">
              <a:lnSpc>
                <a:spcPct val="115000"/>
              </a:lnSpc>
              <a:spcBef>
                <a:spcPts val="1000"/>
              </a:spcBef>
              <a:spcAft>
                <a:spcPts val="0"/>
              </a:spcAft>
              <a:buClr>
                <a:srgbClr val="222222"/>
              </a:buClr>
              <a:buSzPts val="1100"/>
              <a:buAutoNum type="arabicPeriod"/>
            </a:pPr>
            <a:r>
              <a:rPr lang="en-US" sz="1100">
                <a:solidFill>
                  <a:srgbClr val="222222"/>
                </a:solidFill>
                <a:highlight>
                  <a:srgbClr val="FFFFFF"/>
                </a:highlight>
              </a:rPr>
              <a:t>Almaghrebi, A.; Aljuheshi, F.; Rafaie, M.; James, K.; Alahmad, M. Data-Driven Charging Demand Prediction at Public Charging Stations Using Supervised Machine Learning Regression Methods. </a:t>
            </a:r>
            <a:r>
              <a:rPr lang="en-US" sz="1100" i="1">
                <a:solidFill>
                  <a:srgbClr val="222222"/>
                </a:solidFill>
                <a:highlight>
                  <a:srgbClr val="FFFFFF"/>
                </a:highlight>
              </a:rPr>
              <a:t>Energies</a:t>
            </a:r>
            <a:r>
              <a:rPr lang="en-US" sz="1100">
                <a:solidFill>
                  <a:srgbClr val="222222"/>
                </a:solidFill>
                <a:highlight>
                  <a:srgbClr val="FFFFFF"/>
                </a:highlight>
              </a:rPr>
              <a:t> </a:t>
            </a:r>
            <a:r>
              <a:rPr lang="en-US" sz="1100" b="1">
                <a:solidFill>
                  <a:srgbClr val="222222"/>
                </a:solidFill>
                <a:highlight>
                  <a:srgbClr val="FFFFFF"/>
                </a:highlight>
              </a:rPr>
              <a:t>2020</a:t>
            </a:r>
            <a:r>
              <a:rPr lang="en-US" sz="1100">
                <a:solidFill>
                  <a:srgbClr val="222222"/>
                </a:solidFill>
                <a:highlight>
                  <a:srgbClr val="FFFFFF"/>
                </a:highlight>
              </a:rPr>
              <a:t>, </a:t>
            </a:r>
            <a:r>
              <a:rPr lang="en-US" sz="1100" i="1">
                <a:solidFill>
                  <a:srgbClr val="222222"/>
                </a:solidFill>
                <a:highlight>
                  <a:srgbClr val="FFFFFF"/>
                </a:highlight>
              </a:rPr>
              <a:t>13</a:t>
            </a:r>
            <a:r>
              <a:rPr lang="en-US" sz="1100">
                <a:solidFill>
                  <a:srgbClr val="222222"/>
                </a:solidFill>
                <a:highlight>
                  <a:srgbClr val="FFFFFF"/>
                </a:highlight>
              </a:rPr>
              <a:t>, 4231. </a:t>
            </a:r>
            <a:r>
              <a:rPr lang="en-US" sz="1100" u="sng">
                <a:solidFill>
                  <a:schemeClr val="hlink"/>
                </a:solidFill>
                <a:highlight>
                  <a:srgbClr val="FFFFFF"/>
                </a:highlight>
                <a:hlinkClick r:id="rId3"/>
              </a:rPr>
              <a:t>https://doi.org/10.3390/en13164231</a:t>
            </a:r>
            <a:endParaRPr sz="1100">
              <a:solidFill>
                <a:srgbClr val="222222"/>
              </a:solidFill>
              <a:highlight>
                <a:srgbClr val="FFFFFF"/>
              </a:highlight>
            </a:endParaRPr>
          </a:p>
          <a:p>
            <a:pPr marL="457200" lvl="0" indent="-298450" algn="just" rtl="0">
              <a:lnSpc>
                <a:spcPct val="115000"/>
              </a:lnSpc>
              <a:spcBef>
                <a:spcPts val="0"/>
              </a:spcBef>
              <a:spcAft>
                <a:spcPts val="0"/>
              </a:spcAft>
              <a:buClr>
                <a:srgbClr val="222222"/>
              </a:buClr>
              <a:buSzPts val="1100"/>
              <a:buAutoNum type="arabicPeriod"/>
            </a:pPr>
            <a:r>
              <a:rPr lang="en-US" sz="1100">
                <a:solidFill>
                  <a:srgbClr val="222222"/>
                </a:solidFill>
                <a:highlight>
                  <a:srgbClr val="FFFFFF"/>
                </a:highlight>
              </a:rPr>
              <a:t>Shufian, Abu &amp; Hannan, Nasif &amp; Emon, Mukter Hossain &amp; Kabir, Shaharier &amp; Fattah, Shaikh Anowarul &amp; Hossain, Md Sajid. (2024). Automatic Fault Detection and Analysis Of Electric Vehicle Charging Station by Machine Learning. 10.1109/TENSYMP61132.2024.10752256. </a:t>
            </a:r>
            <a:endParaRPr sz="1100">
              <a:solidFill>
                <a:srgbClr val="222222"/>
              </a:solidFill>
              <a:highlight>
                <a:srgbClr val="FFFFFF"/>
              </a:highlight>
            </a:endParaRPr>
          </a:p>
          <a:p>
            <a:pPr marL="457200" lvl="0" indent="-298450" algn="just" rtl="0">
              <a:lnSpc>
                <a:spcPct val="115000"/>
              </a:lnSpc>
              <a:spcBef>
                <a:spcPts val="0"/>
              </a:spcBef>
              <a:spcAft>
                <a:spcPts val="0"/>
              </a:spcAft>
              <a:buClr>
                <a:srgbClr val="222222"/>
              </a:buClr>
              <a:buSzPts val="1100"/>
              <a:buAutoNum type="arabicPeriod"/>
            </a:pPr>
            <a:r>
              <a:rPr lang="en-US" sz="1000">
                <a:solidFill>
                  <a:srgbClr val="333333"/>
                </a:solidFill>
                <a:highlight>
                  <a:srgbClr val="FFFFFF"/>
                </a:highlight>
              </a:rPr>
              <a:t>S. Shahriar, A. R. Al-Ali, A. H. Osman, S. Dhou and M. Nijim, "Prediction of EV Charging Behavior Using Machine Learning," in </a:t>
            </a:r>
            <a:r>
              <a:rPr lang="en-US" sz="1000" i="1">
                <a:solidFill>
                  <a:srgbClr val="333333"/>
                </a:solidFill>
                <a:highlight>
                  <a:srgbClr val="FFFFFF"/>
                </a:highlight>
              </a:rPr>
              <a:t>IEEE Access</a:t>
            </a:r>
            <a:r>
              <a:rPr lang="en-US" sz="1000">
                <a:solidFill>
                  <a:srgbClr val="333333"/>
                </a:solidFill>
                <a:highlight>
                  <a:srgbClr val="FFFFFF"/>
                </a:highlight>
              </a:rPr>
              <a:t>, vol. 9, pp. 111576-111586</a:t>
            </a:r>
            <a:endParaRPr sz="1100">
              <a:solidFill>
                <a:srgbClr val="222222"/>
              </a:solidFill>
              <a:highlight>
                <a:srgbClr val="FFFFFF"/>
              </a:highlight>
            </a:endParaRPr>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K. N. B. S. Hitesh, P. S. Teja and J. R. Kumar, "Electric Vehicle Charging Demand Prediction using Machine Learning Algorithms," </a:t>
            </a:r>
            <a:r>
              <a:rPr lang="en-US" sz="1100" i="1">
                <a:solidFill>
                  <a:srgbClr val="333333"/>
                </a:solidFill>
                <a:highlight>
                  <a:srgbClr val="FFFFFF"/>
                </a:highlight>
              </a:rPr>
              <a:t>2024 8th International Conference on Inventive Systems and Control (ICISC)</a:t>
            </a:r>
            <a:r>
              <a:rPr lang="en-US" sz="1100">
                <a:solidFill>
                  <a:srgbClr val="333333"/>
                </a:solidFill>
                <a:highlight>
                  <a:srgbClr val="FFFFFF"/>
                </a:highlight>
              </a:rPr>
              <a:t>, Coimbatore, India, 2024, pp. 47-54, doi: 10.1109/ICISC62624.2024.00015.</a:t>
            </a:r>
            <a:endParaRPr sz="1100">
              <a:solidFill>
                <a:srgbClr val="333333"/>
              </a:solidFill>
              <a:highlight>
                <a:srgbClr val="FFFFFF"/>
              </a:highlight>
            </a:endParaRPr>
          </a:p>
          <a:p>
            <a:pPr marL="457200" lvl="0" indent="-311150" algn="just" rtl="0">
              <a:lnSpc>
                <a:spcPct val="115000"/>
              </a:lnSpc>
              <a:spcBef>
                <a:spcPts val="0"/>
              </a:spcBef>
              <a:spcAft>
                <a:spcPts val="0"/>
              </a:spcAft>
              <a:buClr>
                <a:srgbClr val="333333"/>
              </a:buClr>
              <a:buSzPts val="1300"/>
              <a:buAutoNum type="arabicPeriod"/>
            </a:pPr>
            <a:r>
              <a:rPr lang="en-US" sz="1100">
                <a:solidFill>
                  <a:srgbClr val="222222"/>
                </a:solidFill>
                <a:highlight>
                  <a:srgbClr val="FFFFFF"/>
                </a:highlight>
                <a:latin typeface="Roboto"/>
                <a:ea typeface="Roboto"/>
                <a:cs typeface="Roboto"/>
                <a:sym typeface="Roboto"/>
              </a:rPr>
              <a:t>Aghsaee, R.; Hecht, C.; Schwinger, F.; Figgener, J.; Jarke, M.; Sauer, D.U. Data-Driven, Short-Term Prediction of Charging Station Occupation. </a:t>
            </a:r>
            <a:r>
              <a:rPr lang="en-US" sz="1100" i="1">
                <a:solidFill>
                  <a:srgbClr val="222222"/>
                </a:solidFill>
                <a:highlight>
                  <a:srgbClr val="FFFFFF"/>
                </a:highlight>
                <a:latin typeface="Roboto"/>
                <a:ea typeface="Roboto"/>
                <a:cs typeface="Roboto"/>
                <a:sym typeface="Roboto"/>
              </a:rPr>
              <a:t>Electricity</a:t>
            </a:r>
            <a:r>
              <a:rPr lang="en-US" sz="1100">
                <a:solidFill>
                  <a:srgbClr val="222222"/>
                </a:solidFill>
                <a:highlight>
                  <a:srgbClr val="FFFFFF"/>
                </a:highlight>
                <a:latin typeface="Roboto"/>
                <a:ea typeface="Roboto"/>
                <a:cs typeface="Roboto"/>
                <a:sym typeface="Roboto"/>
              </a:rPr>
              <a:t> </a:t>
            </a:r>
            <a:r>
              <a:rPr lang="en-US" sz="1100" b="1">
                <a:solidFill>
                  <a:srgbClr val="222222"/>
                </a:solidFill>
                <a:highlight>
                  <a:srgbClr val="FFFFFF"/>
                </a:highlight>
                <a:latin typeface="Roboto"/>
                <a:ea typeface="Roboto"/>
                <a:cs typeface="Roboto"/>
                <a:sym typeface="Roboto"/>
              </a:rPr>
              <a:t>2023</a:t>
            </a:r>
            <a:r>
              <a:rPr lang="en-US" sz="1100">
                <a:solidFill>
                  <a:srgbClr val="222222"/>
                </a:solidFill>
                <a:highlight>
                  <a:srgbClr val="FFFFFF"/>
                </a:highlight>
                <a:latin typeface="Roboto"/>
                <a:ea typeface="Roboto"/>
                <a:cs typeface="Roboto"/>
                <a:sym typeface="Roboto"/>
              </a:rPr>
              <a:t>, </a:t>
            </a:r>
            <a:r>
              <a:rPr lang="en-US" sz="1100" i="1">
                <a:solidFill>
                  <a:srgbClr val="222222"/>
                </a:solidFill>
                <a:highlight>
                  <a:srgbClr val="FFFFFF"/>
                </a:highlight>
                <a:latin typeface="Roboto"/>
                <a:ea typeface="Roboto"/>
                <a:cs typeface="Roboto"/>
                <a:sym typeface="Roboto"/>
              </a:rPr>
              <a:t>4</a:t>
            </a:r>
            <a:r>
              <a:rPr lang="en-US" sz="1100">
                <a:solidFill>
                  <a:srgbClr val="222222"/>
                </a:solidFill>
                <a:highlight>
                  <a:srgbClr val="FFFFFF"/>
                </a:highlight>
                <a:latin typeface="Roboto"/>
                <a:ea typeface="Roboto"/>
                <a:cs typeface="Roboto"/>
                <a:sym typeface="Roboto"/>
              </a:rPr>
              <a:t>, 134-153. https://doi.org/10.3390/electricity4020009</a:t>
            </a:r>
            <a:endParaRPr sz="1300">
              <a:solidFill>
                <a:srgbClr val="333333"/>
              </a:solidFill>
              <a:highlight>
                <a:srgbClr val="FFFFFF"/>
              </a:highlight>
            </a:endParaRPr>
          </a:p>
          <a:p>
            <a:pPr marL="457200" lvl="0" indent="-298450" algn="just" rtl="0">
              <a:lnSpc>
                <a:spcPct val="115000"/>
              </a:lnSpc>
              <a:spcBef>
                <a:spcPts val="0"/>
              </a:spcBef>
              <a:spcAft>
                <a:spcPts val="0"/>
              </a:spcAft>
              <a:buSzPts val="1100"/>
              <a:buAutoNum type="arabicPeriod"/>
            </a:pPr>
            <a:r>
              <a:rPr lang="en-US" sz="1100"/>
              <a:t>S. M. S and R. Gunabalan, "Enhancement of Charging Efficiency of Batteries for Electric Vehicles: Review," 2022 Fourth International Conference on Emerging Research in Electronics, Computer Science and Technology (ICERECT), Mandya, India, 2022, pp. 1-6, doi: 10.1109/ICERECT56837.2022.10060243.</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S. Deb, "Machine Learning for Solving Charging Infrastructure Planning: A Comprehensive Review," </a:t>
            </a:r>
            <a:r>
              <a:rPr lang="en-US" sz="1100" i="1">
                <a:solidFill>
                  <a:srgbClr val="333333"/>
                </a:solidFill>
                <a:highlight>
                  <a:srgbClr val="FFFFFF"/>
                </a:highlight>
              </a:rPr>
              <a:t>2021 5th International Conference on Smart Grid and Smart Cities (ICSGSC)</a:t>
            </a:r>
            <a:r>
              <a:rPr lang="en-US" sz="1100">
                <a:solidFill>
                  <a:srgbClr val="333333"/>
                </a:solidFill>
                <a:highlight>
                  <a:srgbClr val="FFFFFF"/>
                </a:highlight>
              </a:rPr>
              <a:t>, Tokyo, Japan, 2021, pp. 16-22, doi: 10.1109/ICSGSC52434.2021.9490407.</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M. Straka, R. Carvalho, G. V. D. Poel and L. Buzna, "Analysis of Energy Consumption at Slow Charging Infrastructure for Electric Vehicles," in </a:t>
            </a:r>
            <a:r>
              <a:rPr lang="en-US" sz="1100" i="1">
                <a:solidFill>
                  <a:srgbClr val="333333"/>
                </a:solidFill>
                <a:highlight>
                  <a:srgbClr val="FFFFFF"/>
                </a:highlight>
              </a:rPr>
              <a:t>IEEE Access</a:t>
            </a:r>
            <a:r>
              <a:rPr lang="en-US" sz="1100">
                <a:solidFill>
                  <a:srgbClr val="333333"/>
                </a:solidFill>
                <a:highlight>
                  <a:srgbClr val="FFFFFF"/>
                </a:highlight>
              </a:rPr>
              <a:t>, vol. 9, pp. 53885-53901, 2021, doi: 10.1109/ACCESS.2021.3071180.</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A. Shufian, N. Hannan, M. M. Hossain Emon, S. Kabir, S. A. Fattah and M. S. Hossain, "Automatic Fault Detection and Analysis Of Electric Vehicle Charging Station by Machine Learning," </a:t>
            </a:r>
            <a:r>
              <a:rPr lang="en-US" sz="1100" i="1">
                <a:solidFill>
                  <a:srgbClr val="333333"/>
                </a:solidFill>
                <a:highlight>
                  <a:srgbClr val="FFFFFF"/>
                </a:highlight>
              </a:rPr>
              <a:t>2024 IEEE Region 10 Symposium (TENSYMP)</a:t>
            </a:r>
            <a:r>
              <a:rPr lang="en-US" sz="1100">
                <a:solidFill>
                  <a:srgbClr val="333333"/>
                </a:solidFill>
                <a:highlight>
                  <a:srgbClr val="FFFFFF"/>
                </a:highlight>
              </a:rPr>
              <a:t>, New Delhi, India, 2024, pp. 1-6, doi: 10.1109/TENSYMP61132.2024.10752256.</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R. Atallah </a:t>
            </a:r>
            <a:r>
              <a:rPr lang="en-US" sz="1100" i="1">
                <a:solidFill>
                  <a:srgbClr val="333333"/>
                </a:solidFill>
                <a:highlight>
                  <a:srgbClr val="FFFFFF"/>
                </a:highlight>
              </a:rPr>
              <a:t>et al</a:t>
            </a:r>
            <a:r>
              <a:rPr lang="en-US" sz="1100">
                <a:solidFill>
                  <a:srgbClr val="333333"/>
                </a:solidFill>
                <a:highlight>
                  <a:srgbClr val="FFFFFF"/>
                </a:highlight>
              </a:rPr>
              <a:t>., "Quality of Service Evaluation and Forecast for EV Charging Based on Real-World Data," </a:t>
            </a:r>
            <a:r>
              <a:rPr lang="en-US" sz="1100" i="1">
                <a:solidFill>
                  <a:srgbClr val="333333"/>
                </a:solidFill>
                <a:highlight>
                  <a:srgbClr val="FFFFFF"/>
                </a:highlight>
              </a:rPr>
              <a:t>2023 19th International Conference on Wireless and Mobile Computing, Networking and Communications (WiMob)</a:t>
            </a:r>
            <a:r>
              <a:rPr lang="en-US" sz="1100">
                <a:solidFill>
                  <a:srgbClr val="333333"/>
                </a:solidFill>
                <a:highlight>
                  <a:srgbClr val="FFFFFF"/>
                </a:highlight>
              </a:rPr>
              <a:t>, Montreal, QC, Canada, 2023, pp. 280-285, doi: 10.1109/WiMob58348.2023.10187855.</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S. Shahriar, A. R. Al-Ali, A. H. Osman, S. Dhou and M. Nijim, "Machine Learning Approaches for EV Charging Behavior: A Review," in </a:t>
            </a:r>
            <a:r>
              <a:rPr lang="en-US" sz="1100" i="1">
                <a:solidFill>
                  <a:srgbClr val="333333"/>
                </a:solidFill>
                <a:highlight>
                  <a:srgbClr val="FFFFFF"/>
                </a:highlight>
              </a:rPr>
              <a:t>IEEE Access</a:t>
            </a:r>
            <a:r>
              <a:rPr lang="en-US" sz="1100">
                <a:solidFill>
                  <a:srgbClr val="333333"/>
                </a:solidFill>
                <a:highlight>
                  <a:srgbClr val="FFFFFF"/>
                </a:highlight>
              </a:rPr>
              <a:t>, vol. 8, pp. 168980-168993, 2020, doi: 10.1109/ACCESS.2020.3023388.</a:t>
            </a:r>
            <a:endParaRPr sz="1100"/>
          </a:p>
          <a:p>
            <a:pPr marL="457200" lvl="0" indent="-298450" algn="just" rtl="0">
              <a:lnSpc>
                <a:spcPct val="115000"/>
              </a:lnSpc>
              <a:spcBef>
                <a:spcPts val="0"/>
              </a:spcBef>
              <a:spcAft>
                <a:spcPts val="0"/>
              </a:spcAft>
              <a:buClr>
                <a:srgbClr val="333333"/>
              </a:buClr>
              <a:buSzPts val="1100"/>
              <a:buAutoNum type="arabicPeriod"/>
            </a:pPr>
            <a:r>
              <a:rPr lang="en-US" sz="1100">
                <a:solidFill>
                  <a:srgbClr val="333333"/>
                </a:solidFill>
                <a:highlight>
                  <a:srgbClr val="FFFFFF"/>
                </a:highlight>
              </a:rPr>
              <a:t>M. Shukla, D. K. Singh, A. Yadav, A. K. Singh, N. A. Jumaa and A. Mohammed, "Optimizing Electric Vehicle Charging Station Placement in Urban Areas: A Data-Driven Approach," </a:t>
            </a:r>
            <a:r>
              <a:rPr lang="en-US" sz="1100" i="1">
                <a:solidFill>
                  <a:srgbClr val="333333"/>
                </a:solidFill>
                <a:highlight>
                  <a:srgbClr val="FFFFFF"/>
                </a:highlight>
              </a:rPr>
              <a:t>2023 3rd International Conference on Advance Computing and Innovative Technologies in Engineering (ICACITE)</a:t>
            </a:r>
            <a:r>
              <a:rPr lang="en-US" sz="1100">
                <a:solidFill>
                  <a:srgbClr val="333333"/>
                </a:solidFill>
                <a:highlight>
                  <a:srgbClr val="FFFFFF"/>
                </a:highlight>
              </a:rPr>
              <a:t>, Greater Noida, India, 2023, pp. 2835-2838, doi: 10.1109/ICACITE57410.2023.10183075.</a:t>
            </a:r>
            <a:endParaRPr sz="1100">
              <a:solidFill>
                <a:srgbClr val="333333"/>
              </a:solidFill>
              <a:highlight>
                <a:srgbClr val="FFFFFF"/>
              </a:highlight>
            </a:endParaRPr>
          </a:p>
          <a:p>
            <a:pPr marL="457200" lvl="0" indent="-298450" algn="l" rtl="0">
              <a:spcBef>
                <a:spcPts val="0"/>
              </a:spcBef>
              <a:spcAft>
                <a:spcPts val="0"/>
              </a:spcAft>
              <a:buClr>
                <a:srgbClr val="333333"/>
              </a:buClr>
              <a:buSzPts val="1100"/>
              <a:buAutoNum type="arabicPeriod"/>
            </a:pPr>
            <a:r>
              <a:rPr lang="en-US" sz="1100">
                <a:solidFill>
                  <a:srgbClr val="333333"/>
                </a:solidFill>
                <a:highlight>
                  <a:schemeClr val="lt1"/>
                </a:highlight>
              </a:rPr>
              <a:t>A. Palaniappan, P. Bhukya, S. K. Chitti and J. Gao, "Data-Driven Analysis of EV Energy Prediction and Planning of EV Charging Infrastructure," </a:t>
            </a:r>
            <a:r>
              <a:rPr lang="en-US" sz="1100" i="1">
                <a:solidFill>
                  <a:srgbClr val="333333"/>
                </a:solidFill>
                <a:highlight>
                  <a:schemeClr val="lt1"/>
                </a:highlight>
              </a:rPr>
              <a:t>2023 IEEE Ninth International Conference on Big Data Computing Service and Applications (BigDataService)</a:t>
            </a:r>
            <a:r>
              <a:rPr lang="en-US" sz="1100">
                <a:solidFill>
                  <a:srgbClr val="333333"/>
                </a:solidFill>
                <a:highlight>
                  <a:schemeClr val="lt1"/>
                </a:highlight>
              </a:rPr>
              <a:t>, Athens, Greece, 2023, pp. 17-24, doi: 10.1109/BigDataService58306.2023.00009</a:t>
            </a:r>
            <a:endParaRPr sz="1100">
              <a:solidFill>
                <a:srgbClr val="333333"/>
              </a:solidFill>
              <a:highlight>
                <a:schemeClr val="lt1"/>
              </a:highlight>
            </a:endParaRPr>
          </a:p>
          <a:p>
            <a:pPr marL="457200" lvl="0" indent="-298450" algn="l" rtl="0">
              <a:spcBef>
                <a:spcPts val="0"/>
              </a:spcBef>
              <a:spcAft>
                <a:spcPts val="0"/>
              </a:spcAft>
              <a:buClr>
                <a:srgbClr val="333333"/>
              </a:buClr>
              <a:buSzPts val="1100"/>
              <a:buAutoNum type="arabicPeriod"/>
            </a:pPr>
            <a:r>
              <a:rPr lang="en-US" sz="1100">
                <a:solidFill>
                  <a:srgbClr val="333333"/>
                </a:solidFill>
                <a:highlight>
                  <a:schemeClr val="lt1"/>
                </a:highlight>
              </a:rPr>
              <a:t>M. Straka, R. Carvalho, G. V. D. Poel and L. Buzna, "Analysis of Energy Consumption at Slow Charging Infrastructure for Electric Vehicles," in </a:t>
            </a:r>
            <a:r>
              <a:rPr lang="en-US" sz="1100" i="1">
                <a:solidFill>
                  <a:srgbClr val="333333"/>
                </a:solidFill>
                <a:highlight>
                  <a:schemeClr val="lt1"/>
                </a:highlight>
              </a:rPr>
              <a:t>IEEE Access</a:t>
            </a:r>
            <a:r>
              <a:rPr lang="en-US" sz="1100">
                <a:solidFill>
                  <a:srgbClr val="333333"/>
                </a:solidFill>
                <a:highlight>
                  <a:schemeClr val="lt1"/>
                </a:highlight>
              </a:rPr>
              <a:t>, vol. 9, pp. 53885-53901, 2021, doi: 10.1109/ACCESS.2021.3071180</a:t>
            </a:r>
            <a:endParaRPr sz="1100">
              <a:solidFill>
                <a:srgbClr val="333333"/>
              </a:solidFill>
              <a:highlight>
                <a:schemeClr val="lt1"/>
              </a:highlight>
            </a:endParaRPr>
          </a:p>
          <a:p>
            <a:pPr marL="457200" lvl="0" indent="0" algn="l" rtl="0">
              <a:spcBef>
                <a:spcPts val="1600"/>
              </a:spcBef>
              <a:spcAft>
                <a:spcPts val="0"/>
              </a:spcAft>
              <a:buNone/>
            </a:pPr>
            <a:endParaRPr sz="1100">
              <a:solidFill>
                <a:srgbClr val="333333"/>
              </a:solidFill>
              <a:highlight>
                <a:schemeClr val="lt1"/>
              </a:highlight>
            </a:endParaRPr>
          </a:p>
          <a:p>
            <a:pPr marL="457200" lvl="0" indent="0" algn="l" rtl="0">
              <a:spcBef>
                <a:spcPts val="1600"/>
              </a:spcBef>
              <a:spcAft>
                <a:spcPts val="0"/>
              </a:spcAft>
              <a:buNone/>
            </a:pPr>
            <a:endParaRPr sz="1100">
              <a:solidFill>
                <a:srgbClr val="333333"/>
              </a:solidFill>
              <a:highlight>
                <a:srgbClr val="FFFFFF"/>
              </a:highlight>
            </a:endParaRPr>
          </a:p>
          <a:p>
            <a:pPr marL="457200" lvl="0" indent="0" algn="l" rtl="0">
              <a:spcBef>
                <a:spcPts val="1600"/>
              </a:spcBef>
              <a:spcAft>
                <a:spcPts val="0"/>
              </a:spcAft>
              <a:buNone/>
            </a:pPr>
            <a:endParaRPr sz="1000">
              <a:solidFill>
                <a:srgbClr val="333333"/>
              </a:solidFill>
              <a:highlight>
                <a:srgbClr val="FFFFFF"/>
              </a:highlight>
            </a:endParaRPr>
          </a:p>
          <a:p>
            <a:pPr marL="457200" lvl="0" indent="0" algn="just" rtl="0">
              <a:lnSpc>
                <a:spcPct val="115000"/>
              </a:lnSpc>
              <a:spcBef>
                <a:spcPts val="1600"/>
              </a:spcBef>
              <a:spcAft>
                <a:spcPts val="0"/>
              </a:spcAft>
              <a:buNone/>
            </a:pPr>
            <a:endParaRPr sz="1200">
              <a:solidFill>
                <a:srgbClr val="333333"/>
              </a:solidFill>
              <a:highlight>
                <a:schemeClr val="lt1"/>
              </a:highlight>
            </a:endParaRPr>
          </a:p>
          <a:p>
            <a:pPr marL="457200" lvl="0" indent="0" algn="l" rtl="0">
              <a:spcBef>
                <a:spcPts val="1600"/>
              </a:spcBef>
              <a:spcAft>
                <a:spcPts val="0"/>
              </a:spcAft>
              <a:buNone/>
            </a:pPr>
            <a:endParaRPr sz="1000">
              <a:solidFill>
                <a:srgbClr val="333333"/>
              </a:solidFill>
              <a:highlight>
                <a:schemeClr val="lt1"/>
              </a:highlight>
            </a:endParaRPr>
          </a:p>
          <a:p>
            <a:pPr marL="457200" lvl="0" indent="-266700" algn="just" rtl="0">
              <a:lnSpc>
                <a:spcPct val="115000"/>
              </a:lnSpc>
              <a:spcBef>
                <a:spcPts val="1600"/>
              </a:spcBef>
              <a:spcAft>
                <a:spcPts val="0"/>
              </a:spcAft>
              <a:buClr>
                <a:srgbClr val="333333"/>
              </a:buClr>
              <a:buSzPts val="600"/>
              <a:buAutoNum type="arabicPeriod"/>
            </a:pPr>
            <a:endParaRPr sz="600">
              <a:solidFill>
                <a:srgbClr val="333333"/>
              </a:solidFill>
              <a:highlight>
                <a:srgbClr val="FFFFFF"/>
              </a:highlight>
            </a:endParaRPr>
          </a:p>
          <a:p>
            <a:pPr marL="457200" lvl="0" indent="0" algn="just" rtl="0">
              <a:lnSpc>
                <a:spcPct val="115000"/>
              </a:lnSpc>
              <a:spcBef>
                <a:spcPts val="1600"/>
              </a:spcBef>
              <a:spcAft>
                <a:spcPts val="1600"/>
              </a:spcAft>
              <a:buNone/>
            </a:pPr>
            <a:endParaRPr sz="1200">
              <a:solidFill>
                <a:srgbClr val="333333"/>
              </a:solidFill>
              <a:highlight>
                <a:srgbClr val="FFFFFF"/>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aphicFrame>
        <p:nvGraphicFramePr>
          <p:cNvPr id="279" name="Google Shape;279;p47"/>
          <p:cNvGraphicFramePr/>
          <p:nvPr/>
        </p:nvGraphicFramePr>
        <p:xfrm>
          <a:off x="894050" y="1436525"/>
          <a:ext cx="3000000" cy="3000000"/>
        </p:xfrm>
        <a:graphic>
          <a:graphicData uri="http://schemas.openxmlformats.org/drawingml/2006/table">
            <a:tbl>
              <a:tblPr>
                <a:noFill/>
                <a:tableStyleId>{B86A1C23-824F-4666-8E02-E63274676759}</a:tableStyleId>
              </a:tblPr>
              <a:tblGrid>
                <a:gridCol w="16983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1433400">
                <a:tc>
                  <a:txBody>
                    <a:bodyPr/>
                    <a:lstStyle/>
                    <a:p>
                      <a:pPr marL="0" lvl="0" indent="0" algn="l" rtl="0">
                        <a:lnSpc>
                          <a:spcPct val="100000"/>
                        </a:lnSpc>
                        <a:spcBef>
                          <a:spcPts val="0"/>
                        </a:spcBef>
                        <a:spcAft>
                          <a:spcPts val="0"/>
                        </a:spcAft>
                        <a:buNone/>
                      </a:pPr>
                      <a:r>
                        <a:rPr lang="en-US" sz="1600" b="1">
                          <a:solidFill>
                            <a:srgbClr val="FFFFFF"/>
                          </a:solidFill>
                        </a:rPr>
                        <a:t> No of IEEE Journal</a:t>
                      </a:r>
                      <a:endParaRPr sz="300">
                        <a:highlight>
                          <a:srgbClr val="C9DAF8"/>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1C4587"/>
                      </a:solidFill>
                      <a:prstDash val="solid"/>
                      <a:round/>
                      <a:headEnd type="none" w="sm" len="sm"/>
                      <a:tailEnd type="none" w="sm" len="sm"/>
                    </a:lnB>
                    <a:solidFill>
                      <a:srgbClr val="3C78D8"/>
                    </a:solidFill>
                  </a:tcPr>
                </a:tc>
                <a:tc>
                  <a:txBody>
                    <a:bodyPr/>
                    <a:lstStyle/>
                    <a:p>
                      <a:pPr marL="0" lvl="0" indent="0" algn="l" rtl="0">
                        <a:lnSpc>
                          <a:spcPct val="100000"/>
                        </a:lnSpc>
                        <a:spcBef>
                          <a:spcPts val="0"/>
                        </a:spcBef>
                        <a:spcAft>
                          <a:spcPts val="0"/>
                        </a:spcAft>
                        <a:buNone/>
                      </a:pPr>
                      <a:r>
                        <a:rPr lang="en-US" sz="1600" b="1">
                          <a:solidFill>
                            <a:srgbClr val="FFFFFF"/>
                          </a:solidFill>
                        </a:rPr>
                        <a:t>No of Conference Papers</a:t>
                      </a:r>
                      <a:endParaRPr sz="300">
                        <a:highlight>
                          <a:srgbClr val="C9DAF8"/>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C78D8"/>
                    </a:solidFill>
                  </a:tcPr>
                </a:tc>
                <a:tc>
                  <a:txBody>
                    <a:bodyPr/>
                    <a:lstStyle/>
                    <a:p>
                      <a:pPr marL="0" lvl="0" indent="0" algn="l" rtl="0">
                        <a:lnSpc>
                          <a:spcPct val="100000"/>
                        </a:lnSpc>
                        <a:spcBef>
                          <a:spcPts val="0"/>
                        </a:spcBef>
                        <a:spcAft>
                          <a:spcPts val="0"/>
                        </a:spcAft>
                        <a:buNone/>
                      </a:pPr>
                      <a:r>
                        <a:rPr lang="en-US" sz="1600" b="1">
                          <a:solidFill>
                            <a:srgbClr val="FFFFFF"/>
                          </a:solidFill>
                        </a:rPr>
                        <a:t>No of Dataset</a:t>
                      </a:r>
                      <a:endParaRPr sz="300">
                        <a:highlight>
                          <a:srgbClr val="C9DAF8"/>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C78D8"/>
                    </a:solidFill>
                  </a:tcPr>
                </a:tc>
                <a:tc>
                  <a:txBody>
                    <a:bodyPr/>
                    <a:lstStyle/>
                    <a:p>
                      <a:pPr marL="0" lvl="0" indent="0" algn="l" rtl="0">
                        <a:lnSpc>
                          <a:spcPct val="100000"/>
                        </a:lnSpc>
                        <a:spcBef>
                          <a:spcPts val="0"/>
                        </a:spcBef>
                        <a:spcAft>
                          <a:spcPts val="0"/>
                        </a:spcAft>
                        <a:buNone/>
                      </a:pPr>
                      <a:r>
                        <a:rPr lang="en-US" sz="1600" b="1">
                          <a:solidFill>
                            <a:srgbClr val="FFFFFF"/>
                          </a:solidFill>
                        </a:rPr>
                        <a:t>No of Web Refrences</a:t>
                      </a:r>
                      <a:endParaRPr sz="1600" b="1">
                        <a:solidFill>
                          <a:srgbClr val="FFFFFF"/>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C78D8"/>
                    </a:solidFill>
                  </a:tcPr>
                </a:tc>
                <a:tc>
                  <a:txBody>
                    <a:bodyPr/>
                    <a:lstStyle/>
                    <a:p>
                      <a:pPr marL="0" lvl="0" indent="0" algn="l" rtl="0">
                        <a:lnSpc>
                          <a:spcPct val="100000"/>
                        </a:lnSpc>
                        <a:spcBef>
                          <a:spcPts val="0"/>
                        </a:spcBef>
                        <a:spcAft>
                          <a:spcPts val="0"/>
                        </a:spcAft>
                        <a:buClr>
                          <a:schemeClr val="dk1"/>
                        </a:buClr>
                        <a:buSzPts val="1100"/>
                        <a:buFont typeface="Arial"/>
                        <a:buNone/>
                      </a:pPr>
                      <a:r>
                        <a:rPr lang="en-US" sz="1600" b="1">
                          <a:solidFill>
                            <a:srgbClr val="FFFFFF"/>
                          </a:solidFill>
                        </a:rPr>
                        <a:t>No of papers from last five years of publication</a:t>
                      </a:r>
                      <a:endParaRPr sz="1600" b="1">
                        <a:solidFill>
                          <a:srgbClr val="FFFFFF"/>
                        </a:solidFill>
                      </a:endParaRPr>
                    </a:p>
                    <a:p>
                      <a:pPr marL="0" lvl="0" indent="0" algn="l" rtl="0">
                        <a:lnSpc>
                          <a:spcPct val="100000"/>
                        </a:lnSpc>
                        <a:spcBef>
                          <a:spcPts val="0"/>
                        </a:spcBef>
                        <a:spcAft>
                          <a:spcPts val="0"/>
                        </a:spcAft>
                        <a:buNone/>
                      </a:pPr>
                      <a:endParaRPr sz="1600" b="1">
                        <a:solidFill>
                          <a:srgbClr val="FFFFFF"/>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C78D8"/>
                    </a:solidFill>
                  </a:tcPr>
                </a:tc>
                <a:tc>
                  <a:txBody>
                    <a:bodyPr/>
                    <a:lstStyle/>
                    <a:p>
                      <a:pPr marL="0" lvl="0" indent="0" algn="l" rtl="0">
                        <a:lnSpc>
                          <a:spcPct val="100000"/>
                        </a:lnSpc>
                        <a:spcBef>
                          <a:spcPts val="0"/>
                        </a:spcBef>
                        <a:spcAft>
                          <a:spcPts val="0"/>
                        </a:spcAft>
                        <a:buClr>
                          <a:schemeClr val="dk1"/>
                        </a:buClr>
                        <a:buSzPts val="1100"/>
                        <a:buFont typeface="Arial"/>
                        <a:buNone/>
                      </a:pPr>
                      <a:r>
                        <a:rPr lang="en-US" sz="1600" b="1">
                          <a:solidFill>
                            <a:srgbClr val="FFFFFF"/>
                          </a:solidFill>
                        </a:rPr>
                        <a:t>Paper titles with which you will show comparison</a:t>
                      </a:r>
                      <a:endParaRPr sz="1600" b="1">
                        <a:solidFill>
                          <a:srgbClr val="FFFFFF"/>
                        </a:solidFill>
                      </a:endParaRPr>
                    </a:p>
                    <a:p>
                      <a:pPr marL="0" lvl="0" indent="0" algn="l" rtl="0">
                        <a:lnSpc>
                          <a:spcPct val="100000"/>
                        </a:lnSpc>
                        <a:spcBef>
                          <a:spcPts val="0"/>
                        </a:spcBef>
                        <a:spcAft>
                          <a:spcPts val="0"/>
                        </a:spcAft>
                        <a:buNone/>
                      </a:pPr>
                      <a:endParaRPr sz="300">
                        <a:highlight>
                          <a:srgbClr val="C9DAF8"/>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C78D8"/>
                    </a:solidFill>
                  </a:tcPr>
                </a:tc>
                <a:extLst>
                  <a:ext uri="{0D108BD9-81ED-4DB2-BD59-A6C34878D82A}">
                    <a16:rowId xmlns:a16="http://schemas.microsoft.com/office/drawing/2014/main" val="10000"/>
                  </a:ext>
                </a:extLst>
              </a:tr>
              <a:tr h="3428950">
                <a:tc>
                  <a:txBody>
                    <a:bodyPr/>
                    <a:lstStyle/>
                    <a:p>
                      <a:pPr marL="0" lvl="0" indent="0" algn="l" rtl="0">
                        <a:spcBef>
                          <a:spcPts val="0"/>
                        </a:spcBef>
                        <a:spcAft>
                          <a:spcPts val="0"/>
                        </a:spcAft>
                        <a:buNone/>
                      </a:pPr>
                      <a:endParaRPr>
                        <a:highlight>
                          <a:srgbClr val="C9DAF8"/>
                        </a:highlight>
                      </a:endParaRPr>
                    </a:p>
                  </a:txBody>
                  <a:tcPr marL="91425" marR="91425" marT="91425" marB="91425">
                    <a:lnL w="9525" cap="flat" cmpd="sng">
                      <a:solidFill>
                        <a:srgbClr val="1C4587"/>
                      </a:solidFill>
                      <a:prstDash val="solid"/>
                      <a:round/>
                      <a:headEnd type="none" w="sm" len="sm"/>
                      <a:tailEnd type="none" w="sm" len="sm"/>
                    </a:lnL>
                    <a:lnR w="9525" cap="flat" cmpd="sng">
                      <a:solidFill>
                        <a:srgbClr val="1C4587"/>
                      </a:solidFill>
                      <a:prstDash val="solid"/>
                      <a:round/>
                      <a:headEnd type="none" w="sm" len="sm"/>
                      <a:tailEnd type="none" w="sm" len="sm"/>
                    </a:lnR>
                    <a:lnT w="9525" cap="flat" cmpd="sng">
                      <a:solidFill>
                        <a:srgbClr val="1C4587"/>
                      </a:solidFill>
                      <a:prstDash val="solid"/>
                      <a:round/>
                      <a:headEnd type="none" w="sm" len="sm"/>
                      <a:tailEnd type="none" w="sm" len="sm"/>
                    </a:lnT>
                    <a:lnB w="9525" cap="flat" cmpd="sng">
                      <a:solidFill>
                        <a:srgbClr val="1C4587"/>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US">
                          <a:highlight>
                            <a:srgbClr val="D9D9D9"/>
                          </a:highlight>
                        </a:rPr>
                        <a:t>14</a:t>
                      </a:r>
                      <a:endParaRPr>
                        <a:highlight>
                          <a:srgbClr val="D9D9D9"/>
                        </a:highlight>
                      </a:endParaRPr>
                    </a:p>
                  </a:txBody>
                  <a:tcPr marL="91425" marR="91425" marT="91425" marB="91425">
                    <a:lnL w="9525" cap="flat" cmpd="sng">
                      <a:solidFill>
                        <a:srgbClr val="1C4587"/>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US">
                          <a:highlight>
                            <a:srgbClr val="D9D9D9"/>
                          </a:highlight>
                        </a:rPr>
                        <a:t>-</a:t>
                      </a:r>
                      <a:endParaRPr>
                        <a:highlight>
                          <a:srgbClr val="D9D9D9"/>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US">
                          <a:highlight>
                            <a:srgbClr val="D9D9D9"/>
                          </a:highlight>
                        </a:rPr>
                        <a:t>4</a:t>
                      </a:r>
                      <a:endParaRPr>
                        <a:highlight>
                          <a:srgbClr val="D9D9D9"/>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US">
                          <a:highlight>
                            <a:srgbClr val="D9D9D9"/>
                          </a:highlight>
                        </a:rPr>
                        <a:t>-</a:t>
                      </a:r>
                      <a:endParaRPr>
                        <a:highlight>
                          <a:srgbClr val="D9D9D9"/>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US">
                          <a:highlight>
                            <a:srgbClr val="D9D9D9"/>
                          </a:highlight>
                        </a:rPr>
                        <a:t>-</a:t>
                      </a:r>
                      <a:endParaRPr>
                        <a:highlight>
                          <a:srgbClr val="D9D9D9"/>
                        </a:highlight>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bl>
          </a:graphicData>
        </a:graphic>
      </p:graphicFrame>
      <p:sp>
        <p:nvSpPr>
          <p:cNvPr id="280" name="Google Shape;280;p47"/>
          <p:cNvSpPr txBox="1"/>
          <p:nvPr/>
        </p:nvSpPr>
        <p:spPr>
          <a:xfrm>
            <a:off x="894050" y="211975"/>
            <a:ext cx="10160100" cy="961500"/>
          </a:xfrm>
          <a:prstGeom prst="rect">
            <a:avLst/>
          </a:prstGeom>
          <a:noFill/>
          <a:ln>
            <a:noFill/>
          </a:ln>
        </p:spPr>
        <p:txBody>
          <a:bodyPr spcFirstLastPara="1" wrap="square" lIns="91425" tIns="91425" rIns="91425" bIns="91425" anchor="t" anchorCtr="0">
            <a:noAutofit/>
          </a:bodyPr>
          <a:lstStyle/>
          <a:p>
            <a:pPr marL="0" lvl="0" indent="0" algn="l" rtl="0">
              <a:lnSpc>
                <a:spcPct val="648000"/>
              </a:lnSpc>
              <a:spcBef>
                <a:spcPts val="0"/>
              </a:spcBef>
              <a:spcAft>
                <a:spcPts val="0"/>
              </a:spcAft>
              <a:buClr>
                <a:schemeClr val="dk1"/>
              </a:buClr>
              <a:buSzPts val="1100"/>
              <a:buFont typeface="Arial"/>
              <a:buNone/>
            </a:pPr>
            <a:r>
              <a:rPr lang="en-US" sz="3600" b="1">
                <a:solidFill>
                  <a:schemeClr val="dk1"/>
                </a:solidFill>
              </a:rPr>
              <a:t>Reference Summary</a:t>
            </a:r>
            <a:endParaRPr sz="3600" b="1">
              <a:solidFill>
                <a:schemeClr val="dk1"/>
              </a:solidFill>
            </a:endParaRPr>
          </a:p>
          <a:p>
            <a:pPr marL="0" lvl="0" indent="0" algn="l" rtl="0">
              <a:spcBef>
                <a:spcPts val="0"/>
              </a:spcBef>
              <a:spcAft>
                <a:spcPts val="0"/>
              </a:spcAft>
              <a:buNone/>
            </a:pPr>
            <a:endParaRPr sz="22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None/>
            </a:pPr>
            <a:endParaRPr b="1">
              <a:solidFill>
                <a:schemeClr val="dk1"/>
              </a:solidFill>
              <a:latin typeface="Arial"/>
              <a:ea typeface="Arial"/>
              <a:cs typeface="Arial"/>
              <a:sym typeface="Arial"/>
            </a:endParaRPr>
          </a:p>
          <a:p>
            <a:pPr marL="0" lvl="0" indent="0" algn="ctr" rtl="0">
              <a:lnSpc>
                <a:spcPct val="90000"/>
              </a:lnSpc>
              <a:spcBef>
                <a:spcPts val="1000"/>
              </a:spcBef>
              <a:spcAft>
                <a:spcPts val="0"/>
              </a:spcAft>
              <a:buClr>
                <a:schemeClr val="dk1"/>
              </a:buClr>
              <a:buSzPts val="2800"/>
              <a:buNone/>
            </a:pPr>
            <a:endParaRPr b="1">
              <a:solidFill>
                <a:schemeClr val="dk1"/>
              </a:solidFill>
              <a:latin typeface="Arial"/>
              <a:ea typeface="Arial"/>
              <a:cs typeface="Arial"/>
              <a:sym typeface="Arial"/>
            </a:endParaRPr>
          </a:p>
          <a:p>
            <a:pPr marL="0" lvl="0" indent="0" algn="ctr" rtl="0">
              <a:lnSpc>
                <a:spcPct val="90000"/>
              </a:lnSpc>
              <a:spcBef>
                <a:spcPts val="1000"/>
              </a:spcBef>
              <a:spcAft>
                <a:spcPts val="0"/>
              </a:spcAft>
              <a:buClr>
                <a:schemeClr val="dk1"/>
              </a:buClr>
              <a:buSzPts val="2800"/>
              <a:buNone/>
            </a:pPr>
            <a:endParaRPr b="1">
              <a:solidFill>
                <a:schemeClr val="dk1"/>
              </a:solidFill>
              <a:latin typeface="Arial"/>
              <a:ea typeface="Arial"/>
              <a:cs typeface="Arial"/>
              <a:sym typeface="Arial"/>
            </a:endParaRPr>
          </a:p>
          <a:p>
            <a:pPr marL="0" lvl="0" indent="0" algn="ctr" rtl="0">
              <a:lnSpc>
                <a:spcPct val="90000"/>
              </a:lnSpc>
              <a:spcBef>
                <a:spcPts val="1000"/>
              </a:spcBef>
              <a:spcAft>
                <a:spcPts val="1600"/>
              </a:spcAft>
              <a:buClr>
                <a:schemeClr val="dk1"/>
              </a:buClr>
              <a:buSzPts val="4800"/>
              <a:buNone/>
            </a:pPr>
            <a:r>
              <a:rPr lang="en-US" sz="4800" b="1">
                <a:solidFill>
                  <a:schemeClr val="dk1"/>
                </a:solidFill>
                <a:latin typeface="Arial"/>
                <a:ea typeface="Arial"/>
                <a:cs typeface="Arial"/>
                <a:sym typeface="Arial"/>
              </a:rPr>
              <a:t>Thank You</a:t>
            </a:r>
            <a:endParaRPr sz="4800" b="1">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4904</Words>
  <Application>Microsoft Office PowerPoint</Application>
  <PresentationFormat>Widescreen</PresentationFormat>
  <Paragraphs>524</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Roboto</vt:lpstr>
      <vt:lpstr>Arial</vt:lpstr>
      <vt:lpstr>Calibri</vt:lpstr>
      <vt:lpstr>Simple Light</vt:lpstr>
      <vt:lpstr>YESHWANTRAO CHAVAN COLLEGE OF ENGINEERING</vt:lpstr>
      <vt:lpstr>Department Vision and Mission</vt:lpstr>
      <vt:lpstr>Program Outcomes/Program Specific Outcomes</vt:lpstr>
      <vt:lpstr>Program Outcomes/Program Specific Outcomes</vt:lpstr>
      <vt:lpstr>Program Outcomes/Program Specific Outcomes</vt:lpstr>
      <vt:lpstr>Course Outcomes</vt:lpstr>
      <vt:lpstr>PowerPoint Presentation</vt:lpstr>
      <vt:lpstr>Contents</vt:lpstr>
      <vt:lpstr>Introduction</vt:lpstr>
      <vt:lpstr>Importance of selecting a relevant and impactful title in current scenario</vt:lpstr>
      <vt:lpstr>      Literature Review</vt:lpstr>
      <vt:lpstr>PowerPoint Presentation</vt:lpstr>
      <vt:lpstr>PowerPoint Presentation</vt:lpstr>
      <vt:lpstr>PowerPoint Presentation</vt:lpstr>
      <vt:lpstr>PowerPoint Presentation</vt:lpstr>
      <vt:lpstr>PowerPoint Presentation</vt:lpstr>
      <vt:lpstr>PowerPoint Presentation</vt:lpstr>
      <vt:lpstr>Patent Search</vt:lpstr>
      <vt:lpstr>Gaps Identified</vt:lpstr>
      <vt:lpstr>Problem Statement</vt:lpstr>
      <vt:lpstr>How the Proposed Research Fills the Gaps</vt:lpstr>
      <vt:lpstr>Objectives</vt:lpstr>
      <vt:lpstr>Rationale for Proposed Title</vt:lpstr>
      <vt:lpstr>Methodology Overview</vt:lpstr>
      <vt:lpstr>Expected Outcomes</vt:lpstr>
      <vt:lpstr>Feasibility and Timeline</vt:lpstr>
      <vt:lpstr>Feasibility and Timeline</vt:lpstr>
      <vt:lpstr>Feasibility and Timeline</vt:lpstr>
      <vt:lpstr>Feasibility and Timeline</vt:lpstr>
      <vt:lpstr>Gantt Chart</vt:lpstr>
      <vt:lpstr>Conclusion</vt:lpstr>
      <vt:lpstr>PowerPoint Presentation</vt:lpstr>
      <vt:lpstr>References(*Strictly in IEEE format)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Hariom Balang</cp:lastModifiedBy>
  <cp:revision>1</cp:revision>
  <dcterms:modified xsi:type="dcterms:W3CDTF">2025-02-07T04:03:34Z</dcterms:modified>
</cp:coreProperties>
</file>