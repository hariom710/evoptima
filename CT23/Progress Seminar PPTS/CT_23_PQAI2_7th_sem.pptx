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omments/modernComment_110_74D465E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82" r:id="rId9"/>
    <p:sldId id="267" r:id="rId10"/>
    <p:sldId id="284" r:id="rId11"/>
    <p:sldId id="266" r:id="rId12"/>
    <p:sldId id="285" r:id="rId13"/>
    <p:sldId id="269" r:id="rId14"/>
    <p:sldId id="279" r:id="rId15"/>
    <p:sldId id="286" r:id="rId16"/>
    <p:sldId id="287" r:id="rId17"/>
    <p:sldId id="288" r:id="rId18"/>
    <p:sldId id="289" r:id="rId19"/>
    <p:sldId id="272" r:id="rId20"/>
    <p:sldId id="270" r:id="rId21"/>
    <p:sldId id="263" r:id="rId22"/>
    <p:sldId id="283" r:id="rId23"/>
    <p:sldId id="290" r:id="rId24"/>
    <p:sldId id="291" r:id="rId25"/>
    <p:sldId id="264" r:id="rId2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582667-6102-27E7-ED8E-01A166EB4B6B}" name="Guest User" initials="GU" userId="Guest Us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974B70-49E0-5F4E-559F-FFC211664181}" v="1619" dt="2025-11-06T05:10:24.348"/>
    <p1510:client id="{05B8FF93-4193-6D2D-1D6A-C08C8A82ABF7}" v="198" dt="2025-11-06T04:57:22.010"/>
    <p1510:client id="{06099308-1E7E-F96A-796D-D422BA15B69D}" v="273" dt="2025-11-06T07:28:07.246"/>
    <p1510:client id="{46E72332-D52A-EFB7-C987-13D0209500BA}" v="20" dt="2025-11-06T08:56:49.255"/>
    <p1510:client id="{4A6A37A0-E683-226F-0282-93131A3B1CB6}" v="196" dt="2025-11-06T08:06:12.682"/>
    <p1510:client id="{5DE4D7D3-9C17-E079-3C4D-A4CB72BA6C8C}" v="29" dt="2025-11-06T06:45:59.762"/>
    <p1510:client id="{6DAEDED0-1E83-47C2-BACD-EC4B5A630D48}" v="30" dt="2025-11-06T04:53:51.207"/>
    <p1510:client id="{6FACAC75-15EE-D051-279F-745ED54FE8A2}" v="326" dt="2025-11-06T04:51:24.090"/>
    <p1510:client id="{97C1885F-72E7-D9C5-A473-7D1B371D3D0F}" v="177" dt="2025-11-06T05:02:51.967"/>
    <p1510:client id="{D5563D01-06DF-6431-5491-F15706DF999C}" v="60" dt="2025-11-06T04:13:55.986"/>
    <p1510:client id="{EFB2E2DD-9BEA-BA5A-F185-1E409B9B76B2}" v="1" dt="2025-11-06T07:25:02.41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10_74D465E3.xml><?xml version="1.0" encoding="utf-8"?>
<p188:cmLst xmlns:a="http://schemas.openxmlformats.org/drawingml/2006/main" xmlns:r="http://schemas.openxmlformats.org/officeDocument/2006/relationships" xmlns:p188="http://schemas.microsoft.com/office/powerpoint/2018/8/main">
  <p188:cm id="{879DBA14-E603-4321-98A2-D8DA8FFDA99E}" authorId="{95582667-6102-27E7-ED8E-01A166EB4B6B}" created="2025-02-21T09:25:47.409">
    <pc:sldMkLst xmlns:pc="http://schemas.microsoft.com/office/powerpoint/2013/main/command">
      <pc:docMk/>
      <pc:sldMk cId="1960076771" sldId="272"/>
    </pc:sldMkLst>
    <p188:txBody>
      <a:bodyPr/>
      <a:lstStyle/>
      <a:p>
        <a:r>
          <a:rPr lang="en-US"/>
          <a:t>ajun kahi kraich ahe ka</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18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1225" y="637457"/>
            <a:ext cx="10369550" cy="695960"/>
          </a:xfrm>
          <a:prstGeom prst="rect">
            <a:avLst/>
          </a:prstGeom>
        </p:spPr>
        <p:txBody>
          <a:bodyPr wrap="square" lIns="0" tIns="0" rIns="0" bIns="0">
            <a:spAutoFit/>
          </a:bodyPr>
          <a:lstStyle>
            <a:lvl1pPr>
              <a:defRPr sz="1800" b="1" i="0">
                <a:solidFill>
                  <a:srgbClr val="FF0000"/>
                </a:solidFill>
                <a:latin typeface="Calibri"/>
                <a:cs typeface="Calibri"/>
              </a:defRPr>
            </a:lvl1pPr>
          </a:lstStyle>
          <a:p>
            <a:endParaRPr/>
          </a:p>
        </p:txBody>
      </p:sp>
      <p:sp>
        <p:nvSpPr>
          <p:cNvPr id="3" name="Holder 3"/>
          <p:cNvSpPr>
            <a:spLocks noGrp="1"/>
          </p:cNvSpPr>
          <p:nvPr>
            <p:ph type="body" idx="1"/>
          </p:nvPr>
        </p:nvSpPr>
        <p:spPr>
          <a:xfrm>
            <a:off x="391969" y="1600779"/>
            <a:ext cx="11214735" cy="477583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microsoft.com/office/2018/10/relationships/comments" Target="../comments/modernComment_110_74D465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doi.org/10.3390/en1316423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435" y="127199"/>
            <a:ext cx="1360300" cy="1272343"/>
          </a:xfrm>
          <a:prstGeom prst="rect">
            <a:avLst/>
          </a:prstGeom>
        </p:spPr>
      </p:pic>
      <p:pic>
        <p:nvPicPr>
          <p:cNvPr id="3" name="object 3"/>
          <p:cNvPicPr/>
          <p:nvPr/>
        </p:nvPicPr>
        <p:blipFill>
          <a:blip r:embed="rId3" cstate="print"/>
          <a:stretch>
            <a:fillRect/>
          </a:stretch>
        </p:blipFill>
        <p:spPr>
          <a:xfrm>
            <a:off x="10628026" y="92980"/>
            <a:ext cx="1424066" cy="1306563"/>
          </a:xfrm>
          <a:prstGeom prst="rect">
            <a:avLst/>
          </a:prstGeom>
        </p:spPr>
      </p:pic>
      <p:sp>
        <p:nvSpPr>
          <p:cNvPr id="4" name="object 4"/>
          <p:cNvSpPr txBox="1"/>
          <p:nvPr/>
        </p:nvSpPr>
        <p:spPr>
          <a:xfrm>
            <a:off x="1328960" y="3521952"/>
            <a:ext cx="2989580" cy="2684517"/>
          </a:xfrm>
          <a:prstGeom prst="rect">
            <a:avLst/>
          </a:prstGeom>
        </p:spPr>
        <p:txBody>
          <a:bodyPr vert="horz" wrap="square" lIns="0" tIns="12065" rIns="0" bIns="0" rtlCol="0" anchor="t">
            <a:spAutoFit/>
          </a:bodyPr>
          <a:lstStyle/>
          <a:p>
            <a:pPr marL="12700" marR="5080" algn="l">
              <a:lnSpc>
                <a:spcPct val="100899"/>
              </a:lnSpc>
              <a:spcBef>
                <a:spcPts val="95"/>
              </a:spcBef>
              <a:tabLst>
                <a:tab pos="1708785" algn="l"/>
              </a:tabLst>
            </a:pPr>
            <a:r>
              <a:t>PRESENTED BY:</a:t>
            </a:r>
            <a:r>
              <a:rPr lang="en-US"/>
              <a:t> CT-23</a:t>
            </a:r>
          </a:p>
          <a:p>
            <a:pPr marL="12700" marR="5080" algn="l">
              <a:lnSpc>
                <a:spcPct val="100899"/>
              </a:lnSpc>
              <a:spcBef>
                <a:spcPts val="95"/>
              </a:spcBef>
              <a:tabLst>
                <a:tab pos="1708785" algn="l"/>
              </a:tabLst>
            </a:pPr>
            <a:r>
              <a:rPr lang="en-US"/>
              <a:t> Vedika </a:t>
            </a:r>
            <a:r>
              <a:rPr lang="en-US" err="1"/>
              <a:t>Peshane</a:t>
            </a:r>
            <a:r>
              <a:rPr lang="en-US"/>
              <a:t> - 31</a:t>
            </a:r>
          </a:p>
          <a:p>
            <a:pPr marL="12700" marR="5080" algn="l">
              <a:lnSpc>
                <a:spcPct val="100899"/>
              </a:lnSpc>
              <a:spcBef>
                <a:spcPts val="95"/>
              </a:spcBef>
              <a:tabLst>
                <a:tab pos="1708785" algn="l"/>
              </a:tabLst>
            </a:pPr>
            <a:r>
              <a:rPr lang="en-US"/>
              <a:t> Aditya </a:t>
            </a:r>
            <a:r>
              <a:rPr lang="en-US" err="1"/>
              <a:t>Bhone</a:t>
            </a:r>
            <a:r>
              <a:rPr lang="en-US"/>
              <a:t> - 39</a:t>
            </a:r>
          </a:p>
          <a:p>
            <a:pPr marL="12700" marR="5080" algn="l">
              <a:lnSpc>
                <a:spcPct val="100899"/>
              </a:lnSpc>
              <a:spcBef>
                <a:spcPts val="95"/>
              </a:spcBef>
              <a:tabLst>
                <a:tab pos="1708785" algn="l"/>
              </a:tabLst>
            </a:pPr>
            <a:r>
              <a:rPr lang="en-US"/>
              <a:t> Atharva </a:t>
            </a:r>
            <a:r>
              <a:rPr lang="en-US" err="1"/>
              <a:t>Pophali</a:t>
            </a:r>
            <a:r>
              <a:rPr lang="en-US"/>
              <a:t> - 47</a:t>
            </a:r>
          </a:p>
          <a:p>
            <a:pPr marL="12700" marR="5080" algn="l">
              <a:lnSpc>
                <a:spcPct val="100899"/>
              </a:lnSpc>
              <a:spcBef>
                <a:spcPts val="95"/>
              </a:spcBef>
              <a:tabLst>
                <a:tab pos="1708785" algn="l"/>
              </a:tabLst>
            </a:pPr>
            <a:r>
              <a:rPr lang="en-US"/>
              <a:t> Atharva </a:t>
            </a:r>
            <a:r>
              <a:rPr lang="en-US" err="1"/>
              <a:t>Fukey</a:t>
            </a:r>
            <a:r>
              <a:rPr lang="en-US"/>
              <a:t> - 48</a:t>
            </a:r>
          </a:p>
          <a:p>
            <a:pPr marL="12700" marR="5080" algn="l">
              <a:lnSpc>
                <a:spcPct val="100899"/>
              </a:lnSpc>
              <a:spcBef>
                <a:spcPts val="95"/>
              </a:spcBef>
              <a:tabLst>
                <a:tab pos="1708785" algn="l"/>
              </a:tabLst>
            </a:pPr>
            <a:r>
              <a:rPr lang="en-US"/>
              <a:t> Hariom Balang - 57</a:t>
            </a:r>
          </a:p>
          <a:p>
            <a:pPr marL="12700" marR="5080" algn="l">
              <a:lnSpc>
                <a:spcPct val="100899"/>
              </a:lnSpc>
              <a:spcBef>
                <a:spcPts val="95"/>
              </a:spcBef>
              <a:tabLst>
                <a:tab pos="1708785" algn="l"/>
              </a:tabLst>
            </a:pPr>
            <a:r>
              <a:rPr lang="en-US"/>
              <a:t> Kiran Wande - 103</a:t>
            </a:r>
          </a:p>
          <a:p>
            <a:pPr marL="12700" marR="5080" algn="l">
              <a:lnSpc>
                <a:spcPct val="100899"/>
              </a:lnSpc>
              <a:spcBef>
                <a:spcPts val="95"/>
              </a:spcBef>
              <a:tabLst>
                <a:tab pos="1708785" algn="l"/>
              </a:tabLst>
            </a:pPr>
            <a:endParaRPr lang="en-US" sz="1850" spc="5">
              <a:solidFill>
                <a:srgbClr val="000000"/>
              </a:solidFill>
              <a:latin typeface="Arial MT"/>
              <a:cs typeface="Arial"/>
            </a:endParaRPr>
          </a:p>
          <a:p>
            <a:pPr marL="12700" marR="5080" algn="l">
              <a:lnSpc>
                <a:spcPct val="100899"/>
              </a:lnSpc>
              <a:spcBef>
                <a:spcPts val="95"/>
              </a:spcBef>
              <a:tabLst>
                <a:tab pos="1708785" algn="l"/>
              </a:tabLst>
            </a:pPr>
            <a:endParaRPr lang="en-US" sz="1850" spc="5">
              <a:solidFill>
                <a:srgbClr val="000000"/>
              </a:solidFill>
              <a:latin typeface="Arial MT"/>
              <a:cs typeface="Arial"/>
            </a:endParaRPr>
          </a:p>
        </p:txBody>
      </p:sp>
      <p:sp>
        <p:nvSpPr>
          <p:cNvPr id="5" name="object 5"/>
          <p:cNvSpPr txBox="1"/>
          <p:nvPr/>
        </p:nvSpPr>
        <p:spPr>
          <a:xfrm>
            <a:off x="8356217" y="3590704"/>
            <a:ext cx="1686560" cy="594995"/>
          </a:xfrm>
          <a:prstGeom prst="rect">
            <a:avLst/>
          </a:prstGeom>
        </p:spPr>
        <p:txBody>
          <a:bodyPr vert="horz" wrap="square" lIns="0" tIns="14604" rIns="0" bIns="0" rtlCol="0" anchor="t">
            <a:spAutoFit/>
          </a:bodyPr>
          <a:lstStyle/>
          <a:p>
            <a:pPr marL="78105" algn="l">
              <a:spcBef>
                <a:spcPts val="114"/>
              </a:spcBef>
            </a:pPr>
            <a:r>
              <a:rPr sz="1850" b="1">
                <a:latin typeface="Arial"/>
                <a:cs typeface="Arial"/>
              </a:rPr>
              <a:t>SECTION</a:t>
            </a:r>
            <a:r>
              <a:rPr sz="1850" b="1" spc="-5">
                <a:latin typeface="Arial"/>
                <a:cs typeface="Arial"/>
              </a:rPr>
              <a:t> </a:t>
            </a:r>
            <a:r>
              <a:rPr sz="1850">
                <a:latin typeface="Arial MT"/>
                <a:cs typeface="Arial MT"/>
              </a:rPr>
              <a:t>:</a:t>
            </a:r>
            <a:r>
              <a:rPr sz="1850" spc="-10">
                <a:latin typeface="Arial MT"/>
                <a:cs typeface="Arial MT"/>
              </a:rPr>
              <a:t> </a:t>
            </a:r>
            <a:r>
              <a:rPr sz="1850" spc="-50">
                <a:latin typeface="Arial MT"/>
                <a:cs typeface="Arial MT"/>
              </a:rPr>
              <a:t>A</a:t>
            </a:r>
            <a:r>
              <a:rPr lang="en-US" sz="1850" spc="-50">
                <a:latin typeface="Arial MT"/>
                <a:cs typeface="Arial MT"/>
              </a:rPr>
              <a:t> </a:t>
            </a:r>
            <a:endParaRPr sz="1850">
              <a:latin typeface="Arial MT"/>
              <a:cs typeface="Arial MT"/>
            </a:endParaRPr>
          </a:p>
          <a:p>
            <a:pPr marL="12700" algn="l">
              <a:lnSpc>
                <a:spcPct val="100000"/>
              </a:lnSpc>
              <a:spcBef>
                <a:spcPts val="20"/>
              </a:spcBef>
            </a:pPr>
            <a:r>
              <a:rPr sz="1850" b="1">
                <a:latin typeface="Arial"/>
                <a:cs typeface="Arial"/>
              </a:rPr>
              <a:t>YEAR</a:t>
            </a:r>
            <a:r>
              <a:rPr sz="1850">
                <a:latin typeface="Arial MT"/>
                <a:cs typeface="Arial MT"/>
              </a:rPr>
              <a:t>:</a:t>
            </a:r>
            <a:r>
              <a:rPr sz="1850" spc="10">
                <a:latin typeface="Arial MT"/>
                <a:cs typeface="Arial MT"/>
              </a:rPr>
              <a:t> </a:t>
            </a:r>
            <a:r>
              <a:rPr lang="en-US" sz="1850">
                <a:latin typeface="Arial MT"/>
                <a:cs typeface="Arial MT"/>
              </a:rPr>
              <a:t>2025-</a:t>
            </a:r>
            <a:r>
              <a:rPr lang="en-US" sz="1850" spc="-25">
                <a:latin typeface="Arial MT"/>
                <a:cs typeface="Arial MT"/>
              </a:rPr>
              <a:t>26</a:t>
            </a:r>
            <a:endParaRPr sz="1850">
              <a:latin typeface="Arial MT"/>
              <a:cs typeface="Arial MT"/>
            </a:endParaRPr>
          </a:p>
        </p:txBody>
      </p:sp>
      <p:sp>
        <p:nvSpPr>
          <p:cNvPr id="6" name="object 6"/>
          <p:cNvSpPr txBox="1"/>
          <p:nvPr/>
        </p:nvSpPr>
        <p:spPr>
          <a:xfrm>
            <a:off x="1328681" y="5878089"/>
            <a:ext cx="2055495" cy="1158650"/>
          </a:xfrm>
          <a:prstGeom prst="rect">
            <a:avLst/>
          </a:prstGeom>
        </p:spPr>
        <p:txBody>
          <a:bodyPr vert="horz" wrap="square" lIns="0" tIns="14604" rIns="0" bIns="0" rtlCol="0" anchor="t">
            <a:spAutoFit/>
          </a:bodyPr>
          <a:lstStyle/>
          <a:p>
            <a:pPr marL="12700">
              <a:lnSpc>
                <a:spcPct val="100000"/>
              </a:lnSpc>
              <a:spcBef>
                <a:spcPts val="114"/>
              </a:spcBef>
            </a:pPr>
            <a:r>
              <a:rPr sz="1850" b="1">
                <a:latin typeface="Arial"/>
                <a:cs typeface="Arial"/>
              </a:rPr>
              <a:t>COLLEGE</a:t>
            </a:r>
            <a:r>
              <a:rPr sz="1850" b="1" spc="-30">
                <a:latin typeface="Arial"/>
                <a:cs typeface="Arial"/>
              </a:rPr>
              <a:t> </a:t>
            </a:r>
            <a:r>
              <a:rPr sz="1850" b="1" spc="-10">
                <a:latin typeface="Arial"/>
                <a:cs typeface="Arial"/>
              </a:rPr>
              <a:t>GUIDE</a:t>
            </a:r>
            <a:r>
              <a:rPr sz="1850" spc="-10">
                <a:latin typeface="Arial MT"/>
                <a:cs typeface="Arial MT"/>
              </a:rPr>
              <a:t>:</a:t>
            </a:r>
          </a:p>
          <a:p>
            <a:pPr algn="l"/>
            <a:r>
              <a:rPr lang="en-US" sz="1900" spc="-10" err="1">
                <a:latin typeface="Arial"/>
                <a:cs typeface="Arial"/>
              </a:rPr>
              <a:t>Prof.N.U.Sambhe</a:t>
            </a:r>
            <a:endParaRPr lang="en-US" err="1"/>
          </a:p>
          <a:p>
            <a:pPr marL="12700">
              <a:spcBef>
                <a:spcPts val="112"/>
              </a:spcBef>
            </a:pPr>
            <a:br>
              <a:rPr lang="en-US"/>
            </a:br>
            <a:endParaRPr lang="en-US"/>
          </a:p>
        </p:txBody>
      </p:sp>
      <p:sp>
        <p:nvSpPr>
          <p:cNvPr id="7" name="object 7"/>
          <p:cNvSpPr txBox="1"/>
          <p:nvPr/>
        </p:nvSpPr>
        <p:spPr>
          <a:xfrm>
            <a:off x="8016675" y="5915467"/>
            <a:ext cx="3776092" cy="1166344"/>
          </a:xfrm>
          <a:prstGeom prst="rect">
            <a:avLst/>
          </a:prstGeom>
        </p:spPr>
        <p:txBody>
          <a:bodyPr vert="horz" wrap="square" lIns="0" tIns="14604" rIns="0" bIns="0" rtlCol="0" anchor="t">
            <a:spAutoFit/>
          </a:bodyPr>
          <a:lstStyle/>
          <a:p>
            <a:pPr algn="ctr"/>
            <a:r>
              <a:rPr lang="en-US" sz="1900" b="1" spc="-10">
                <a:latin typeface="Arial"/>
                <a:cs typeface="Arial"/>
              </a:rPr>
              <a:t>INDUSTRIAL Co-guide :</a:t>
            </a:r>
            <a:endParaRPr/>
          </a:p>
          <a:p>
            <a:pPr algn="ctr"/>
            <a:r>
              <a:rPr lang="en-US" sz="1900" spc="-10" err="1">
                <a:latin typeface="Arial"/>
                <a:cs typeface="Arial"/>
              </a:rPr>
              <a:t>Prof.P.S.Shete</a:t>
            </a:r>
            <a:r>
              <a:rPr lang="en-US" sz="1900" spc="-10">
                <a:latin typeface="Arial"/>
                <a:cs typeface="Arial"/>
              </a:rPr>
              <a:t>, EL Dept </a:t>
            </a:r>
            <a:endParaRPr/>
          </a:p>
          <a:p>
            <a:pPr marL="1905" algn="ctr">
              <a:spcBef>
                <a:spcPts val="113"/>
              </a:spcBef>
            </a:pPr>
            <a:br>
              <a:rPr lang="en-US"/>
            </a:br>
            <a:endParaRPr lang="en-US"/>
          </a:p>
        </p:txBody>
      </p:sp>
      <p:sp>
        <p:nvSpPr>
          <p:cNvPr id="8" name="object 8"/>
          <p:cNvSpPr txBox="1">
            <a:spLocks noGrp="1"/>
          </p:cNvSpPr>
          <p:nvPr>
            <p:ph type="title"/>
          </p:nvPr>
        </p:nvSpPr>
        <p:spPr>
          <a:xfrm>
            <a:off x="1437306" y="75037"/>
            <a:ext cx="9600565" cy="1430520"/>
          </a:xfrm>
          <a:prstGeom prst="rect">
            <a:avLst/>
          </a:prstGeom>
        </p:spPr>
        <p:txBody>
          <a:bodyPr vert="horz" wrap="square" lIns="0" tIns="95885" rIns="0" bIns="0" rtlCol="0" anchor="t">
            <a:spAutoFit/>
          </a:bodyPr>
          <a:lstStyle/>
          <a:p>
            <a:pPr marL="3033395" marR="5080" indent="-3021330">
              <a:lnSpc>
                <a:spcPts val="5180"/>
              </a:lnSpc>
              <a:spcBef>
                <a:spcPts val="755"/>
              </a:spcBef>
            </a:pPr>
            <a:r>
              <a:rPr sz="4400" spc="-20">
                <a:solidFill>
                  <a:srgbClr val="000000"/>
                </a:solidFill>
              </a:rPr>
              <a:t>YESHWANTRAO</a:t>
            </a:r>
            <a:r>
              <a:rPr sz="4800" spc="-75">
                <a:solidFill>
                  <a:srgbClr val="000000"/>
                </a:solidFill>
              </a:rPr>
              <a:t> </a:t>
            </a:r>
            <a:r>
              <a:rPr sz="4800">
                <a:solidFill>
                  <a:srgbClr val="000000"/>
                </a:solidFill>
              </a:rPr>
              <a:t>CHAVAN</a:t>
            </a:r>
            <a:r>
              <a:rPr sz="4800" spc="-75">
                <a:solidFill>
                  <a:srgbClr val="000000"/>
                </a:solidFill>
              </a:rPr>
              <a:t> </a:t>
            </a:r>
            <a:r>
              <a:rPr sz="4800">
                <a:solidFill>
                  <a:srgbClr val="000000"/>
                </a:solidFill>
              </a:rPr>
              <a:t>COLLEGE</a:t>
            </a:r>
            <a:r>
              <a:rPr sz="4800" spc="-70">
                <a:solidFill>
                  <a:srgbClr val="000000"/>
                </a:solidFill>
              </a:rPr>
              <a:t> </a:t>
            </a:r>
            <a:r>
              <a:rPr sz="4800" spc="-25">
                <a:solidFill>
                  <a:srgbClr val="000000"/>
                </a:solidFill>
              </a:rPr>
              <a:t>OF </a:t>
            </a:r>
            <a:r>
              <a:rPr sz="4800" spc="-10">
                <a:solidFill>
                  <a:srgbClr val="000000"/>
                </a:solidFill>
              </a:rPr>
              <a:t>ENGINEERING</a:t>
            </a:r>
            <a:endParaRPr sz="4800"/>
          </a:p>
        </p:txBody>
      </p:sp>
      <p:sp>
        <p:nvSpPr>
          <p:cNvPr id="10" name="object 10"/>
          <p:cNvSpPr txBox="1"/>
          <p:nvPr/>
        </p:nvSpPr>
        <p:spPr>
          <a:xfrm>
            <a:off x="1043623" y="1498941"/>
            <a:ext cx="9832340" cy="2028761"/>
          </a:xfrm>
          <a:prstGeom prst="rect">
            <a:avLst/>
          </a:prstGeom>
        </p:spPr>
        <p:txBody>
          <a:bodyPr vert="horz" wrap="square" lIns="0" tIns="12700" rIns="0" bIns="0" rtlCol="0" anchor="t">
            <a:spAutoFit/>
          </a:bodyPr>
          <a:lstStyle/>
          <a:p>
            <a:pPr marL="12700">
              <a:spcBef>
                <a:spcPts val="100"/>
              </a:spcBef>
            </a:pPr>
            <a:r>
              <a:rPr lang="en-US" sz="3600" b="1" spc="-10">
                <a:latin typeface="Calibri"/>
                <a:cs typeface="Calibri"/>
              </a:rPr>
              <a:t>            </a:t>
            </a:r>
            <a:r>
              <a:rPr sz="3600" b="1" spc="-10">
                <a:latin typeface="Calibri"/>
                <a:cs typeface="Calibri"/>
              </a:rPr>
              <a:t>Department</a:t>
            </a:r>
            <a:r>
              <a:rPr sz="3600" b="1" spc="-125">
                <a:latin typeface="Calibri"/>
                <a:cs typeface="Calibri"/>
              </a:rPr>
              <a:t> </a:t>
            </a:r>
            <a:r>
              <a:rPr sz="3600" b="1">
                <a:latin typeface="Calibri"/>
                <a:cs typeface="Calibri"/>
              </a:rPr>
              <a:t>of</a:t>
            </a:r>
            <a:r>
              <a:rPr sz="3600" b="1" spc="-120">
                <a:latin typeface="Calibri"/>
                <a:cs typeface="Calibri"/>
              </a:rPr>
              <a:t> </a:t>
            </a:r>
            <a:r>
              <a:rPr sz="3600" b="1">
                <a:latin typeface="Calibri"/>
                <a:cs typeface="Calibri"/>
              </a:rPr>
              <a:t>Computer</a:t>
            </a:r>
            <a:r>
              <a:rPr sz="3600" b="1" spc="-120">
                <a:latin typeface="Calibri"/>
                <a:cs typeface="Calibri"/>
              </a:rPr>
              <a:t> </a:t>
            </a:r>
            <a:r>
              <a:rPr lang="en-US" sz="3600" b="1" spc="-10">
                <a:latin typeface="Calibri"/>
                <a:cs typeface="Calibri"/>
              </a:rPr>
              <a:t>Technology</a:t>
            </a:r>
            <a:endParaRPr sz="3600">
              <a:latin typeface="Calibri"/>
              <a:cs typeface="Calibri"/>
            </a:endParaRPr>
          </a:p>
          <a:p>
            <a:pPr marL="109220" algn="ctr">
              <a:lnSpc>
                <a:spcPct val="100000"/>
              </a:lnSpc>
              <a:spcBef>
                <a:spcPts val="50"/>
              </a:spcBef>
            </a:pPr>
            <a:r>
              <a:rPr lang="en-US" sz="2400" b="1">
                <a:latin typeface="Calibri"/>
                <a:cs typeface="Calibri"/>
              </a:rPr>
              <a:t>PQAI-2</a:t>
            </a:r>
            <a:r>
              <a:rPr sz="2400" b="1" spc="-70">
                <a:latin typeface="Calibri"/>
                <a:cs typeface="Calibri"/>
              </a:rPr>
              <a:t> </a:t>
            </a:r>
            <a:r>
              <a:rPr sz="2400" b="1">
                <a:latin typeface="Calibri"/>
                <a:cs typeface="Calibri"/>
              </a:rPr>
              <a:t>Seminar</a:t>
            </a:r>
            <a:r>
              <a:rPr sz="2400" b="1" spc="-70">
                <a:latin typeface="Calibri"/>
                <a:cs typeface="Calibri"/>
              </a:rPr>
              <a:t> </a:t>
            </a:r>
            <a:r>
              <a:rPr sz="2400" b="1" spc="-25">
                <a:latin typeface="Calibri"/>
                <a:cs typeface="Calibri"/>
              </a:rPr>
              <a:t>on</a:t>
            </a:r>
            <a:endParaRPr lang="en-US" sz="2400">
              <a:latin typeface="Calibri"/>
              <a:cs typeface="Calibri"/>
            </a:endParaRPr>
          </a:p>
          <a:p>
            <a:pPr marL="125095" algn="ctr">
              <a:spcBef>
                <a:spcPts val="480"/>
              </a:spcBef>
            </a:pPr>
            <a:r>
              <a:rPr lang="en-US" sz="3200" b="1" spc="-10">
                <a:latin typeface="Calibri"/>
                <a:cs typeface="Calibri"/>
              </a:rPr>
              <a:t>Advanced monitoring and control mechanism for electric vehicle charging station using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524000">
              <a:lnSpc>
                <a:spcPct val="100000"/>
              </a:lnSpc>
              <a:spcBef>
                <a:spcPts val="100"/>
              </a:spcBef>
            </a:pPr>
            <a:r>
              <a:rPr sz="4400">
                <a:solidFill>
                  <a:srgbClr val="000000"/>
                </a:solidFill>
              </a:rPr>
              <a:t>Department</a:t>
            </a:r>
            <a:r>
              <a:rPr sz="4400" spc="-55">
                <a:solidFill>
                  <a:srgbClr val="000000"/>
                </a:solidFill>
              </a:rPr>
              <a:t> </a:t>
            </a:r>
            <a:r>
              <a:rPr sz="4400">
                <a:solidFill>
                  <a:srgbClr val="000000"/>
                </a:solidFill>
              </a:rPr>
              <a:t>Vision</a:t>
            </a:r>
            <a:r>
              <a:rPr sz="4400" spc="-55">
                <a:solidFill>
                  <a:srgbClr val="000000"/>
                </a:solidFill>
              </a:rPr>
              <a:t> </a:t>
            </a:r>
            <a:r>
              <a:rPr sz="4400">
                <a:solidFill>
                  <a:srgbClr val="000000"/>
                </a:solidFill>
              </a:rPr>
              <a:t>and</a:t>
            </a:r>
            <a:r>
              <a:rPr sz="4400" spc="-55">
                <a:solidFill>
                  <a:srgbClr val="000000"/>
                </a:solidFill>
              </a:rPr>
              <a:t> </a:t>
            </a:r>
            <a:r>
              <a:rPr sz="4400" spc="-10">
                <a:solidFill>
                  <a:srgbClr val="000000"/>
                </a:solidFill>
              </a:rPr>
              <a:t>Mission</a:t>
            </a:r>
            <a:endParaRPr sz="4400"/>
          </a:p>
        </p:txBody>
      </p:sp>
      <p:sp>
        <p:nvSpPr>
          <p:cNvPr id="3" name="object 3"/>
          <p:cNvSpPr txBox="1"/>
          <p:nvPr/>
        </p:nvSpPr>
        <p:spPr>
          <a:xfrm>
            <a:off x="911225" y="1412077"/>
            <a:ext cx="10367645" cy="3606165"/>
          </a:xfrm>
          <a:prstGeom prst="rect">
            <a:avLst/>
          </a:prstGeom>
        </p:spPr>
        <p:txBody>
          <a:bodyPr vert="horz" wrap="square" lIns="0" tIns="53975" rIns="0" bIns="0" rtlCol="0">
            <a:spAutoFit/>
          </a:bodyPr>
          <a:lstStyle/>
          <a:p>
            <a:pPr algn="ctr">
              <a:lnSpc>
                <a:spcPct val="100000"/>
              </a:lnSpc>
              <a:spcBef>
                <a:spcPts val="425"/>
              </a:spcBef>
            </a:pPr>
            <a:r>
              <a:rPr sz="2800" b="1" spc="-10">
                <a:latin typeface="Arial"/>
                <a:cs typeface="Arial"/>
              </a:rPr>
              <a:t>Vision</a:t>
            </a:r>
            <a:endParaRPr sz="2800">
              <a:latin typeface="Arial"/>
              <a:cs typeface="Arial"/>
            </a:endParaRPr>
          </a:p>
          <a:p>
            <a:pPr marL="12700" marR="5715" algn="just">
              <a:lnSpc>
                <a:spcPts val="2690"/>
              </a:lnSpc>
              <a:spcBef>
                <a:spcPts val="975"/>
              </a:spcBef>
            </a:pPr>
            <a:r>
              <a:rPr sz="2800">
                <a:solidFill>
                  <a:srgbClr val="18100F"/>
                </a:solidFill>
                <a:latin typeface="Arial MT"/>
                <a:cs typeface="Arial MT"/>
              </a:rPr>
              <a:t>To</a:t>
            </a:r>
            <a:r>
              <a:rPr sz="2800" spc="65">
                <a:solidFill>
                  <a:srgbClr val="18100F"/>
                </a:solidFill>
                <a:latin typeface="Arial MT"/>
                <a:cs typeface="Arial MT"/>
              </a:rPr>
              <a:t>  </a:t>
            </a:r>
            <a:r>
              <a:rPr sz="2800">
                <a:solidFill>
                  <a:srgbClr val="18100F"/>
                </a:solidFill>
                <a:latin typeface="Arial MT"/>
                <a:cs typeface="Arial MT"/>
              </a:rPr>
              <a:t>be</a:t>
            </a:r>
            <a:r>
              <a:rPr sz="2800" spc="65">
                <a:solidFill>
                  <a:srgbClr val="18100F"/>
                </a:solidFill>
                <a:latin typeface="Arial MT"/>
                <a:cs typeface="Arial MT"/>
              </a:rPr>
              <a:t>  </a:t>
            </a:r>
            <a:r>
              <a:rPr sz="2800">
                <a:solidFill>
                  <a:srgbClr val="18100F"/>
                </a:solidFill>
                <a:latin typeface="Arial MT"/>
                <a:cs typeface="Arial MT"/>
              </a:rPr>
              <a:t>a</a:t>
            </a:r>
            <a:r>
              <a:rPr sz="2800" spc="65">
                <a:solidFill>
                  <a:srgbClr val="18100F"/>
                </a:solidFill>
                <a:latin typeface="Arial MT"/>
                <a:cs typeface="Arial MT"/>
              </a:rPr>
              <a:t>  </a:t>
            </a:r>
            <a:r>
              <a:rPr sz="2800" spc="-25">
                <a:solidFill>
                  <a:srgbClr val="18100F"/>
                </a:solidFill>
                <a:latin typeface="Arial MT"/>
                <a:cs typeface="Arial MT"/>
              </a:rPr>
              <a:t>well-</a:t>
            </a:r>
            <a:r>
              <a:rPr sz="2800">
                <a:solidFill>
                  <a:srgbClr val="18100F"/>
                </a:solidFill>
                <a:latin typeface="Arial MT"/>
                <a:cs typeface="Arial MT"/>
              </a:rPr>
              <a:t>known</a:t>
            </a:r>
            <a:r>
              <a:rPr sz="2800" spc="65">
                <a:solidFill>
                  <a:srgbClr val="18100F"/>
                </a:solidFill>
                <a:latin typeface="Arial MT"/>
                <a:cs typeface="Arial MT"/>
              </a:rPr>
              <a:t>  </a:t>
            </a:r>
            <a:r>
              <a:rPr sz="2800">
                <a:solidFill>
                  <a:srgbClr val="18100F"/>
                </a:solidFill>
                <a:latin typeface="Arial MT"/>
                <a:cs typeface="Arial MT"/>
              </a:rPr>
              <a:t>center</a:t>
            </a:r>
            <a:r>
              <a:rPr sz="2800" spc="65">
                <a:solidFill>
                  <a:srgbClr val="18100F"/>
                </a:solidFill>
                <a:latin typeface="Arial MT"/>
                <a:cs typeface="Arial MT"/>
              </a:rPr>
              <a:t>  </a:t>
            </a:r>
            <a:r>
              <a:rPr sz="2800">
                <a:solidFill>
                  <a:srgbClr val="18100F"/>
                </a:solidFill>
                <a:latin typeface="Arial MT"/>
                <a:cs typeface="Arial MT"/>
              </a:rPr>
              <a:t>for</a:t>
            </a:r>
            <a:r>
              <a:rPr sz="2800" spc="65">
                <a:solidFill>
                  <a:srgbClr val="18100F"/>
                </a:solidFill>
                <a:latin typeface="Arial MT"/>
                <a:cs typeface="Arial MT"/>
              </a:rPr>
              <a:t>  </a:t>
            </a:r>
            <a:r>
              <a:rPr sz="2800">
                <a:solidFill>
                  <a:srgbClr val="18100F"/>
                </a:solidFill>
                <a:latin typeface="Arial MT"/>
                <a:cs typeface="Arial MT"/>
              </a:rPr>
              <a:t>pursuing</a:t>
            </a:r>
            <a:r>
              <a:rPr sz="2800" spc="65">
                <a:solidFill>
                  <a:srgbClr val="18100F"/>
                </a:solidFill>
                <a:latin typeface="Arial MT"/>
                <a:cs typeface="Arial MT"/>
              </a:rPr>
              <a:t>  </a:t>
            </a:r>
            <a:r>
              <a:rPr sz="2800">
                <a:solidFill>
                  <a:srgbClr val="18100F"/>
                </a:solidFill>
                <a:latin typeface="Arial MT"/>
                <a:cs typeface="Arial MT"/>
              </a:rPr>
              <a:t>computer</a:t>
            </a:r>
            <a:r>
              <a:rPr sz="2800" spc="65">
                <a:solidFill>
                  <a:srgbClr val="18100F"/>
                </a:solidFill>
                <a:latin typeface="Arial MT"/>
                <a:cs typeface="Arial MT"/>
              </a:rPr>
              <a:t>  </a:t>
            </a:r>
            <a:r>
              <a:rPr sz="2800" spc="-10">
                <a:solidFill>
                  <a:srgbClr val="18100F"/>
                </a:solidFill>
                <a:latin typeface="Arial MT"/>
                <a:cs typeface="Arial MT"/>
              </a:rPr>
              <a:t>education </a:t>
            </a:r>
            <a:r>
              <a:rPr sz="2800">
                <a:solidFill>
                  <a:srgbClr val="18100F"/>
                </a:solidFill>
                <a:latin typeface="Arial MT"/>
                <a:cs typeface="Arial MT"/>
              </a:rPr>
              <a:t>through</a:t>
            </a:r>
            <a:r>
              <a:rPr sz="2800" spc="555">
                <a:solidFill>
                  <a:srgbClr val="18100F"/>
                </a:solidFill>
                <a:latin typeface="Arial MT"/>
                <a:cs typeface="Arial MT"/>
              </a:rPr>
              <a:t>   </a:t>
            </a:r>
            <a:r>
              <a:rPr sz="2800">
                <a:solidFill>
                  <a:srgbClr val="18100F"/>
                </a:solidFill>
                <a:latin typeface="Arial MT"/>
                <a:cs typeface="Arial MT"/>
              </a:rPr>
              <a:t>innovative</a:t>
            </a:r>
            <a:r>
              <a:rPr sz="2800" spc="555">
                <a:solidFill>
                  <a:srgbClr val="18100F"/>
                </a:solidFill>
                <a:latin typeface="Arial MT"/>
                <a:cs typeface="Arial MT"/>
              </a:rPr>
              <a:t>   </a:t>
            </a:r>
            <a:r>
              <a:rPr sz="2800">
                <a:solidFill>
                  <a:srgbClr val="18100F"/>
                </a:solidFill>
                <a:latin typeface="Arial MT"/>
                <a:cs typeface="Arial MT"/>
              </a:rPr>
              <a:t>pedagogy,</a:t>
            </a:r>
            <a:r>
              <a:rPr sz="2800" spc="555">
                <a:solidFill>
                  <a:srgbClr val="18100F"/>
                </a:solidFill>
                <a:latin typeface="Arial MT"/>
                <a:cs typeface="Arial MT"/>
              </a:rPr>
              <a:t>   </a:t>
            </a:r>
            <a:r>
              <a:rPr sz="2800" spc="-25">
                <a:solidFill>
                  <a:srgbClr val="18100F"/>
                </a:solidFill>
                <a:latin typeface="Arial MT"/>
                <a:cs typeface="Arial MT"/>
              </a:rPr>
              <a:t>value-</a:t>
            </a:r>
            <a:r>
              <a:rPr sz="2800">
                <a:solidFill>
                  <a:srgbClr val="18100F"/>
                </a:solidFill>
                <a:latin typeface="Arial MT"/>
                <a:cs typeface="Arial MT"/>
              </a:rPr>
              <a:t>based</a:t>
            </a:r>
            <a:r>
              <a:rPr sz="2800" spc="-40">
                <a:solidFill>
                  <a:srgbClr val="18100F"/>
                </a:solidFill>
                <a:latin typeface="Arial MT"/>
                <a:cs typeface="Arial MT"/>
              </a:rPr>
              <a:t> </a:t>
            </a:r>
            <a:r>
              <a:rPr sz="2800">
                <a:solidFill>
                  <a:srgbClr val="18100F"/>
                </a:solidFill>
                <a:latin typeface="Arial MT"/>
                <a:cs typeface="Arial MT"/>
              </a:rPr>
              <a:t>education</a:t>
            </a:r>
            <a:r>
              <a:rPr sz="2800" spc="-40">
                <a:solidFill>
                  <a:srgbClr val="18100F"/>
                </a:solidFill>
                <a:latin typeface="Arial MT"/>
                <a:cs typeface="Arial MT"/>
              </a:rPr>
              <a:t> </a:t>
            </a:r>
            <a:r>
              <a:rPr sz="2800" spc="-25">
                <a:solidFill>
                  <a:srgbClr val="18100F"/>
                </a:solidFill>
                <a:latin typeface="Arial MT"/>
                <a:cs typeface="Arial MT"/>
              </a:rPr>
              <a:t>and </a:t>
            </a:r>
            <a:r>
              <a:rPr sz="2800">
                <a:solidFill>
                  <a:srgbClr val="18100F"/>
                </a:solidFill>
                <a:latin typeface="Arial MT"/>
                <a:cs typeface="Arial MT"/>
              </a:rPr>
              <a:t>industry</a:t>
            </a:r>
            <a:r>
              <a:rPr sz="2800" spc="-105">
                <a:solidFill>
                  <a:srgbClr val="18100F"/>
                </a:solidFill>
                <a:latin typeface="Arial MT"/>
                <a:cs typeface="Arial MT"/>
              </a:rPr>
              <a:t> </a:t>
            </a:r>
            <a:r>
              <a:rPr sz="2800" spc="-10">
                <a:solidFill>
                  <a:srgbClr val="18100F"/>
                </a:solidFill>
                <a:latin typeface="Arial MT"/>
                <a:cs typeface="Arial MT"/>
              </a:rPr>
              <a:t>collaboration.</a:t>
            </a:r>
            <a:endParaRPr sz="2800">
              <a:latin typeface="Arial MT"/>
              <a:cs typeface="Arial MT"/>
            </a:endParaRPr>
          </a:p>
          <a:p>
            <a:pPr algn="ctr">
              <a:lnSpc>
                <a:spcPct val="100000"/>
              </a:lnSpc>
              <a:spcBef>
                <a:spcPts val="350"/>
              </a:spcBef>
            </a:pPr>
            <a:r>
              <a:rPr sz="2800" b="1" spc="-10">
                <a:latin typeface="Arial"/>
                <a:cs typeface="Arial"/>
              </a:rPr>
              <a:t>Mission</a:t>
            </a:r>
            <a:endParaRPr sz="2800">
              <a:latin typeface="Arial"/>
              <a:cs typeface="Arial"/>
            </a:endParaRPr>
          </a:p>
          <a:p>
            <a:pPr marL="12700" marR="5080" algn="just">
              <a:lnSpc>
                <a:spcPct val="80000"/>
              </a:lnSpc>
              <a:spcBef>
                <a:spcPts val="1000"/>
              </a:spcBef>
            </a:pPr>
            <a:r>
              <a:rPr sz="2800">
                <a:solidFill>
                  <a:srgbClr val="18100F"/>
                </a:solidFill>
                <a:latin typeface="Arial MT"/>
                <a:cs typeface="Arial MT"/>
              </a:rPr>
              <a:t>To</a:t>
            </a:r>
            <a:r>
              <a:rPr sz="2800" spc="-40">
                <a:solidFill>
                  <a:srgbClr val="18100F"/>
                </a:solidFill>
                <a:latin typeface="Arial MT"/>
                <a:cs typeface="Arial MT"/>
              </a:rPr>
              <a:t> </a:t>
            </a:r>
            <a:r>
              <a:rPr sz="2800">
                <a:solidFill>
                  <a:srgbClr val="18100F"/>
                </a:solidFill>
                <a:latin typeface="Arial MT"/>
                <a:cs typeface="Arial MT"/>
              </a:rPr>
              <a:t>establish</a:t>
            </a:r>
            <a:r>
              <a:rPr sz="2800" spc="-35">
                <a:solidFill>
                  <a:srgbClr val="18100F"/>
                </a:solidFill>
                <a:latin typeface="Arial MT"/>
                <a:cs typeface="Arial MT"/>
              </a:rPr>
              <a:t> </a:t>
            </a:r>
            <a:r>
              <a:rPr sz="2800">
                <a:solidFill>
                  <a:srgbClr val="18100F"/>
                </a:solidFill>
                <a:latin typeface="Arial MT"/>
                <a:cs typeface="Arial MT"/>
              </a:rPr>
              <a:t>learning</a:t>
            </a:r>
            <a:r>
              <a:rPr sz="2800" spc="215">
                <a:solidFill>
                  <a:srgbClr val="18100F"/>
                </a:solidFill>
                <a:latin typeface="Arial MT"/>
                <a:cs typeface="Arial MT"/>
              </a:rPr>
              <a:t>   </a:t>
            </a:r>
            <a:r>
              <a:rPr sz="2800">
                <a:solidFill>
                  <a:srgbClr val="18100F"/>
                </a:solidFill>
                <a:latin typeface="Arial MT"/>
                <a:cs typeface="Arial MT"/>
              </a:rPr>
              <a:t>ambience</a:t>
            </a:r>
            <a:r>
              <a:rPr sz="2800" spc="220">
                <a:solidFill>
                  <a:srgbClr val="18100F"/>
                </a:solidFill>
                <a:latin typeface="Arial MT"/>
                <a:cs typeface="Arial MT"/>
              </a:rPr>
              <a:t>   </a:t>
            </a:r>
            <a:r>
              <a:rPr sz="2800">
                <a:solidFill>
                  <a:srgbClr val="18100F"/>
                </a:solidFill>
                <a:latin typeface="Arial MT"/>
                <a:cs typeface="Arial MT"/>
              </a:rPr>
              <a:t>for</a:t>
            </a:r>
            <a:r>
              <a:rPr sz="2800" spc="220">
                <a:solidFill>
                  <a:srgbClr val="18100F"/>
                </a:solidFill>
                <a:latin typeface="Arial MT"/>
                <a:cs typeface="Arial MT"/>
              </a:rPr>
              <a:t>   </a:t>
            </a:r>
            <a:r>
              <a:rPr sz="2800">
                <a:solidFill>
                  <a:srgbClr val="18100F"/>
                </a:solidFill>
                <a:latin typeface="Arial MT"/>
                <a:cs typeface="Arial MT"/>
              </a:rPr>
              <a:t>ushering</a:t>
            </a:r>
            <a:r>
              <a:rPr sz="2800" spc="220">
                <a:solidFill>
                  <a:srgbClr val="18100F"/>
                </a:solidFill>
                <a:latin typeface="Arial MT"/>
                <a:cs typeface="Arial MT"/>
              </a:rPr>
              <a:t>   </a:t>
            </a:r>
            <a:r>
              <a:rPr sz="2800">
                <a:solidFill>
                  <a:srgbClr val="18100F"/>
                </a:solidFill>
                <a:latin typeface="Arial MT"/>
                <a:cs typeface="Arial MT"/>
              </a:rPr>
              <a:t>in</a:t>
            </a:r>
            <a:r>
              <a:rPr sz="2800" spc="220">
                <a:solidFill>
                  <a:srgbClr val="18100F"/>
                </a:solidFill>
                <a:latin typeface="Arial MT"/>
                <a:cs typeface="Arial MT"/>
              </a:rPr>
              <a:t>   </a:t>
            </a:r>
            <a:r>
              <a:rPr sz="2800" spc="-10">
                <a:solidFill>
                  <a:srgbClr val="18100F"/>
                </a:solidFill>
                <a:latin typeface="Arial MT"/>
                <a:cs typeface="Arial MT"/>
              </a:rPr>
              <a:t>computer </a:t>
            </a:r>
            <a:r>
              <a:rPr sz="2800">
                <a:solidFill>
                  <a:srgbClr val="18100F"/>
                </a:solidFill>
                <a:latin typeface="Arial MT"/>
                <a:cs typeface="Arial MT"/>
              </a:rPr>
              <a:t>engineering</a:t>
            </a:r>
            <a:r>
              <a:rPr sz="2800" spc="260">
                <a:solidFill>
                  <a:srgbClr val="18100F"/>
                </a:solidFill>
                <a:latin typeface="Arial MT"/>
                <a:cs typeface="Arial MT"/>
              </a:rPr>
              <a:t> </a:t>
            </a:r>
            <a:r>
              <a:rPr sz="2800">
                <a:solidFill>
                  <a:srgbClr val="18100F"/>
                </a:solidFill>
                <a:latin typeface="Arial MT"/>
                <a:cs typeface="Arial MT"/>
              </a:rPr>
              <a:t>professionals</a:t>
            </a:r>
            <a:r>
              <a:rPr sz="2800" spc="265">
                <a:solidFill>
                  <a:srgbClr val="18100F"/>
                </a:solidFill>
                <a:latin typeface="Arial MT"/>
                <a:cs typeface="Arial MT"/>
              </a:rPr>
              <a:t> </a:t>
            </a:r>
            <a:r>
              <a:rPr sz="2800">
                <a:solidFill>
                  <a:srgbClr val="18100F"/>
                </a:solidFill>
                <a:latin typeface="Arial MT"/>
                <a:cs typeface="Arial MT"/>
              </a:rPr>
              <a:t>in</a:t>
            </a:r>
            <a:r>
              <a:rPr sz="2800" spc="265">
                <a:solidFill>
                  <a:srgbClr val="18100F"/>
                </a:solidFill>
                <a:latin typeface="Arial MT"/>
                <a:cs typeface="Arial MT"/>
              </a:rPr>
              <a:t> </a:t>
            </a:r>
            <a:r>
              <a:rPr sz="2800">
                <a:solidFill>
                  <a:srgbClr val="18100F"/>
                </a:solidFill>
                <a:latin typeface="Arial MT"/>
                <a:cs typeface="Arial MT"/>
              </a:rPr>
              <a:t>core</a:t>
            </a:r>
            <a:r>
              <a:rPr sz="2800" spc="265">
                <a:solidFill>
                  <a:srgbClr val="18100F"/>
                </a:solidFill>
                <a:latin typeface="Arial MT"/>
                <a:cs typeface="Arial MT"/>
              </a:rPr>
              <a:t> </a:t>
            </a:r>
            <a:r>
              <a:rPr sz="2800">
                <a:solidFill>
                  <a:srgbClr val="18100F"/>
                </a:solidFill>
                <a:latin typeface="Arial MT"/>
                <a:cs typeface="Arial MT"/>
              </a:rPr>
              <a:t>and</a:t>
            </a:r>
            <a:r>
              <a:rPr sz="2800" spc="265">
                <a:solidFill>
                  <a:srgbClr val="18100F"/>
                </a:solidFill>
                <a:latin typeface="Arial MT"/>
                <a:cs typeface="Arial MT"/>
              </a:rPr>
              <a:t> </a:t>
            </a:r>
            <a:r>
              <a:rPr sz="2800">
                <a:solidFill>
                  <a:srgbClr val="18100F"/>
                </a:solidFill>
                <a:latin typeface="Arial MT"/>
                <a:cs typeface="Arial MT"/>
              </a:rPr>
              <a:t>multidisciplinary</a:t>
            </a:r>
            <a:r>
              <a:rPr sz="2800" spc="265">
                <a:solidFill>
                  <a:srgbClr val="18100F"/>
                </a:solidFill>
                <a:latin typeface="Arial MT"/>
                <a:cs typeface="Arial MT"/>
              </a:rPr>
              <a:t> </a:t>
            </a:r>
            <a:r>
              <a:rPr sz="2800">
                <a:solidFill>
                  <a:srgbClr val="18100F"/>
                </a:solidFill>
                <a:latin typeface="Arial MT"/>
                <a:cs typeface="Arial MT"/>
              </a:rPr>
              <a:t>arena</a:t>
            </a:r>
            <a:r>
              <a:rPr sz="2800" spc="265">
                <a:solidFill>
                  <a:srgbClr val="18100F"/>
                </a:solidFill>
                <a:latin typeface="Arial MT"/>
                <a:cs typeface="Arial MT"/>
              </a:rPr>
              <a:t> </a:t>
            </a:r>
            <a:r>
              <a:rPr sz="2800" spc="-25">
                <a:solidFill>
                  <a:srgbClr val="18100F"/>
                </a:solidFill>
                <a:latin typeface="Arial MT"/>
                <a:cs typeface="Arial MT"/>
              </a:rPr>
              <a:t>by </a:t>
            </a:r>
            <a:r>
              <a:rPr sz="2800">
                <a:solidFill>
                  <a:srgbClr val="18100F"/>
                </a:solidFill>
                <a:latin typeface="Arial MT"/>
                <a:cs typeface="Arial MT"/>
              </a:rPr>
              <a:t>developing</a:t>
            </a:r>
            <a:r>
              <a:rPr sz="2800" spc="495">
                <a:solidFill>
                  <a:srgbClr val="18100F"/>
                </a:solidFill>
                <a:latin typeface="Arial MT"/>
                <a:cs typeface="Arial MT"/>
              </a:rPr>
              <a:t>    </a:t>
            </a:r>
            <a:r>
              <a:rPr sz="2800" spc="-25">
                <a:solidFill>
                  <a:srgbClr val="18100F"/>
                </a:solidFill>
                <a:latin typeface="Arial MT"/>
                <a:cs typeface="Arial MT"/>
              </a:rPr>
              <a:t>problem-</a:t>
            </a:r>
            <a:r>
              <a:rPr sz="2800">
                <a:solidFill>
                  <a:srgbClr val="18100F"/>
                </a:solidFill>
                <a:latin typeface="Arial MT"/>
                <a:cs typeface="Arial MT"/>
              </a:rPr>
              <a:t>solving</a:t>
            </a:r>
            <a:r>
              <a:rPr sz="2800" spc="500">
                <a:solidFill>
                  <a:srgbClr val="18100F"/>
                </a:solidFill>
                <a:latin typeface="Arial MT"/>
                <a:cs typeface="Arial MT"/>
              </a:rPr>
              <a:t>    </a:t>
            </a:r>
            <a:r>
              <a:rPr sz="2800">
                <a:solidFill>
                  <a:srgbClr val="18100F"/>
                </a:solidFill>
                <a:latin typeface="Arial MT"/>
                <a:cs typeface="Arial MT"/>
              </a:rPr>
              <a:t>skills</a:t>
            </a:r>
            <a:r>
              <a:rPr sz="2800" spc="495">
                <a:solidFill>
                  <a:srgbClr val="18100F"/>
                </a:solidFill>
                <a:latin typeface="Arial MT"/>
                <a:cs typeface="Arial MT"/>
              </a:rPr>
              <a:t>    </a:t>
            </a:r>
            <a:r>
              <a:rPr sz="2800">
                <a:solidFill>
                  <a:srgbClr val="18100F"/>
                </a:solidFill>
                <a:latin typeface="Arial MT"/>
                <a:cs typeface="Arial MT"/>
              </a:rPr>
              <a:t>through</a:t>
            </a:r>
            <a:r>
              <a:rPr sz="2800" spc="500">
                <a:solidFill>
                  <a:srgbClr val="18100F"/>
                </a:solidFill>
                <a:latin typeface="Arial MT"/>
                <a:cs typeface="Arial MT"/>
              </a:rPr>
              <a:t>    </a:t>
            </a:r>
            <a:r>
              <a:rPr sz="2800" spc="-10">
                <a:solidFill>
                  <a:srgbClr val="18100F"/>
                </a:solidFill>
                <a:latin typeface="Arial MT"/>
                <a:cs typeface="Arial MT"/>
              </a:rPr>
              <a:t>emerging technologies.</a:t>
            </a:r>
            <a:endParaRPr sz="28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135" y="38768"/>
            <a:ext cx="8620125" cy="1299845"/>
          </a:xfrm>
          <a:prstGeom prst="rect">
            <a:avLst/>
          </a:prstGeom>
        </p:spPr>
        <p:txBody>
          <a:bodyPr vert="horz" wrap="square" lIns="0" tIns="88900" rIns="0" bIns="0" rtlCol="0">
            <a:spAutoFit/>
          </a:bodyPr>
          <a:lstStyle/>
          <a:p>
            <a:pPr marL="12700" marR="5080">
              <a:lnSpc>
                <a:spcPts val="4750"/>
              </a:lnSpc>
              <a:spcBef>
                <a:spcPts val="700"/>
              </a:spcBef>
            </a:pPr>
            <a:r>
              <a:rPr sz="4400">
                <a:solidFill>
                  <a:srgbClr val="000000"/>
                </a:solidFill>
              </a:rPr>
              <a:t>Program</a:t>
            </a:r>
            <a:r>
              <a:rPr sz="4400" spc="-70">
                <a:solidFill>
                  <a:srgbClr val="000000"/>
                </a:solidFill>
              </a:rPr>
              <a:t> </a:t>
            </a:r>
            <a:r>
              <a:rPr sz="4400">
                <a:solidFill>
                  <a:srgbClr val="000000"/>
                </a:solidFill>
              </a:rPr>
              <a:t>Outcomes/Program</a:t>
            </a:r>
            <a:r>
              <a:rPr sz="4400" spc="-55">
                <a:solidFill>
                  <a:srgbClr val="000000"/>
                </a:solidFill>
              </a:rPr>
              <a:t> </a:t>
            </a:r>
            <a:r>
              <a:rPr sz="4400" spc="-10">
                <a:solidFill>
                  <a:srgbClr val="000000"/>
                </a:solidFill>
              </a:rPr>
              <a:t>Specific Outcomes</a:t>
            </a:r>
            <a:endParaRPr sz="4400"/>
          </a:p>
        </p:txBody>
      </p:sp>
      <p:sp>
        <p:nvSpPr>
          <p:cNvPr id="3" name="object 3"/>
          <p:cNvSpPr txBox="1"/>
          <p:nvPr/>
        </p:nvSpPr>
        <p:spPr>
          <a:xfrm>
            <a:off x="551005" y="1335615"/>
            <a:ext cx="11263630" cy="5358765"/>
          </a:xfrm>
          <a:prstGeom prst="rect">
            <a:avLst/>
          </a:prstGeom>
        </p:spPr>
        <p:txBody>
          <a:bodyPr vert="horz" wrap="square" lIns="0" tIns="112395" rIns="0" bIns="0" rtlCol="0">
            <a:spAutoFit/>
          </a:bodyPr>
          <a:lstStyle/>
          <a:p>
            <a:pPr marL="12700">
              <a:lnSpc>
                <a:spcPct val="100000"/>
              </a:lnSpc>
              <a:spcBef>
                <a:spcPts val="885"/>
              </a:spcBef>
            </a:pPr>
            <a:r>
              <a:rPr sz="1800">
                <a:latin typeface="Calibri"/>
                <a:cs typeface="Calibri"/>
              </a:rPr>
              <a:t>At</a:t>
            </a:r>
            <a:r>
              <a:rPr sz="1800" spc="-30">
                <a:latin typeface="Calibri"/>
                <a:cs typeface="Calibri"/>
              </a:rPr>
              <a:t> </a:t>
            </a:r>
            <a:r>
              <a:rPr sz="1800">
                <a:latin typeface="Calibri"/>
                <a:cs typeface="Calibri"/>
              </a:rPr>
              <a:t>the</a:t>
            </a:r>
            <a:r>
              <a:rPr sz="1800" spc="-30">
                <a:latin typeface="Calibri"/>
                <a:cs typeface="Calibri"/>
              </a:rPr>
              <a:t> </a:t>
            </a:r>
            <a:r>
              <a:rPr sz="1800">
                <a:latin typeface="Calibri"/>
                <a:cs typeface="Calibri"/>
              </a:rPr>
              <a:t>end</a:t>
            </a:r>
            <a:r>
              <a:rPr sz="1800" spc="-30">
                <a:latin typeface="Calibri"/>
                <a:cs typeface="Calibri"/>
              </a:rPr>
              <a:t> </a:t>
            </a:r>
            <a:r>
              <a:rPr sz="1800">
                <a:latin typeface="Calibri"/>
                <a:cs typeface="Calibri"/>
              </a:rPr>
              <a:t>of</a:t>
            </a:r>
            <a:r>
              <a:rPr sz="1800" spc="-25">
                <a:latin typeface="Calibri"/>
                <a:cs typeface="Calibri"/>
              </a:rPr>
              <a:t> </a:t>
            </a:r>
            <a:r>
              <a:rPr sz="1800">
                <a:latin typeface="Calibri"/>
                <a:cs typeface="Calibri"/>
              </a:rPr>
              <a:t>Program,</a:t>
            </a:r>
            <a:r>
              <a:rPr sz="1800" spc="-30">
                <a:latin typeface="Calibri"/>
                <a:cs typeface="Calibri"/>
              </a:rPr>
              <a:t> </a:t>
            </a:r>
            <a:r>
              <a:rPr sz="1800" spc="-10">
                <a:latin typeface="Calibri"/>
                <a:cs typeface="Calibri"/>
              </a:rPr>
              <a:t>Graduate</a:t>
            </a:r>
            <a:r>
              <a:rPr sz="1800" spc="-30">
                <a:latin typeface="Calibri"/>
                <a:cs typeface="Calibri"/>
              </a:rPr>
              <a:t> </a:t>
            </a:r>
            <a:r>
              <a:rPr sz="1800" spc="-10">
                <a:latin typeface="Calibri"/>
                <a:cs typeface="Calibri"/>
              </a:rPr>
              <a:t>students</a:t>
            </a:r>
            <a:r>
              <a:rPr sz="1800" spc="-30">
                <a:latin typeface="Calibri"/>
                <a:cs typeface="Calibri"/>
              </a:rPr>
              <a:t> </a:t>
            </a:r>
            <a:r>
              <a:rPr sz="1800">
                <a:latin typeface="Calibri"/>
                <a:cs typeface="Calibri"/>
              </a:rPr>
              <a:t>will</a:t>
            </a:r>
            <a:r>
              <a:rPr sz="1800" spc="-25">
                <a:latin typeface="Calibri"/>
                <a:cs typeface="Calibri"/>
              </a:rPr>
              <a:t> </a:t>
            </a:r>
            <a:r>
              <a:rPr sz="1800" spc="-20">
                <a:latin typeface="Calibri"/>
                <a:cs typeface="Calibri"/>
              </a:rPr>
              <a:t>have</a:t>
            </a:r>
            <a:endParaRPr sz="1800">
              <a:latin typeface="Calibri"/>
              <a:cs typeface="Calibri"/>
            </a:endParaRPr>
          </a:p>
          <a:p>
            <a:pPr marL="240029" marR="145415" indent="-193675">
              <a:lnSpc>
                <a:spcPts val="1939"/>
              </a:lnSpc>
              <a:spcBef>
                <a:spcPts val="1030"/>
              </a:spcBef>
              <a:buFont typeface="Arial MT"/>
              <a:buChar char="•"/>
              <a:tabLst>
                <a:tab pos="241300" algn="l"/>
              </a:tabLst>
            </a:pPr>
            <a:r>
              <a:rPr sz="1800">
                <a:latin typeface="Calibri"/>
                <a:cs typeface="Calibri"/>
              </a:rPr>
              <a:t>PO1:</a:t>
            </a:r>
            <a:r>
              <a:rPr sz="1800" spc="-50">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Knowledge:</a:t>
            </a:r>
            <a:r>
              <a:rPr sz="1800" spc="-50">
                <a:latin typeface="Calibri"/>
                <a:cs typeface="Calibri"/>
              </a:rPr>
              <a:t> </a:t>
            </a:r>
            <a:r>
              <a:rPr sz="1800">
                <a:latin typeface="Calibri"/>
                <a:cs typeface="Calibri"/>
              </a:rPr>
              <a:t>Apply</a:t>
            </a:r>
            <a:r>
              <a:rPr sz="1800" spc="-50">
                <a:latin typeface="Calibri"/>
                <a:cs typeface="Calibri"/>
              </a:rPr>
              <a:t> </a:t>
            </a:r>
            <a:r>
              <a:rPr sz="1800" spc="-10">
                <a:latin typeface="Calibri"/>
                <a:cs typeface="Calibri"/>
              </a:rPr>
              <a:t>knowledge</a:t>
            </a:r>
            <a:r>
              <a:rPr sz="1800" spc="-50">
                <a:latin typeface="Calibri"/>
                <a:cs typeface="Calibri"/>
              </a:rPr>
              <a:t> </a:t>
            </a:r>
            <a:r>
              <a:rPr sz="1800">
                <a:latin typeface="Calibri"/>
                <a:cs typeface="Calibri"/>
              </a:rPr>
              <a:t>of</a:t>
            </a:r>
            <a:r>
              <a:rPr sz="1800" spc="-50">
                <a:latin typeface="Calibri"/>
                <a:cs typeface="Calibri"/>
              </a:rPr>
              <a:t> </a:t>
            </a:r>
            <a:r>
              <a:rPr sz="1800">
                <a:latin typeface="Calibri"/>
                <a:cs typeface="Calibri"/>
              </a:rPr>
              <a:t>mathematics,</a:t>
            </a:r>
            <a:r>
              <a:rPr sz="1800" spc="-50">
                <a:latin typeface="Calibri"/>
                <a:cs typeface="Calibri"/>
              </a:rPr>
              <a:t> </a:t>
            </a:r>
            <a:r>
              <a:rPr sz="1800">
                <a:latin typeface="Calibri"/>
                <a:cs typeface="Calibri"/>
              </a:rPr>
              <a:t>natural</a:t>
            </a:r>
            <a:r>
              <a:rPr sz="1800" spc="-50">
                <a:latin typeface="Calibri"/>
                <a:cs typeface="Calibri"/>
              </a:rPr>
              <a:t> </a:t>
            </a:r>
            <a:r>
              <a:rPr sz="1800">
                <a:latin typeface="Calibri"/>
                <a:cs typeface="Calibri"/>
              </a:rPr>
              <a:t>science,</a:t>
            </a:r>
            <a:r>
              <a:rPr sz="1800" spc="-45">
                <a:latin typeface="Calibri"/>
                <a:cs typeface="Calibri"/>
              </a:rPr>
              <a:t> </a:t>
            </a:r>
            <a:r>
              <a:rPr sz="1800" spc="-10">
                <a:latin typeface="Calibri"/>
                <a:cs typeface="Calibri"/>
              </a:rPr>
              <a:t>computing,</a:t>
            </a:r>
            <a:r>
              <a:rPr sz="1800" spc="-50">
                <a:latin typeface="Calibri"/>
                <a:cs typeface="Calibri"/>
              </a:rPr>
              <a:t> </a:t>
            </a:r>
            <a:r>
              <a:rPr sz="1800" spc="-10">
                <a:latin typeface="Calibri"/>
                <a:cs typeface="Calibri"/>
              </a:rPr>
              <a:t>engineering 	fundamentals</a:t>
            </a:r>
            <a:r>
              <a:rPr sz="1800" spc="-40">
                <a:latin typeface="Calibri"/>
                <a:cs typeface="Calibri"/>
              </a:rPr>
              <a:t> </a:t>
            </a:r>
            <a:r>
              <a:rPr sz="1800">
                <a:latin typeface="Calibri"/>
                <a:cs typeface="Calibri"/>
              </a:rPr>
              <a:t>and</a:t>
            </a:r>
            <a:r>
              <a:rPr sz="1800" spc="-35">
                <a:latin typeface="Calibri"/>
                <a:cs typeface="Calibri"/>
              </a:rPr>
              <a:t> </a:t>
            </a:r>
            <a:r>
              <a:rPr sz="1800">
                <a:latin typeface="Calibri"/>
                <a:cs typeface="Calibri"/>
              </a:rPr>
              <a:t>an</a:t>
            </a:r>
            <a:r>
              <a:rPr sz="1800" spc="-35">
                <a:latin typeface="Calibri"/>
                <a:cs typeface="Calibri"/>
              </a:rPr>
              <a:t> </a:t>
            </a:r>
            <a:r>
              <a:rPr sz="1800" spc="-10">
                <a:latin typeface="Calibri"/>
                <a:cs typeface="Calibri"/>
              </a:rPr>
              <a:t>engineering</a:t>
            </a:r>
            <a:r>
              <a:rPr sz="1800" spc="-35">
                <a:latin typeface="Calibri"/>
                <a:cs typeface="Calibri"/>
              </a:rPr>
              <a:t> </a:t>
            </a:r>
            <a:r>
              <a:rPr sz="1800" spc="-10">
                <a:latin typeface="Calibri"/>
                <a:cs typeface="Calibri"/>
              </a:rPr>
              <a:t>specialization</a:t>
            </a:r>
            <a:r>
              <a:rPr sz="1800" spc="-40">
                <a:latin typeface="Calibri"/>
                <a:cs typeface="Calibri"/>
              </a:rPr>
              <a:t> </a:t>
            </a:r>
            <a:r>
              <a:rPr sz="1800">
                <a:latin typeface="Calibri"/>
                <a:cs typeface="Calibri"/>
              </a:rPr>
              <a:t>as</a:t>
            </a:r>
            <a:r>
              <a:rPr sz="1800" spc="-35">
                <a:latin typeface="Calibri"/>
                <a:cs typeface="Calibri"/>
              </a:rPr>
              <a:t> </a:t>
            </a:r>
            <a:r>
              <a:rPr sz="1800" spc="-10">
                <a:latin typeface="Calibri"/>
                <a:cs typeface="Calibri"/>
              </a:rPr>
              <a:t>specified</a:t>
            </a:r>
            <a:r>
              <a:rPr sz="1800" spc="-35">
                <a:latin typeface="Calibri"/>
                <a:cs typeface="Calibri"/>
              </a:rPr>
              <a:t> </a:t>
            </a:r>
            <a:r>
              <a:rPr sz="1800">
                <a:latin typeface="Calibri"/>
                <a:cs typeface="Calibri"/>
              </a:rPr>
              <a:t>in</a:t>
            </a:r>
            <a:r>
              <a:rPr sz="1800" spc="-40">
                <a:latin typeface="Calibri"/>
                <a:cs typeface="Calibri"/>
              </a:rPr>
              <a:t> </a:t>
            </a:r>
            <a:r>
              <a:rPr sz="1800">
                <a:latin typeface="Calibri"/>
                <a:cs typeface="Calibri"/>
              </a:rPr>
              <a:t>WK1</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WK4</a:t>
            </a:r>
            <a:r>
              <a:rPr sz="1800" spc="-35">
                <a:latin typeface="Calibri"/>
                <a:cs typeface="Calibri"/>
              </a:rPr>
              <a:t> </a:t>
            </a:r>
            <a:r>
              <a:rPr sz="1800" spc="-10">
                <a:latin typeface="Calibri"/>
                <a:cs typeface="Calibri"/>
              </a:rPr>
              <a:t>respectively</a:t>
            </a:r>
            <a:r>
              <a:rPr sz="1800" spc="-40">
                <a:latin typeface="Calibri"/>
                <a:cs typeface="Calibri"/>
              </a:rPr>
              <a:t> </a:t>
            </a:r>
            <a:r>
              <a:rPr sz="1800">
                <a:latin typeface="Calibri"/>
                <a:cs typeface="Calibri"/>
              </a:rPr>
              <a:t>to</a:t>
            </a:r>
            <a:r>
              <a:rPr sz="1800" spc="-35">
                <a:latin typeface="Calibri"/>
                <a:cs typeface="Calibri"/>
              </a:rPr>
              <a:t> </a:t>
            </a:r>
            <a:r>
              <a:rPr sz="1800">
                <a:latin typeface="Calibri"/>
                <a:cs typeface="Calibri"/>
              </a:rPr>
              <a:t>develop</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the</a:t>
            </a:r>
            <a:r>
              <a:rPr sz="1800" spc="-40">
                <a:latin typeface="Calibri"/>
                <a:cs typeface="Calibri"/>
              </a:rPr>
              <a:t> </a:t>
            </a:r>
            <a:r>
              <a:rPr sz="1800">
                <a:latin typeface="Calibri"/>
                <a:cs typeface="Calibri"/>
              </a:rPr>
              <a:t>solution</a:t>
            </a:r>
            <a:r>
              <a:rPr sz="1800" spc="-35">
                <a:latin typeface="Calibri"/>
                <a:cs typeface="Calibri"/>
              </a:rPr>
              <a:t> </a:t>
            </a:r>
            <a:r>
              <a:rPr sz="1800" spc="-25">
                <a:latin typeface="Calibri"/>
                <a:cs typeface="Calibri"/>
              </a:rPr>
              <a:t>of 	</a:t>
            </a:r>
            <a:r>
              <a:rPr sz="1800">
                <a:latin typeface="Calibri"/>
                <a:cs typeface="Calibri"/>
              </a:rPr>
              <a:t>complex</a:t>
            </a:r>
            <a:r>
              <a:rPr sz="1800" spc="-65">
                <a:latin typeface="Calibri"/>
                <a:cs typeface="Calibri"/>
              </a:rPr>
              <a:t> </a:t>
            </a:r>
            <a:r>
              <a:rPr sz="1800" spc="-10">
                <a:latin typeface="Calibri"/>
                <a:cs typeface="Calibri"/>
              </a:rPr>
              <a:t>engineering</a:t>
            </a:r>
            <a:r>
              <a:rPr sz="1800" spc="-65">
                <a:latin typeface="Calibri"/>
                <a:cs typeface="Calibri"/>
              </a:rPr>
              <a:t> </a:t>
            </a:r>
            <a:r>
              <a:rPr sz="1800" spc="-10">
                <a:latin typeface="Calibri"/>
                <a:cs typeface="Calibri"/>
              </a:rPr>
              <a:t>problems.</a:t>
            </a:r>
            <a:endParaRPr sz="1800">
              <a:latin typeface="Calibri"/>
              <a:cs typeface="Calibri"/>
            </a:endParaRPr>
          </a:p>
          <a:p>
            <a:pPr marL="240029" marR="491490" indent="-193675">
              <a:lnSpc>
                <a:spcPts val="1939"/>
              </a:lnSpc>
              <a:spcBef>
                <a:spcPts val="1010"/>
              </a:spcBef>
              <a:buFont typeface="Arial MT"/>
              <a:buChar char="•"/>
              <a:tabLst>
                <a:tab pos="241300" algn="l"/>
              </a:tabLst>
            </a:pPr>
            <a:r>
              <a:rPr sz="1800">
                <a:latin typeface="Calibri"/>
                <a:cs typeface="Calibri"/>
              </a:rPr>
              <a:t>PO2:</a:t>
            </a:r>
            <a:r>
              <a:rPr sz="1800" spc="-50">
                <a:latin typeface="Calibri"/>
                <a:cs typeface="Calibri"/>
              </a:rPr>
              <a:t> </a:t>
            </a:r>
            <a:r>
              <a:rPr sz="1800">
                <a:latin typeface="Calibri"/>
                <a:cs typeface="Calibri"/>
              </a:rPr>
              <a:t>Problem</a:t>
            </a:r>
            <a:r>
              <a:rPr sz="1800" spc="-50">
                <a:latin typeface="Calibri"/>
                <a:cs typeface="Calibri"/>
              </a:rPr>
              <a:t> </a:t>
            </a:r>
            <a:r>
              <a:rPr sz="1800">
                <a:latin typeface="Calibri"/>
                <a:cs typeface="Calibri"/>
              </a:rPr>
              <a:t>Analysis:</a:t>
            </a:r>
            <a:r>
              <a:rPr sz="1800" spc="-50">
                <a:latin typeface="Calibri"/>
                <a:cs typeface="Calibri"/>
              </a:rPr>
              <a:t> </a:t>
            </a:r>
            <a:r>
              <a:rPr sz="1800" spc="-10">
                <a:latin typeface="Calibri"/>
                <a:cs typeface="Calibri"/>
              </a:rPr>
              <a:t>Identify,</a:t>
            </a:r>
            <a:r>
              <a:rPr sz="1800" spc="-50">
                <a:latin typeface="Calibri"/>
                <a:cs typeface="Calibri"/>
              </a:rPr>
              <a:t> </a:t>
            </a:r>
            <a:r>
              <a:rPr sz="1800" spc="-10">
                <a:latin typeface="Calibri"/>
                <a:cs typeface="Calibri"/>
              </a:rPr>
              <a:t>formulate,</a:t>
            </a:r>
            <a:r>
              <a:rPr sz="1800" spc="-50">
                <a:latin typeface="Calibri"/>
                <a:cs typeface="Calibri"/>
              </a:rPr>
              <a:t> </a:t>
            </a:r>
            <a:r>
              <a:rPr sz="1800">
                <a:latin typeface="Calibri"/>
                <a:cs typeface="Calibri"/>
              </a:rPr>
              <a:t>review</a:t>
            </a:r>
            <a:r>
              <a:rPr sz="1800" spc="-45">
                <a:latin typeface="Calibri"/>
                <a:cs typeface="Calibri"/>
              </a:rPr>
              <a:t> </a:t>
            </a:r>
            <a:r>
              <a:rPr sz="1800" spc="-10">
                <a:latin typeface="Calibri"/>
                <a:cs typeface="Calibri"/>
              </a:rPr>
              <a:t>research</a:t>
            </a:r>
            <a:r>
              <a:rPr sz="1800" spc="-50">
                <a:latin typeface="Calibri"/>
                <a:cs typeface="Calibri"/>
              </a:rPr>
              <a:t> </a:t>
            </a:r>
            <a:r>
              <a:rPr sz="1800" spc="-10">
                <a:latin typeface="Calibri"/>
                <a:cs typeface="Calibri"/>
              </a:rPr>
              <a:t>literature</a:t>
            </a:r>
            <a:r>
              <a:rPr sz="1800" spc="-50">
                <a:latin typeface="Calibri"/>
                <a:cs typeface="Calibri"/>
              </a:rPr>
              <a:t> </a:t>
            </a:r>
            <a:r>
              <a:rPr sz="1800">
                <a:latin typeface="Calibri"/>
                <a:cs typeface="Calibri"/>
              </a:rPr>
              <a:t>and</a:t>
            </a:r>
            <a:r>
              <a:rPr sz="1800" spc="-50">
                <a:latin typeface="Calibri"/>
                <a:cs typeface="Calibri"/>
              </a:rPr>
              <a:t> </a:t>
            </a:r>
            <a:r>
              <a:rPr sz="1800">
                <a:latin typeface="Calibri"/>
                <a:cs typeface="Calibri"/>
              </a:rPr>
              <a:t>analyze</a:t>
            </a:r>
            <a:r>
              <a:rPr sz="1800" spc="-50">
                <a:latin typeface="Calibri"/>
                <a:cs typeface="Calibri"/>
              </a:rPr>
              <a:t> </a:t>
            </a:r>
            <a:r>
              <a:rPr sz="1800">
                <a:latin typeface="Calibri"/>
                <a:cs typeface="Calibri"/>
              </a:rPr>
              <a:t>complex</a:t>
            </a:r>
            <a:r>
              <a:rPr sz="1800" spc="-45">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problems 	</a:t>
            </a:r>
            <a:r>
              <a:rPr sz="1800">
                <a:latin typeface="Calibri"/>
                <a:cs typeface="Calibri"/>
              </a:rPr>
              <a:t>reaching</a:t>
            </a:r>
            <a:r>
              <a:rPr sz="1800" spc="-45">
                <a:latin typeface="Calibri"/>
                <a:cs typeface="Calibri"/>
              </a:rPr>
              <a:t> </a:t>
            </a:r>
            <a:r>
              <a:rPr sz="1800" spc="-10">
                <a:latin typeface="Calibri"/>
                <a:cs typeface="Calibri"/>
              </a:rPr>
              <a:t>substantiated</a:t>
            </a:r>
            <a:r>
              <a:rPr sz="1800" spc="-40">
                <a:latin typeface="Calibri"/>
                <a:cs typeface="Calibri"/>
              </a:rPr>
              <a:t> </a:t>
            </a:r>
            <a:r>
              <a:rPr sz="1800" spc="-10">
                <a:latin typeface="Calibri"/>
                <a:cs typeface="Calibri"/>
              </a:rPr>
              <a:t>conclusions</a:t>
            </a:r>
            <a:r>
              <a:rPr sz="1800" spc="-40">
                <a:latin typeface="Calibri"/>
                <a:cs typeface="Calibri"/>
              </a:rPr>
              <a:t> </a:t>
            </a:r>
            <a:r>
              <a:rPr sz="1800">
                <a:latin typeface="Calibri"/>
                <a:cs typeface="Calibri"/>
              </a:rPr>
              <a:t>with</a:t>
            </a:r>
            <a:r>
              <a:rPr sz="1800" spc="-40">
                <a:latin typeface="Calibri"/>
                <a:cs typeface="Calibri"/>
              </a:rPr>
              <a:t> </a:t>
            </a:r>
            <a:r>
              <a:rPr sz="1800" spc="-10">
                <a:latin typeface="Calibri"/>
                <a:cs typeface="Calibri"/>
              </a:rPr>
              <a:t>consideration</a:t>
            </a:r>
            <a:r>
              <a:rPr sz="1800" spc="-45">
                <a:latin typeface="Calibri"/>
                <a:cs typeface="Calibri"/>
              </a:rPr>
              <a:t> </a:t>
            </a:r>
            <a:r>
              <a:rPr sz="1800">
                <a:latin typeface="Calibri"/>
                <a:cs typeface="Calibri"/>
              </a:rPr>
              <a:t>for</a:t>
            </a:r>
            <a:r>
              <a:rPr sz="1800" spc="-40">
                <a:latin typeface="Calibri"/>
                <a:cs typeface="Calibri"/>
              </a:rPr>
              <a:t> </a:t>
            </a:r>
            <a:r>
              <a:rPr sz="1800" spc="-10">
                <a:latin typeface="Calibri"/>
                <a:cs typeface="Calibri"/>
              </a:rPr>
              <a:t>sustainable</a:t>
            </a:r>
            <a:r>
              <a:rPr sz="1800" spc="-40">
                <a:latin typeface="Calibri"/>
                <a:cs typeface="Calibri"/>
              </a:rPr>
              <a:t> </a:t>
            </a:r>
            <a:r>
              <a:rPr sz="1800" spc="-10">
                <a:latin typeface="Calibri"/>
                <a:cs typeface="Calibri"/>
              </a:rPr>
              <a:t>development.</a:t>
            </a:r>
            <a:r>
              <a:rPr sz="1800" spc="-40">
                <a:latin typeface="Calibri"/>
                <a:cs typeface="Calibri"/>
              </a:rPr>
              <a:t> </a:t>
            </a:r>
            <a:r>
              <a:rPr sz="1800">
                <a:latin typeface="Calibri"/>
                <a:cs typeface="Calibri"/>
              </a:rPr>
              <a:t>(WK1</a:t>
            </a:r>
            <a:r>
              <a:rPr sz="1800" spc="-45">
                <a:latin typeface="Calibri"/>
                <a:cs typeface="Calibri"/>
              </a:rPr>
              <a:t> </a:t>
            </a:r>
            <a:r>
              <a:rPr sz="1800">
                <a:latin typeface="Calibri"/>
                <a:cs typeface="Calibri"/>
              </a:rPr>
              <a:t>to</a:t>
            </a:r>
            <a:r>
              <a:rPr sz="1800" spc="-40">
                <a:latin typeface="Calibri"/>
                <a:cs typeface="Calibri"/>
              </a:rPr>
              <a:t> </a:t>
            </a:r>
            <a:r>
              <a:rPr sz="1800" spc="-20">
                <a:latin typeface="Calibri"/>
                <a:cs typeface="Calibri"/>
              </a:rPr>
              <a:t>WK4)</a:t>
            </a:r>
            <a:endParaRPr sz="1800">
              <a:latin typeface="Calibri"/>
              <a:cs typeface="Calibri"/>
            </a:endParaRPr>
          </a:p>
          <a:p>
            <a:pPr marL="240029" marR="71120" indent="-193675">
              <a:lnSpc>
                <a:spcPts val="1939"/>
              </a:lnSpc>
              <a:spcBef>
                <a:spcPts val="1010"/>
              </a:spcBef>
              <a:buFont typeface="Arial MT"/>
              <a:buChar char="•"/>
              <a:tabLst>
                <a:tab pos="241300" algn="l"/>
              </a:tabLst>
            </a:pPr>
            <a:r>
              <a:rPr sz="1800">
                <a:latin typeface="Calibri"/>
                <a:cs typeface="Calibri"/>
              </a:rPr>
              <a:t>PO3:</a:t>
            </a:r>
            <a:r>
              <a:rPr sz="1800" spc="-50">
                <a:latin typeface="Calibri"/>
                <a:cs typeface="Calibri"/>
              </a:rPr>
              <a:t> </a:t>
            </a:r>
            <a:r>
              <a:rPr sz="1800" spc="-10">
                <a:latin typeface="Calibri"/>
                <a:cs typeface="Calibri"/>
              </a:rPr>
              <a:t>Design/Development</a:t>
            </a:r>
            <a:r>
              <a:rPr sz="1800" spc="-50">
                <a:latin typeface="Calibri"/>
                <a:cs typeface="Calibri"/>
              </a:rPr>
              <a:t> </a:t>
            </a:r>
            <a:r>
              <a:rPr sz="1800">
                <a:latin typeface="Calibri"/>
                <a:cs typeface="Calibri"/>
              </a:rPr>
              <a:t>of</a:t>
            </a:r>
            <a:r>
              <a:rPr sz="1800" spc="-45">
                <a:latin typeface="Calibri"/>
                <a:cs typeface="Calibri"/>
              </a:rPr>
              <a:t> </a:t>
            </a:r>
            <a:r>
              <a:rPr sz="1800" spc="-10">
                <a:latin typeface="Calibri"/>
                <a:cs typeface="Calibri"/>
              </a:rPr>
              <a:t>Solutions:</a:t>
            </a:r>
            <a:r>
              <a:rPr sz="1800" spc="-50">
                <a:latin typeface="Calibri"/>
                <a:cs typeface="Calibri"/>
              </a:rPr>
              <a:t> </a:t>
            </a:r>
            <a:r>
              <a:rPr sz="1800">
                <a:latin typeface="Calibri"/>
                <a:cs typeface="Calibri"/>
              </a:rPr>
              <a:t>Design</a:t>
            </a:r>
            <a:r>
              <a:rPr sz="1800" spc="-50">
                <a:latin typeface="Calibri"/>
                <a:cs typeface="Calibri"/>
              </a:rPr>
              <a:t> </a:t>
            </a:r>
            <a:r>
              <a:rPr sz="1800">
                <a:latin typeface="Calibri"/>
                <a:cs typeface="Calibri"/>
              </a:rPr>
              <a:t>creative</a:t>
            </a:r>
            <a:r>
              <a:rPr sz="1800" spc="-45">
                <a:latin typeface="Calibri"/>
                <a:cs typeface="Calibri"/>
              </a:rPr>
              <a:t> </a:t>
            </a:r>
            <a:r>
              <a:rPr sz="1800">
                <a:latin typeface="Calibri"/>
                <a:cs typeface="Calibri"/>
              </a:rPr>
              <a:t>solutions</a:t>
            </a:r>
            <a:r>
              <a:rPr sz="1800" spc="-50">
                <a:latin typeface="Calibri"/>
                <a:cs typeface="Calibri"/>
              </a:rPr>
              <a:t> </a:t>
            </a:r>
            <a:r>
              <a:rPr sz="1800">
                <a:latin typeface="Calibri"/>
                <a:cs typeface="Calibri"/>
              </a:rPr>
              <a:t>for</a:t>
            </a:r>
            <a:r>
              <a:rPr sz="1800" spc="-45">
                <a:latin typeface="Calibri"/>
                <a:cs typeface="Calibri"/>
              </a:rPr>
              <a:t> </a:t>
            </a:r>
            <a:r>
              <a:rPr sz="1800">
                <a:latin typeface="Calibri"/>
                <a:cs typeface="Calibri"/>
              </a:rPr>
              <a:t>complex</a:t>
            </a:r>
            <a:r>
              <a:rPr sz="1800" spc="-50">
                <a:latin typeface="Calibri"/>
                <a:cs typeface="Calibri"/>
              </a:rPr>
              <a:t> </a:t>
            </a:r>
            <a:r>
              <a:rPr sz="1800" spc="-10">
                <a:latin typeface="Calibri"/>
                <a:cs typeface="Calibri"/>
              </a:rPr>
              <a:t>engineering</a:t>
            </a:r>
            <a:r>
              <a:rPr sz="1800" spc="-50">
                <a:latin typeface="Calibri"/>
                <a:cs typeface="Calibri"/>
              </a:rPr>
              <a:t> </a:t>
            </a:r>
            <a:r>
              <a:rPr sz="1800" spc="-10">
                <a:latin typeface="Calibri"/>
                <a:cs typeface="Calibri"/>
              </a:rPr>
              <a:t>problems</a:t>
            </a:r>
            <a:r>
              <a:rPr sz="1800" spc="-45">
                <a:latin typeface="Calibri"/>
                <a:cs typeface="Calibri"/>
              </a:rPr>
              <a:t> </a:t>
            </a:r>
            <a:r>
              <a:rPr sz="1800" spc="-25">
                <a:latin typeface="Calibri"/>
                <a:cs typeface="Calibri"/>
              </a:rPr>
              <a:t>and 	</a:t>
            </a:r>
            <a:r>
              <a:rPr sz="1800" spc="-10">
                <a:latin typeface="Calibri"/>
                <a:cs typeface="Calibri"/>
              </a:rPr>
              <a:t>design/develop</a:t>
            </a:r>
            <a:r>
              <a:rPr sz="1800" spc="-30">
                <a:latin typeface="Calibri"/>
                <a:cs typeface="Calibri"/>
              </a:rPr>
              <a:t> </a:t>
            </a:r>
            <a:r>
              <a:rPr sz="1800" spc="-20">
                <a:latin typeface="Calibri"/>
                <a:cs typeface="Calibri"/>
              </a:rPr>
              <a:t>systems/components/processes</a:t>
            </a:r>
            <a:r>
              <a:rPr sz="1800" spc="-25">
                <a:latin typeface="Calibri"/>
                <a:cs typeface="Calibri"/>
              </a:rPr>
              <a:t> </a:t>
            </a:r>
            <a:r>
              <a:rPr sz="1800">
                <a:latin typeface="Calibri"/>
                <a:cs typeface="Calibri"/>
              </a:rPr>
              <a:t>to</a:t>
            </a:r>
            <a:r>
              <a:rPr sz="1800" spc="-25">
                <a:latin typeface="Calibri"/>
                <a:cs typeface="Calibri"/>
              </a:rPr>
              <a:t> </a:t>
            </a:r>
            <a:r>
              <a:rPr sz="1800">
                <a:latin typeface="Calibri"/>
                <a:cs typeface="Calibri"/>
              </a:rPr>
              <a:t>meet</a:t>
            </a:r>
            <a:r>
              <a:rPr sz="1800" spc="-25">
                <a:latin typeface="Calibri"/>
                <a:cs typeface="Calibri"/>
              </a:rPr>
              <a:t> </a:t>
            </a:r>
            <a:r>
              <a:rPr sz="1800" spc="-10">
                <a:latin typeface="Calibri"/>
                <a:cs typeface="Calibri"/>
              </a:rPr>
              <a:t>identified</a:t>
            </a:r>
            <a:r>
              <a:rPr sz="1800" spc="-25">
                <a:latin typeface="Calibri"/>
                <a:cs typeface="Calibri"/>
              </a:rPr>
              <a:t> </a:t>
            </a:r>
            <a:r>
              <a:rPr sz="1800">
                <a:latin typeface="Calibri"/>
                <a:cs typeface="Calibri"/>
              </a:rPr>
              <a:t>needs</a:t>
            </a:r>
            <a:r>
              <a:rPr sz="1800" spc="-30">
                <a:latin typeface="Calibri"/>
                <a:cs typeface="Calibri"/>
              </a:rPr>
              <a:t> </a:t>
            </a:r>
            <a:r>
              <a:rPr sz="1800">
                <a:latin typeface="Calibri"/>
                <a:cs typeface="Calibri"/>
              </a:rPr>
              <a:t>with</a:t>
            </a:r>
            <a:r>
              <a:rPr sz="1800" spc="-25">
                <a:latin typeface="Calibri"/>
                <a:cs typeface="Calibri"/>
              </a:rPr>
              <a:t> </a:t>
            </a:r>
            <a:r>
              <a:rPr sz="1800" spc="-10">
                <a:latin typeface="Calibri"/>
                <a:cs typeface="Calibri"/>
              </a:rPr>
              <a:t>consideration</a:t>
            </a:r>
            <a:r>
              <a:rPr sz="1800" spc="-25">
                <a:latin typeface="Calibri"/>
                <a:cs typeface="Calibri"/>
              </a:rPr>
              <a:t> </a:t>
            </a:r>
            <a:r>
              <a:rPr sz="1800">
                <a:latin typeface="Calibri"/>
                <a:cs typeface="Calibri"/>
              </a:rPr>
              <a:t>for</a:t>
            </a:r>
            <a:r>
              <a:rPr sz="1800" spc="-25">
                <a:latin typeface="Calibri"/>
                <a:cs typeface="Calibri"/>
              </a:rPr>
              <a:t> </a:t>
            </a:r>
            <a:r>
              <a:rPr sz="1800">
                <a:latin typeface="Calibri"/>
                <a:cs typeface="Calibri"/>
              </a:rPr>
              <a:t>the</a:t>
            </a:r>
            <a:r>
              <a:rPr sz="1800" spc="-25">
                <a:latin typeface="Calibri"/>
                <a:cs typeface="Calibri"/>
              </a:rPr>
              <a:t> </a:t>
            </a:r>
            <a:r>
              <a:rPr sz="1800">
                <a:latin typeface="Calibri"/>
                <a:cs typeface="Calibri"/>
              </a:rPr>
              <a:t>public</a:t>
            </a:r>
            <a:r>
              <a:rPr sz="1800" spc="-25">
                <a:latin typeface="Calibri"/>
                <a:cs typeface="Calibri"/>
              </a:rPr>
              <a:t> </a:t>
            </a:r>
            <a:r>
              <a:rPr sz="1800">
                <a:latin typeface="Calibri"/>
                <a:cs typeface="Calibri"/>
              </a:rPr>
              <a:t>health</a:t>
            </a:r>
            <a:r>
              <a:rPr sz="1800" spc="-30">
                <a:latin typeface="Calibri"/>
                <a:cs typeface="Calibri"/>
              </a:rPr>
              <a:t> </a:t>
            </a:r>
            <a:r>
              <a:rPr sz="1800" spc="-25">
                <a:latin typeface="Calibri"/>
                <a:cs typeface="Calibri"/>
              </a:rPr>
              <a:t>and 	</a:t>
            </a:r>
            <a:r>
              <a:rPr sz="1800">
                <a:latin typeface="Calibri"/>
                <a:cs typeface="Calibri"/>
              </a:rPr>
              <a:t>safety,</a:t>
            </a:r>
            <a:r>
              <a:rPr sz="1800" spc="-45">
                <a:latin typeface="Calibri"/>
                <a:cs typeface="Calibri"/>
              </a:rPr>
              <a:t> </a:t>
            </a:r>
            <a:r>
              <a:rPr sz="1800" spc="-20">
                <a:latin typeface="Calibri"/>
                <a:cs typeface="Calibri"/>
              </a:rPr>
              <a:t>whole-</a:t>
            </a:r>
            <a:r>
              <a:rPr sz="1800">
                <a:latin typeface="Calibri"/>
                <a:cs typeface="Calibri"/>
              </a:rPr>
              <a:t>life</a:t>
            </a:r>
            <a:r>
              <a:rPr sz="1800" spc="-40">
                <a:latin typeface="Calibri"/>
                <a:cs typeface="Calibri"/>
              </a:rPr>
              <a:t> </a:t>
            </a:r>
            <a:r>
              <a:rPr sz="1800">
                <a:latin typeface="Calibri"/>
                <a:cs typeface="Calibri"/>
              </a:rPr>
              <a:t>cost,</a:t>
            </a:r>
            <a:r>
              <a:rPr sz="1800" spc="-40">
                <a:latin typeface="Calibri"/>
                <a:cs typeface="Calibri"/>
              </a:rPr>
              <a:t> </a:t>
            </a:r>
            <a:r>
              <a:rPr sz="1800">
                <a:latin typeface="Calibri"/>
                <a:cs typeface="Calibri"/>
              </a:rPr>
              <a:t>net</a:t>
            </a:r>
            <a:r>
              <a:rPr sz="1800" spc="-40">
                <a:latin typeface="Calibri"/>
                <a:cs typeface="Calibri"/>
              </a:rPr>
              <a:t> </a:t>
            </a:r>
            <a:r>
              <a:rPr sz="1800">
                <a:latin typeface="Calibri"/>
                <a:cs typeface="Calibri"/>
              </a:rPr>
              <a:t>zero</a:t>
            </a:r>
            <a:r>
              <a:rPr sz="1800" spc="-40">
                <a:latin typeface="Calibri"/>
                <a:cs typeface="Calibri"/>
              </a:rPr>
              <a:t> </a:t>
            </a:r>
            <a:r>
              <a:rPr sz="1800">
                <a:latin typeface="Calibri"/>
                <a:cs typeface="Calibri"/>
              </a:rPr>
              <a:t>carbon,</a:t>
            </a:r>
            <a:r>
              <a:rPr sz="1800" spc="-45">
                <a:latin typeface="Calibri"/>
                <a:cs typeface="Calibri"/>
              </a:rPr>
              <a:t> </a:t>
            </a:r>
            <a:r>
              <a:rPr sz="1800">
                <a:latin typeface="Calibri"/>
                <a:cs typeface="Calibri"/>
              </a:rPr>
              <a:t>culture,</a:t>
            </a:r>
            <a:r>
              <a:rPr sz="1800" spc="-40">
                <a:latin typeface="Calibri"/>
                <a:cs typeface="Calibri"/>
              </a:rPr>
              <a:t> </a:t>
            </a:r>
            <a:r>
              <a:rPr sz="1800">
                <a:latin typeface="Calibri"/>
                <a:cs typeface="Calibri"/>
              </a:rPr>
              <a:t>society</a:t>
            </a:r>
            <a:r>
              <a:rPr sz="1800" spc="-40">
                <a:latin typeface="Calibri"/>
                <a:cs typeface="Calibri"/>
              </a:rPr>
              <a:t> </a:t>
            </a:r>
            <a:r>
              <a:rPr sz="1800">
                <a:latin typeface="Calibri"/>
                <a:cs typeface="Calibri"/>
              </a:rPr>
              <a:t>and</a:t>
            </a:r>
            <a:r>
              <a:rPr sz="1800" spc="-40">
                <a:latin typeface="Calibri"/>
                <a:cs typeface="Calibri"/>
              </a:rPr>
              <a:t> </a:t>
            </a:r>
            <a:r>
              <a:rPr sz="1800" spc="-10">
                <a:latin typeface="Calibri"/>
                <a:cs typeface="Calibri"/>
              </a:rPr>
              <a:t>environment</a:t>
            </a:r>
            <a:r>
              <a:rPr sz="1800" spc="-40">
                <a:latin typeface="Calibri"/>
                <a:cs typeface="Calibri"/>
              </a:rPr>
              <a:t> </a:t>
            </a:r>
            <a:r>
              <a:rPr sz="1800">
                <a:latin typeface="Calibri"/>
                <a:cs typeface="Calibri"/>
              </a:rPr>
              <a:t>as</a:t>
            </a:r>
            <a:r>
              <a:rPr sz="1800" spc="-45">
                <a:latin typeface="Calibri"/>
                <a:cs typeface="Calibri"/>
              </a:rPr>
              <a:t> </a:t>
            </a:r>
            <a:r>
              <a:rPr sz="1800" spc="-10">
                <a:latin typeface="Calibri"/>
                <a:cs typeface="Calibri"/>
              </a:rPr>
              <a:t>required.</a:t>
            </a:r>
            <a:r>
              <a:rPr sz="1800" spc="-40">
                <a:latin typeface="Calibri"/>
                <a:cs typeface="Calibri"/>
              </a:rPr>
              <a:t> </a:t>
            </a:r>
            <a:r>
              <a:rPr sz="1800" spc="-10">
                <a:latin typeface="Calibri"/>
                <a:cs typeface="Calibri"/>
              </a:rPr>
              <a:t>(WK5)</a:t>
            </a:r>
            <a:endParaRPr sz="1800">
              <a:latin typeface="Calibri"/>
              <a:cs typeface="Calibri"/>
            </a:endParaRPr>
          </a:p>
          <a:p>
            <a:pPr marL="240029" marR="370840" indent="-193675">
              <a:lnSpc>
                <a:spcPts val="1939"/>
              </a:lnSpc>
              <a:spcBef>
                <a:spcPts val="1010"/>
              </a:spcBef>
              <a:buFont typeface="Arial MT"/>
              <a:buChar char="•"/>
              <a:tabLst>
                <a:tab pos="241300" algn="l"/>
              </a:tabLst>
            </a:pPr>
            <a:r>
              <a:rPr sz="1800">
                <a:latin typeface="Calibri"/>
                <a:cs typeface="Calibri"/>
              </a:rPr>
              <a:t>PO4:</a:t>
            </a:r>
            <a:r>
              <a:rPr sz="1800" spc="-60">
                <a:latin typeface="Calibri"/>
                <a:cs typeface="Calibri"/>
              </a:rPr>
              <a:t> </a:t>
            </a:r>
            <a:r>
              <a:rPr sz="1800">
                <a:latin typeface="Calibri"/>
                <a:cs typeface="Calibri"/>
              </a:rPr>
              <a:t>Conduct</a:t>
            </a:r>
            <a:r>
              <a:rPr sz="1800" spc="-55">
                <a:latin typeface="Calibri"/>
                <a:cs typeface="Calibri"/>
              </a:rPr>
              <a:t> </a:t>
            </a:r>
            <a:r>
              <a:rPr sz="1800">
                <a:latin typeface="Calibri"/>
                <a:cs typeface="Calibri"/>
              </a:rPr>
              <a:t>Investigations</a:t>
            </a:r>
            <a:r>
              <a:rPr sz="1800" spc="-60">
                <a:latin typeface="Calibri"/>
                <a:cs typeface="Calibri"/>
              </a:rPr>
              <a:t> </a:t>
            </a:r>
            <a:r>
              <a:rPr sz="1800">
                <a:latin typeface="Calibri"/>
                <a:cs typeface="Calibri"/>
              </a:rPr>
              <a:t>of</a:t>
            </a:r>
            <a:r>
              <a:rPr sz="1800" spc="-55">
                <a:latin typeface="Calibri"/>
                <a:cs typeface="Calibri"/>
              </a:rPr>
              <a:t> </a:t>
            </a:r>
            <a:r>
              <a:rPr sz="1800">
                <a:latin typeface="Calibri"/>
                <a:cs typeface="Calibri"/>
              </a:rPr>
              <a:t>Complex</a:t>
            </a:r>
            <a:r>
              <a:rPr sz="1800" spc="-60">
                <a:latin typeface="Calibri"/>
                <a:cs typeface="Calibri"/>
              </a:rPr>
              <a:t> </a:t>
            </a:r>
            <a:r>
              <a:rPr sz="1800" spc="-10">
                <a:latin typeface="Calibri"/>
                <a:cs typeface="Calibri"/>
              </a:rPr>
              <a:t>Problems:</a:t>
            </a:r>
            <a:r>
              <a:rPr sz="1800" spc="-55">
                <a:latin typeface="Calibri"/>
                <a:cs typeface="Calibri"/>
              </a:rPr>
              <a:t> </a:t>
            </a:r>
            <a:r>
              <a:rPr sz="1800">
                <a:latin typeface="Calibri"/>
                <a:cs typeface="Calibri"/>
              </a:rPr>
              <a:t>Conduct</a:t>
            </a:r>
            <a:r>
              <a:rPr sz="1800" spc="-60">
                <a:latin typeface="Calibri"/>
                <a:cs typeface="Calibri"/>
              </a:rPr>
              <a:t> </a:t>
            </a:r>
            <a:r>
              <a:rPr sz="1800">
                <a:latin typeface="Calibri"/>
                <a:cs typeface="Calibri"/>
              </a:rPr>
              <a:t>investigations</a:t>
            </a:r>
            <a:r>
              <a:rPr sz="1800" spc="-55">
                <a:latin typeface="Calibri"/>
                <a:cs typeface="Calibri"/>
              </a:rPr>
              <a:t> </a:t>
            </a:r>
            <a:r>
              <a:rPr sz="1800">
                <a:latin typeface="Calibri"/>
                <a:cs typeface="Calibri"/>
              </a:rPr>
              <a:t>of</a:t>
            </a:r>
            <a:r>
              <a:rPr sz="1800" spc="-60">
                <a:latin typeface="Calibri"/>
                <a:cs typeface="Calibri"/>
              </a:rPr>
              <a:t> </a:t>
            </a:r>
            <a:r>
              <a:rPr sz="1800">
                <a:latin typeface="Calibri"/>
                <a:cs typeface="Calibri"/>
              </a:rPr>
              <a:t>complex</a:t>
            </a:r>
            <a:r>
              <a:rPr sz="1800" spc="-55">
                <a:latin typeface="Calibri"/>
                <a:cs typeface="Calibri"/>
              </a:rPr>
              <a:t> </a:t>
            </a:r>
            <a:r>
              <a:rPr sz="1800" spc="-10">
                <a:latin typeface="Calibri"/>
                <a:cs typeface="Calibri"/>
              </a:rPr>
              <a:t>engineering</a:t>
            </a:r>
            <a:r>
              <a:rPr sz="1800" spc="-60">
                <a:latin typeface="Calibri"/>
                <a:cs typeface="Calibri"/>
              </a:rPr>
              <a:t> </a:t>
            </a:r>
            <a:r>
              <a:rPr sz="1800" spc="-10">
                <a:latin typeface="Calibri"/>
                <a:cs typeface="Calibri"/>
              </a:rPr>
              <a:t>problems</a:t>
            </a:r>
            <a:r>
              <a:rPr sz="1800" spc="-55">
                <a:latin typeface="Calibri"/>
                <a:cs typeface="Calibri"/>
              </a:rPr>
              <a:t> </a:t>
            </a:r>
            <a:r>
              <a:rPr sz="1800" spc="-10">
                <a:latin typeface="Calibri"/>
                <a:cs typeface="Calibri"/>
              </a:rPr>
              <a:t>using 	</a:t>
            </a:r>
            <a:r>
              <a:rPr sz="1800" spc="-20">
                <a:latin typeface="Calibri"/>
                <a:cs typeface="Calibri"/>
              </a:rPr>
              <a:t>research-</a:t>
            </a:r>
            <a:r>
              <a:rPr sz="1800">
                <a:latin typeface="Calibri"/>
                <a:cs typeface="Calibri"/>
              </a:rPr>
              <a:t>based</a:t>
            </a:r>
            <a:r>
              <a:rPr sz="1800" spc="-30">
                <a:latin typeface="Calibri"/>
                <a:cs typeface="Calibri"/>
              </a:rPr>
              <a:t> </a:t>
            </a:r>
            <a:r>
              <a:rPr sz="1800" spc="-10">
                <a:latin typeface="Calibri"/>
                <a:cs typeface="Calibri"/>
              </a:rPr>
              <a:t>knowledge</a:t>
            </a:r>
            <a:r>
              <a:rPr sz="1800" spc="-30">
                <a:latin typeface="Calibri"/>
                <a:cs typeface="Calibri"/>
              </a:rPr>
              <a:t> </a:t>
            </a:r>
            <a:r>
              <a:rPr sz="1800" spc="-10">
                <a:latin typeface="Calibri"/>
                <a:cs typeface="Calibri"/>
              </a:rPr>
              <a:t>including</a:t>
            </a:r>
            <a:r>
              <a:rPr sz="1800" spc="-30">
                <a:latin typeface="Calibri"/>
                <a:cs typeface="Calibri"/>
              </a:rPr>
              <a:t> </a:t>
            </a:r>
            <a:r>
              <a:rPr sz="1800">
                <a:latin typeface="Calibri"/>
                <a:cs typeface="Calibri"/>
              </a:rPr>
              <a:t>design</a:t>
            </a:r>
            <a:r>
              <a:rPr sz="1800" spc="-30">
                <a:latin typeface="Calibri"/>
                <a:cs typeface="Calibri"/>
              </a:rPr>
              <a:t> </a:t>
            </a:r>
            <a:r>
              <a:rPr sz="1800">
                <a:latin typeface="Calibri"/>
                <a:cs typeface="Calibri"/>
              </a:rPr>
              <a:t>of</a:t>
            </a:r>
            <a:r>
              <a:rPr sz="1800" spc="-25">
                <a:latin typeface="Calibri"/>
                <a:cs typeface="Calibri"/>
              </a:rPr>
              <a:t> </a:t>
            </a:r>
            <a:r>
              <a:rPr sz="1800" spc="-10">
                <a:latin typeface="Calibri"/>
                <a:cs typeface="Calibri"/>
              </a:rPr>
              <a:t>experiments,</a:t>
            </a:r>
            <a:r>
              <a:rPr sz="1800" spc="-30">
                <a:latin typeface="Calibri"/>
                <a:cs typeface="Calibri"/>
              </a:rPr>
              <a:t> </a:t>
            </a:r>
            <a:r>
              <a:rPr sz="1800" spc="-10">
                <a:latin typeface="Calibri"/>
                <a:cs typeface="Calibri"/>
              </a:rPr>
              <a:t>modelling,</a:t>
            </a:r>
            <a:r>
              <a:rPr sz="1800" spc="-30">
                <a:latin typeface="Calibri"/>
                <a:cs typeface="Calibri"/>
              </a:rPr>
              <a:t> </a:t>
            </a:r>
            <a:r>
              <a:rPr sz="1800">
                <a:latin typeface="Calibri"/>
                <a:cs typeface="Calibri"/>
              </a:rPr>
              <a:t>analysis</a:t>
            </a:r>
            <a:r>
              <a:rPr sz="1800" spc="-30">
                <a:latin typeface="Calibri"/>
                <a:cs typeface="Calibri"/>
              </a:rPr>
              <a:t> </a:t>
            </a:r>
            <a:r>
              <a:rPr sz="1800">
                <a:latin typeface="Calibri"/>
                <a:cs typeface="Calibri"/>
              </a:rPr>
              <a:t>&amp;</a:t>
            </a:r>
            <a:r>
              <a:rPr sz="1800" spc="-30">
                <a:latin typeface="Calibri"/>
                <a:cs typeface="Calibri"/>
              </a:rPr>
              <a:t> </a:t>
            </a:r>
            <a:r>
              <a:rPr sz="1800" spc="-10">
                <a:latin typeface="Calibri"/>
                <a:cs typeface="Calibri"/>
              </a:rPr>
              <a:t>interpretation</a:t>
            </a:r>
            <a:r>
              <a:rPr sz="1800" spc="-25">
                <a:latin typeface="Calibri"/>
                <a:cs typeface="Calibri"/>
              </a:rPr>
              <a:t> </a:t>
            </a:r>
            <a:r>
              <a:rPr sz="1800">
                <a:latin typeface="Calibri"/>
                <a:cs typeface="Calibri"/>
              </a:rPr>
              <a:t>of</a:t>
            </a:r>
            <a:r>
              <a:rPr sz="1800" spc="-30">
                <a:latin typeface="Calibri"/>
                <a:cs typeface="Calibri"/>
              </a:rPr>
              <a:t> </a:t>
            </a:r>
            <a:r>
              <a:rPr sz="1800">
                <a:latin typeface="Calibri"/>
                <a:cs typeface="Calibri"/>
              </a:rPr>
              <a:t>data</a:t>
            </a:r>
            <a:r>
              <a:rPr sz="1800" spc="-30">
                <a:latin typeface="Calibri"/>
                <a:cs typeface="Calibri"/>
              </a:rPr>
              <a:t> </a:t>
            </a:r>
            <a:r>
              <a:rPr sz="1800">
                <a:latin typeface="Calibri"/>
                <a:cs typeface="Calibri"/>
              </a:rPr>
              <a:t>to</a:t>
            </a:r>
            <a:r>
              <a:rPr sz="1800" spc="-30">
                <a:latin typeface="Calibri"/>
                <a:cs typeface="Calibri"/>
              </a:rPr>
              <a:t> </a:t>
            </a:r>
            <a:r>
              <a:rPr sz="1800" spc="-10">
                <a:latin typeface="Calibri"/>
                <a:cs typeface="Calibri"/>
              </a:rPr>
              <a:t>provide 	</a:t>
            </a:r>
            <a:r>
              <a:rPr sz="1800">
                <a:latin typeface="Calibri"/>
                <a:cs typeface="Calibri"/>
              </a:rPr>
              <a:t>valid</a:t>
            </a:r>
            <a:r>
              <a:rPr sz="1800" spc="-45">
                <a:latin typeface="Calibri"/>
                <a:cs typeface="Calibri"/>
              </a:rPr>
              <a:t> </a:t>
            </a:r>
            <a:r>
              <a:rPr sz="1800" spc="-10">
                <a:latin typeface="Calibri"/>
                <a:cs typeface="Calibri"/>
              </a:rPr>
              <a:t>conclusions.</a:t>
            </a:r>
            <a:r>
              <a:rPr sz="1800" spc="-45">
                <a:latin typeface="Calibri"/>
                <a:cs typeface="Calibri"/>
              </a:rPr>
              <a:t> </a:t>
            </a:r>
            <a:r>
              <a:rPr sz="1800" spc="-10">
                <a:latin typeface="Calibri"/>
                <a:cs typeface="Calibri"/>
              </a:rPr>
              <a:t>(WK8).</a:t>
            </a:r>
            <a:endParaRPr sz="1800">
              <a:latin typeface="Calibri"/>
              <a:cs typeface="Calibri"/>
            </a:endParaRPr>
          </a:p>
          <a:p>
            <a:pPr marL="240029" marR="5080" indent="-193675">
              <a:lnSpc>
                <a:spcPts val="1939"/>
              </a:lnSpc>
              <a:spcBef>
                <a:spcPts val="1015"/>
              </a:spcBef>
              <a:buFont typeface="Arial MT"/>
              <a:buChar char="•"/>
              <a:tabLst>
                <a:tab pos="241300" algn="l"/>
              </a:tabLst>
            </a:pPr>
            <a:r>
              <a:rPr sz="1800">
                <a:latin typeface="Calibri"/>
                <a:cs typeface="Calibri"/>
              </a:rPr>
              <a:t>PO5:</a:t>
            </a:r>
            <a:r>
              <a:rPr sz="1800" spc="-45">
                <a:latin typeface="Calibri"/>
                <a:cs typeface="Calibri"/>
              </a:rPr>
              <a:t> </a:t>
            </a:r>
            <a:r>
              <a:rPr sz="1800" spc="-10">
                <a:latin typeface="Calibri"/>
                <a:cs typeface="Calibri"/>
              </a:rPr>
              <a:t>Engineering</a:t>
            </a:r>
            <a:r>
              <a:rPr sz="1800" spc="-50">
                <a:latin typeface="Calibri"/>
                <a:cs typeface="Calibri"/>
              </a:rPr>
              <a:t> </a:t>
            </a:r>
            <a:r>
              <a:rPr sz="1800">
                <a:latin typeface="Calibri"/>
                <a:cs typeface="Calibri"/>
              </a:rPr>
              <a:t>Tool</a:t>
            </a:r>
            <a:r>
              <a:rPr sz="1800" spc="-45">
                <a:latin typeface="Calibri"/>
                <a:cs typeface="Calibri"/>
              </a:rPr>
              <a:t> </a:t>
            </a:r>
            <a:r>
              <a:rPr sz="1800">
                <a:latin typeface="Calibri"/>
                <a:cs typeface="Calibri"/>
              </a:rPr>
              <a:t>Usage:</a:t>
            </a:r>
            <a:r>
              <a:rPr sz="1800" spc="-45">
                <a:latin typeface="Calibri"/>
                <a:cs typeface="Calibri"/>
              </a:rPr>
              <a:t> </a:t>
            </a:r>
            <a:r>
              <a:rPr sz="1800">
                <a:latin typeface="Calibri"/>
                <a:cs typeface="Calibri"/>
              </a:rPr>
              <a:t>Create,</a:t>
            </a:r>
            <a:r>
              <a:rPr sz="1800" spc="-45">
                <a:latin typeface="Calibri"/>
                <a:cs typeface="Calibri"/>
              </a:rPr>
              <a:t> </a:t>
            </a:r>
            <a:r>
              <a:rPr sz="1800">
                <a:latin typeface="Calibri"/>
                <a:cs typeface="Calibri"/>
              </a:rPr>
              <a:t>select</a:t>
            </a:r>
            <a:r>
              <a:rPr sz="1800" spc="-45">
                <a:latin typeface="Calibri"/>
                <a:cs typeface="Calibri"/>
              </a:rPr>
              <a:t> </a:t>
            </a:r>
            <a:r>
              <a:rPr sz="1800">
                <a:latin typeface="Calibri"/>
                <a:cs typeface="Calibri"/>
              </a:rPr>
              <a:t>and</a:t>
            </a:r>
            <a:r>
              <a:rPr sz="1800" spc="-45">
                <a:latin typeface="Calibri"/>
                <a:cs typeface="Calibri"/>
              </a:rPr>
              <a:t> </a:t>
            </a:r>
            <a:r>
              <a:rPr sz="1800">
                <a:latin typeface="Calibri"/>
                <a:cs typeface="Calibri"/>
              </a:rPr>
              <a:t>apply</a:t>
            </a:r>
            <a:r>
              <a:rPr sz="1800" spc="-45">
                <a:latin typeface="Calibri"/>
                <a:cs typeface="Calibri"/>
              </a:rPr>
              <a:t> </a:t>
            </a:r>
            <a:r>
              <a:rPr sz="1800" spc="-10">
                <a:latin typeface="Calibri"/>
                <a:cs typeface="Calibri"/>
              </a:rPr>
              <a:t>appropriate</a:t>
            </a:r>
            <a:r>
              <a:rPr sz="1800" spc="-45">
                <a:latin typeface="Calibri"/>
                <a:cs typeface="Calibri"/>
              </a:rPr>
              <a:t> </a:t>
            </a:r>
            <a:r>
              <a:rPr sz="1800" spc="-10">
                <a:latin typeface="Calibri"/>
                <a:cs typeface="Calibri"/>
              </a:rPr>
              <a:t>techniques,</a:t>
            </a:r>
            <a:r>
              <a:rPr sz="1800" spc="-45">
                <a:latin typeface="Calibri"/>
                <a:cs typeface="Calibri"/>
              </a:rPr>
              <a:t> </a:t>
            </a:r>
            <a:r>
              <a:rPr sz="1800" spc="-10">
                <a:latin typeface="Calibri"/>
                <a:cs typeface="Calibri"/>
              </a:rPr>
              <a:t>resources</a:t>
            </a:r>
            <a:r>
              <a:rPr sz="1800" spc="-45">
                <a:latin typeface="Calibri"/>
                <a:cs typeface="Calibri"/>
              </a:rPr>
              <a:t> </a:t>
            </a:r>
            <a:r>
              <a:rPr sz="1800">
                <a:latin typeface="Calibri"/>
                <a:cs typeface="Calibri"/>
              </a:rPr>
              <a:t>and</a:t>
            </a:r>
            <a:r>
              <a:rPr sz="1800" spc="-45">
                <a:latin typeface="Calibri"/>
                <a:cs typeface="Calibri"/>
              </a:rPr>
              <a:t> </a:t>
            </a:r>
            <a:r>
              <a:rPr sz="1800">
                <a:latin typeface="Calibri"/>
                <a:cs typeface="Calibri"/>
              </a:rPr>
              <a:t>modern</a:t>
            </a:r>
            <a:r>
              <a:rPr sz="1800" spc="-45">
                <a:latin typeface="Calibri"/>
                <a:cs typeface="Calibri"/>
              </a:rPr>
              <a:t> </a:t>
            </a:r>
            <a:r>
              <a:rPr sz="1800" spc="-10">
                <a:latin typeface="Calibri"/>
                <a:cs typeface="Calibri"/>
              </a:rPr>
              <a:t>engineering</a:t>
            </a:r>
            <a:r>
              <a:rPr sz="1800" spc="-45">
                <a:latin typeface="Calibri"/>
                <a:cs typeface="Calibri"/>
              </a:rPr>
              <a:t> </a:t>
            </a:r>
            <a:r>
              <a:rPr sz="1800">
                <a:latin typeface="Calibri"/>
                <a:cs typeface="Calibri"/>
              </a:rPr>
              <a:t>&amp;</a:t>
            </a:r>
            <a:r>
              <a:rPr sz="1800" spc="-45">
                <a:latin typeface="Calibri"/>
                <a:cs typeface="Calibri"/>
              </a:rPr>
              <a:t> </a:t>
            </a:r>
            <a:r>
              <a:rPr sz="1800" spc="-25">
                <a:latin typeface="Calibri"/>
                <a:cs typeface="Calibri"/>
              </a:rPr>
              <a:t>IT 	</a:t>
            </a:r>
            <a:r>
              <a:rPr sz="1800">
                <a:latin typeface="Calibri"/>
                <a:cs typeface="Calibri"/>
              </a:rPr>
              <a:t>tools,</a:t>
            </a:r>
            <a:r>
              <a:rPr sz="1800" spc="-40">
                <a:latin typeface="Calibri"/>
                <a:cs typeface="Calibri"/>
              </a:rPr>
              <a:t> </a:t>
            </a:r>
            <a:r>
              <a:rPr sz="1800" spc="-10">
                <a:latin typeface="Calibri"/>
                <a:cs typeface="Calibri"/>
              </a:rPr>
              <a:t>including</a:t>
            </a:r>
            <a:r>
              <a:rPr sz="1800" spc="-35">
                <a:latin typeface="Calibri"/>
                <a:cs typeface="Calibri"/>
              </a:rPr>
              <a:t> </a:t>
            </a:r>
            <a:r>
              <a:rPr sz="1800" spc="-10">
                <a:latin typeface="Calibri"/>
                <a:cs typeface="Calibri"/>
              </a:rPr>
              <a:t>prediction</a:t>
            </a:r>
            <a:r>
              <a:rPr sz="1800" spc="-40">
                <a:latin typeface="Calibri"/>
                <a:cs typeface="Calibri"/>
              </a:rPr>
              <a:t> </a:t>
            </a:r>
            <a:r>
              <a:rPr sz="1800">
                <a:latin typeface="Calibri"/>
                <a:cs typeface="Calibri"/>
              </a:rPr>
              <a:t>and</a:t>
            </a:r>
            <a:r>
              <a:rPr sz="1800" spc="-35">
                <a:latin typeface="Calibri"/>
                <a:cs typeface="Calibri"/>
              </a:rPr>
              <a:t> </a:t>
            </a:r>
            <a:r>
              <a:rPr sz="1800" spc="-10">
                <a:latin typeface="Calibri"/>
                <a:cs typeface="Calibri"/>
              </a:rPr>
              <a:t>modelling</a:t>
            </a:r>
            <a:r>
              <a:rPr sz="1800" spc="-40">
                <a:latin typeface="Calibri"/>
                <a:cs typeface="Calibri"/>
              </a:rPr>
              <a:t> </a:t>
            </a:r>
            <a:r>
              <a:rPr sz="1800" spc="-10">
                <a:latin typeface="Calibri"/>
                <a:cs typeface="Calibri"/>
              </a:rPr>
              <a:t>recognizing</a:t>
            </a:r>
            <a:r>
              <a:rPr sz="1800" spc="-35">
                <a:latin typeface="Calibri"/>
                <a:cs typeface="Calibri"/>
              </a:rPr>
              <a:t> </a:t>
            </a:r>
            <a:r>
              <a:rPr sz="1800">
                <a:latin typeface="Calibri"/>
                <a:cs typeface="Calibri"/>
              </a:rPr>
              <a:t>their</a:t>
            </a:r>
            <a:r>
              <a:rPr sz="1800" spc="-40">
                <a:latin typeface="Calibri"/>
                <a:cs typeface="Calibri"/>
              </a:rPr>
              <a:t> </a:t>
            </a:r>
            <a:r>
              <a:rPr sz="1800">
                <a:latin typeface="Calibri"/>
                <a:cs typeface="Calibri"/>
              </a:rPr>
              <a:t>limitations</a:t>
            </a:r>
            <a:r>
              <a:rPr sz="1800" spc="-35">
                <a:latin typeface="Calibri"/>
                <a:cs typeface="Calibri"/>
              </a:rPr>
              <a:t> </a:t>
            </a:r>
            <a:r>
              <a:rPr sz="1800">
                <a:latin typeface="Calibri"/>
                <a:cs typeface="Calibri"/>
              </a:rPr>
              <a:t>to</a:t>
            </a:r>
            <a:r>
              <a:rPr sz="1800" spc="-35">
                <a:latin typeface="Calibri"/>
                <a:cs typeface="Calibri"/>
              </a:rPr>
              <a:t> </a:t>
            </a:r>
            <a:r>
              <a:rPr sz="1800">
                <a:latin typeface="Calibri"/>
                <a:cs typeface="Calibri"/>
              </a:rPr>
              <a:t>solve</a:t>
            </a:r>
            <a:r>
              <a:rPr sz="1800" spc="-40">
                <a:latin typeface="Calibri"/>
                <a:cs typeface="Calibri"/>
              </a:rPr>
              <a:t> </a:t>
            </a:r>
            <a:r>
              <a:rPr sz="1800">
                <a:latin typeface="Calibri"/>
                <a:cs typeface="Calibri"/>
              </a:rPr>
              <a:t>complex</a:t>
            </a:r>
            <a:r>
              <a:rPr sz="1800" spc="-35">
                <a:latin typeface="Calibri"/>
                <a:cs typeface="Calibri"/>
              </a:rPr>
              <a:t> </a:t>
            </a:r>
            <a:r>
              <a:rPr sz="1800" spc="-10">
                <a:latin typeface="Calibri"/>
                <a:cs typeface="Calibri"/>
              </a:rPr>
              <a:t>engineering</a:t>
            </a:r>
            <a:r>
              <a:rPr sz="1800" spc="-40">
                <a:latin typeface="Calibri"/>
                <a:cs typeface="Calibri"/>
              </a:rPr>
              <a:t> </a:t>
            </a:r>
            <a:r>
              <a:rPr sz="1800" spc="-10">
                <a:latin typeface="Calibri"/>
                <a:cs typeface="Calibri"/>
              </a:rPr>
              <a:t>problems.</a:t>
            </a:r>
            <a:r>
              <a:rPr sz="1800" spc="-35">
                <a:latin typeface="Calibri"/>
                <a:cs typeface="Calibri"/>
              </a:rPr>
              <a:t> </a:t>
            </a:r>
            <a:r>
              <a:rPr sz="1800" spc="-20">
                <a:latin typeface="Calibri"/>
                <a:cs typeface="Calibri"/>
              </a:rPr>
              <a:t>(WK2</a:t>
            </a:r>
            <a:r>
              <a:rPr sz="1800" spc="500">
                <a:latin typeface="Calibri"/>
                <a:cs typeface="Calibri"/>
              </a:rPr>
              <a:t> 	</a:t>
            </a:r>
            <a:r>
              <a:rPr sz="1800">
                <a:latin typeface="Calibri"/>
                <a:cs typeface="Calibri"/>
              </a:rPr>
              <a:t>and</a:t>
            </a:r>
            <a:r>
              <a:rPr sz="1800" spc="-45">
                <a:latin typeface="Calibri"/>
                <a:cs typeface="Calibri"/>
              </a:rPr>
              <a:t> </a:t>
            </a:r>
            <a:r>
              <a:rPr sz="1800" spc="-20">
                <a:latin typeface="Calibri"/>
                <a:cs typeface="Calibri"/>
              </a:rPr>
              <a:t>WK6)</a:t>
            </a:r>
            <a:endParaRPr sz="1800">
              <a:latin typeface="Calibri"/>
              <a:cs typeface="Calibri"/>
            </a:endParaRPr>
          </a:p>
          <a:p>
            <a:pPr marL="240029" marR="381635" indent="-193675">
              <a:lnSpc>
                <a:spcPts val="1939"/>
              </a:lnSpc>
              <a:spcBef>
                <a:spcPts val="1010"/>
              </a:spcBef>
              <a:buFont typeface="Arial MT"/>
              <a:buChar char="•"/>
              <a:tabLst>
                <a:tab pos="241300" algn="l"/>
              </a:tabLst>
            </a:pPr>
            <a:r>
              <a:rPr sz="1800">
                <a:latin typeface="Calibri"/>
                <a:cs typeface="Calibri"/>
              </a:rPr>
              <a:t>PO6:</a:t>
            </a:r>
            <a:r>
              <a:rPr sz="1800" spc="-55">
                <a:latin typeface="Calibri"/>
                <a:cs typeface="Calibri"/>
              </a:rPr>
              <a:t> </a:t>
            </a:r>
            <a:r>
              <a:rPr sz="1800">
                <a:latin typeface="Calibri"/>
                <a:cs typeface="Calibri"/>
              </a:rPr>
              <a:t>The</a:t>
            </a:r>
            <a:r>
              <a:rPr sz="1800" spc="-55">
                <a:latin typeface="Calibri"/>
                <a:cs typeface="Calibri"/>
              </a:rPr>
              <a:t> </a:t>
            </a:r>
            <a:r>
              <a:rPr sz="1800" spc="-10">
                <a:latin typeface="Calibri"/>
                <a:cs typeface="Calibri"/>
              </a:rPr>
              <a:t>Engineer</a:t>
            </a:r>
            <a:r>
              <a:rPr sz="1800" spc="-50">
                <a:latin typeface="Calibri"/>
                <a:cs typeface="Calibri"/>
              </a:rPr>
              <a:t> </a:t>
            </a:r>
            <a:r>
              <a:rPr sz="1800">
                <a:latin typeface="Calibri"/>
                <a:cs typeface="Calibri"/>
              </a:rPr>
              <a:t>and</a:t>
            </a:r>
            <a:r>
              <a:rPr sz="1800" spc="-55">
                <a:latin typeface="Calibri"/>
                <a:cs typeface="Calibri"/>
              </a:rPr>
              <a:t> </a:t>
            </a:r>
            <a:r>
              <a:rPr sz="1800">
                <a:latin typeface="Calibri"/>
                <a:cs typeface="Calibri"/>
              </a:rPr>
              <a:t>The</a:t>
            </a:r>
            <a:r>
              <a:rPr sz="1800" spc="-55">
                <a:latin typeface="Calibri"/>
                <a:cs typeface="Calibri"/>
              </a:rPr>
              <a:t> </a:t>
            </a:r>
            <a:r>
              <a:rPr sz="1800">
                <a:latin typeface="Calibri"/>
                <a:cs typeface="Calibri"/>
              </a:rPr>
              <a:t>World:</a:t>
            </a:r>
            <a:r>
              <a:rPr sz="1800" spc="-55">
                <a:latin typeface="Calibri"/>
                <a:cs typeface="Calibri"/>
              </a:rPr>
              <a:t> </a:t>
            </a:r>
            <a:r>
              <a:rPr sz="1800">
                <a:latin typeface="Calibri"/>
                <a:cs typeface="Calibri"/>
              </a:rPr>
              <a:t>Analyze</a:t>
            </a:r>
            <a:r>
              <a:rPr sz="1800" spc="-50">
                <a:latin typeface="Calibri"/>
                <a:cs typeface="Calibri"/>
              </a:rPr>
              <a:t> </a:t>
            </a:r>
            <a:r>
              <a:rPr sz="1800">
                <a:latin typeface="Calibri"/>
                <a:cs typeface="Calibri"/>
              </a:rPr>
              <a:t>and</a:t>
            </a:r>
            <a:r>
              <a:rPr sz="1800" spc="-55">
                <a:latin typeface="Calibri"/>
                <a:cs typeface="Calibri"/>
              </a:rPr>
              <a:t> </a:t>
            </a:r>
            <a:r>
              <a:rPr sz="1800">
                <a:latin typeface="Calibri"/>
                <a:cs typeface="Calibri"/>
              </a:rPr>
              <a:t>evaluate</a:t>
            </a:r>
            <a:r>
              <a:rPr sz="1800" spc="-55">
                <a:latin typeface="Calibri"/>
                <a:cs typeface="Calibri"/>
              </a:rPr>
              <a:t> </a:t>
            </a:r>
            <a:r>
              <a:rPr sz="1800">
                <a:latin typeface="Calibri"/>
                <a:cs typeface="Calibri"/>
              </a:rPr>
              <a:t>societal</a:t>
            </a:r>
            <a:r>
              <a:rPr sz="1800" spc="-50">
                <a:latin typeface="Calibri"/>
                <a:cs typeface="Calibri"/>
              </a:rPr>
              <a:t> </a:t>
            </a:r>
            <a:r>
              <a:rPr sz="1800">
                <a:latin typeface="Calibri"/>
                <a:cs typeface="Calibri"/>
              </a:rPr>
              <a:t>and</a:t>
            </a:r>
            <a:r>
              <a:rPr sz="1800" spc="-55">
                <a:latin typeface="Calibri"/>
                <a:cs typeface="Calibri"/>
              </a:rPr>
              <a:t> </a:t>
            </a:r>
            <a:r>
              <a:rPr sz="1800" spc="-10">
                <a:latin typeface="Calibri"/>
                <a:cs typeface="Calibri"/>
              </a:rPr>
              <a:t>environmental</a:t>
            </a:r>
            <a:r>
              <a:rPr sz="1800" spc="-55">
                <a:latin typeface="Calibri"/>
                <a:cs typeface="Calibri"/>
              </a:rPr>
              <a:t> </a:t>
            </a:r>
            <a:r>
              <a:rPr sz="1800">
                <a:latin typeface="Calibri"/>
                <a:cs typeface="Calibri"/>
              </a:rPr>
              <a:t>aspects</a:t>
            </a:r>
            <a:r>
              <a:rPr sz="1800" spc="-50">
                <a:latin typeface="Calibri"/>
                <a:cs typeface="Calibri"/>
              </a:rPr>
              <a:t> </a:t>
            </a:r>
            <a:r>
              <a:rPr sz="1800">
                <a:latin typeface="Calibri"/>
                <a:cs typeface="Calibri"/>
              </a:rPr>
              <a:t>while</a:t>
            </a:r>
            <a:r>
              <a:rPr sz="1800" spc="-55">
                <a:latin typeface="Calibri"/>
                <a:cs typeface="Calibri"/>
              </a:rPr>
              <a:t> </a:t>
            </a:r>
            <a:r>
              <a:rPr sz="1800">
                <a:latin typeface="Calibri"/>
                <a:cs typeface="Calibri"/>
              </a:rPr>
              <a:t>solving</a:t>
            </a:r>
            <a:r>
              <a:rPr sz="1800" spc="-55">
                <a:latin typeface="Calibri"/>
                <a:cs typeface="Calibri"/>
              </a:rPr>
              <a:t> </a:t>
            </a:r>
            <a:r>
              <a:rPr sz="1800" spc="-10">
                <a:latin typeface="Calibri"/>
                <a:cs typeface="Calibri"/>
              </a:rPr>
              <a:t>complex 	engineering</a:t>
            </a:r>
            <a:r>
              <a:rPr sz="1800" spc="-45">
                <a:latin typeface="Calibri"/>
                <a:cs typeface="Calibri"/>
              </a:rPr>
              <a:t> </a:t>
            </a:r>
            <a:r>
              <a:rPr sz="1800" spc="-10">
                <a:latin typeface="Calibri"/>
                <a:cs typeface="Calibri"/>
              </a:rPr>
              <a:t>problems</a:t>
            </a:r>
            <a:r>
              <a:rPr sz="1800" spc="-40">
                <a:latin typeface="Calibri"/>
                <a:cs typeface="Calibri"/>
              </a:rPr>
              <a:t> </a:t>
            </a:r>
            <a:r>
              <a:rPr sz="1800">
                <a:latin typeface="Calibri"/>
                <a:cs typeface="Calibri"/>
              </a:rPr>
              <a:t>for</a:t>
            </a:r>
            <a:r>
              <a:rPr sz="1800" spc="-40">
                <a:latin typeface="Calibri"/>
                <a:cs typeface="Calibri"/>
              </a:rPr>
              <a:t> </a:t>
            </a:r>
            <a:r>
              <a:rPr sz="1800">
                <a:latin typeface="Calibri"/>
                <a:cs typeface="Calibri"/>
              </a:rPr>
              <a:t>its</a:t>
            </a:r>
            <a:r>
              <a:rPr sz="1800" spc="-40">
                <a:latin typeface="Calibri"/>
                <a:cs typeface="Calibri"/>
              </a:rPr>
              <a:t> </a:t>
            </a:r>
            <a:r>
              <a:rPr sz="1800">
                <a:latin typeface="Calibri"/>
                <a:cs typeface="Calibri"/>
              </a:rPr>
              <a:t>impact</a:t>
            </a:r>
            <a:r>
              <a:rPr sz="1800" spc="-40">
                <a:latin typeface="Calibri"/>
                <a:cs typeface="Calibri"/>
              </a:rPr>
              <a:t> </a:t>
            </a:r>
            <a:r>
              <a:rPr sz="1800">
                <a:latin typeface="Calibri"/>
                <a:cs typeface="Calibri"/>
              </a:rPr>
              <a:t>on</a:t>
            </a:r>
            <a:r>
              <a:rPr sz="1800" spc="-45">
                <a:latin typeface="Calibri"/>
                <a:cs typeface="Calibri"/>
              </a:rPr>
              <a:t> </a:t>
            </a:r>
            <a:r>
              <a:rPr sz="1800">
                <a:latin typeface="Calibri"/>
                <a:cs typeface="Calibri"/>
              </a:rPr>
              <a:t>sustainability</a:t>
            </a:r>
            <a:r>
              <a:rPr sz="1800" spc="-40">
                <a:latin typeface="Calibri"/>
                <a:cs typeface="Calibri"/>
              </a:rPr>
              <a:t> </a:t>
            </a:r>
            <a:r>
              <a:rPr sz="1800">
                <a:latin typeface="Calibri"/>
                <a:cs typeface="Calibri"/>
              </a:rPr>
              <a:t>with</a:t>
            </a:r>
            <a:r>
              <a:rPr sz="1800" spc="-40">
                <a:latin typeface="Calibri"/>
                <a:cs typeface="Calibri"/>
              </a:rPr>
              <a:t> </a:t>
            </a:r>
            <a:r>
              <a:rPr sz="1800" spc="-10">
                <a:latin typeface="Calibri"/>
                <a:cs typeface="Calibri"/>
              </a:rPr>
              <a:t>reference</a:t>
            </a:r>
            <a:r>
              <a:rPr sz="1800" spc="-40">
                <a:latin typeface="Calibri"/>
                <a:cs typeface="Calibri"/>
              </a:rPr>
              <a:t> </a:t>
            </a:r>
            <a:r>
              <a:rPr sz="1800">
                <a:latin typeface="Calibri"/>
                <a:cs typeface="Calibri"/>
              </a:rPr>
              <a:t>to</a:t>
            </a:r>
            <a:r>
              <a:rPr sz="1800" spc="-40">
                <a:latin typeface="Calibri"/>
                <a:cs typeface="Calibri"/>
              </a:rPr>
              <a:t> </a:t>
            </a:r>
            <a:r>
              <a:rPr sz="1800" spc="-10">
                <a:latin typeface="Calibri"/>
                <a:cs typeface="Calibri"/>
              </a:rPr>
              <a:t>economy,</a:t>
            </a:r>
            <a:r>
              <a:rPr sz="1800" spc="-40">
                <a:latin typeface="Calibri"/>
                <a:cs typeface="Calibri"/>
              </a:rPr>
              <a:t> </a:t>
            </a:r>
            <a:r>
              <a:rPr sz="1800">
                <a:latin typeface="Calibri"/>
                <a:cs typeface="Calibri"/>
              </a:rPr>
              <a:t>health,</a:t>
            </a:r>
            <a:r>
              <a:rPr sz="1800" spc="-45">
                <a:latin typeface="Calibri"/>
                <a:cs typeface="Calibri"/>
              </a:rPr>
              <a:t> </a:t>
            </a:r>
            <a:r>
              <a:rPr sz="1800">
                <a:latin typeface="Calibri"/>
                <a:cs typeface="Calibri"/>
              </a:rPr>
              <a:t>safety,</a:t>
            </a:r>
            <a:r>
              <a:rPr sz="1800" spc="-40">
                <a:latin typeface="Calibri"/>
                <a:cs typeface="Calibri"/>
              </a:rPr>
              <a:t> </a:t>
            </a:r>
            <a:r>
              <a:rPr sz="1800">
                <a:latin typeface="Calibri"/>
                <a:cs typeface="Calibri"/>
              </a:rPr>
              <a:t>legal</a:t>
            </a:r>
            <a:r>
              <a:rPr sz="1800" spc="-40">
                <a:latin typeface="Calibri"/>
                <a:cs typeface="Calibri"/>
              </a:rPr>
              <a:t> </a:t>
            </a:r>
            <a:r>
              <a:rPr sz="1800" spc="-10">
                <a:latin typeface="Calibri"/>
                <a:cs typeface="Calibri"/>
              </a:rPr>
              <a:t>framework, 	</a:t>
            </a:r>
            <a:r>
              <a:rPr sz="1800">
                <a:latin typeface="Calibri"/>
                <a:cs typeface="Calibri"/>
              </a:rPr>
              <a:t>culture</a:t>
            </a:r>
            <a:r>
              <a:rPr sz="1800" spc="-60">
                <a:latin typeface="Calibri"/>
                <a:cs typeface="Calibri"/>
              </a:rPr>
              <a:t> </a:t>
            </a:r>
            <a:r>
              <a:rPr sz="1800">
                <a:latin typeface="Calibri"/>
                <a:cs typeface="Calibri"/>
              </a:rPr>
              <a:t>and</a:t>
            </a:r>
            <a:r>
              <a:rPr sz="1800" spc="-55">
                <a:latin typeface="Calibri"/>
                <a:cs typeface="Calibri"/>
              </a:rPr>
              <a:t> </a:t>
            </a:r>
            <a:r>
              <a:rPr sz="1800" spc="-10">
                <a:latin typeface="Calibri"/>
                <a:cs typeface="Calibri"/>
              </a:rPr>
              <a:t>environment.</a:t>
            </a:r>
            <a:r>
              <a:rPr sz="1800" spc="-60">
                <a:latin typeface="Calibri"/>
                <a:cs typeface="Calibri"/>
              </a:rPr>
              <a:t> </a:t>
            </a:r>
            <a:r>
              <a:rPr sz="1800">
                <a:latin typeface="Calibri"/>
                <a:cs typeface="Calibri"/>
              </a:rPr>
              <a:t>(WK1,</a:t>
            </a:r>
            <a:r>
              <a:rPr sz="1800" spc="-55">
                <a:latin typeface="Calibri"/>
                <a:cs typeface="Calibri"/>
              </a:rPr>
              <a:t> </a:t>
            </a:r>
            <a:r>
              <a:rPr sz="1800">
                <a:latin typeface="Calibri"/>
                <a:cs typeface="Calibri"/>
              </a:rPr>
              <a:t>WK5,</a:t>
            </a:r>
            <a:r>
              <a:rPr sz="1800" spc="-55">
                <a:latin typeface="Calibri"/>
                <a:cs typeface="Calibri"/>
              </a:rPr>
              <a:t> </a:t>
            </a:r>
            <a:r>
              <a:rPr sz="1800">
                <a:latin typeface="Calibri"/>
                <a:cs typeface="Calibri"/>
              </a:rPr>
              <a:t>and</a:t>
            </a:r>
            <a:r>
              <a:rPr sz="1800" spc="-60">
                <a:latin typeface="Calibri"/>
                <a:cs typeface="Calibri"/>
              </a:rPr>
              <a:t> </a:t>
            </a:r>
            <a:r>
              <a:rPr sz="1800" spc="-10">
                <a:latin typeface="Calibri"/>
                <a:cs typeface="Calibri"/>
              </a:rPr>
              <a:t>WK7).</a:t>
            </a:r>
            <a:endParaRPr sz="1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3198" y="160651"/>
            <a:ext cx="8620125" cy="1299845"/>
          </a:xfrm>
          <a:prstGeom prst="rect">
            <a:avLst/>
          </a:prstGeom>
        </p:spPr>
        <p:txBody>
          <a:bodyPr vert="horz" wrap="square" lIns="0" tIns="88900" rIns="0" bIns="0" rtlCol="0">
            <a:spAutoFit/>
          </a:bodyPr>
          <a:lstStyle/>
          <a:p>
            <a:pPr marL="12700" marR="5080">
              <a:lnSpc>
                <a:spcPts val="4750"/>
              </a:lnSpc>
              <a:spcBef>
                <a:spcPts val="700"/>
              </a:spcBef>
            </a:pPr>
            <a:r>
              <a:rPr sz="4400">
                <a:solidFill>
                  <a:srgbClr val="000000"/>
                </a:solidFill>
              </a:rPr>
              <a:t>Program</a:t>
            </a:r>
            <a:r>
              <a:rPr sz="4400" spc="-70">
                <a:solidFill>
                  <a:srgbClr val="000000"/>
                </a:solidFill>
              </a:rPr>
              <a:t> </a:t>
            </a:r>
            <a:r>
              <a:rPr sz="4400">
                <a:solidFill>
                  <a:srgbClr val="000000"/>
                </a:solidFill>
              </a:rPr>
              <a:t>Outcomes/Program</a:t>
            </a:r>
            <a:r>
              <a:rPr sz="4400" spc="-55">
                <a:solidFill>
                  <a:srgbClr val="000000"/>
                </a:solidFill>
              </a:rPr>
              <a:t> </a:t>
            </a:r>
            <a:r>
              <a:rPr sz="4400" spc="-10">
                <a:solidFill>
                  <a:srgbClr val="000000"/>
                </a:solidFill>
              </a:rPr>
              <a:t>Specific Outcomes</a:t>
            </a:r>
            <a:endParaRPr sz="4400"/>
          </a:p>
        </p:txBody>
      </p:sp>
      <p:sp>
        <p:nvSpPr>
          <p:cNvPr id="3" name="object 3"/>
          <p:cNvSpPr txBox="1"/>
          <p:nvPr/>
        </p:nvSpPr>
        <p:spPr>
          <a:xfrm>
            <a:off x="636839" y="1661718"/>
            <a:ext cx="10897870" cy="4222750"/>
          </a:xfrm>
          <a:prstGeom prst="rect">
            <a:avLst/>
          </a:prstGeom>
        </p:spPr>
        <p:txBody>
          <a:bodyPr vert="horz" wrap="square" lIns="0" tIns="101600" rIns="0" bIns="0" rtlCol="0">
            <a:spAutoFit/>
          </a:bodyPr>
          <a:lstStyle/>
          <a:p>
            <a:pPr marL="201930" marR="662940" indent="-189865">
              <a:lnSpc>
                <a:spcPct val="70400"/>
              </a:lnSpc>
              <a:spcBef>
                <a:spcPts val="800"/>
              </a:spcBef>
              <a:buFont typeface="Arial MT"/>
              <a:buChar char="•"/>
              <a:tabLst>
                <a:tab pos="203835" algn="l"/>
              </a:tabLst>
            </a:pPr>
            <a:r>
              <a:rPr sz="1950">
                <a:latin typeface="Calibri"/>
                <a:cs typeface="Calibri"/>
              </a:rPr>
              <a:t>PO7:</a:t>
            </a:r>
            <a:r>
              <a:rPr sz="1950" spc="-30">
                <a:latin typeface="Calibri"/>
                <a:cs typeface="Calibri"/>
              </a:rPr>
              <a:t> </a:t>
            </a:r>
            <a:r>
              <a:rPr sz="1950">
                <a:latin typeface="Calibri"/>
                <a:cs typeface="Calibri"/>
              </a:rPr>
              <a:t>Ethics:</a:t>
            </a:r>
            <a:r>
              <a:rPr sz="1950" spc="-25">
                <a:latin typeface="Calibri"/>
                <a:cs typeface="Calibri"/>
              </a:rPr>
              <a:t> </a:t>
            </a:r>
            <a:r>
              <a:rPr sz="1950">
                <a:latin typeface="Calibri"/>
                <a:cs typeface="Calibri"/>
              </a:rPr>
              <a:t>Apply</a:t>
            </a:r>
            <a:r>
              <a:rPr sz="1950" spc="-30">
                <a:latin typeface="Calibri"/>
                <a:cs typeface="Calibri"/>
              </a:rPr>
              <a:t> </a:t>
            </a:r>
            <a:r>
              <a:rPr sz="1950">
                <a:latin typeface="Calibri"/>
                <a:cs typeface="Calibri"/>
              </a:rPr>
              <a:t>ethical</a:t>
            </a:r>
            <a:r>
              <a:rPr sz="1950" spc="-25">
                <a:latin typeface="Calibri"/>
                <a:cs typeface="Calibri"/>
              </a:rPr>
              <a:t> </a:t>
            </a:r>
            <a:r>
              <a:rPr sz="1950">
                <a:latin typeface="Calibri"/>
                <a:cs typeface="Calibri"/>
              </a:rPr>
              <a:t>principles</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commit</a:t>
            </a:r>
            <a:r>
              <a:rPr sz="1950" spc="-30">
                <a:latin typeface="Calibri"/>
                <a:cs typeface="Calibri"/>
              </a:rPr>
              <a:t> </a:t>
            </a:r>
            <a:r>
              <a:rPr sz="1950">
                <a:latin typeface="Calibri"/>
                <a:cs typeface="Calibri"/>
              </a:rPr>
              <a:t>to</a:t>
            </a:r>
            <a:r>
              <a:rPr sz="1950" spc="-25">
                <a:latin typeface="Calibri"/>
                <a:cs typeface="Calibri"/>
              </a:rPr>
              <a:t> </a:t>
            </a:r>
            <a:r>
              <a:rPr sz="1950">
                <a:latin typeface="Calibri"/>
                <a:cs typeface="Calibri"/>
              </a:rPr>
              <a:t>professional</a:t>
            </a:r>
            <a:r>
              <a:rPr sz="1950" spc="-30">
                <a:latin typeface="Calibri"/>
                <a:cs typeface="Calibri"/>
              </a:rPr>
              <a:t> </a:t>
            </a:r>
            <a:r>
              <a:rPr sz="1950">
                <a:latin typeface="Calibri"/>
                <a:cs typeface="Calibri"/>
              </a:rPr>
              <a:t>ethics,</a:t>
            </a:r>
            <a:r>
              <a:rPr sz="1950" spc="-25">
                <a:latin typeface="Calibri"/>
                <a:cs typeface="Calibri"/>
              </a:rPr>
              <a:t> </a:t>
            </a:r>
            <a:r>
              <a:rPr sz="1950">
                <a:latin typeface="Calibri"/>
                <a:cs typeface="Calibri"/>
              </a:rPr>
              <a:t>human</a:t>
            </a:r>
            <a:r>
              <a:rPr sz="1950" spc="-30">
                <a:latin typeface="Calibri"/>
                <a:cs typeface="Calibri"/>
              </a:rPr>
              <a:t> </a:t>
            </a:r>
            <a:r>
              <a:rPr sz="1950">
                <a:latin typeface="Calibri"/>
                <a:cs typeface="Calibri"/>
              </a:rPr>
              <a:t>values,</a:t>
            </a:r>
            <a:r>
              <a:rPr sz="1950" spc="-25">
                <a:latin typeface="Calibri"/>
                <a:cs typeface="Calibri"/>
              </a:rPr>
              <a:t> </a:t>
            </a:r>
            <a:r>
              <a:rPr sz="1950">
                <a:latin typeface="Calibri"/>
                <a:cs typeface="Calibri"/>
              </a:rPr>
              <a:t>diversity</a:t>
            </a:r>
            <a:r>
              <a:rPr sz="1950" spc="-25">
                <a:latin typeface="Calibri"/>
                <a:cs typeface="Calibri"/>
              </a:rPr>
              <a:t> and 	</a:t>
            </a:r>
            <a:r>
              <a:rPr sz="1950">
                <a:latin typeface="Calibri"/>
                <a:cs typeface="Calibri"/>
              </a:rPr>
              <a:t>inclusion;</a:t>
            </a:r>
            <a:r>
              <a:rPr sz="1950" spc="-30">
                <a:latin typeface="Calibri"/>
                <a:cs typeface="Calibri"/>
              </a:rPr>
              <a:t> </a:t>
            </a:r>
            <a:r>
              <a:rPr sz="1950">
                <a:latin typeface="Calibri"/>
                <a:cs typeface="Calibri"/>
              </a:rPr>
              <a:t>adhere</a:t>
            </a:r>
            <a:r>
              <a:rPr sz="1950" spc="-25">
                <a:latin typeface="Calibri"/>
                <a:cs typeface="Calibri"/>
              </a:rPr>
              <a:t> </a:t>
            </a:r>
            <a:r>
              <a:rPr sz="1950">
                <a:latin typeface="Calibri"/>
                <a:cs typeface="Calibri"/>
              </a:rPr>
              <a:t>to</a:t>
            </a:r>
            <a:r>
              <a:rPr sz="1950" spc="-30">
                <a:latin typeface="Calibri"/>
                <a:cs typeface="Calibri"/>
              </a:rPr>
              <a:t> </a:t>
            </a:r>
            <a:r>
              <a:rPr sz="1950">
                <a:latin typeface="Calibri"/>
                <a:cs typeface="Calibri"/>
              </a:rPr>
              <a:t>national</a:t>
            </a:r>
            <a:r>
              <a:rPr sz="1950" spc="-25">
                <a:latin typeface="Calibri"/>
                <a:cs typeface="Calibri"/>
              </a:rPr>
              <a:t> </a:t>
            </a:r>
            <a:r>
              <a:rPr sz="1950">
                <a:latin typeface="Calibri"/>
                <a:cs typeface="Calibri"/>
              </a:rPr>
              <a:t>&amp;</a:t>
            </a:r>
            <a:r>
              <a:rPr sz="1950" spc="-30">
                <a:latin typeface="Calibri"/>
                <a:cs typeface="Calibri"/>
              </a:rPr>
              <a:t> </a:t>
            </a:r>
            <a:r>
              <a:rPr sz="1950">
                <a:latin typeface="Calibri"/>
                <a:cs typeface="Calibri"/>
              </a:rPr>
              <a:t>international</a:t>
            </a:r>
            <a:r>
              <a:rPr sz="1950" spc="-25">
                <a:latin typeface="Calibri"/>
                <a:cs typeface="Calibri"/>
              </a:rPr>
              <a:t> </a:t>
            </a:r>
            <a:r>
              <a:rPr sz="1950">
                <a:latin typeface="Calibri"/>
                <a:cs typeface="Calibri"/>
              </a:rPr>
              <a:t>laws.</a:t>
            </a:r>
            <a:r>
              <a:rPr sz="1950" spc="-25">
                <a:latin typeface="Calibri"/>
                <a:cs typeface="Calibri"/>
              </a:rPr>
              <a:t> </a:t>
            </a:r>
            <a:r>
              <a:rPr sz="1950" spc="-10">
                <a:latin typeface="Calibri"/>
                <a:cs typeface="Calibri"/>
              </a:rPr>
              <a:t>(WK9).</a:t>
            </a:r>
            <a:endParaRPr sz="1950">
              <a:latin typeface="Calibri"/>
              <a:cs typeface="Calibri"/>
            </a:endParaRPr>
          </a:p>
          <a:p>
            <a:pPr marL="201930" marR="271145" indent="-189865">
              <a:lnSpc>
                <a:spcPct val="70400"/>
              </a:lnSpc>
              <a:spcBef>
                <a:spcPts val="1000"/>
              </a:spcBef>
              <a:buFont typeface="Arial MT"/>
              <a:buChar char="•"/>
              <a:tabLst>
                <a:tab pos="203835" algn="l"/>
              </a:tabLst>
            </a:pPr>
            <a:r>
              <a:rPr sz="1950">
                <a:latin typeface="Calibri"/>
                <a:cs typeface="Calibri"/>
              </a:rPr>
              <a:t>PO8:</a:t>
            </a:r>
            <a:r>
              <a:rPr sz="1950" spc="-25">
                <a:latin typeface="Calibri"/>
                <a:cs typeface="Calibri"/>
              </a:rPr>
              <a:t> </a:t>
            </a:r>
            <a:r>
              <a:rPr sz="1950">
                <a:latin typeface="Calibri"/>
                <a:cs typeface="Calibri"/>
              </a:rPr>
              <a:t>Individual</a:t>
            </a:r>
            <a:r>
              <a:rPr sz="1950" spc="-25">
                <a:latin typeface="Calibri"/>
                <a:cs typeface="Calibri"/>
              </a:rPr>
              <a:t> </a:t>
            </a:r>
            <a:r>
              <a:rPr sz="1950">
                <a:latin typeface="Calibri"/>
                <a:cs typeface="Calibri"/>
              </a:rPr>
              <a:t>and</a:t>
            </a:r>
            <a:r>
              <a:rPr sz="1950" spc="-20">
                <a:latin typeface="Calibri"/>
                <a:cs typeface="Calibri"/>
              </a:rPr>
              <a:t> </a:t>
            </a:r>
            <a:r>
              <a:rPr sz="1950">
                <a:latin typeface="Calibri"/>
                <a:cs typeface="Calibri"/>
              </a:rPr>
              <a:t>Collaborative</a:t>
            </a:r>
            <a:r>
              <a:rPr sz="1950" spc="-25">
                <a:latin typeface="Calibri"/>
                <a:cs typeface="Calibri"/>
              </a:rPr>
              <a:t> </a:t>
            </a:r>
            <a:r>
              <a:rPr sz="1950">
                <a:latin typeface="Calibri"/>
                <a:cs typeface="Calibri"/>
              </a:rPr>
              <a:t>Team</a:t>
            </a:r>
            <a:r>
              <a:rPr sz="1950" spc="-25">
                <a:latin typeface="Calibri"/>
                <a:cs typeface="Calibri"/>
              </a:rPr>
              <a:t> </a:t>
            </a:r>
            <a:r>
              <a:rPr sz="1950">
                <a:latin typeface="Calibri"/>
                <a:cs typeface="Calibri"/>
              </a:rPr>
              <a:t>work:</a:t>
            </a:r>
            <a:r>
              <a:rPr sz="1950" spc="-20">
                <a:latin typeface="Calibri"/>
                <a:cs typeface="Calibri"/>
              </a:rPr>
              <a:t> </a:t>
            </a:r>
            <a:r>
              <a:rPr sz="1950">
                <a:latin typeface="Calibri"/>
                <a:cs typeface="Calibri"/>
              </a:rPr>
              <a:t>Function</a:t>
            </a:r>
            <a:r>
              <a:rPr sz="1950" spc="-25">
                <a:latin typeface="Calibri"/>
                <a:cs typeface="Calibri"/>
              </a:rPr>
              <a:t> </a:t>
            </a:r>
            <a:r>
              <a:rPr sz="1950">
                <a:latin typeface="Calibri"/>
                <a:cs typeface="Calibri"/>
              </a:rPr>
              <a:t>effectively</a:t>
            </a:r>
            <a:r>
              <a:rPr sz="1950" spc="-25">
                <a:latin typeface="Calibri"/>
                <a:cs typeface="Calibri"/>
              </a:rPr>
              <a:t> </a:t>
            </a:r>
            <a:r>
              <a:rPr sz="1950">
                <a:latin typeface="Calibri"/>
                <a:cs typeface="Calibri"/>
              </a:rPr>
              <a:t>as</a:t>
            </a:r>
            <a:r>
              <a:rPr sz="1950" spc="-20">
                <a:latin typeface="Calibri"/>
                <a:cs typeface="Calibri"/>
              </a:rPr>
              <a:t> </a:t>
            </a:r>
            <a:r>
              <a:rPr sz="1950">
                <a:latin typeface="Calibri"/>
                <a:cs typeface="Calibri"/>
              </a:rPr>
              <a:t>an</a:t>
            </a:r>
            <a:r>
              <a:rPr sz="1950" spc="-25">
                <a:latin typeface="Calibri"/>
                <a:cs typeface="Calibri"/>
              </a:rPr>
              <a:t> </a:t>
            </a:r>
            <a:r>
              <a:rPr sz="1950">
                <a:latin typeface="Calibri"/>
                <a:cs typeface="Calibri"/>
              </a:rPr>
              <a:t>individual,</a:t>
            </a:r>
            <a:r>
              <a:rPr sz="1950" spc="-25">
                <a:latin typeface="Calibri"/>
                <a:cs typeface="Calibri"/>
              </a:rPr>
              <a:t> </a:t>
            </a:r>
            <a:r>
              <a:rPr sz="1950">
                <a:latin typeface="Calibri"/>
                <a:cs typeface="Calibri"/>
              </a:rPr>
              <a:t>and</a:t>
            </a:r>
            <a:r>
              <a:rPr sz="1950" spc="-20">
                <a:latin typeface="Calibri"/>
                <a:cs typeface="Calibri"/>
              </a:rPr>
              <a:t> </a:t>
            </a:r>
            <a:r>
              <a:rPr sz="1950">
                <a:latin typeface="Calibri"/>
                <a:cs typeface="Calibri"/>
              </a:rPr>
              <a:t>as</a:t>
            </a:r>
            <a:r>
              <a:rPr sz="1950" spc="-25">
                <a:latin typeface="Calibri"/>
                <a:cs typeface="Calibri"/>
              </a:rPr>
              <a:t> </a:t>
            </a:r>
            <a:r>
              <a:rPr sz="1950">
                <a:latin typeface="Calibri"/>
                <a:cs typeface="Calibri"/>
              </a:rPr>
              <a:t>a</a:t>
            </a:r>
            <a:r>
              <a:rPr sz="1950" spc="-25">
                <a:latin typeface="Calibri"/>
                <a:cs typeface="Calibri"/>
              </a:rPr>
              <a:t> </a:t>
            </a:r>
            <a:r>
              <a:rPr sz="1950">
                <a:latin typeface="Calibri"/>
                <a:cs typeface="Calibri"/>
              </a:rPr>
              <a:t>member</a:t>
            </a:r>
            <a:r>
              <a:rPr sz="1950" spc="-20">
                <a:latin typeface="Calibri"/>
                <a:cs typeface="Calibri"/>
              </a:rPr>
              <a:t> </a:t>
            </a:r>
            <a:r>
              <a:rPr sz="1950" spc="-25">
                <a:latin typeface="Calibri"/>
                <a:cs typeface="Calibri"/>
              </a:rPr>
              <a:t>or 	</a:t>
            </a:r>
            <a:r>
              <a:rPr sz="1950">
                <a:latin typeface="Calibri"/>
                <a:cs typeface="Calibri"/>
              </a:rPr>
              <a:t>leader</a:t>
            </a:r>
            <a:r>
              <a:rPr sz="1950" spc="-5">
                <a:latin typeface="Calibri"/>
                <a:cs typeface="Calibri"/>
              </a:rPr>
              <a:t> </a:t>
            </a:r>
            <a:r>
              <a:rPr sz="1950">
                <a:latin typeface="Calibri"/>
                <a:cs typeface="Calibri"/>
              </a:rPr>
              <a:t>in</a:t>
            </a:r>
            <a:r>
              <a:rPr sz="1950" spc="-5">
                <a:latin typeface="Calibri"/>
                <a:cs typeface="Calibri"/>
              </a:rPr>
              <a:t> </a:t>
            </a:r>
            <a:r>
              <a:rPr sz="1950" spc="-10">
                <a:latin typeface="Calibri"/>
                <a:cs typeface="Calibri"/>
              </a:rPr>
              <a:t>diverse/multi-</a:t>
            </a:r>
            <a:r>
              <a:rPr sz="1950">
                <a:latin typeface="Calibri"/>
                <a:cs typeface="Calibri"/>
              </a:rPr>
              <a:t>disciplinary</a:t>
            </a:r>
            <a:r>
              <a:rPr sz="1950" spc="-5">
                <a:latin typeface="Calibri"/>
                <a:cs typeface="Calibri"/>
              </a:rPr>
              <a:t> </a:t>
            </a:r>
            <a:r>
              <a:rPr sz="1950" spc="-10">
                <a:latin typeface="Calibri"/>
                <a:cs typeface="Calibri"/>
              </a:rPr>
              <a:t>teams.</a:t>
            </a:r>
            <a:endParaRPr sz="1950">
              <a:latin typeface="Calibri"/>
              <a:cs typeface="Calibri"/>
            </a:endParaRPr>
          </a:p>
          <a:p>
            <a:pPr marL="202565" indent="-189865">
              <a:lnSpc>
                <a:spcPts val="1995"/>
              </a:lnSpc>
              <a:spcBef>
                <a:spcPts val="305"/>
              </a:spcBef>
              <a:buFont typeface="Arial MT"/>
              <a:buChar char="•"/>
              <a:tabLst>
                <a:tab pos="202565" algn="l"/>
              </a:tabLst>
            </a:pPr>
            <a:r>
              <a:rPr sz="1950">
                <a:latin typeface="Calibri"/>
                <a:cs typeface="Calibri"/>
              </a:rPr>
              <a:t>PO9:</a:t>
            </a:r>
            <a:r>
              <a:rPr sz="1950" spc="-40">
                <a:latin typeface="Calibri"/>
                <a:cs typeface="Calibri"/>
              </a:rPr>
              <a:t> </a:t>
            </a:r>
            <a:r>
              <a:rPr sz="1950">
                <a:latin typeface="Calibri"/>
                <a:cs typeface="Calibri"/>
              </a:rPr>
              <a:t>Communication:</a:t>
            </a:r>
            <a:r>
              <a:rPr sz="1950" spc="-35">
                <a:latin typeface="Calibri"/>
                <a:cs typeface="Calibri"/>
              </a:rPr>
              <a:t> </a:t>
            </a:r>
            <a:r>
              <a:rPr sz="1950">
                <a:latin typeface="Calibri"/>
                <a:cs typeface="Calibri"/>
              </a:rPr>
              <a:t>Communicate</a:t>
            </a:r>
            <a:r>
              <a:rPr sz="1950" spc="-35">
                <a:latin typeface="Calibri"/>
                <a:cs typeface="Calibri"/>
              </a:rPr>
              <a:t> </a:t>
            </a:r>
            <a:r>
              <a:rPr sz="1950">
                <a:latin typeface="Calibri"/>
                <a:cs typeface="Calibri"/>
              </a:rPr>
              <a:t>effectively</a:t>
            </a:r>
            <a:r>
              <a:rPr sz="1950" spc="-40">
                <a:latin typeface="Calibri"/>
                <a:cs typeface="Calibri"/>
              </a:rPr>
              <a:t> </a:t>
            </a:r>
            <a:r>
              <a:rPr sz="1950">
                <a:latin typeface="Calibri"/>
                <a:cs typeface="Calibri"/>
              </a:rPr>
              <a:t>and</a:t>
            </a:r>
            <a:r>
              <a:rPr sz="1950" spc="-35">
                <a:latin typeface="Calibri"/>
                <a:cs typeface="Calibri"/>
              </a:rPr>
              <a:t> </a:t>
            </a:r>
            <a:r>
              <a:rPr sz="1950">
                <a:latin typeface="Calibri"/>
                <a:cs typeface="Calibri"/>
              </a:rPr>
              <a:t>inclusively</a:t>
            </a:r>
            <a:r>
              <a:rPr sz="1950" spc="-35">
                <a:latin typeface="Calibri"/>
                <a:cs typeface="Calibri"/>
              </a:rPr>
              <a:t> </a:t>
            </a:r>
            <a:r>
              <a:rPr sz="1950">
                <a:latin typeface="Calibri"/>
                <a:cs typeface="Calibri"/>
              </a:rPr>
              <a:t>within</a:t>
            </a:r>
            <a:r>
              <a:rPr sz="1950" spc="-40">
                <a:latin typeface="Calibri"/>
                <a:cs typeface="Calibri"/>
              </a:rPr>
              <a:t> </a:t>
            </a:r>
            <a:r>
              <a:rPr sz="1950">
                <a:latin typeface="Calibri"/>
                <a:cs typeface="Calibri"/>
              </a:rPr>
              <a:t>the</a:t>
            </a:r>
            <a:r>
              <a:rPr sz="1950" spc="-35">
                <a:latin typeface="Calibri"/>
                <a:cs typeface="Calibri"/>
              </a:rPr>
              <a:t> </a:t>
            </a:r>
            <a:r>
              <a:rPr sz="1950">
                <a:latin typeface="Calibri"/>
                <a:cs typeface="Calibri"/>
              </a:rPr>
              <a:t>engineering</a:t>
            </a:r>
            <a:r>
              <a:rPr sz="1950" spc="-35">
                <a:latin typeface="Calibri"/>
                <a:cs typeface="Calibri"/>
              </a:rPr>
              <a:t> </a:t>
            </a:r>
            <a:r>
              <a:rPr sz="1950">
                <a:latin typeface="Calibri"/>
                <a:cs typeface="Calibri"/>
              </a:rPr>
              <a:t>community</a:t>
            </a:r>
            <a:r>
              <a:rPr sz="1950" spc="-35">
                <a:latin typeface="Calibri"/>
                <a:cs typeface="Calibri"/>
              </a:rPr>
              <a:t> </a:t>
            </a:r>
            <a:r>
              <a:rPr sz="1950" spc="-25">
                <a:latin typeface="Calibri"/>
                <a:cs typeface="Calibri"/>
              </a:rPr>
              <a:t>and</a:t>
            </a:r>
            <a:endParaRPr sz="1950">
              <a:latin typeface="Calibri"/>
              <a:cs typeface="Calibri"/>
            </a:endParaRPr>
          </a:p>
          <a:p>
            <a:pPr marL="203835" marR="5080">
              <a:lnSpc>
                <a:spcPct val="70400"/>
              </a:lnSpc>
              <a:spcBef>
                <a:spcPts val="345"/>
              </a:spcBef>
            </a:pPr>
            <a:r>
              <a:rPr sz="1950">
                <a:latin typeface="Calibri"/>
                <a:cs typeface="Calibri"/>
              </a:rPr>
              <a:t>society</a:t>
            </a:r>
            <a:r>
              <a:rPr sz="1950" spc="-20">
                <a:latin typeface="Calibri"/>
                <a:cs typeface="Calibri"/>
              </a:rPr>
              <a:t> </a:t>
            </a:r>
            <a:r>
              <a:rPr sz="1950">
                <a:latin typeface="Calibri"/>
                <a:cs typeface="Calibri"/>
              </a:rPr>
              <a:t>at</a:t>
            </a:r>
            <a:r>
              <a:rPr sz="1950" spc="-20">
                <a:latin typeface="Calibri"/>
                <a:cs typeface="Calibri"/>
              </a:rPr>
              <a:t> </a:t>
            </a:r>
            <a:r>
              <a:rPr sz="1950">
                <a:latin typeface="Calibri"/>
                <a:cs typeface="Calibri"/>
              </a:rPr>
              <a:t>large,</a:t>
            </a:r>
            <a:r>
              <a:rPr sz="1950" spc="-20">
                <a:latin typeface="Calibri"/>
                <a:cs typeface="Calibri"/>
              </a:rPr>
              <a:t> </a:t>
            </a:r>
            <a:r>
              <a:rPr sz="1950">
                <a:latin typeface="Calibri"/>
                <a:cs typeface="Calibri"/>
              </a:rPr>
              <a:t>such</a:t>
            </a:r>
            <a:r>
              <a:rPr sz="1950" spc="-20">
                <a:latin typeface="Calibri"/>
                <a:cs typeface="Calibri"/>
              </a:rPr>
              <a:t> </a:t>
            </a:r>
            <a:r>
              <a:rPr sz="1950">
                <a:latin typeface="Calibri"/>
                <a:cs typeface="Calibri"/>
              </a:rPr>
              <a:t>as</a:t>
            </a:r>
            <a:r>
              <a:rPr sz="1950" spc="-20">
                <a:latin typeface="Calibri"/>
                <a:cs typeface="Calibri"/>
              </a:rPr>
              <a:t> </a:t>
            </a:r>
            <a:r>
              <a:rPr sz="1950">
                <a:latin typeface="Calibri"/>
                <a:cs typeface="Calibri"/>
              </a:rPr>
              <a:t>being</a:t>
            </a:r>
            <a:r>
              <a:rPr sz="1950" spc="-20">
                <a:latin typeface="Calibri"/>
                <a:cs typeface="Calibri"/>
              </a:rPr>
              <a:t> </a:t>
            </a:r>
            <a:r>
              <a:rPr sz="1950">
                <a:latin typeface="Calibri"/>
                <a:cs typeface="Calibri"/>
              </a:rPr>
              <a:t>able</a:t>
            </a:r>
            <a:r>
              <a:rPr sz="1950" spc="-20">
                <a:latin typeface="Calibri"/>
                <a:cs typeface="Calibri"/>
              </a:rPr>
              <a:t> </a:t>
            </a:r>
            <a:r>
              <a:rPr sz="1950">
                <a:latin typeface="Calibri"/>
                <a:cs typeface="Calibri"/>
              </a:rPr>
              <a:t>to</a:t>
            </a:r>
            <a:r>
              <a:rPr sz="1950" spc="-20">
                <a:latin typeface="Calibri"/>
                <a:cs typeface="Calibri"/>
              </a:rPr>
              <a:t> </a:t>
            </a:r>
            <a:r>
              <a:rPr sz="1950">
                <a:latin typeface="Calibri"/>
                <a:cs typeface="Calibri"/>
              </a:rPr>
              <a:t>comprehend</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write</a:t>
            </a:r>
            <a:r>
              <a:rPr sz="1950" spc="-20">
                <a:latin typeface="Calibri"/>
                <a:cs typeface="Calibri"/>
              </a:rPr>
              <a:t> </a:t>
            </a:r>
            <a:r>
              <a:rPr sz="1950">
                <a:latin typeface="Calibri"/>
                <a:cs typeface="Calibri"/>
              </a:rPr>
              <a:t>effective</a:t>
            </a:r>
            <a:r>
              <a:rPr sz="1950" spc="-20">
                <a:latin typeface="Calibri"/>
                <a:cs typeface="Calibri"/>
              </a:rPr>
              <a:t> </a:t>
            </a:r>
            <a:r>
              <a:rPr sz="1950">
                <a:latin typeface="Calibri"/>
                <a:cs typeface="Calibri"/>
              </a:rPr>
              <a:t>reports</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design</a:t>
            </a:r>
            <a:r>
              <a:rPr sz="1950" spc="-20">
                <a:latin typeface="Calibri"/>
                <a:cs typeface="Calibri"/>
              </a:rPr>
              <a:t> </a:t>
            </a:r>
            <a:r>
              <a:rPr sz="1950" spc="-10">
                <a:latin typeface="Calibri"/>
                <a:cs typeface="Calibri"/>
              </a:rPr>
              <a:t>documentation, </a:t>
            </a:r>
            <a:r>
              <a:rPr sz="1950">
                <a:latin typeface="Calibri"/>
                <a:cs typeface="Calibri"/>
              </a:rPr>
              <a:t>make</a:t>
            </a:r>
            <a:r>
              <a:rPr sz="1950" spc="-40">
                <a:latin typeface="Calibri"/>
                <a:cs typeface="Calibri"/>
              </a:rPr>
              <a:t> </a:t>
            </a:r>
            <a:r>
              <a:rPr sz="1950">
                <a:latin typeface="Calibri"/>
                <a:cs typeface="Calibri"/>
              </a:rPr>
              <a:t>effective</a:t>
            </a:r>
            <a:r>
              <a:rPr sz="1950" spc="-35">
                <a:latin typeface="Calibri"/>
                <a:cs typeface="Calibri"/>
              </a:rPr>
              <a:t> </a:t>
            </a:r>
            <a:r>
              <a:rPr sz="1950">
                <a:latin typeface="Calibri"/>
                <a:cs typeface="Calibri"/>
              </a:rPr>
              <a:t>presentations</a:t>
            </a:r>
            <a:r>
              <a:rPr sz="1950" spc="-35">
                <a:latin typeface="Calibri"/>
                <a:cs typeface="Calibri"/>
              </a:rPr>
              <a:t> </a:t>
            </a:r>
            <a:r>
              <a:rPr sz="1950">
                <a:latin typeface="Calibri"/>
                <a:cs typeface="Calibri"/>
              </a:rPr>
              <a:t>considering</a:t>
            </a:r>
            <a:r>
              <a:rPr sz="1950" spc="-35">
                <a:latin typeface="Calibri"/>
                <a:cs typeface="Calibri"/>
              </a:rPr>
              <a:t> </a:t>
            </a:r>
            <a:r>
              <a:rPr sz="1950">
                <a:latin typeface="Calibri"/>
                <a:cs typeface="Calibri"/>
              </a:rPr>
              <a:t>cultural,</a:t>
            </a:r>
            <a:r>
              <a:rPr sz="1950" spc="-40">
                <a:latin typeface="Calibri"/>
                <a:cs typeface="Calibri"/>
              </a:rPr>
              <a:t> </a:t>
            </a:r>
            <a:r>
              <a:rPr sz="1950">
                <a:latin typeface="Calibri"/>
                <a:cs typeface="Calibri"/>
              </a:rPr>
              <a:t>language,</a:t>
            </a:r>
            <a:r>
              <a:rPr sz="1950" spc="-35">
                <a:latin typeface="Calibri"/>
                <a:cs typeface="Calibri"/>
              </a:rPr>
              <a:t> </a:t>
            </a:r>
            <a:r>
              <a:rPr sz="1950">
                <a:latin typeface="Calibri"/>
                <a:cs typeface="Calibri"/>
              </a:rPr>
              <a:t>and</a:t>
            </a:r>
            <a:r>
              <a:rPr sz="1950" spc="-35">
                <a:latin typeface="Calibri"/>
                <a:cs typeface="Calibri"/>
              </a:rPr>
              <a:t> </a:t>
            </a:r>
            <a:r>
              <a:rPr sz="1950">
                <a:latin typeface="Calibri"/>
                <a:cs typeface="Calibri"/>
              </a:rPr>
              <a:t>learning</a:t>
            </a:r>
            <a:r>
              <a:rPr sz="1950" spc="-35">
                <a:latin typeface="Calibri"/>
                <a:cs typeface="Calibri"/>
              </a:rPr>
              <a:t> </a:t>
            </a:r>
            <a:r>
              <a:rPr sz="1950" spc="-10">
                <a:latin typeface="Calibri"/>
                <a:cs typeface="Calibri"/>
              </a:rPr>
              <a:t>differences</a:t>
            </a:r>
            <a:endParaRPr sz="1950">
              <a:latin typeface="Calibri"/>
              <a:cs typeface="Calibri"/>
            </a:endParaRPr>
          </a:p>
          <a:p>
            <a:pPr marL="202565" indent="-189865">
              <a:lnSpc>
                <a:spcPts val="1995"/>
              </a:lnSpc>
              <a:spcBef>
                <a:spcPts val="310"/>
              </a:spcBef>
              <a:buFont typeface="Arial MT"/>
              <a:buChar char="•"/>
              <a:tabLst>
                <a:tab pos="202565" algn="l"/>
              </a:tabLst>
            </a:pPr>
            <a:r>
              <a:rPr sz="1950">
                <a:latin typeface="Calibri"/>
                <a:cs typeface="Calibri"/>
              </a:rPr>
              <a:t>PO10:</a:t>
            </a:r>
            <a:r>
              <a:rPr sz="1950" spc="-30">
                <a:latin typeface="Calibri"/>
                <a:cs typeface="Calibri"/>
              </a:rPr>
              <a:t> </a:t>
            </a:r>
            <a:r>
              <a:rPr sz="1950">
                <a:latin typeface="Calibri"/>
                <a:cs typeface="Calibri"/>
              </a:rPr>
              <a:t>Project</a:t>
            </a:r>
            <a:r>
              <a:rPr sz="1950" spc="-25">
                <a:latin typeface="Calibri"/>
                <a:cs typeface="Calibri"/>
              </a:rPr>
              <a:t> </a:t>
            </a:r>
            <a:r>
              <a:rPr sz="1950">
                <a:latin typeface="Calibri"/>
                <a:cs typeface="Calibri"/>
              </a:rPr>
              <a:t>Management</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Finance:</a:t>
            </a:r>
            <a:r>
              <a:rPr sz="1950" spc="-30">
                <a:latin typeface="Calibri"/>
                <a:cs typeface="Calibri"/>
              </a:rPr>
              <a:t> </a:t>
            </a:r>
            <a:r>
              <a:rPr sz="1950">
                <a:latin typeface="Calibri"/>
                <a:cs typeface="Calibri"/>
              </a:rPr>
              <a:t>Apply</a:t>
            </a:r>
            <a:r>
              <a:rPr sz="1950" spc="-25">
                <a:latin typeface="Calibri"/>
                <a:cs typeface="Calibri"/>
              </a:rPr>
              <a:t> </a:t>
            </a:r>
            <a:r>
              <a:rPr sz="1950">
                <a:latin typeface="Calibri"/>
                <a:cs typeface="Calibri"/>
              </a:rPr>
              <a:t>knowledge</a:t>
            </a:r>
            <a:r>
              <a:rPr sz="1950" spc="-30">
                <a:latin typeface="Calibri"/>
                <a:cs typeface="Calibri"/>
              </a:rPr>
              <a:t> </a:t>
            </a:r>
            <a:r>
              <a:rPr sz="1950">
                <a:latin typeface="Calibri"/>
                <a:cs typeface="Calibri"/>
              </a:rPr>
              <a:t>and</a:t>
            </a:r>
            <a:r>
              <a:rPr sz="1950" spc="-25">
                <a:latin typeface="Calibri"/>
                <a:cs typeface="Calibri"/>
              </a:rPr>
              <a:t> </a:t>
            </a:r>
            <a:r>
              <a:rPr sz="1950">
                <a:latin typeface="Calibri"/>
                <a:cs typeface="Calibri"/>
              </a:rPr>
              <a:t>understanding</a:t>
            </a:r>
            <a:r>
              <a:rPr sz="1950" spc="-30">
                <a:latin typeface="Calibri"/>
                <a:cs typeface="Calibri"/>
              </a:rPr>
              <a:t> </a:t>
            </a:r>
            <a:r>
              <a:rPr sz="1950">
                <a:latin typeface="Calibri"/>
                <a:cs typeface="Calibri"/>
              </a:rPr>
              <a:t>of</a:t>
            </a:r>
            <a:r>
              <a:rPr sz="1950" spc="-25">
                <a:latin typeface="Calibri"/>
                <a:cs typeface="Calibri"/>
              </a:rPr>
              <a:t> </a:t>
            </a:r>
            <a:r>
              <a:rPr sz="1950" spc="-10">
                <a:latin typeface="Calibri"/>
                <a:cs typeface="Calibri"/>
              </a:rPr>
              <a:t>engineering</a:t>
            </a:r>
            <a:endParaRPr sz="1950">
              <a:latin typeface="Calibri"/>
              <a:cs typeface="Calibri"/>
            </a:endParaRPr>
          </a:p>
          <a:p>
            <a:pPr marL="203835" marR="114935">
              <a:lnSpc>
                <a:spcPct val="70400"/>
              </a:lnSpc>
              <a:spcBef>
                <a:spcPts val="345"/>
              </a:spcBef>
            </a:pPr>
            <a:r>
              <a:rPr sz="1950">
                <a:latin typeface="Calibri"/>
                <a:cs typeface="Calibri"/>
              </a:rPr>
              <a:t>management</a:t>
            </a:r>
            <a:r>
              <a:rPr sz="1950" spc="-30">
                <a:latin typeface="Calibri"/>
                <a:cs typeface="Calibri"/>
              </a:rPr>
              <a:t> </a:t>
            </a:r>
            <a:r>
              <a:rPr sz="1950">
                <a:latin typeface="Calibri"/>
                <a:cs typeface="Calibri"/>
              </a:rPr>
              <a:t>principles</a:t>
            </a:r>
            <a:r>
              <a:rPr sz="1950" spc="-15">
                <a:latin typeface="Calibri"/>
                <a:cs typeface="Calibri"/>
              </a:rPr>
              <a:t> </a:t>
            </a:r>
            <a:r>
              <a:rPr sz="1950">
                <a:latin typeface="Calibri"/>
                <a:cs typeface="Calibri"/>
              </a:rPr>
              <a:t>and</a:t>
            </a:r>
            <a:r>
              <a:rPr sz="1950" spc="-15">
                <a:latin typeface="Calibri"/>
                <a:cs typeface="Calibri"/>
              </a:rPr>
              <a:t> </a:t>
            </a:r>
            <a:r>
              <a:rPr sz="1950">
                <a:latin typeface="Calibri"/>
                <a:cs typeface="Calibri"/>
              </a:rPr>
              <a:t>economic</a:t>
            </a:r>
            <a:r>
              <a:rPr sz="1950" spc="-15">
                <a:latin typeface="Calibri"/>
                <a:cs typeface="Calibri"/>
              </a:rPr>
              <a:t> </a:t>
            </a:r>
            <a:r>
              <a:rPr sz="1950" spc="-10">
                <a:latin typeface="Calibri"/>
                <a:cs typeface="Calibri"/>
              </a:rPr>
              <a:t>decision-</a:t>
            </a:r>
            <a:r>
              <a:rPr sz="1950">
                <a:latin typeface="Calibri"/>
                <a:cs typeface="Calibri"/>
              </a:rPr>
              <a:t>making</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apply</a:t>
            </a:r>
            <a:r>
              <a:rPr sz="1950" spc="-15">
                <a:latin typeface="Calibri"/>
                <a:cs typeface="Calibri"/>
              </a:rPr>
              <a:t> </a:t>
            </a:r>
            <a:r>
              <a:rPr sz="1950">
                <a:latin typeface="Calibri"/>
                <a:cs typeface="Calibri"/>
              </a:rPr>
              <a:t>these</a:t>
            </a:r>
            <a:r>
              <a:rPr sz="1950" spc="-15">
                <a:latin typeface="Calibri"/>
                <a:cs typeface="Calibri"/>
              </a:rPr>
              <a:t> </a:t>
            </a:r>
            <a:r>
              <a:rPr sz="1950">
                <a:latin typeface="Calibri"/>
                <a:cs typeface="Calibri"/>
              </a:rPr>
              <a:t>to</a:t>
            </a:r>
            <a:r>
              <a:rPr sz="1950" spc="-15">
                <a:latin typeface="Calibri"/>
                <a:cs typeface="Calibri"/>
              </a:rPr>
              <a:t> </a:t>
            </a:r>
            <a:r>
              <a:rPr sz="1950">
                <a:latin typeface="Calibri"/>
                <a:cs typeface="Calibri"/>
              </a:rPr>
              <a:t>one’s</a:t>
            </a:r>
            <a:r>
              <a:rPr sz="1950" spc="-20">
                <a:latin typeface="Calibri"/>
                <a:cs typeface="Calibri"/>
              </a:rPr>
              <a:t> </a:t>
            </a:r>
            <a:r>
              <a:rPr sz="1950">
                <a:latin typeface="Calibri"/>
                <a:cs typeface="Calibri"/>
              </a:rPr>
              <a:t>own</a:t>
            </a:r>
            <a:r>
              <a:rPr sz="1950" spc="-15">
                <a:latin typeface="Calibri"/>
                <a:cs typeface="Calibri"/>
              </a:rPr>
              <a:t> </a:t>
            </a:r>
            <a:r>
              <a:rPr sz="1950">
                <a:latin typeface="Calibri"/>
                <a:cs typeface="Calibri"/>
              </a:rPr>
              <a:t>work,</a:t>
            </a:r>
            <a:r>
              <a:rPr sz="1950" spc="-15">
                <a:latin typeface="Calibri"/>
                <a:cs typeface="Calibri"/>
              </a:rPr>
              <a:t> </a:t>
            </a:r>
            <a:r>
              <a:rPr sz="1950">
                <a:latin typeface="Calibri"/>
                <a:cs typeface="Calibri"/>
              </a:rPr>
              <a:t>as</a:t>
            </a:r>
            <a:r>
              <a:rPr sz="1950" spc="-15">
                <a:latin typeface="Calibri"/>
                <a:cs typeface="Calibri"/>
              </a:rPr>
              <a:t> </a:t>
            </a:r>
            <a:r>
              <a:rPr sz="1950">
                <a:latin typeface="Calibri"/>
                <a:cs typeface="Calibri"/>
              </a:rPr>
              <a:t>a</a:t>
            </a:r>
            <a:r>
              <a:rPr sz="1950" spc="-15">
                <a:latin typeface="Calibri"/>
                <a:cs typeface="Calibri"/>
              </a:rPr>
              <a:t> </a:t>
            </a:r>
            <a:r>
              <a:rPr sz="1950" spc="-10">
                <a:latin typeface="Calibri"/>
                <a:cs typeface="Calibri"/>
              </a:rPr>
              <a:t>member </a:t>
            </a:r>
            <a:r>
              <a:rPr sz="1950">
                <a:latin typeface="Calibri"/>
                <a:cs typeface="Calibri"/>
              </a:rPr>
              <a:t>and</a:t>
            </a:r>
            <a:r>
              <a:rPr sz="1950" spc="-30">
                <a:latin typeface="Calibri"/>
                <a:cs typeface="Calibri"/>
              </a:rPr>
              <a:t> </a:t>
            </a:r>
            <a:r>
              <a:rPr sz="1950">
                <a:latin typeface="Calibri"/>
                <a:cs typeface="Calibri"/>
              </a:rPr>
              <a:t>leader</a:t>
            </a:r>
            <a:r>
              <a:rPr sz="1950" spc="-20">
                <a:latin typeface="Calibri"/>
                <a:cs typeface="Calibri"/>
              </a:rPr>
              <a:t> </a:t>
            </a:r>
            <a:r>
              <a:rPr sz="1950">
                <a:latin typeface="Calibri"/>
                <a:cs typeface="Calibri"/>
              </a:rPr>
              <a:t>in</a:t>
            </a:r>
            <a:r>
              <a:rPr sz="1950" spc="-20">
                <a:latin typeface="Calibri"/>
                <a:cs typeface="Calibri"/>
              </a:rPr>
              <a:t> </a:t>
            </a:r>
            <a:r>
              <a:rPr sz="1950">
                <a:latin typeface="Calibri"/>
                <a:cs typeface="Calibri"/>
              </a:rPr>
              <a:t>a</a:t>
            </a:r>
            <a:r>
              <a:rPr sz="1950" spc="-20">
                <a:latin typeface="Calibri"/>
                <a:cs typeface="Calibri"/>
              </a:rPr>
              <a:t> </a:t>
            </a:r>
            <a:r>
              <a:rPr sz="1950">
                <a:latin typeface="Calibri"/>
                <a:cs typeface="Calibri"/>
              </a:rPr>
              <a:t>team,</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manage</a:t>
            </a:r>
            <a:r>
              <a:rPr sz="1950" spc="-20">
                <a:latin typeface="Calibri"/>
                <a:cs typeface="Calibri"/>
              </a:rPr>
              <a:t> </a:t>
            </a:r>
            <a:r>
              <a:rPr sz="1950">
                <a:latin typeface="Calibri"/>
                <a:cs typeface="Calibri"/>
              </a:rPr>
              <a:t>projects</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in</a:t>
            </a:r>
            <a:r>
              <a:rPr sz="1950" spc="-20">
                <a:latin typeface="Calibri"/>
                <a:cs typeface="Calibri"/>
              </a:rPr>
              <a:t> </a:t>
            </a:r>
            <a:r>
              <a:rPr sz="1950">
                <a:latin typeface="Calibri"/>
                <a:cs typeface="Calibri"/>
              </a:rPr>
              <a:t>multidisciplinary</a:t>
            </a:r>
            <a:r>
              <a:rPr sz="1950" spc="-15">
                <a:latin typeface="Calibri"/>
                <a:cs typeface="Calibri"/>
              </a:rPr>
              <a:t> </a:t>
            </a:r>
            <a:r>
              <a:rPr sz="1950" spc="-10">
                <a:latin typeface="Calibri"/>
                <a:cs typeface="Calibri"/>
              </a:rPr>
              <a:t>environments.</a:t>
            </a:r>
            <a:endParaRPr sz="1950">
              <a:latin typeface="Calibri"/>
              <a:cs typeface="Calibri"/>
            </a:endParaRPr>
          </a:p>
          <a:p>
            <a:pPr marL="201930" marR="31115" indent="-189865">
              <a:lnSpc>
                <a:spcPct val="70400"/>
              </a:lnSpc>
              <a:spcBef>
                <a:spcPts val="1000"/>
              </a:spcBef>
              <a:buFont typeface="Arial MT"/>
              <a:buChar char="•"/>
              <a:tabLst>
                <a:tab pos="203835" algn="l"/>
              </a:tabLst>
            </a:pPr>
            <a:r>
              <a:rPr sz="1950">
                <a:latin typeface="Calibri"/>
                <a:cs typeface="Calibri"/>
              </a:rPr>
              <a:t>PO11:</a:t>
            </a:r>
            <a:r>
              <a:rPr sz="1950" spc="-20">
                <a:latin typeface="Calibri"/>
                <a:cs typeface="Calibri"/>
              </a:rPr>
              <a:t> </a:t>
            </a:r>
            <a:r>
              <a:rPr sz="1950" spc="-10">
                <a:latin typeface="Calibri"/>
                <a:cs typeface="Calibri"/>
              </a:rPr>
              <a:t>Life-</a:t>
            </a:r>
            <a:r>
              <a:rPr sz="1950">
                <a:latin typeface="Calibri"/>
                <a:cs typeface="Calibri"/>
              </a:rPr>
              <a:t>Long</a:t>
            </a:r>
            <a:r>
              <a:rPr sz="1950" spc="-20">
                <a:latin typeface="Calibri"/>
                <a:cs typeface="Calibri"/>
              </a:rPr>
              <a:t> </a:t>
            </a:r>
            <a:r>
              <a:rPr sz="1950">
                <a:latin typeface="Calibri"/>
                <a:cs typeface="Calibri"/>
              </a:rPr>
              <a:t>Learning:</a:t>
            </a:r>
            <a:r>
              <a:rPr sz="1950" spc="-15">
                <a:latin typeface="Calibri"/>
                <a:cs typeface="Calibri"/>
              </a:rPr>
              <a:t> </a:t>
            </a:r>
            <a:r>
              <a:rPr sz="1950">
                <a:latin typeface="Calibri"/>
                <a:cs typeface="Calibri"/>
              </a:rPr>
              <a:t>Recognize</a:t>
            </a:r>
            <a:r>
              <a:rPr sz="1950" spc="-20">
                <a:latin typeface="Calibri"/>
                <a:cs typeface="Calibri"/>
              </a:rPr>
              <a:t> </a:t>
            </a:r>
            <a:r>
              <a:rPr sz="1950">
                <a:latin typeface="Calibri"/>
                <a:cs typeface="Calibri"/>
              </a:rPr>
              <a:t>the</a:t>
            </a:r>
            <a:r>
              <a:rPr sz="1950" spc="-15">
                <a:latin typeface="Calibri"/>
                <a:cs typeface="Calibri"/>
              </a:rPr>
              <a:t> </a:t>
            </a:r>
            <a:r>
              <a:rPr sz="1950">
                <a:latin typeface="Calibri"/>
                <a:cs typeface="Calibri"/>
              </a:rPr>
              <a:t>need</a:t>
            </a:r>
            <a:r>
              <a:rPr sz="1950" spc="-20">
                <a:latin typeface="Calibri"/>
                <a:cs typeface="Calibri"/>
              </a:rPr>
              <a:t> </a:t>
            </a:r>
            <a:r>
              <a:rPr sz="1950">
                <a:latin typeface="Calibri"/>
                <a:cs typeface="Calibri"/>
              </a:rPr>
              <a:t>for,</a:t>
            </a:r>
            <a:r>
              <a:rPr sz="1950" spc="-20">
                <a:latin typeface="Calibri"/>
                <a:cs typeface="Calibri"/>
              </a:rPr>
              <a:t> </a:t>
            </a:r>
            <a:r>
              <a:rPr sz="1950">
                <a:latin typeface="Calibri"/>
                <a:cs typeface="Calibri"/>
              </a:rPr>
              <a:t>and</a:t>
            </a:r>
            <a:r>
              <a:rPr sz="1950" spc="-15">
                <a:latin typeface="Calibri"/>
                <a:cs typeface="Calibri"/>
              </a:rPr>
              <a:t> </a:t>
            </a:r>
            <a:r>
              <a:rPr sz="1950">
                <a:latin typeface="Calibri"/>
                <a:cs typeface="Calibri"/>
              </a:rPr>
              <a:t>have</a:t>
            </a:r>
            <a:r>
              <a:rPr sz="1950" spc="-20">
                <a:latin typeface="Calibri"/>
                <a:cs typeface="Calibri"/>
              </a:rPr>
              <a:t> </a:t>
            </a:r>
            <a:r>
              <a:rPr sz="1950">
                <a:latin typeface="Calibri"/>
                <a:cs typeface="Calibri"/>
              </a:rPr>
              <a:t>the</a:t>
            </a:r>
            <a:r>
              <a:rPr sz="1950" spc="-15">
                <a:latin typeface="Calibri"/>
                <a:cs typeface="Calibri"/>
              </a:rPr>
              <a:t> </a:t>
            </a:r>
            <a:r>
              <a:rPr sz="1950">
                <a:latin typeface="Calibri"/>
                <a:cs typeface="Calibri"/>
              </a:rPr>
              <a:t>preparation</a:t>
            </a:r>
            <a:r>
              <a:rPr sz="1950" spc="-20">
                <a:latin typeface="Calibri"/>
                <a:cs typeface="Calibri"/>
              </a:rPr>
              <a:t> </a:t>
            </a:r>
            <a:r>
              <a:rPr sz="1950">
                <a:latin typeface="Calibri"/>
                <a:cs typeface="Calibri"/>
              </a:rPr>
              <a:t>and</a:t>
            </a:r>
            <a:r>
              <a:rPr sz="1950" spc="-20">
                <a:latin typeface="Calibri"/>
                <a:cs typeface="Calibri"/>
              </a:rPr>
              <a:t> </a:t>
            </a:r>
            <a:r>
              <a:rPr sz="1950">
                <a:latin typeface="Calibri"/>
                <a:cs typeface="Calibri"/>
              </a:rPr>
              <a:t>ability</a:t>
            </a:r>
            <a:r>
              <a:rPr sz="1950" spc="-15">
                <a:latin typeface="Calibri"/>
                <a:cs typeface="Calibri"/>
              </a:rPr>
              <a:t> </a:t>
            </a:r>
            <a:r>
              <a:rPr sz="1950">
                <a:latin typeface="Calibri"/>
                <a:cs typeface="Calibri"/>
              </a:rPr>
              <a:t>for</a:t>
            </a:r>
            <a:r>
              <a:rPr sz="1950" spc="-20">
                <a:latin typeface="Calibri"/>
                <a:cs typeface="Calibri"/>
              </a:rPr>
              <a:t> </a:t>
            </a:r>
            <a:r>
              <a:rPr sz="1950">
                <a:latin typeface="Calibri"/>
                <a:cs typeface="Calibri"/>
              </a:rPr>
              <a:t>i)</a:t>
            </a:r>
            <a:r>
              <a:rPr sz="1950" spc="-15">
                <a:latin typeface="Calibri"/>
                <a:cs typeface="Calibri"/>
              </a:rPr>
              <a:t> </a:t>
            </a:r>
            <a:r>
              <a:rPr sz="1950" spc="-10">
                <a:latin typeface="Calibri"/>
                <a:cs typeface="Calibri"/>
              </a:rPr>
              <a:t>independent 	</a:t>
            </a:r>
            <a:r>
              <a:rPr sz="1950">
                <a:latin typeface="Calibri"/>
                <a:cs typeface="Calibri"/>
              </a:rPr>
              <a:t>and</a:t>
            </a:r>
            <a:r>
              <a:rPr sz="1950" spc="-30">
                <a:latin typeface="Calibri"/>
                <a:cs typeface="Calibri"/>
              </a:rPr>
              <a:t> </a:t>
            </a:r>
            <a:r>
              <a:rPr sz="1950" spc="-10">
                <a:latin typeface="Calibri"/>
                <a:cs typeface="Calibri"/>
              </a:rPr>
              <a:t>life-</a:t>
            </a:r>
            <a:r>
              <a:rPr sz="1950">
                <a:latin typeface="Calibri"/>
                <a:cs typeface="Calibri"/>
              </a:rPr>
              <a:t>long</a:t>
            </a:r>
            <a:r>
              <a:rPr sz="1950" spc="-20">
                <a:latin typeface="Calibri"/>
                <a:cs typeface="Calibri"/>
              </a:rPr>
              <a:t> </a:t>
            </a:r>
            <a:r>
              <a:rPr sz="1950">
                <a:latin typeface="Calibri"/>
                <a:cs typeface="Calibri"/>
              </a:rPr>
              <a:t>learning</a:t>
            </a:r>
            <a:r>
              <a:rPr sz="1950" spc="-15">
                <a:latin typeface="Calibri"/>
                <a:cs typeface="Calibri"/>
              </a:rPr>
              <a:t> </a:t>
            </a:r>
            <a:r>
              <a:rPr sz="1950">
                <a:latin typeface="Calibri"/>
                <a:cs typeface="Calibri"/>
              </a:rPr>
              <a:t>ii)</a:t>
            </a:r>
            <a:r>
              <a:rPr sz="1950" spc="-20">
                <a:latin typeface="Calibri"/>
                <a:cs typeface="Calibri"/>
              </a:rPr>
              <a:t> </a:t>
            </a:r>
            <a:r>
              <a:rPr sz="1950">
                <a:latin typeface="Calibri"/>
                <a:cs typeface="Calibri"/>
              </a:rPr>
              <a:t>adaptability</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new</a:t>
            </a:r>
            <a:r>
              <a:rPr sz="1950" spc="-15">
                <a:latin typeface="Calibri"/>
                <a:cs typeface="Calibri"/>
              </a:rPr>
              <a:t> </a:t>
            </a:r>
            <a:r>
              <a:rPr sz="1950">
                <a:latin typeface="Calibri"/>
                <a:cs typeface="Calibri"/>
              </a:rPr>
              <a:t>and</a:t>
            </a:r>
            <a:r>
              <a:rPr sz="1950" spc="-20">
                <a:latin typeface="Calibri"/>
                <a:cs typeface="Calibri"/>
              </a:rPr>
              <a:t> </a:t>
            </a:r>
            <a:r>
              <a:rPr sz="1950">
                <a:latin typeface="Calibri"/>
                <a:cs typeface="Calibri"/>
              </a:rPr>
              <a:t>emerging</a:t>
            </a:r>
            <a:r>
              <a:rPr sz="1950" spc="-15">
                <a:latin typeface="Calibri"/>
                <a:cs typeface="Calibri"/>
              </a:rPr>
              <a:t> </a:t>
            </a:r>
            <a:r>
              <a:rPr sz="1950" spc="-10">
                <a:latin typeface="Calibri"/>
                <a:cs typeface="Calibri"/>
              </a:rPr>
              <a:t>technologies</a:t>
            </a:r>
            <a:endParaRPr sz="1950">
              <a:latin typeface="Calibri"/>
              <a:cs typeface="Calibri"/>
            </a:endParaRPr>
          </a:p>
          <a:p>
            <a:pPr marL="201930" marR="20955" indent="-189865">
              <a:lnSpc>
                <a:spcPct val="70400"/>
              </a:lnSpc>
              <a:spcBef>
                <a:spcPts val="1000"/>
              </a:spcBef>
              <a:buFont typeface="Arial MT"/>
              <a:buChar char="•"/>
              <a:tabLst>
                <a:tab pos="203835" algn="l"/>
              </a:tabLst>
            </a:pPr>
            <a:r>
              <a:rPr sz="1950">
                <a:latin typeface="Calibri"/>
                <a:cs typeface="Calibri"/>
              </a:rPr>
              <a:t>[PSO</a:t>
            </a:r>
            <a:r>
              <a:rPr sz="1950" spc="-30">
                <a:latin typeface="Calibri"/>
                <a:cs typeface="Calibri"/>
              </a:rPr>
              <a:t> </a:t>
            </a:r>
            <a:r>
              <a:rPr sz="1950">
                <a:latin typeface="Calibri"/>
                <a:cs typeface="Calibri"/>
              </a:rPr>
              <a:t>1]</a:t>
            </a:r>
            <a:r>
              <a:rPr sz="1950" spc="-20">
                <a:latin typeface="Calibri"/>
                <a:cs typeface="Calibri"/>
              </a:rPr>
              <a:t> </a:t>
            </a:r>
            <a:r>
              <a:rPr sz="1950">
                <a:latin typeface="Calibri"/>
                <a:cs typeface="Calibri"/>
              </a:rPr>
              <a:t>An</a:t>
            </a:r>
            <a:r>
              <a:rPr sz="1950" spc="-15">
                <a:latin typeface="Calibri"/>
                <a:cs typeface="Calibri"/>
              </a:rPr>
              <a:t> </a:t>
            </a:r>
            <a:r>
              <a:rPr sz="1950">
                <a:latin typeface="Calibri"/>
                <a:cs typeface="Calibri"/>
              </a:rPr>
              <a:t>ability</a:t>
            </a:r>
            <a:r>
              <a:rPr sz="1950" spc="-20">
                <a:latin typeface="Calibri"/>
                <a:cs typeface="Calibri"/>
              </a:rPr>
              <a:t> </a:t>
            </a:r>
            <a:r>
              <a:rPr sz="1950">
                <a:latin typeface="Calibri"/>
                <a:cs typeface="Calibri"/>
              </a:rPr>
              <a:t>to</a:t>
            </a:r>
            <a:r>
              <a:rPr sz="1950" spc="-20">
                <a:latin typeface="Calibri"/>
                <a:cs typeface="Calibri"/>
              </a:rPr>
              <a:t> </a:t>
            </a:r>
            <a:r>
              <a:rPr sz="1950">
                <a:latin typeface="Calibri"/>
                <a:cs typeface="Calibri"/>
              </a:rPr>
              <a:t>acquire</a:t>
            </a:r>
            <a:r>
              <a:rPr sz="1950" spc="-15">
                <a:latin typeface="Calibri"/>
                <a:cs typeface="Calibri"/>
              </a:rPr>
              <a:t> </a:t>
            </a:r>
            <a:r>
              <a:rPr sz="1950">
                <a:latin typeface="Calibri"/>
                <a:cs typeface="Calibri"/>
              </a:rPr>
              <a:t>skills</a:t>
            </a:r>
            <a:r>
              <a:rPr sz="1950" spc="-20">
                <a:latin typeface="Calibri"/>
                <a:cs typeface="Calibri"/>
              </a:rPr>
              <a:t> </a:t>
            </a:r>
            <a:r>
              <a:rPr sz="1950">
                <a:latin typeface="Calibri"/>
                <a:cs typeface="Calibri"/>
              </a:rPr>
              <a:t>to</a:t>
            </a:r>
            <a:r>
              <a:rPr sz="1950" spc="-15">
                <a:latin typeface="Calibri"/>
                <a:cs typeface="Calibri"/>
              </a:rPr>
              <a:t> </a:t>
            </a:r>
            <a:r>
              <a:rPr sz="1950">
                <a:latin typeface="Calibri"/>
                <a:cs typeface="Calibri"/>
              </a:rPr>
              <a:t>design</a:t>
            </a:r>
            <a:r>
              <a:rPr sz="1950" spc="-20">
                <a:latin typeface="Calibri"/>
                <a:cs typeface="Calibri"/>
              </a:rPr>
              <a:t> </a:t>
            </a:r>
            <a:r>
              <a:rPr sz="1950">
                <a:latin typeface="Calibri"/>
                <a:cs typeface="Calibri"/>
              </a:rPr>
              <a:t>&amp;</a:t>
            </a:r>
            <a:r>
              <a:rPr sz="1950" spc="-20">
                <a:latin typeface="Calibri"/>
                <a:cs typeface="Calibri"/>
              </a:rPr>
              <a:t> </a:t>
            </a:r>
            <a:r>
              <a:rPr sz="1950">
                <a:latin typeface="Calibri"/>
                <a:cs typeface="Calibri"/>
              </a:rPr>
              <a:t>develop</a:t>
            </a:r>
            <a:r>
              <a:rPr sz="1950" spc="-15">
                <a:latin typeface="Calibri"/>
                <a:cs typeface="Calibri"/>
              </a:rPr>
              <a:t> </a:t>
            </a:r>
            <a:r>
              <a:rPr sz="1950">
                <a:latin typeface="Calibri"/>
                <a:cs typeface="Calibri"/>
              </a:rPr>
              <a:t>quality</a:t>
            </a:r>
            <a:r>
              <a:rPr sz="1950" spc="-20">
                <a:latin typeface="Calibri"/>
                <a:cs typeface="Calibri"/>
              </a:rPr>
              <a:t> </a:t>
            </a:r>
            <a:r>
              <a:rPr sz="1950">
                <a:latin typeface="Calibri"/>
                <a:cs typeface="Calibri"/>
              </a:rPr>
              <a:t>software</a:t>
            </a:r>
            <a:r>
              <a:rPr sz="1950" spc="-20">
                <a:latin typeface="Calibri"/>
                <a:cs typeface="Calibri"/>
              </a:rPr>
              <a:t> </a:t>
            </a:r>
            <a:r>
              <a:rPr sz="1950">
                <a:latin typeface="Calibri"/>
                <a:cs typeface="Calibri"/>
              </a:rPr>
              <a:t>using</a:t>
            </a:r>
            <a:r>
              <a:rPr sz="1950" spc="-15">
                <a:latin typeface="Calibri"/>
                <a:cs typeface="Calibri"/>
              </a:rPr>
              <a:t> </a:t>
            </a:r>
            <a:r>
              <a:rPr sz="1950" spc="-10">
                <a:latin typeface="Calibri"/>
                <a:cs typeface="Calibri"/>
              </a:rPr>
              <a:t>cutting-</a:t>
            </a:r>
            <a:r>
              <a:rPr sz="1950">
                <a:latin typeface="Calibri"/>
                <a:cs typeface="Calibri"/>
              </a:rPr>
              <a:t>edge</a:t>
            </a:r>
            <a:r>
              <a:rPr sz="1950" spc="-20">
                <a:latin typeface="Calibri"/>
                <a:cs typeface="Calibri"/>
              </a:rPr>
              <a:t> </a:t>
            </a:r>
            <a:r>
              <a:rPr sz="1950">
                <a:latin typeface="Calibri"/>
                <a:cs typeface="Calibri"/>
              </a:rPr>
              <a:t>technologies</a:t>
            </a:r>
            <a:r>
              <a:rPr sz="1950" spc="-15">
                <a:latin typeface="Calibri"/>
                <a:cs typeface="Calibri"/>
              </a:rPr>
              <a:t> </a:t>
            </a:r>
            <a:r>
              <a:rPr sz="1950" spc="-25">
                <a:latin typeface="Calibri"/>
                <a:cs typeface="Calibri"/>
              </a:rPr>
              <a:t>of 	</a:t>
            </a:r>
            <a:r>
              <a:rPr sz="1950">
                <a:latin typeface="Calibri"/>
                <a:cs typeface="Calibri"/>
              </a:rPr>
              <a:t>Computer</a:t>
            </a:r>
            <a:r>
              <a:rPr sz="1950" spc="-35">
                <a:latin typeface="Calibri"/>
                <a:cs typeface="Calibri"/>
              </a:rPr>
              <a:t> </a:t>
            </a:r>
            <a:r>
              <a:rPr sz="1950" spc="-10">
                <a:latin typeface="Calibri"/>
                <a:cs typeface="Calibri"/>
              </a:rPr>
              <a:t>Engineering.</a:t>
            </a:r>
            <a:endParaRPr sz="1950">
              <a:latin typeface="Calibri"/>
              <a:cs typeface="Calibri"/>
            </a:endParaRPr>
          </a:p>
          <a:p>
            <a:pPr marL="201930" marR="255904" indent="-189865">
              <a:lnSpc>
                <a:spcPct val="70400"/>
              </a:lnSpc>
              <a:spcBef>
                <a:spcPts val="994"/>
              </a:spcBef>
              <a:buFont typeface="Arial MT"/>
              <a:buChar char="•"/>
              <a:tabLst>
                <a:tab pos="203835" algn="l"/>
              </a:tabLst>
            </a:pPr>
            <a:r>
              <a:rPr sz="1950">
                <a:latin typeface="Calibri"/>
                <a:cs typeface="Calibri"/>
              </a:rPr>
              <a:t>[PSO</a:t>
            </a:r>
            <a:r>
              <a:rPr sz="1950" spc="-30">
                <a:latin typeface="Calibri"/>
                <a:cs typeface="Calibri"/>
              </a:rPr>
              <a:t> </a:t>
            </a:r>
            <a:r>
              <a:rPr sz="1950">
                <a:latin typeface="Calibri"/>
                <a:cs typeface="Calibri"/>
              </a:rPr>
              <a:t>2]</a:t>
            </a:r>
            <a:r>
              <a:rPr sz="1950" spc="-15">
                <a:latin typeface="Calibri"/>
                <a:cs typeface="Calibri"/>
              </a:rPr>
              <a:t> </a:t>
            </a:r>
            <a:r>
              <a:rPr sz="1950">
                <a:latin typeface="Calibri"/>
                <a:cs typeface="Calibri"/>
              </a:rPr>
              <a:t>An</a:t>
            </a:r>
            <a:r>
              <a:rPr sz="1950" spc="-20">
                <a:latin typeface="Calibri"/>
                <a:cs typeface="Calibri"/>
              </a:rPr>
              <a:t> </a:t>
            </a:r>
            <a:r>
              <a:rPr sz="1950">
                <a:latin typeface="Calibri"/>
                <a:cs typeface="Calibri"/>
              </a:rPr>
              <a:t>ability</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use</a:t>
            </a:r>
            <a:r>
              <a:rPr sz="1950" spc="-15">
                <a:latin typeface="Calibri"/>
                <a:cs typeface="Calibri"/>
              </a:rPr>
              <a:t> </a:t>
            </a:r>
            <a:r>
              <a:rPr sz="1950">
                <a:latin typeface="Calibri"/>
                <a:cs typeface="Calibri"/>
              </a:rPr>
              <a:t>knowledge</a:t>
            </a:r>
            <a:r>
              <a:rPr sz="1950" spc="-15">
                <a:latin typeface="Calibri"/>
                <a:cs typeface="Calibri"/>
              </a:rPr>
              <a:t> </a:t>
            </a:r>
            <a:r>
              <a:rPr sz="1950">
                <a:latin typeface="Calibri"/>
                <a:cs typeface="Calibri"/>
              </a:rPr>
              <a:t>of</a:t>
            </a:r>
            <a:r>
              <a:rPr sz="1950" spc="-20">
                <a:latin typeface="Calibri"/>
                <a:cs typeface="Calibri"/>
              </a:rPr>
              <a:t> </a:t>
            </a:r>
            <a:r>
              <a:rPr sz="1950">
                <a:latin typeface="Calibri"/>
                <a:cs typeface="Calibri"/>
              </a:rPr>
              <a:t>various</a:t>
            </a:r>
            <a:r>
              <a:rPr sz="1950" spc="-15">
                <a:latin typeface="Calibri"/>
                <a:cs typeface="Calibri"/>
              </a:rPr>
              <a:t> </a:t>
            </a:r>
            <a:r>
              <a:rPr sz="1950">
                <a:latin typeface="Calibri"/>
                <a:cs typeface="Calibri"/>
              </a:rPr>
              <a:t>domains</a:t>
            </a:r>
            <a:r>
              <a:rPr sz="1950" spc="-20">
                <a:latin typeface="Calibri"/>
                <a:cs typeface="Calibri"/>
              </a:rPr>
              <a:t> </a:t>
            </a:r>
            <a:r>
              <a:rPr sz="1950">
                <a:latin typeface="Calibri"/>
                <a:cs typeface="Calibri"/>
              </a:rPr>
              <a:t>as</a:t>
            </a:r>
            <a:r>
              <a:rPr sz="1950" spc="-15">
                <a:latin typeface="Calibri"/>
                <a:cs typeface="Calibri"/>
              </a:rPr>
              <a:t> </a:t>
            </a:r>
            <a:r>
              <a:rPr sz="1950">
                <a:latin typeface="Calibri"/>
                <a:cs typeface="Calibri"/>
              </a:rPr>
              <a:t>per</a:t>
            </a:r>
            <a:r>
              <a:rPr sz="1950" spc="-15">
                <a:latin typeface="Calibri"/>
                <a:cs typeface="Calibri"/>
              </a:rPr>
              <a:t> </a:t>
            </a:r>
            <a:r>
              <a:rPr sz="1950">
                <a:latin typeface="Calibri"/>
                <a:cs typeface="Calibri"/>
              </a:rPr>
              <a:t>thrust</a:t>
            </a:r>
            <a:r>
              <a:rPr sz="1950" spc="-20">
                <a:latin typeface="Calibri"/>
                <a:cs typeface="Calibri"/>
              </a:rPr>
              <a:t> </a:t>
            </a:r>
            <a:r>
              <a:rPr sz="1950">
                <a:latin typeface="Calibri"/>
                <a:cs typeface="Calibri"/>
              </a:rPr>
              <a:t>areas</a:t>
            </a:r>
            <a:r>
              <a:rPr sz="1950" spc="-15">
                <a:latin typeface="Calibri"/>
                <a:cs typeface="Calibri"/>
              </a:rPr>
              <a:t> </a:t>
            </a:r>
            <a:r>
              <a:rPr sz="1950">
                <a:latin typeface="Calibri"/>
                <a:cs typeface="Calibri"/>
              </a:rPr>
              <a:t>to</a:t>
            </a:r>
            <a:r>
              <a:rPr sz="1950" spc="-20">
                <a:latin typeface="Calibri"/>
                <a:cs typeface="Calibri"/>
              </a:rPr>
              <a:t> </a:t>
            </a:r>
            <a:r>
              <a:rPr sz="1950">
                <a:latin typeface="Calibri"/>
                <a:cs typeface="Calibri"/>
              </a:rPr>
              <a:t>formulate</a:t>
            </a:r>
            <a:r>
              <a:rPr sz="1950" spc="-15">
                <a:latin typeface="Calibri"/>
                <a:cs typeface="Calibri"/>
              </a:rPr>
              <a:t> </a:t>
            </a:r>
            <a:r>
              <a:rPr sz="1950">
                <a:latin typeface="Calibri"/>
                <a:cs typeface="Calibri"/>
              </a:rPr>
              <a:t>and</a:t>
            </a:r>
            <a:r>
              <a:rPr sz="1950" spc="-15">
                <a:latin typeface="Calibri"/>
                <a:cs typeface="Calibri"/>
              </a:rPr>
              <a:t> </a:t>
            </a:r>
            <a:r>
              <a:rPr sz="1950" spc="-10">
                <a:latin typeface="Calibri"/>
                <a:cs typeface="Calibri"/>
              </a:rPr>
              <a:t>implement 	</a:t>
            </a:r>
            <a:r>
              <a:rPr sz="1950">
                <a:latin typeface="Calibri"/>
                <a:cs typeface="Calibri"/>
              </a:rPr>
              <a:t>ideas</a:t>
            </a:r>
            <a:r>
              <a:rPr sz="1950" spc="-30">
                <a:latin typeface="Calibri"/>
                <a:cs typeface="Calibri"/>
              </a:rPr>
              <a:t> </a:t>
            </a:r>
            <a:r>
              <a:rPr sz="1950">
                <a:latin typeface="Calibri"/>
                <a:cs typeface="Calibri"/>
              </a:rPr>
              <a:t>for</a:t>
            </a:r>
            <a:r>
              <a:rPr sz="1950" spc="-30">
                <a:latin typeface="Calibri"/>
                <a:cs typeface="Calibri"/>
              </a:rPr>
              <a:t> </a:t>
            </a:r>
            <a:r>
              <a:rPr sz="1950">
                <a:latin typeface="Calibri"/>
                <a:cs typeface="Calibri"/>
              </a:rPr>
              <a:t>providing</a:t>
            </a:r>
            <a:r>
              <a:rPr sz="1950" spc="-30">
                <a:latin typeface="Calibri"/>
                <a:cs typeface="Calibri"/>
              </a:rPr>
              <a:t> </a:t>
            </a:r>
            <a:r>
              <a:rPr sz="1950">
                <a:latin typeface="Calibri"/>
                <a:cs typeface="Calibri"/>
              </a:rPr>
              <a:t>innovative</a:t>
            </a:r>
            <a:r>
              <a:rPr sz="1950" spc="-25">
                <a:latin typeface="Calibri"/>
                <a:cs typeface="Calibri"/>
              </a:rPr>
              <a:t> </a:t>
            </a:r>
            <a:r>
              <a:rPr sz="1950" spc="-10">
                <a:latin typeface="Calibri"/>
                <a:cs typeface="Calibri"/>
              </a:rPr>
              <a:t>solutions.</a:t>
            </a:r>
            <a:endParaRPr sz="195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a:solidFill>
                  <a:srgbClr val="000000"/>
                </a:solidFill>
              </a:rPr>
              <a:t>Course</a:t>
            </a:r>
            <a:r>
              <a:rPr sz="4400" spc="-30">
                <a:solidFill>
                  <a:srgbClr val="000000"/>
                </a:solidFill>
              </a:rPr>
              <a:t> </a:t>
            </a:r>
            <a:r>
              <a:rPr sz="4400" spc="-10">
                <a:solidFill>
                  <a:srgbClr val="000000"/>
                </a:solidFill>
              </a:rPr>
              <a:t>Outcomes</a:t>
            </a:r>
            <a:endParaRPr sz="4400"/>
          </a:p>
        </p:txBody>
      </p:sp>
      <p:graphicFrame>
        <p:nvGraphicFramePr>
          <p:cNvPr id="3" name="object 3"/>
          <p:cNvGraphicFramePr>
            <a:graphicFrameLocks noGrp="1"/>
          </p:cNvGraphicFramePr>
          <p:nvPr/>
        </p:nvGraphicFramePr>
        <p:xfrm>
          <a:off x="430069" y="1600779"/>
          <a:ext cx="11137258" cy="4775832"/>
        </p:xfrm>
        <a:graphic>
          <a:graphicData uri="http://schemas.openxmlformats.org/drawingml/2006/table">
            <a:tbl>
              <a:tblPr firstRow="1" bandRow="1">
                <a:tableStyleId>{2D5ABB26-0587-4C30-8999-92F81FD0307C}</a:tableStyleId>
              </a:tblPr>
              <a:tblGrid>
                <a:gridCol w="3235325">
                  <a:extLst>
                    <a:ext uri="{9D8B030D-6E8A-4147-A177-3AD203B41FA5}">
                      <a16:colId xmlns:a16="http://schemas.microsoft.com/office/drawing/2014/main" val="20000"/>
                    </a:ext>
                  </a:extLst>
                </a:gridCol>
                <a:gridCol w="582295">
                  <a:extLst>
                    <a:ext uri="{9D8B030D-6E8A-4147-A177-3AD203B41FA5}">
                      <a16:colId xmlns:a16="http://schemas.microsoft.com/office/drawing/2014/main" val="20001"/>
                    </a:ext>
                  </a:extLst>
                </a:gridCol>
                <a:gridCol w="596264">
                  <a:extLst>
                    <a:ext uri="{9D8B030D-6E8A-4147-A177-3AD203B41FA5}">
                      <a16:colId xmlns:a16="http://schemas.microsoft.com/office/drawing/2014/main" val="20002"/>
                    </a:ext>
                  </a:extLst>
                </a:gridCol>
                <a:gridCol w="527050">
                  <a:extLst>
                    <a:ext uri="{9D8B030D-6E8A-4147-A177-3AD203B41FA5}">
                      <a16:colId xmlns:a16="http://schemas.microsoft.com/office/drawing/2014/main" val="20003"/>
                    </a:ext>
                  </a:extLst>
                </a:gridCol>
                <a:gridCol w="638175">
                  <a:extLst>
                    <a:ext uri="{9D8B030D-6E8A-4147-A177-3AD203B41FA5}">
                      <a16:colId xmlns:a16="http://schemas.microsoft.com/office/drawing/2014/main" val="20004"/>
                    </a:ext>
                  </a:extLst>
                </a:gridCol>
                <a:gridCol w="582929">
                  <a:extLst>
                    <a:ext uri="{9D8B030D-6E8A-4147-A177-3AD203B41FA5}">
                      <a16:colId xmlns:a16="http://schemas.microsoft.com/office/drawing/2014/main" val="20005"/>
                    </a:ext>
                  </a:extLst>
                </a:gridCol>
                <a:gridCol w="554989">
                  <a:extLst>
                    <a:ext uri="{9D8B030D-6E8A-4147-A177-3AD203B41FA5}">
                      <a16:colId xmlns:a16="http://schemas.microsoft.com/office/drawing/2014/main" val="20006"/>
                    </a:ext>
                  </a:extLst>
                </a:gridCol>
                <a:gridCol w="582929">
                  <a:extLst>
                    <a:ext uri="{9D8B030D-6E8A-4147-A177-3AD203B41FA5}">
                      <a16:colId xmlns:a16="http://schemas.microsoft.com/office/drawing/2014/main" val="20007"/>
                    </a:ext>
                  </a:extLst>
                </a:gridCol>
                <a:gridCol w="568959">
                  <a:extLst>
                    <a:ext uri="{9D8B030D-6E8A-4147-A177-3AD203B41FA5}">
                      <a16:colId xmlns:a16="http://schemas.microsoft.com/office/drawing/2014/main" val="20008"/>
                    </a:ext>
                  </a:extLst>
                </a:gridCol>
                <a:gridCol w="485775">
                  <a:extLst>
                    <a:ext uri="{9D8B030D-6E8A-4147-A177-3AD203B41FA5}">
                      <a16:colId xmlns:a16="http://schemas.microsoft.com/office/drawing/2014/main" val="20009"/>
                    </a:ext>
                  </a:extLst>
                </a:gridCol>
                <a:gridCol w="672465">
                  <a:extLst>
                    <a:ext uri="{9D8B030D-6E8A-4147-A177-3AD203B41FA5}">
                      <a16:colId xmlns:a16="http://schemas.microsoft.com/office/drawing/2014/main" val="20010"/>
                    </a:ext>
                  </a:extLst>
                </a:gridCol>
                <a:gridCol w="467995">
                  <a:extLst>
                    <a:ext uri="{9D8B030D-6E8A-4147-A177-3AD203B41FA5}">
                      <a16:colId xmlns:a16="http://schemas.microsoft.com/office/drawing/2014/main" val="20011"/>
                    </a:ext>
                  </a:extLst>
                </a:gridCol>
                <a:gridCol w="821054">
                  <a:extLst>
                    <a:ext uri="{9D8B030D-6E8A-4147-A177-3AD203B41FA5}">
                      <a16:colId xmlns:a16="http://schemas.microsoft.com/office/drawing/2014/main" val="20012"/>
                    </a:ext>
                  </a:extLst>
                </a:gridCol>
                <a:gridCol w="821054">
                  <a:extLst>
                    <a:ext uri="{9D8B030D-6E8A-4147-A177-3AD203B41FA5}">
                      <a16:colId xmlns:a16="http://schemas.microsoft.com/office/drawing/2014/main" val="20013"/>
                    </a:ext>
                  </a:extLst>
                </a:gridCol>
              </a:tblGrid>
              <a:tr h="1073150">
                <a:tc>
                  <a:txBody>
                    <a:bodyPr/>
                    <a:lstStyle/>
                    <a:p>
                      <a:pPr marL="85090">
                        <a:lnSpc>
                          <a:spcPct val="100000"/>
                        </a:lnSpc>
                        <a:spcBef>
                          <a:spcPts val="225"/>
                        </a:spcBef>
                      </a:pPr>
                      <a:r>
                        <a:rPr sz="1800" b="1">
                          <a:solidFill>
                            <a:srgbClr val="FFFFFF"/>
                          </a:solidFill>
                          <a:latin typeface="Calibri"/>
                          <a:cs typeface="Calibri"/>
                        </a:rPr>
                        <a:t>Course</a:t>
                      </a:r>
                      <a:r>
                        <a:rPr sz="1800" b="1" spc="-40">
                          <a:solidFill>
                            <a:srgbClr val="FFFFFF"/>
                          </a:solidFill>
                          <a:latin typeface="Calibri"/>
                          <a:cs typeface="Calibri"/>
                        </a:rPr>
                        <a:t> </a:t>
                      </a:r>
                      <a:r>
                        <a:rPr sz="1800" b="1" spc="-10">
                          <a:solidFill>
                            <a:srgbClr val="FFFFFF"/>
                          </a:solidFill>
                          <a:latin typeface="Calibri"/>
                          <a:cs typeface="Calibri"/>
                        </a:rPr>
                        <a:t>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gridSpan="11">
                  <a:txBody>
                    <a:bodyPr/>
                    <a:lstStyle/>
                    <a:p>
                      <a:pPr algn="ctr">
                        <a:lnSpc>
                          <a:spcPct val="100000"/>
                        </a:lnSpc>
                        <a:spcBef>
                          <a:spcPts val="225"/>
                        </a:spcBef>
                      </a:pPr>
                      <a:r>
                        <a:rPr sz="1800" b="1">
                          <a:solidFill>
                            <a:srgbClr val="FFFFFF"/>
                          </a:solidFill>
                          <a:latin typeface="Calibri"/>
                          <a:cs typeface="Calibri"/>
                        </a:rPr>
                        <a:t>Program</a:t>
                      </a:r>
                      <a:r>
                        <a:rPr sz="1800" b="1" spc="-45">
                          <a:solidFill>
                            <a:srgbClr val="FFFFFF"/>
                          </a:solidFill>
                          <a:latin typeface="Calibri"/>
                          <a:cs typeface="Calibri"/>
                        </a:rPr>
                        <a:t> </a:t>
                      </a:r>
                      <a:r>
                        <a:rPr sz="1800" b="1" spc="-10">
                          <a:solidFill>
                            <a:srgbClr val="FFFFFF"/>
                          </a:solidFill>
                          <a:latin typeface="Calibri"/>
                          <a:cs typeface="Calibri"/>
                        </a:rPr>
                        <a:t>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2">
                  <a:txBody>
                    <a:bodyPr/>
                    <a:lstStyle/>
                    <a:p>
                      <a:pPr marL="85725" marR="580390">
                        <a:lnSpc>
                          <a:spcPct val="100000"/>
                        </a:lnSpc>
                        <a:spcBef>
                          <a:spcPts val="225"/>
                        </a:spcBef>
                      </a:pPr>
                      <a:r>
                        <a:rPr sz="1800" b="1" spc="-10">
                          <a:solidFill>
                            <a:srgbClr val="FFFFFF"/>
                          </a:solidFill>
                          <a:latin typeface="Calibri"/>
                          <a:cs typeface="Calibri"/>
                        </a:rPr>
                        <a:t>Program Specific Outcomes</a:t>
                      </a:r>
                      <a:endParaRPr sz="1800">
                        <a:latin typeface="Calibri"/>
                        <a:cs typeface="Calibri"/>
                      </a:endParaRPr>
                    </a:p>
                  </a:txBody>
                  <a:tcPr marL="0" marR="0" marT="2857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hMerge="1">
                  <a:txBody>
                    <a:bodyPr/>
                    <a:lstStyle/>
                    <a:p>
                      <a:endParaRPr/>
                    </a:p>
                  </a:txBody>
                  <a:tcPr marL="0" marR="0" marT="0" marB="0"/>
                </a:tc>
                <a:extLst>
                  <a:ext uri="{0D108BD9-81ED-4DB2-BD59-A6C34878D82A}">
                    <a16:rowId xmlns:a16="http://schemas.microsoft.com/office/drawing/2014/main" val="10000"/>
                  </a:ext>
                </a:extLst>
              </a:tr>
              <a:tr h="434975">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2</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3</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4</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5</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6</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7</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8</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50">
                          <a:latin typeface="Calibri"/>
                          <a:cs typeface="Calibri"/>
                        </a:rPr>
                        <a:t>9</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5">
                          <a:latin typeface="Calibri"/>
                          <a:cs typeface="Calibri"/>
                        </a:rPr>
                        <a:t>10</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5">
                          <a:latin typeface="Calibri"/>
                          <a:cs typeface="Calibri"/>
                        </a:rPr>
                        <a:t>11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0">
                          <a:latin typeface="Calibri"/>
                          <a:cs typeface="Calibri"/>
                        </a:rPr>
                        <a:t>PSO1</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235"/>
                        </a:spcBef>
                      </a:pPr>
                      <a:r>
                        <a:rPr sz="1600" spc="-20">
                          <a:latin typeface="Calibri"/>
                          <a:cs typeface="Calibri"/>
                        </a:rPr>
                        <a:t>PSO2</a:t>
                      </a:r>
                      <a:endParaRPr sz="1600">
                        <a:latin typeface="Calibri"/>
                        <a:cs typeface="Calibri"/>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1"/>
                  </a:ext>
                </a:extLst>
              </a:tr>
              <a:tr h="944244">
                <a:tc>
                  <a:txBody>
                    <a:bodyPr/>
                    <a:lstStyle/>
                    <a:p>
                      <a:pPr marL="85090" marR="144780">
                        <a:lnSpc>
                          <a:spcPct val="100000"/>
                        </a:lnSpc>
                        <a:spcBef>
                          <a:spcPts val="244"/>
                        </a:spcBef>
                      </a:pPr>
                      <a:r>
                        <a:rPr sz="1400" spc="-10">
                          <a:latin typeface="Calibri"/>
                          <a:cs typeface="Calibri"/>
                        </a:rPr>
                        <a:t>Identify</a:t>
                      </a:r>
                      <a:r>
                        <a:rPr sz="1400" spc="-25">
                          <a:latin typeface="Calibri"/>
                          <a:cs typeface="Calibri"/>
                        </a:rPr>
                        <a:t> </a:t>
                      </a:r>
                      <a:r>
                        <a:rPr sz="1400">
                          <a:latin typeface="Calibri"/>
                          <a:cs typeface="Calibri"/>
                        </a:rPr>
                        <a:t>a</a:t>
                      </a:r>
                      <a:r>
                        <a:rPr sz="1400" spc="-25">
                          <a:latin typeface="Calibri"/>
                          <a:cs typeface="Calibri"/>
                        </a:rPr>
                        <a:t> </a:t>
                      </a:r>
                      <a:r>
                        <a:rPr sz="1400" spc="-10">
                          <a:latin typeface="Calibri"/>
                          <a:cs typeface="Calibri"/>
                        </a:rPr>
                        <a:t>problem,</a:t>
                      </a:r>
                      <a:r>
                        <a:rPr sz="1400" spc="-20">
                          <a:latin typeface="Calibri"/>
                          <a:cs typeface="Calibri"/>
                        </a:rPr>
                        <a:t> </a:t>
                      </a:r>
                      <a:r>
                        <a:rPr sz="1400">
                          <a:latin typeface="Calibri"/>
                          <a:cs typeface="Calibri"/>
                        </a:rPr>
                        <a:t>analyze</a:t>
                      </a:r>
                      <a:r>
                        <a:rPr sz="1400" spc="-25">
                          <a:latin typeface="Calibri"/>
                          <a:cs typeface="Calibri"/>
                        </a:rPr>
                        <a:t> </a:t>
                      </a:r>
                      <a:r>
                        <a:rPr sz="1400" spc="-10">
                          <a:latin typeface="Calibri"/>
                          <a:cs typeface="Calibri"/>
                        </a:rPr>
                        <a:t>research</a:t>
                      </a:r>
                      <a:r>
                        <a:rPr sz="1400" spc="-20">
                          <a:latin typeface="Calibri"/>
                          <a:cs typeface="Calibri"/>
                        </a:rPr>
                        <a:t> gaps </a:t>
                      </a:r>
                      <a:r>
                        <a:rPr sz="1400" spc="-10">
                          <a:latin typeface="Calibri"/>
                          <a:cs typeface="Calibri"/>
                        </a:rPr>
                        <a:t>through</a:t>
                      </a:r>
                      <a:r>
                        <a:rPr sz="1400" spc="-30">
                          <a:latin typeface="Calibri"/>
                          <a:cs typeface="Calibri"/>
                        </a:rPr>
                        <a:t> </a:t>
                      </a:r>
                      <a:r>
                        <a:rPr sz="1400">
                          <a:latin typeface="Calibri"/>
                          <a:cs typeface="Calibri"/>
                        </a:rPr>
                        <a:t>a</a:t>
                      </a:r>
                      <a:r>
                        <a:rPr sz="1400" spc="-30">
                          <a:latin typeface="Calibri"/>
                          <a:cs typeface="Calibri"/>
                        </a:rPr>
                        <a:t> </a:t>
                      </a:r>
                      <a:r>
                        <a:rPr sz="1400" spc="-10">
                          <a:latin typeface="Calibri"/>
                          <a:cs typeface="Calibri"/>
                        </a:rPr>
                        <a:t>literature</a:t>
                      </a:r>
                      <a:r>
                        <a:rPr sz="1400" spc="-25">
                          <a:latin typeface="Calibri"/>
                          <a:cs typeface="Calibri"/>
                        </a:rPr>
                        <a:t> </a:t>
                      </a:r>
                      <a:r>
                        <a:rPr sz="1400">
                          <a:latin typeface="Calibri"/>
                          <a:cs typeface="Calibri"/>
                        </a:rPr>
                        <a:t>survey,</a:t>
                      </a:r>
                      <a:r>
                        <a:rPr sz="1400" spc="-30">
                          <a:latin typeface="Calibri"/>
                          <a:cs typeface="Calibri"/>
                        </a:rPr>
                        <a:t> </a:t>
                      </a:r>
                      <a:r>
                        <a:rPr sz="1400">
                          <a:latin typeface="Calibri"/>
                          <a:cs typeface="Calibri"/>
                        </a:rPr>
                        <a:t>and</a:t>
                      </a:r>
                      <a:r>
                        <a:rPr sz="1400" spc="-25">
                          <a:latin typeface="Calibri"/>
                          <a:cs typeface="Calibri"/>
                        </a:rPr>
                        <a:t> </a:t>
                      </a:r>
                      <a:r>
                        <a:rPr sz="1400" spc="-10">
                          <a:latin typeface="Calibri"/>
                          <a:cs typeface="Calibri"/>
                        </a:rPr>
                        <a:t>propose </a:t>
                      </a:r>
                      <a:r>
                        <a:rPr sz="1400">
                          <a:latin typeface="Calibri"/>
                          <a:cs typeface="Calibri"/>
                        </a:rPr>
                        <a:t>an</a:t>
                      </a:r>
                      <a:r>
                        <a:rPr sz="1400" spc="-15">
                          <a:latin typeface="Calibri"/>
                          <a:cs typeface="Calibri"/>
                        </a:rPr>
                        <a:t> </a:t>
                      </a:r>
                      <a:r>
                        <a:rPr sz="1400" spc="-10">
                          <a:latin typeface="Calibri"/>
                          <a:cs typeface="Calibri"/>
                        </a:rPr>
                        <a:t>ethical, innovative solution </a:t>
                      </a:r>
                      <a:r>
                        <a:rPr sz="1400" spc="-20">
                          <a:latin typeface="Calibri"/>
                          <a:cs typeface="Calibri"/>
                        </a:rPr>
                        <a:t>with </a:t>
                      </a:r>
                      <a:r>
                        <a:rPr sz="1400" spc="-10">
                          <a:latin typeface="Calibri"/>
                          <a:cs typeface="Calibri"/>
                        </a:rPr>
                        <a:t>societal</a:t>
                      </a:r>
                      <a:r>
                        <a:rPr sz="1400" spc="-5">
                          <a:latin typeface="Calibri"/>
                          <a:cs typeface="Calibri"/>
                        </a:rPr>
                        <a:t> </a:t>
                      </a:r>
                      <a:r>
                        <a:rPr sz="1400" spc="-10">
                          <a:latin typeface="Calibri"/>
                          <a:cs typeface="Calibri"/>
                        </a:rPr>
                        <a:t>impact.</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extLst>
                  <a:ext uri="{0D108BD9-81ED-4DB2-BD59-A6C34878D82A}">
                    <a16:rowId xmlns:a16="http://schemas.microsoft.com/office/drawing/2014/main" val="10002"/>
                  </a:ext>
                </a:extLst>
              </a:tr>
              <a:tr h="944244">
                <a:tc>
                  <a:txBody>
                    <a:bodyPr/>
                    <a:lstStyle/>
                    <a:p>
                      <a:pPr marL="85090" marR="140970">
                        <a:lnSpc>
                          <a:spcPct val="100000"/>
                        </a:lnSpc>
                        <a:spcBef>
                          <a:spcPts val="244"/>
                        </a:spcBef>
                      </a:pPr>
                      <a:r>
                        <a:rPr sz="1400" spc="-10">
                          <a:latin typeface="Calibri"/>
                          <a:cs typeface="Calibri"/>
                        </a:rPr>
                        <a:t>Develop</a:t>
                      </a:r>
                      <a:r>
                        <a:rPr sz="1400" spc="-30">
                          <a:latin typeface="Calibri"/>
                          <a:cs typeface="Calibri"/>
                        </a:rPr>
                        <a:t> </a:t>
                      </a:r>
                      <a:r>
                        <a:rPr sz="1400">
                          <a:latin typeface="Calibri"/>
                          <a:cs typeface="Calibri"/>
                        </a:rPr>
                        <a:t>a</a:t>
                      </a:r>
                      <a:r>
                        <a:rPr sz="1400" spc="-25">
                          <a:latin typeface="Calibri"/>
                          <a:cs typeface="Calibri"/>
                        </a:rPr>
                        <a:t> </a:t>
                      </a:r>
                      <a:r>
                        <a:rPr sz="1400" spc="-10">
                          <a:latin typeface="Calibri"/>
                          <a:cs typeface="Calibri"/>
                        </a:rPr>
                        <a:t>structured</a:t>
                      </a:r>
                      <a:r>
                        <a:rPr sz="1400" spc="-30">
                          <a:latin typeface="Calibri"/>
                          <a:cs typeface="Calibri"/>
                        </a:rPr>
                        <a:t> </a:t>
                      </a:r>
                      <a:r>
                        <a:rPr sz="1400">
                          <a:latin typeface="Calibri"/>
                          <a:cs typeface="Calibri"/>
                        </a:rPr>
                        <a:t>project</a:t>
                      </a:r>
                      <a:r>
                        <a:rPr sz="1400" spc="-25">
                          <a:latin typeface="Calibri"/>
                          <a:cs typeface="Calibri"/>
                        </a:rPr>
                        <a:t> </a:t>
                      </a:r>
                      <a:r>
                        <a:rPr sz="1400" spc="-10">
                          <a:latin typeface="Calibri"/>
                          <a:cs typeface="Calibri"/>
                        </a:rPr>
                        <a:t>report detailing</a:t>
                      </a:r>
                      <a:r>
                        <a:rPr sz="1400" spc="-20">
                          <a:latin typeface="Calibri"/>
                          <a:cs typeface="Calibri"/>
                        </a:rPr>
                        <a:t> </a:t>
                      </a:r>
                      <a:r>
                        <a:rPr sz="1400">
                          <a:latin typeface="Calibri"/>
                          <a:cs typeface="Calibri"/>
                        </a:rPr>
                        <a:t>the</a:t>
                      </a:r>
                      <a:r>
                        <a:rPr sz="1400" spc="-15">
                          <a:latin typeface="Calibri"/>
                          <a:cs typeface="Calibri"/>
                        </a:rPr>
                        <a:t> </a:t>
                      </a:r>
                      <a:r>
                        <a:rPr sz="1400" spc="-10">
                          <a:latin typeface="Calibri"/>
                          <a:cs typeface="Calibri"/>
                        </a:rPr>
                        <a:t>problem,</a:t>
                      </a:r>
                      <a:r>
                        <a:rPr sz="1400" spc="-20">
                          <a:latin typeface="Calibri"/>
                          <a:cs typeface="Calibri"/>
                        </a:rPr>
                        <a:t> </a:t>
                      </a:r>
                      <a:r>
                        <a:rPr sz="1400" spc="-10">
                          <a:latin typeface="Calibri"/>
                          <a:cs typeface="Calibri"/>
                        </a:rPr>
                        <a:t>methodology, proposed</a:t>
                      </a:r>
                      <a:r>
                        <a:rPr sz="1400" spc="-15">
                          <a:latin typeface="Calibri"/>
                          <a:cs typeface="Calibri"/>
                        </a:rPr>
                        <a:t> </a:t>
                      </a:r>
                      <a:r>
                        <a:rPr sz="1400" spc="-10">
                          <a:latin typeface="Calibri"/>
                          <a:cs typeface="Calibri"/>
                        </a:rPr>
                        <a:t>solution,</a:t>
                      </a:r>
                      <a:r>
                        <a:rPr sz="1400" spc="-15">
                          <a:latin typeface="Calibri"/>
                          <a:cs typeface="Calibri"/>
                        </a:rPr>
                        <a:t> </a:t>
                      </a:r>
                      <a:r>
                        <a:rPr sz="1400">
                          <a:latin typeface="Calibri"/>
                          <a:cs typeface="Calibri"/>
                        </a:rPr>
                        <a:t>and</a:t>
                      </a:r>
                      <a:r>
                        <a:rPr sz="1400" spc="-15">
                          <a:latin typeface="Calibri"/>
                          <a:cs typeface="Calibri"/>
                        </a:rPr>
                        <a:t> </a:t>
                      </a:r>
                      <a:r>
                        <a:rPr sz="1400" spc="-10">
                          <a:latin typeface="Calibri"/>
                          <a:cs typeface="Calibri"/>
                        </a:rPr>
                        <a:t>findings,</a:t>
                      </a:r>
                      <a:r>
                        <a:rPr sz="1400" spc="-15">
                          <a:latin typeface="Calibri"/>
                          <a:cs typeface="Calibri"/>
                        </a:rPr>
                        <a:t> </a:t>
                      </a:r>
                      <a:r>
                        <a:rPr sz="1400" spc="-10">
                          <a:latin typeface="Calibri"/>
                          <a:cs typeface="Calibri"/>
                        </a:rPr>
                        <a:t>adhering </a:t>
                      </a:r>
                      <a:r>
                        <a:rPr sz="1400">
                          <a:latin typeface="Calibri"/>
                          <a:cs typeface="Calibri"/>
                        </a:rPr>
                        <a:t>to</a:t>
                      </a:r>
                      <a:r>
                        <a:rPr sz="1400" spc="-40">
                          <a:latin typeface="Calibri"/>
                          <a:cs typeface="Calibri"/>
                        </a:rPr>
                        <a:t> </a:t>
                      </a:r>
                      <a:r>
                        <a:rPr sz="1400" spc="-10">
                          <a:latin typeface="Calibri"/>
                          <a:cs typeface="Calibri"/>
                        </a:rPr>
                        <a:t>professional</a:t>
                      </a:r>
                      <a:r>
                        <a:rPr sz="1400" spc="-35">
                          <a:latin typeface="Calibri"/>
                          <a:cs typeface="Calibri"/>
                        </a:rPr>
                        <a:t> </a:t>
                      </a:r>
                      <a:r>
                        <a:rPr sz="1400">
                          <a:latin typeface="Calibri"/>
                          <a:cs typeface="Calibri"/>
                        </a:rPr>
                        <a:t>and</a:t>
                      </a:r>
                      <a:r>
                        <a:rPr sz="1400" spc="-35">
                          <a:latin typeface="Calibri"/>
                          <a:cs typeface="Calibri"/>
                        </a:rPr>
                        <a:t> </a:t>
                      </a:r>
                      <a:r>
                        <a:rPr sz="1400">
                          <a:latin typeface="Calibri"/>
                          <a:cs typeface="Calibri"/>
                        </a:rPr>
                        <a:t>ethical</a:t>
                      </a:r>
                      <a:r>
                        <a:rPr sz="1400" spc="-35">
                          <a:latin typeface="Calibri"/>
                          <a:cs typeface="Calibri"/>
                        </a:rPr>
                        <a:t> </a:t>
                      </a:r>
                      <a:r>
                        <a:rPr sz="1400" spc="-10">
                          <a:latin typeface="Calibri"/>
                          <a:cs typeface="Calibri"/>
                        </a:rPr>
                        <a:t>standards.</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2</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3"/>
                  </a:ext>
                </a:extLst>
              </a:tr>
              <a:tr h="944244">
                <a:tc>
                  <a:txBody>
                    <a:bodyPr/>
                    <a:lstStyle/>
                    <a:p>
                      <a:pPr marL="85090" marR="337185">
                        <a:lnSpc>
                          <a:spcPct val="100000"/>
                        </a:lnSpc>
                        <a:spcBef>
                          <a:spcPts val="240"/>
                        </a:spcBef>
                      </a:pPr>
                      <a:r>
                        <a:rPr sz="1400" spc="-10">
                          <a:latin typeface="Calibri"/>
                          <a:cs typeface="Calibri"/>
                        </a:rPr>
                        <a:t>Implement</a:t>
                      </a:r>
                      <a:r>
                        <a:rPr sz="1400" spc="-30">
                          <a:latin typeface="Calibri"/>
                          <a:cs typeface="Calibri"/>
                        </a:rPr>
                        <a:t> </a:t>
                      </a:r>
                      <a:r>
                        <a:rPr sz="1400">
                          <a:latin typeface="Calibri"/>
                          <a:cs typeface="Calibri"/>
                        </a:rPr>
                        <a:t>a</a:t>
                      </a:r>
                      <a:r>
                        <a:rPr sz="1400" spc="-25">
                          <a:latin typeface="Calibri"/>
                          <a:cs typeface="Calibri"/>
                        </a:rPr>
                        <a:t> </a:t>
                      </a:r>
                      <a:r>
                        <a:rPr sz="1400">
                          <a:latin typeface="Calibri"/>
                          <a:cs typeface="Calibri"/>
                        </a:rPr>
                        <a:t>basic</a:t>
                      </a:r>
                      <a:r>
                        <a:rPr sz="1400" spc="-30">
                          <a:latin typeface="Calibri"/>
                          <a:cs typeface="Calibri"/>
                        </a:rPr>
                        <a:t> </a:t>
                      </a:r>
                      <a:r>
                        <a:rPr sz="1400" spc="-10">
                          <a:latin typeface="Calibri"/>
                          <a:cs typeface="Calibri"/>
                        </a:rPr>
                        <a:t>prototype/model</a:t>
                      </a:r>
                      <a:r>
                        <a:rPr sz="1400" spc="-25">
                          <a:latin typeface="Calibri"/>
                          <a:cs typeface="Calibri"/>
                        </a:rPr>
                        <a:t> to </a:t>
                      </a:r>
                      <a:r>
                        <a:rPr sz="1400" spc="-10">
                          <a:latin typeface="Calibri"/>
                          <a:cs typeface="Calibri"/>
                        </a:rPr>
                        <a:t>validate</a:t>
                      </a:r>
                      <a:r>
                        <a:rPr sz="1400" spc="-20">
                          <a:latin typeface="Calibri"/>
                          <a:cs typeface="Calibri"/>
                        </a:rPr>
                        <a:t> </a:t>
                      </a:r>
                      <a:r>
                        <a:rPr sz="1400">
                          <a:latin typeface="Calibri"/>
                          <a:cs typeface="Calibri"/>
                        </a:rPr>
                        <a:t>the</a:t>
                      </a:r>
                      <a:r>
                        <a:rPr sz="1400" spc="-20">
                          <a:latin typeface="Calibri"/>
                          <a:cs typeface="Calibri"/>
                        </a:rPr>
                        <a:t> </a:t>
                      </a:r>
                      <a:r>
                        <a:rPr sz="1400" spc="-10">
                          <a:latin typeface="Calibri"/>
                          <a:cs typeface="Calibri"/>
                        </a:rPr>
                        <a:t>proposed</a:t>
                      </a:r>
                      <a:r>
                        <a:rPr sz="1400" spc="-15">
                          <a:latin typeface="Calibri"/>
                          <a:cs typeface="Calibri"/>
                        </a:rPr>
                        <a:t> </a:t>
                      </a:r>
                      <a:r>
                        <a:rPr sz="1400" spc="-10">
                          <a:latin typeface="Calibri"/>
                          <a:cs typeface="Calibri"/>
                        </a:rPr>
                        <a:t>solution, demonstrating</a:t>
                      </a:r>
                      <a:r>
                        <a:rPr sz="1400" spc="-15">
                          <a:latin typeface="Calibri"/>
                          <a:cs typeface="Calibri"/>
                        </a:rPr>
                        <a:t> </a:t>
                      </a:r>
                      <a:r>
                        <a:rPr sz="1400" spc="-10">
                          <a:latin typeface="Calibri"/>
                          <a:cs typeface="Calibri"/>
                        </a:rPr>
                        <a:t>practical application </a:t>
                      </a:r>
                      <a:r>
                        <a:rPr sz="1400" spc="-25">
                          <a:latin typeface="Calibri"/>
                          <a:cs typeface="Calibri"/>
                        </a:rPr>
                        <a:t>of </a:t>
                      </a:r>
                      <a:r>
                        <a:rPr sz="1400" spc="-10">
                          <a:latin typeface="Calibri"/>
                          <a:cs typeface="Calibri"/>
                        </a:rPr>
                        <a:t>knowledge</a:t>
                      </a:r>
                      <a:r>
                        <a:rPr sz="1400" spc="-25">
                          <a:latin typeface="Calibri"/>
                          <a:cs typeface="Calibri"/>
                        </a:rPr>
                        <a:t> </a:t>
                      </a:r>
                      <a:r>
                        <a:rPr sz="1400">
                          <a:latin typeface="Calibri"/>
                          <a:cs typeface="Calibri"/>
                        </a:rPr>
                        <a:t>and</a:t>
                      </a:r>
                      <a:r>
                        <a:rPr sz="1400" spc="-20">
                          <a:latin typeface="Calibri"/>
                          <a:cs typeface="Calibri"/>
                        </a:rPr>
                        <a:t> </a:t>
                      </a:r>
                      <a:r>
                        <a:rPr sz="1400" spc="-10">
                          <a:latin typeface="Calibri"/>
                          <a:cs typeface="Calibri"/>
                        </a:rPr>
                        <a:t>technical</a:t>
                      </a:r>
                      <a:r>
                        <a:rPr sz="1400" spc="-20">
                          <a:latin typeface="Calibri"/>
                          <a:cs typeface="Calibri"/>
                        </a:rPr>
                        <a:t> </a:t>
                      </a:r>
                      <a:r>
                        <a:rPr sz="1400" spc="-10">
                          <a:latin typeface="Calibri"/>
                          <a:cs typeface="Calibri"/>
                        </a:rPr>
                        <a:t>skills.</a:t>
                      </a:r>
                      <a:endParaRPr sz="14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pPr>
                      <a:endParaRPr sz="15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tc>
                  <a:txBody>
                    <a:bodyPr/>
                    <a:lstStyle/>
                    <a:p>
                      <a:pPr>
                        <a:lnSpc>
                          <a:spcPct val="100000"/>
                        </a:lnSpc>
                        <a:spcBef>
                          <a:spcPts val="1250"/>
                        </a:spcBef>
                      </a:pPr>
                      <a:endParaRPr sz="1400">
                        <a:latin typeface="Times New Roman"/>
                        <a:cs typeface="Times New Roman"/>
                      </a:endParaRPr>
                    </a:p>
                    <a:p>
                      <a:pPr algn="ctr">
                        <a:lnSpc>
                          <a:spcPct val="100000"/>
                        </a:lnSpc>
                      </a:pPr>
                      <a:r>
                        <a:rPr sz="1400" spc="-50">
                          <a:latin typeface="Times New Roman"/>
                          <a:cs typeface="Times New Roman"/>
                        </a:rPr>
                        <a:t>3</a:t>
                      </a:r>
                      <a:endParaRPr sz="1400">
                        <a:latin typeface="Times New Roman"/>
                        <a:cs typeface="Times New Roman"/>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BF4"/>
                    </a:solidFill>
                  </a:tcPr>
                </a:tc>
                <a:extLst>
                  <a:ext uri="{0D108BD9-81ED-4DB2-BD59-A6C34878D82A}">
                    <a16:rowId xmlns:a16="http://schemas.microsoft.com/office/drawing/2014/main" val="10004"/>
                  </a:ext>
                </a:extLst>
              </a:tr>
              <a:tr h="434975">
                <a:tc>
                  <a:txBody>
                    <a:bodyPr/>
                    <a:lstStyle/>
                    <a:p>
                      <a:pPr marL="85090">
                        <a:lnSpc>
                          <a:spcPct val="100000"/>
                        </a:lnSpc>
                        <a:spcBef>
                          <a:spcPts val="244"/>
                        </a:spcBef>
                      </a:pPr>
                      <a:r>
                        <a:rPr sz="1400" spc="-25">
                          <a:latin typeface="Calibri"/>
                          <a:cs typeface="Calibri"/>
                        </a:rPr>
                        <a:t>Avg</a:t>
                      </a:r>
                      <a:endParaRPr sz="1400">
                        <a:latin typeface="Calibri"/>
                        <a:cs typeface="Calibri"/>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25">
                          <a:latin typeface="Times New Roman"/>
                          <a:cs typeface="Times New Roman"/>
                        </a:rPr>
                        <a:t>2.5</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2</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25">
                          <a:latin typeface="Times New Roman"/>
                          <a:cs typeface="Times New Roman"/>
                        </a:rPr>
                        <a:t>2.3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50">
                          <a:latin typeface="Times New Roman"/>
                          <a:cs typeface="Times New Roman"/>
                        </a:rPr>
                        <a:t>3</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tc>
                  <a:txBody>
                    <a:bodyPr/>
                    <a:lstStyle/>
                    <a:p>
                      <a:pPr algn="ctr">
                        <a:lnSpc>
                          <a:spcPct val="100000"/>
                        </a:lnSpc>
                        <a:spcBef>
                          <a:spcPts val="855"/>
                        </a:spcBef>
                      </a:pPr>
                      <a:r>
                        <a:rPr sz="1400" spc="-10">
                          <a:latin typeface="Times New Roman"/>
                          <a:cs typeface="Times New Roman"/>
                        </a:rPr>
                        <a:t>2.6667</a:t>
                      </a:r>
                      <a:endParaRPr sz="1400">
                        <a:latin typeface="Times New Roman"/>
                        <a:cs typeface="Times New Roman"/>
                      </a:endParaRPr>
                    </a:p>
                  </a:txBody>
                  <a:tcPr marL="0" marR="0" marT="1085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DD4EA"/>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spc="-10">
                <a:solidFill>
                  <a:srgbClr val="000000"/>
                </a:solidFill>
              </a:rPr>
              <a:t>Contents</a:t>
            </a:r>
            <a:endParaRPr sz="4400"/>
          </a:p>
        </p:txBody>
      </p:sp>
      <p:sp>
        <p:nvSpPr>
          <p:cNvPr id="3" name="object 3"/>
          <p:cNvSpPr txBox="1"/>
          <p:nvPr/>
        </p:nvSpPr>
        <p:spPr>
          <a:xfrm>
            <a:off x="663925" y="1531446"/>
            <a:ext cx="7458075" cy="1859483"/>
          </a:xfrm>
          <a:prstGeom prst="rect">
            <a:avLst/>
          </a:prstGeom>
        </p:spPr>
        <p:txBody>
          <a:bodyPr vert="horz" wrap="square" lIns="0" tIns="12700" rIns="0" bIns="0" rtlCol="0" anchor="t">
            <a:spAutoFit/>
          </a:bodyPr>
          <a:lstStyle/>
          <a:p>
            <a:pPr marL="469265" indent="-456565">
              <a:spcBef>
                <a:spcPts val="100"/>
              </a:spcBef>
              <a:buAutoNum type="romanLcParenR"/>
              <a:tabLst>
                <a:tab pos="469265" algn="l"/>
              </a:tabLst>
            </a:pPr>
            <a:r>
              <a:rPr lang="en-US" sz="2000" spc="-10"/>
              <a:t>Problem Definition</a:t>
            </a:r>
            <a:endParaRPr sz="2000">
              <a:latin typeface="Calibri"/>
              <a:cs typeface="Calibri"/>
            </a:endParaRPr>
          </a:p>
          <a:p>
            <a:pPr marL="469265" indent="-456565">
              <a:lnSpc>
                <a:spcPct val="100000"/>
              </a:lnSpc>
              <a:spcBef>
                <a:spcPts val="1600"/>
              </a:spcBef>
              <a:buAutoNum type="romanLcParenR"/>
              <a:tabLst>
                <a:tab pos="469265" algn="l"/>
              </a:tabLst>
            </a:pPr>
            <a:r>
              <a:rPr lang="en-US" sz="2000" spc="-10"/>
              <a:t>Introduction</a:t>
            </a:r>
          </a:p>
          <a:p>
            <a:pPr marL="12700">
              <a:spcBef>
                <a:spcPts val="1600"/>
              </a:spcBef>
              <a:tabLst>
                <a:tab pos="469265" algn="l"/>
              </a:tabLst>
            </a:pPr>
            <a:endParaRPr lang="en-US" sz="2000" spc="-10"/>
          </a:p>
          <a:p>
            <a:pPr marL="469265" indent="-456565">
              <a:spcBef>
                <a:spcPts val="1600"/>
              </a:spcBef>
              <a:buAutoNum type="romanLcParenR"/>
              <a:tabLst>
                <a:tab pos="469265" algn="l"/>
              </a:tabLst>
            </a:pPr>
            <a:endParaRPr lang="en-US" sz="2000" spc="-10"/>
          </a:p>
        </p:txBody>
      </p:sp>
      <p:sp>
        <p:nvSpPr>
          <p:cNvPr id="4" name="object 4"/>
          <p:cNvSpPr txBox="1"/>
          <p:nvPr/>
        </p:nvSpPr>
        <p:spPr>
          <a:xfrm>
            <a:off x="663925" y="2547446"/>
            <a:ext cx="277495" cy="330200"/>
          </a:xfrm>
          <a:prstGeom prst="rect">
            <a:avLst/>
          </a:prstGeom>
        </p:spPr>
        <p:txBody>
          <a:bodyPr vert="horz" wrap="square" lIns="0" tIns="12700" rIns="0" bIns="0" rtlCol="0" anchor="t">
            <a:spAutoFit/>
          </a:bodyPr>
          <a:lstStyle/>
          <a:p>
            <a:pPr marL="12700">
              <a:lnSpc>
                <a:spcPct val="100000"/>
              </a:lnSpc>
              <a:spcBef>
                <a:spcPts val="100"/>
              </a:spcBef>
            </a:pPr>
            <a:r>
              <a:rPr lang="en-US" sz="2000" spc="-20">
                <a:latin typeface="Calibri"/>
                <a:cs typeface="Calibri"/>
              </a:rPr>
              <a:t>3.</a:t>
            </a:r>
            <a:endParaRPr sz="2000" spc="-20">
              <a:latin typeface="Calibri"/>
              <a:cs typeface="Calibri"/>
            </a:endParaRPr>
          </a:p>
        </p:txBody>
      </p:sp>
      <p:sp>
        <p:nvSpPr>
          <p:cNvPr id="5" name="object 5"/>
          <p:cNvSpPr txBox="1"/>
          <p:nvPr/>
        </p:nvSpPr>
        <p:spPr>
          <a:xfrm>
            <a:off x="1121125" y="2547446"/>
            <a:ext cx="1195705" cy="330200"/>
          </a:xfrm>
          <a:prstGeom prst="rect">
            <a:avLst/>
          </a:prstGeom>
        </p:spPr>
        <p:txBody>
          <a:bodyPr vert="horz" wrap="square" lIns="0" tIns="12700" rIns="0" bIns="0" rtlCol="0" anchor="t">
            <a:spAutoFit/>
          </a:bodyPr>
          <a:lstStyle/>
          <a:p>
            <a:pPr marL="12700">
              <a:lnSpc>
                <a:spcPct val="100000"/>
              </a:lnSpc>
              <a:spcBef>
                <a:spcPts val="100"/>
              </a:spcBef>
            </a:pPr>
            <a:r>
              <a:rPr lang="en-US" sz="2000">
                <a:latin typeface="Calibri"/>
                <a:cs typeface="Calibri"/>
              </a:rPr>
              <a:t>Objectives</a:t>
            </a:r>
            <a:endParaRPr lang="en-US" sz="2000" spc="-20">
              <a:latin typeface="Calibri"/>
              <a:cs typeface="Calibri"/>
            </a:endParaRPr>
          </a:p>
        </p:txBody>
      </p:sp>
      <p:sp>
        <p:nvSpPr>
          <p:cNvPr id="6" name="object 6"/>
          <p:cNvSpPr txBox="1"/>
          <p:nvPr/>
        </p:nvSpPr>
        <p:spPr>
          <a:xfrm>
            <a:off x="663925" y="3055446"/>
            <a:ext cx="6851981" cy="1346522"/>
          </a:xfrm>
          <a:prstGeom prst="rect">
            <a:avLst/>
          </a:prstGeom>
        </p:spPr>
        <p:txBody>
          <a:bodyPr vert="horz" wrap="square" lIns="0" tIns="12700" rIns="0" bIns="0" rtlCol="0" anchor="t">
            <a:spAutoFit/>
          </a:bodyPr>
          <a:lstStyle/>
          <a:p>
            <a:pPr marL="469265" indent="-456565">
              <a:spcBef>
                <a:spcPts val="100"/>
              </a:spcBef>
              <a:buAutoNum type="romanLcParenR" startAt="4"/>
              <a:tabLst>
                <a:tab pos="469265" algn="l"/>
              </a:tabLst>
            </a:pPr>
            <a:r>
              <a:rPr lang="en-US" sz="2000" spc="-10">
                <a:latin typeface="Calibri"/>
                <a:cs typeface="Calibri"/>
              </a:rPr>
              <a:t>Work Done</a:t>
            </a:r>
            <a:endParaRPr sz="2000" err="1">
              <a:latin typeface="Calibri"/>
              <a:cs typeface="Calibri"/>
            </a:endParaRPr>
          </a:p>
          <a:p>
            <a:pPr marL="469265" indent="-456565">
              <a:spcBef>
                <a:spcPts val="1600"/>
              </a:spcBef>
              <a:buAutoNum type="romanLcParenR" startAt="4"/>
              <a:tabLst>
                <a:tab pos="469265" algn="l"/>
              </a:tabLst>
            </a:pPr>
            <a:r>
              <a:rPr lang="en-US" sz="2000" spc="-10"/>
              <a:t>Expected Input and Output</a:t>
            </a:r>
            <a:endParaRPr sz="2000">
              <a:latin typeface="Calibri"/>
              <a:cs typeface="Calibri"/>
            </a:endParaRPr>
          </a:p>
          <a:p>
            <a:pPr marL="469265" indent="-456565">
              <a:spcBef>
                <a:spcPts val="1600"/>
              </a:spcBef>
              <a:buAutoNum type="romanLcParenR" startAt="4"/>
              <a:tabLst>
                <a:tab pos="469265" algn="l"/>
              </a:tabLst>
            </a:pPr>
            <a:r>
              <a:rPr lang="en-US" sz="2000" spc="-10"/>
              <a:t>Status of Research Paper /Patent (If Any)</a:t>
            </a:r>
            <a:endParaRPr sz="2000">
              <a:latin typeface="Calibri"/>
              <a:cs typeface="Calibri"/>
            </a:endParaRPr>
          </a:p>
        </p:txBody>
      </p:sp>
      <p:sp>
        <p:nvSpPr>
          <p:cNvPr id="7" name="object 7"/>
          <p:cNvSpPr txBox="1"/>
          <p:nvPr/>
        </p:nvSpPr>
        <p:spPr>
          <a:xfrm>
            <a:off x="663925" y="4579445"/>
            <a:ext cx="334010" cy="330200"/>
          </a:xfrm>
          <a:prstGeom prst="rect">
            <a:avLst/>
          </a:prstGeom>
        </p:spPr>
        <p:txBody>
          <a:bodyPr vert="horz" wrap="square" lIns="0" tIns="12700" rIns="0" bIns="0" rtlCol="0" anchor="t">
            <a:spAutoFit/>
          </a:bodyPr>
          <a:lstStyle/>
          <a:p>
            <a:pPr marL="12700">
              <a:lnSpc>
                <a:spcPct val="100000"/>
              </a:lnSpc>
              <a:spcBef>
                <a:spcPts val="100"/>
              </a:spcBef>
            </a:pPr>
            <a:r>
              <a:rPr lang="en-US" sz="2000" spc="-20">
                <a:latin typeface="Calibri"/>
                <a:cs typeface="Calibri"/>
              </a:rPr>
              <a:t>7.</a:t>
            </a:r>
            <a:endParaRPr sz="2000" spc="-20">
              <a:latin typeface="Calibri"/>
              <a:cs typeface="Calibri"/>
            </a:endParaRPr>
          </a:p>
        </p:txBody>
      </p:sp>
      <p:sp>
        <p:nvSpPr>
          <p:cNvPr id="8" name="object 8"/>
          <p:cNvSpPr txBox="1"/>
          <p:nvPr/>
        </p:nvSpPr>
        <p:spPr>
          <a:xfrm>
            <a:off x="1121125" y="4579445"/>
            <a:ext cx="1175385" cy="330200"/>
          </a:xfrm>
          <a:prstGeom prst="rect">
            <a:avLst/>
          </a:prstGeom>
        </p:spPr>
        <p:txBody>
          <a:bodyPr vert="horz" wrap="square" lIns="0" tIns="12700" rIns="0" bIns="0" rtlCol="0">
            <a:spAutoFit/>
          </a:bodyPr>
          <a:lstStyle/>
          <a:p>
            <a:pPr marL="12700">
              <a:lnSpc>
                <a:spcPct val="100000"/>
              </a:lnSpc>
              <a:spcBef>
                <a:spcPts val="100"/>
              </a:spcBef>
            </a:pPr>
            <a:r>
              <a:rPr sz="2000" spc="-10">
                <a:latin typeface="Calibri"/>
                <a:cs typeface="Calibri"/>
              </a:rPr>
              <a:t>References</a:t>
            </a:r>
            <a:endParaRPr sz="20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10369550" cy="1367041"/>
          </a:xfrm>
          <a:prstGeom prst="rect">
            <a:avLst/>
          </a:prstGeom>
        </p:spPr>
        <p:txBody>
          <a:bodyPr vert="horz" wrap="square" lIns="0" tIns="12700" rIns="0" bIns="0" rtlCol="0" anchor="t">
            <a:spAutoFit/>
          </a:bodyPr>
          <a:lstStyle/>
          <a:p>
            <a:pPr marL="12700">
              <a:spcBef>
                <a:spcPts val="100"/>
              </a:spcBef>
            </a:pPr>
            <a:r>
              <a:rPr lang="en-US" sz="4400" b="0" spc="-10">
                <a:solidFill>
                  <a:schemeClr val="tx1"/>
                </a:solidFill>
              </a:rPr>
              <a:t>Problem Statement</a:t>
            </a:r>
            <a:br>
              <a:rPr lang="en-US" sz="4400" spc="-10"/>
            </a:br>
            <a:endParaRPr lang="en-US" sz="4400">
              <a:ea typeface="Calibri"/>
            </a:endParaRPr>
          </a:p>
        </p:txBody>
      </p:sp>
      <p:sp>
        <p:nvSpPr>
          <p:cNvPr id="3" name="object 3"/>
          <p:cNvSpPr txBox="1"/>
          <p:nvPr/>
        </p:nvSpPr>
        <p:spPr>
          <a:xfrm>
            <a:off x="915727" y="1472012"/>
            <a:ext cx="10146372" cy="1191352"/>
          </a:xfrm>
          <a:prstGeom prst="rect">
            <a:avLst/>
          </a:prstGeom>
        </p:spPr>
        <p:txBody>
          <a:bodyPr vert="horz" wrap="square" lIns="0" tIns="102870" rIns="0" bIns="0" rtlCol="0" anchor="t">
            <a:spAutoFit/>
          </a:bodyPr>
          <a:lstStyle/>
          <a:p>
            <a:pPr algn="just">
              <a:tabLst>
                <a:tab pos="194310" algn="l"/>
              </a:tabLst>
            </a:pPr>
            <a:r>
              <a:rPr lang="en-US" sz="2000" spc="-20"/>
              <a:t>A Machine Learning system for EV charging stations that predicts optimal current, detects faults in real time, and optimizes operations for efficient and seamless charging. </a:t>
            </a:r>
            <a:endParaRPr lang="en-US"/>
          </a:p>
          <a:p>
            <a:pPr marL="194310" indent="-181610">
              <a:spcBef>
                <a:spcPts val="810"/>
              </a:spcBef>
              <a:buFont typeface="Arial MT"/>
              <a:buChar char="•"/>
              <a:tabLst>
                <a:tab pos="194310" algn="l"/>
              </a:tabLst>
            </a:pPr>
            <a:endParaRPr lang="en-US" sz="2400" spc="-20">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BC06A-4CC8-E481-604E-864A9C13B5CF}"/>
              </a:ext>
            </a:extLst>
          </p:cNvPr>
          <p:cNvSpPr>
            <a:spLocks noGrp="1"/>
          </p:cNvSpPr>
          <p:nvPr>
            <p:ph type="title"/>
          </p:nvPr>
        </p:nvSpPr>
        <p:spPr>
          <a:xfrm>
            <a:off x="388711" y="365315"/>
            <a:ext cx="10369550" cy="677108"/>
          </a:xfrm>
        </p:spPr>
        <p:txBody>
          <a:bodyPr wrap="square" lIns="0" tIns="0" rIns="0" bIns="0" anchor="t">
            <a:spAutoFit/>
          </a:bodyPr>
          <a:lstStyle/>
          <a:p>
            <a:pPr algn="l"/>
            <a:r>
              <a:rPr lang="en-US" sz="4400">
                <a:solidFill>
                  <a:srgbClr val="000000"/>
                </a:solidFill>
                <a:ea typeface="Calibri"/>
              </a:rPr>
              <a:t>Introduction</a:t>
            </a:r>
            <a:endParaRPr lang="en-US"/>
          </a:p>
        </p:txBody>
      </p:sp>
      <p:sp>
        <p:nvSpPr>
          <p:cNvPr id="3" name="Text Placeholder 2">
            <a:extLst>
              <a:ext uri="{FF2B5EF4-FFF2-40B4-BE49-F238E27FC236}">
                <a16:creationId xmlns:a16="http://schemas.microsoft.com/office/drawing/2014/main" id="{2CC6EF65-118D-3221-3217-54D28E80DB2D}"/>
              </a:ext>
            </a:extLst>
          </p:cNvPr>
          <p:cNvSpPr>
            <a:spLocks noGrp="1"/>
          </p:cNvSpPr>
          <p:nvPr>
            <p:ph type="body" idx="1"/>
          </p:nvPr>
        </p:nvSpPr>
        <p:spPr>
          <a:xfrm>
            <a:off x="391969" y="1187122"/>
            <a:ext cx="11214735" cy="5098832"/>
          </a:xfrm>
        </p:spPr>
        <p:txBody>
          <a:bodyPr wrap="square" lIns="0" tIns="0" rIns="0" bIns="0" anchor="t">
            <a:spAutoFit/>
          </a:bodyPr>
          <a:lstStyle/>
          <a:p>
            <a:pPr algn="l"/>
            <a:endParaRPr lang="en-US" sz="2000">
              <a:ea typeface="Calibri"/>
              <a:cs typeface="Calibri"/>
            </a:endParaRPr>
          </a:p>
          <a:p>
            <a:pPr algn="just"/>
            <a:r>
              <a:rPr lang="en-US" sz="2000">
                <a:ea typeface="Calibri"/>
                <a:cs typeface="Calibri"/>
              </a:rPr>
              <a:t>As electric vehicles (EVs) become an integral part of our daily lives, the need for </a:t>
            </a:r>
            <a:r>
              <a:rPr lang="en-US" sz="2000" b="1">
                <a:ea typeface="Calibri"/>
                <a:cs typeface="Calibri"/>
              </a:rPr>
              <a:t>smarter and more efficient charging infrastructure</a:t>
            </a:r>
            <a:r>
              <a:rPr lang="en-US" sz="2000">
                <a:ea typeface="Calibri"/>
                <a:cs typeface="Calibri"/>
              </a:rPr>
              <a:t> has never been greater. Charging stations must do more than just provide power  they need to be </a:t>
            </a:r>
            <a:r>
              <a:rPr lang="en-US" sz="2000" b="1">
                <a:ea typeface="Calibri"/>
                <a:cs typeface="Calibri"/>
              </a:rPr>
              <a:t>reliable, adaptable, and capable</a:t>
            </a:r>
            <a:r>
              <a:rPr lang="en-US" sz="2000">
                <a:ea typeface="Calibri"/>
                <a:cs typeface="Calibri"/>
              </a:rPr>
              <a:t> of meeting growing demand while minimizing energy waste.</a:t>
            </a:r>
            <a:endParaRPr lang="en-US"/>
          </a:p>
          <a:p>
            <a:pPr algn="just">
              <a:spcBef>
                <a:spcPts val="810"/>
              </a:spcBef>
            </a:pPr>
            <a:r>
              <a:rPr lang="en-US" sz="2000">
                <a:ea typeface="Calibri"/>
                <a:cs typeface="Calibri"/>
              </a:rPr>
              <a:t>Our project tackles this challenge by creating a</a:t>
            </a:r>
            <a:r>
              <a:rPr lang="en-US" sz="2000" b="1">
                <a:ea typeface="Calibri"/>
                <a:cs typeface="Calibri"/>
              </a:rPr>
              <a:t> predictive model </a:t>
            </a:r>
            <a:r>
              <a:rPr lang="en-US" sz="2000">
                <a:ea typeface="Calibri"/>
                <a:cs typeface="Calibri"/>
              </a:rPr>
              <a:t>using a data-driven approach and supervised machine learning. By analyzing both historical and real-time data, the model can manage charging demand at charging stations, allowing energy to be distributed efficiently, reducing grid stress, and enhancing the user experience.</a:t>
            </a:r>
          </a:p>
          <a:p>
            <a:pPr algn="just">
              <a:spcBef>
                <a:spcPts val="810"/>
              </a:spcBef>
            </a:pPr>
            <a:r>
              <a:rPr lang="en-US" sz="2000">
                <a:ea typeface="Calibri"/>
                <a:cs typeface="Calibri"/>
              </a:rPr>
              <a:t>But it doesn’t stop there. The project also integrates advanced monitoring and control mechanisms, enabling real-time </a:t>
            </a:r>
            <a:r>
              <a:rPr lang="en-US" sz="2000" b="1">
                <a:ea typeface="Calibri"/>
                <a:cs typeface="Calibri"/>
              </a:rPr>
              <a:t>fault detection</a:t>
            </a:r>
            <a:r>
              <a:rPr lang="en-US" sz="2000">
                <a:ea typeface="Calibri"/>
                <a:cs typeface="Calibri"/>
              </a:rPr>
              <a:t> and better energy management. These features ensure charging stations remain efficient, safe, and capable of adapting to fluctuating energy loads and user needs.</a:t>
            </a:r>
          </a:p>
          <a:p>
            <a:pPr algn="l"/>
            <a:endParaRPr lang="en-US" sz="2000">
              <a:ea typeface="Calibri"/>
              <a:cs typeface="Calibri"/>
            </a:endParaRPr>
          </a:p>
          <a:p>
            <a:pPr algn="l"/>
            <a:endParaRPr lang="en-US" sz="2000">
              <a:ea typeface="Calibri"/>
              <a:cs typeface="Calibri"/>
            </a:endParaRPr>
          </a:p>
          <a:p>
            <a:pPr algn="l"/>
            <a:endParaRPr lang="en-US" sz="2000">
              <a:ea typeface="Calibri"/>
              <a:cs typeface="Calibri"/>
            </a:endParaRPr>
          </a:p>
          <a:p>
            <a:endParaRPr lang="en-US">
              <a:ea typeface="Calibri"/>
              <a:cs typeface="Calibri"/>
            </a:endParaRPr>
          </a:p>
        </p:txBody>
      </p:sp>
    </p:spTree>
    <p:extLst>
      <p:ext uri="{BB962C8B-B14F-4D97-AF65-F5344CB8AC3E}">
        <p14:creationId xmlns:p14="http://schemas.microsoft.com/office/powerpoint/2010/main" val="427591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3FC32-8C87-88B7-B277-0D7E07F4D967}"/>
              </a:ext>
            </a:extLst>
          </p:cNvPr>
          <p:cNvSpPr>
            <a:spLocks noGrp="1"/>
          </p:cNvSpPr>
          <p:nvPr>
            <p:ph type="title"/>
          </p:nvPr>
        </p:nvSpPr>
        <p:spPr>
          <a:xfrm>
            <a:off x="671739" y="463793"/>
            <a:ext cx="10369550" cy="677108"/>
          </a:xfrm>
        </p:spPr>
        <p:txBody>
          <a:bodyPr wrap="square" lIns="0" tIns="0" rIns="0" bIns="0" anchor="t">
            <a:spAutoFit/>
          </a:bodyPr>
          <a:lstStyle/>
          <a:p>
            <a:r>
              <a:rPr lang="en-US" sz="4400">
                <a:solidFill>
                  <a:srgbClr val="000000"/>
                </a:solidFill>
                <a:latin typeface="Arial"/>
                <a:cs typeface="Arial"/>
              </a:rPr>
              <a:t>Objective</a:t>
            </a:r>
            <a:endParaRPr lang="en-US" sz="4400"/>
          </a:p>
        </p:txBody>
      </p:sp>
      <p:sp>
        <p:nvSpPr>
          <p:cNvPr id="3" name="Text Placeholder 2">
            <a:extLst>
              <a:ext uri="{FF2B5EF4-FFF2-40B4-BE49-F238E27FC236}">
                <a16:creationId xmlns:a16="http://schemas.microsoft.com/office/drawing/2014/main" id="{9A16552F-410D-FAE6-8350-3090D89AC3CE}"/>
              </a:ext>
            </a:extLst>
          </p:cNvPr>
          <p:cNvSpPr>
            <a:spLocks noGrp="1"/>
          </p:cNvSpPr>
          <p:nvPr>
            <p:ph type="body" idx="1"/>
          </p:nvPr>
        </p:nvSpPr>
        <p:spPr>
          <a:xfrm>
            <a:off x="667348" y="622234"/>
            <a:ext cx="10689573" cy="5847755"/>
          </a:xfrm>
        </p:spPr>
        <p:txBody>
          <a:bodyPr wrap="square" lIns="0" tIns="0" rIns="0" bIns="0" anchor="ctr">
            <a:spAutoFit/>
          </a:bodyPr>
          <a:lstStyle/>
          <a:p>
            <a:pPr algn="just"/>
            <a:endParaRPr lang="en-US" b="1">
              <a:latin typeface="Calibri"/>
              <a:ea typeface="+mn-lt"/>
              <a:cs typeface="Arial"/>
            </a:endParaRPr>
          </a:p>
          <a:p>
            <a:pPr algn="just"/>
            <a:endParaRPr lang="en-US" b="1">
              <a:latin typeface="Calibri"/>
              <a:ea typeface="+mn-lt"/>
              <a:cs typeface="Arial"/>
            </a:endParaRPr>
          </a:p>
          <a:p>
            <a:pPr algn="just"/>
            <a:r>
              <a:rPr lang="en-US" b="1">
                <a:latin typeface="Calibri"/>
                <a:ea typeface="+mn-lt"/>
                <a:cs typeface="Arial"/>
              </a:rPr>
              <a:t>Primary Objective/Problem Definition: </a:t>
            </a:r>
            <a:endParaRPr lang="en-US">
              <a:latin typeface="Calibri"/>
              <a:ea typeface="Calibri"/>
              <a:cs typeface="Calibri"/>
            </a:endParaRPr>
          </a:p>
          <a:p>
            <a:pPr algn="just"/>
            <a:r>
              <a:rPr lang="en-US">
                <a:latin typeface="Calibri"/>
                <a:ea typeface="+mn-lt"/>
                <a:cs typeface="Arial"/>
              </a:rPr>
              <a:t>To design and develop a data-driven predictive model using supervised machine learning regression methods to accurately forecast charging demand at public charging stations, and to propose advanced monitoring and control mechanisms to optimize energy management, reduce peak demand, and enhance the overall charging experience.</a:t>
            </a:r>
            <a:endParaRPr lang="en-US">
              <a:latin typeface="Calibri"/>
              <a:ea typeface="Calibri"/>
              <a:cs typeface="Calibri"/>
            </a:endParaRPr>
          </a:p>
          <a:p>
            <a:pPr algn="just"/>
            <a:endParaRPr lang="en-US">
              <a:latin typeface="Calibri"/>
              <a:ea typeface="+mn-lt"/>
              <a:cs typeface="Arial"/>
            </a:endParaRPr>
          </a:p>
          <a:p>
            <a:pPr algn="just"/>
            <a:r>
              <a:rPr lang="en-US" b="1">
                <a:latin typeface="Calibri"/>
                <a:ea typeface="+mn-lt"/>
                <a:cs typeface="Arial"/>
              </a:rPr>
              <a:t>Specific Objectives:</a:t>
            </a:r>
            <a:endParaRPr lang="en-US">
              <a:latin typeface="Calibri"/>
              <a:ea typeface="Calibri"/>
              <a:cs typeface="Calibri"/>
            </a:endParaRPr>
          </a:p>
          <a:p>
            <a:pPr algn="just"/>
            <a:endParaRPr lang="en-US">
              <a:latin typeface="Calibri"/>
              <a:ea typeface="Calibri"/>
              <a:cs typeface="Arial"/>
            </a:endParaRPr>
          </a:p>
          <a:p>
            <a:pPr algn="just"/>
            <a:r>
              <a:rPr lang="en-US" b="1">
                <a:latin typeface="Calibri"/>
                <a:ea typeface="+mn-lt"/>
                <a:cs typeface="Arial"/>
              </a:rPr>
              <a:t>1.</a:t>
            </a:r>
            <a:r>
              <a:rPr lang="en-US" b="1">
                <a:ea typeface="+mn-lt"/>
                <a:cs typeface="+mn-lt"/>
              </a:rPr>
              <a:t>To Collect Dataset: </a:t>
            </a:r>
            <a:r>
              <a:rPr lang="en-US">
                <a:ea typeface="+mn-lt"/>
                <a:cs typeface="+mn-lt"/>
              </a:rPr>
              <a:t>Gather historical data on electric vehicle charging patterns, energy consumption, and other relevant factors to support predictive modeling</a:t>
            </a:r>
          </a:p>
          <a:p>
            <a:pPr algn="just"/>
            <a:endParaRPr lang="en-US">
              <a:latin typeface="Calibri"/>
              <a:ea typeface="+mn-lt"/>
              <a:cs typeface="Calibri"/>
            </a:endParaRPr>
          </a:p>
          <a:p>
            <a:pPr algn="just"/>
            <a:r>
              <a:rPr lang="en-US" b="1">
                <a:latin typeface="Calibri"/>
                <a:ea typeface="+mn-lt"/>
                <a:cs typeface="Arial"/>
              </a:rPr>
              <a:t>2.</a:t>
            </a:r>
            <a:r>
              <a:rPr lang="en-US" b="1">
                <a:ea typeface="+mn-lt"/>
                <a:cs typeface="+mn-lt"/>
              </a:rPr>
              <a:t>To design and develop model for Predictive </a:t>
            </a:r>
            <a:r>
              <a:rPr lang="en-US" b="1" err="1">
                <a:ea typeface="+mn-lt"/>
                <a:cs typeface="+mn-lt"/>
              </a:rPr>
              <a:t>analysis:</a:t>
            </a:r>
            <a:r>
              <a:rPr lang="en-US" err="1">
                <a:ea typeface="+mn-lt"/>
                <a:cs typeface="+mn-lt"/>
              </a:rPr>
              <a:t>Develop</a:t>
            </a:r>
            <a:r>
              <a:rPr lang="en-US">
                <a:ea typeface="+mn-lt"/>
                <a:cs typeface="+mn-lt"/>
              </a:rPr>
              <a:t> a machine learning-based predictive model that utilizes collected data to forecast charging demand and energy consumption</a:t>
            </a:r>
            <a:r>
              <a:rPr lang="en-US">
                <a:ea typeface="+mn-lt"/>
                <a:cs typeface="Arial"/>
              </a:rPr>
              <a:t>.</a:t>
            </a:r>
            <a:endParaRPr lang="en-US">
              <a:latin typeface="Calibri"/>
              <a:ea typeface="Calibri"/>
              <a:cs typeface="Arial"/>
            </a:endParaRPr>
          </a:p>
          <a:p>
            <a:pPr algn="just"/>
            <a:endParaRPr lang="en-US">
              <a:latin typeface="Calibri"/>
              <a:ea typeface="+mn-lt"/>
              <a:cs typeface="Arial"/>
            </a:endParaRPr>
          </a:p>
          <a:p>
            <a:pPr algn="just"/>
            <a:r>
              <a:rPr lang="en-US" b="1">
                <a:latin typeface="Calibri"/>
                <a:ea typeface="+mn-lt"/>
                <a:cs typeface="Arial"/>
              </a:rPr>
              <a:t>3.</a:t>
            </a:r>
            <a:r>
              <a:rPr lang="en-US" b="1">
                <a:ea typeface="+mn-lt"/>
                <a:cs typeface="+mn-lt"/>
              </a:rPr>
              <a:t>To monitor and Predict:</a:t>
            </a:r>
            <a:r>
              <a:rPr lang="en-US">
                <a:ea typeface="+mn-lt"/>
                <a:cs typeface="+mn-lt"/>
              </a:rPr>
              <a:t> Design a real-time monitoring system that utilizes predictive analytics to forecast charging demand, detect anomalies, and optimize charging station operations.</a:t>
            </a:r>
          </a:p>
          <a:p>
            <a:pPr algn="just"/>
            <a:endParaRPr lang="en-US">
              <a:ea typeface="Calibri"/>
              <a:cs typeface="Calibri"/>
            </a:endParaRPr>
          </a:p>
          <a:p>
            <a:pPr algn="just"/>
            <a:r>
              <a:rPr lang="en-US" b="1">
                <a:ea typeface="Calibri"/>
                <a:cs typeface="Calibri"/>
              </a:rPr>
              <a:t>4.</a:t>
            </a:r>
            <a:r>
              <a:rPr lang="en-US" b="1">
                <a:ea typeface="+mn-lt"/>
                <a:cs typeface="+mn-lt"/>
              </a:rPr>
              <a:t>To detect and manage fault:</a:t>
            </a:r>
            <a:r>
              <a:rPr lang="en-US">
                <a:ea typeface="+mn-lt"/>
                <a:cs typeface="+mn-lt"/>
              </a:rPr>
              <a:t> Develop a fault detection and management system that uses automated control mechanism to identify potential faults, alert operators, and provide recommendations for maintenance and repair</a:t>
            </a:r>
            <a:endParaRPr lang="en-US">
              <a:ea typeface="Calibri"/>
              <a:cs typeface="Calibri"/>
            </a:endParaRPr>
          </a:p>
          <a:p>
            <a:pPr algn="l"/>
            <a:endParaRPr lang="en-US" sz="2000">
              <a:ea typeface="Calibri"/>
              <a:cs typeface="Calibri"/>
            </a:endParaRPr>
          </a:p>
        </p:txBody>
      </p:sp>
    </p:spTree>
    <p:extLst>
      <p:ext uri="{BB962C8B-B14F-4D97-AF65-F5344CB8AC3E}">
        <p14:creationId xmlns:p14="http://schemas.microsoft.com/office/powerpoint/2010/main" val="3235545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table with text on it&#10;&#10;AI-generated content may be incorrect.">
            <a:extLst>
              <a:ext uri="{FF2B5EF4-FFF2-40B4-BE49-F238E27FC236}">
                <a16:creationId xmlns:a16="http://schemas.microsoft.com/office/drawing/2014/main" id="{C6A71F5D-7A81-FE6C-5136-EF479733C1E9}"/>
              </a:ext>
            </a:extLst>
          </p:cNvPr>
          <p:cNvPicPr>
            <a:picLocks noChangeAspect="1"/>
          </p:cNvPicPr>
          <p:nvPr/>
        </p:nvPicPr>
        <p:blipFill>
          <a:blip r:embed="rId2"/>
          <a:stretch>
            <a:fillRect/>
          </a:stretch>
        </p:blipFill>
        <p:spPr>
          <a:xfrm>
            <a:off x="1155229" y="1435545"/>
            <a:ext cx="6289399" cy="4647510"/>
          </a:xfrm>
          <a:prstGeom prst="rect">
            <a:avLst/>
          </a:prstGeom>
        </p:spPr>
      </p:pic>
      <p:sp>
        <p:nvSpPr>
          <p:cNvPr id="2" name="TextBox 1">
            <a:extLst>
              <a:ext uri="{FF2B5EF4-FFF2-40B4-BE49-F238E27FC236}">
                <a16:creationId xmlns:a16="http://schemas.microsoft.com/office/drawing/2014/main" id="{7B8F9CDB-F272-7962-2D73-AFD30FE79B25}"/>
              </a:ext>
            </a:extLst>
          </p:cNvPr>
          <p:cNvSpPr txBox="1"/>
          <p:nvPr/>
        </p:nvSpPr>
        <p:spPr>
          <a:xfrm>
            <a:off x="612059" y="328698"/>
            <a:ext cx="368369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b="1"/>
              <a:t>Tech Stack</a:t>
            </a:r>
          </a:p>
        </p:txBody>
      </p:sp>
    </p:spTree>
    <p:extLst>
      <p:ext uri="{BB962C8B-B14F-4D97-AF65-F5344CB8AC3E}">
        <p14:creationId xmlns:p14="http://schemas.microsoft.com/office/powerpoint/2010/main" val="3094143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D8388-087F-4F37-E4B3-7656C3F880C1}"/>
              </a:ext>
            </a:extLst>
          </p:cNvPr>
          <p:cNvSpPr>
            <a:spLocks noGrp="1"/>
          </p:cNvSpPr>
          <p:nvPr>
            <p:ph type="title"/>
          </p:nvPr>
        </p:nvSpPr>
        <p:spPr>
          <a:xfrm>
            <a:off x="911225" y="564389"/>
            <a:ext cx="10369550" cy="738664"/>
          </a:xfrm>
        </p:spPr>
        <p:txBody>
          <a:bodyPr wrap="square" lIns="0" tIns="0" rIns="0" bIns="0" anchor="t">
            <a:spAutoFit/>
          </a:bodyPr>
          <a:lstStyle/>
          <a:p>
            <a:r>
              <a:rPr lang="en-US" sz="4800">
                <a:solidFill>
                  <a:schemeClr val="tx1"/>
                </a:solidFill>
                <a:ea typeface="Calibri"/>
              </a:rPr>
              <a:t>Work Done</a:t>
            </a:r>
            <a:r>
              <a:rPr lang="en-US" sz="4800" b="0">
                <a:solidFill>
                  <a:schemeClr val="tx1"/>
                </a:solidFill>
                <a:ea typeface="Calibri"/>
              </a:rPr>
              <a:t> </a:t>
            </a:r>
            <a:endParaRPr lang="en-US" sz="4800">
              <a:solidFill>
                <a:schemeClr val="tx1"/>
              </a:solidFill>
            </a:endParaRPr>
          </a:p>
        </p:txBody>
      </p:sp>
      <p:sp>
        <p:nvSpPr>
          <p:cNvPr id="3" name="Text Placeholder 2">
            <a:extLst>
              <a:ext uri="{FF2B5EF4-FFF2-40B4-BE49-F238E27FC236}">
                <a16:creationId xmlns:a16="http://schemas.microsoft.com/office/drawing/2014/main" id="{4B579A9D-9CAD-DFDB-9AB1-5EA85C096EE0}"/>
              </a:ext>
            </a:extLst>
          </p:cNvPr>
          <p:cNvSpPr>
            <a:spLocks noGrp="1"/>
          </p:cNvSpPr>
          <p:nvPr>
            <p:ph type="body" idx="1"/>
          </p:nvPr>
        </p:nvSpPr>
        <p:spPr>
          <a:xfrm>
            <a:off x="485467" y="1209341"/>
            <a:ext cx="4925247" cy="4985980"/>
          </a:xfrm>
        </p:spPr>
        <p:txBody>
          <a:bodyPr wrap="square" lIns="0" tIns="0" rIns="0" bIns="0" anchor="t">
            <a:spAutoFit/>
          </a:bodyPr>
          <a:lstStyle/>
          <a:p>
            <a:pPr algn="l"/>
            <a:endParaRPr lang="en-US" b="1">
              <a:ea typeface="Calibri"/>
              <a:cs typeface="Calibri"/>
            </a:endParaRPr>
          </a:p>
          <a:p>
            <a:pPr algn="l"/>
            <a:r>
              <a:rPr lang="en-US" b="1">
                <a:ea typeface="Calibri"/>
                <a:cs typeface="Calibri"/>
              </a:rPr>
              <a:t>1. System Design &amp; Architecture</a:t>
            </a:r>
            <a:endParaRPr lang="en-US">
              <a:ea typeface="Calibri"/>
              <a:cs typeface="Calibri"/>
            </a:endParaRPr>
          </a:p>
          <a:p>
            <a:pPr marL="285750" indent="-285750" algn="l">
              <a:buFont typeface="Arial"/>
              <a:buChar char="•"/>
            </a:pPr>
            <a:r>
              <a:rPr lang="en-US">
                <a:ea typeface="Calibri"/>
                <a:cs typeface="Calibri"/>
              </a:rPr>
              <a:t>Designed a high-level architecture for data collection, processing, and decision-making.</a:t>
            </a:r>
          </a:p>
          <a:p>
            <a:pPr marL="285750" indent="-285750" algn="l">
              <a:buFont typeface="Arial"/>
              <a:buChar char="•"/>
            </a:pPr>
            <a:endParaRPr lang="en-US">
              <a:ea typeface="Calibri"/>
              <a:cs typeface="Calibri"/>
            </a:endParaRPr>
          </a:p>
          <a:p>
            <a:pPr marL="285750" indent="-285750" algn="l">
              <a:buFont typeface="Arial"/>
              <a:buChar char="•"/>
            </a:pPr>
            <a:r>
              <a:rPr lang="en-US">
                <a:ea typeface="Calibri"/>
                <a:cs typeface="Calibri"/>
              </a:rPr>
              <a:t>Defined system components: sensors, cloud storage, ML model, and alert mechanism.</a:t>
            </a:r>
          </a:p>
          <a:p>
            <a:pPr algn="l"/>
            <a:endParaRPr lang="en-US">
              <a:ea typeface="Calibri"/>
              <a:cs typeface="Calibri"/>
            </a:endParaRPr>
          </a:p>
          <a:p>
            <a:pPr marL="285750" indent="-285750" algn="l">
              <a:buFont typeface="Arial"/>
              <a:buChar char="•"/>
            </a:pPr>
            <a:r>
              <a:rPr lang="en-US">
                <a:ea typeface="Calibri"/>
                <a:cs typeface="Calibri"/>
              </a:rPr>
              <a:t>Developed block diagram and data flow models for implementation.</a:t>
            </a:r>
          </a:p>
          <a:p>
            <a:pPr marL="285750" indent="-285750" algn="l">
              <a:buFont typeface="Arial"/>
              <a:buChar char="•"/>
            </a:pPr>
            <a:endParaRPr lang="en-US">
              <a:ea typeface="Calibri"/>
              <a:cs typeface="Calibri"/>
            </a:endParaRPr>
          </a:p>
          <a:p>
            <a:pPr marL="285750" indent="-285750" algn="l">
              <a:buFont typeface="Arial"/>
              <a:buChar char="•"/>
            </a:pPr>
            <a:r>
              <a:rPr lang="en-US">
                <a:ea typeface="Calibri"/>
                <a:cs typeface="Calibri"/>
              </a:rPr>
              <a:t>Developed Software Requirements Specification (SRS)</a:t>
            </a:r>
          </a:p>
          <a:p>
            <a:pPr marL="285750" indent="-285750" algn="l">
              <a:buFont typeface="Arial"/>
              <a:buChar char="•"/>
            </a:pPr>
            <a:endParaRPr lang="en-US">
              <a:ea typeface="Calibri"/>
              <a:cs typeface="Calibri"/>
            </a:endParaRPr>
          </a:p>
          <a:p>
            <a:pPr marL="285750" indent="-285750" algn="l">
              <a:buFont typeface="Arial"/>
              <a:buChar char="•"/>
            </a:pPr>
            <a:endParaRPr lang="en-US">
              <a:ea typeface="Calibri"/>
              <a:cs typeface="Calibri"/>
            </a:endParaRPr>
          </a:p>
          <a:p>
            <a:pPr marL="285750" indent="-285750" algn="l">
              <a:buFont typeface="Arial"/>
              <a:buChar char="•"/>
            </a:pPr>
            <a:endParaRPr lang="en-US"/>
          </a:p>
          <a:p>
            <a:pPr algn="l"/>
            <a:endParaRPr lang="en-US">
              <a:ea typeface="Calibri"/>
              <a:cs typeface="Calibri"/>
            </a:endParaRPr>
          </a:p>
          <a:p>
            <a:endParaRPr lang="en-US">
              <a:ea typeface="Calibri"/>
              <a:cs typeface="Calibri"/>
            </a:endParaRPr>
          </a:p>
        </p:txBody>
      </p:sp>
      <p:pic>
        <p:nvPicPr>
          <p:cNvPr id="4" name="Picture 3" descr="A diagram of data processing&#10;&#10;AI-generated content may be incorrect.">
            <a:extLst>
              <a:ext uri="{FF2B5EF4-FFF2-40B4-BE49-F238E27FC236}">
                <a16:creationId xmlns:a16="http://schemas.microsoft.com/office/drawing/2014/main" id="{332BCCF7-C760-8C6B-DF45-FA6AA3E2413D}"/>
              </a:ext>
            </a:extLst>
          </p:cNvPr>
          <p:cNvPicPr>
            <a:picLocks noChangeAspect="1"/>
          </p:cNvPicPr>
          <p:nvPr/>
        </p:nvPicPr>
        <p:blipFill>
          <a:blip r:embed="rId2"/>
          <a:srcRect l="-7459" r="276" b="-185"/>
          <a:stretch>
            <a:fillRect/>
          </a:stretch>
        </p:blipFill>
        <p:spPr>
          <a:xfrm>
            <a:off x="7007334" y="429205"/>
            <a:ext cx="4279731" cy="6003152"/>
          </a:xfrm>
          <a:prstGeom prst="rect">
            <a:avLst/>
          </a:prstGeom>
        </p:spPr>
      </p:pic>
      <p:sp>
        <p:nvSpPr>
          <p:cNvPr id="6" name="Rectangle: Rounded Corners 5">
            <a:extLst>
              <a:ext uri="{FF2B5EF4-FFF2-40B4-BE49-F238E27FC236}">
                <a16:creationId xmlns:a16="http://schemas.microsoft.com/office/drawing/2014/main" id="{58A6BA8B-E942-EBE0-0373-9A329169958E}"/>
              </a:ext>
            </a:extLst>
          </p:cNvPr>
          <p:cNvSpPr/>
          <p:nvPr/>
        </p:nvSpPr>
        <p:spPr>
          <a:xfrm>
            <a:off x="7441678" y="3771336"/>
            <a:ext cx="1564677" cy="467701"/>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mbmhjb</a:t>
            </a:r>
            <a:endParaRPr lang="en-US"/>
          </a:p>
        </p:txBody>
      </p:sp>
      <p:sp>
        <p:nvSpPr>
          <p:cNvPr id="7" name="Rectangle: Rounded Corners 6">
            <a:extLst>
              <a:ext uri="{FF2B5EF4-FFF2-40B4-BE49-F238E27FC236}">
                <a16:creationId xmlns:a16="http://schemas.microsoft.com/office/drawing/2014/main" id="{483E99B2-3D90-D011-330E-5624B8C0EB91}"/>
              </a:ext>
            </a:extLst>
          </p:cNvPr>
          <p:cNvSpPr/>
          <p:nvPr/>
        </p:nvSpPr>
        <p:spPr>
          <a:xfrm>
            <a:off x="7829799" y="3788114"/>
            <a:ext cx="801007" cy="435426"/>
          </a:xfrm>
          <a:prstGeom prst="round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i</a:t>
            </a:r>
            <a:endParaRPr lang="en-US"/>
          </a:p>
        </p:txBody>
      </p:sp>
      <p:sp>
        <p:nvSpPr>
          <p:cNvPr id="8" name="TextBox 7">
            <a:extLst>
              <a:ext uri="{FF2B5EF4-FFF2-40B4-BE49-F238E27FC236}">
                <a16:creationId xmlns:a16="http://schemas.microsoft.com/office/drawing/2014/main" id="{4C0DABB3-04B7-7D6F-05C9-626362656858}"/>
              </a:ext>
            </a:extLst>
          </p:cNvPr>
          <p:cNvSpPr txBox="1"/>
          <p:nvPr/>
        </p:nvSpPr>
        <p:spPr>
          <a:xfrm>
            <a:off x="7865411" y="3806237"/>
            <a:ext cx="104224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000">
                <a:latin typeface="Calibri"/>
                <a:ea typeface="Calibri"/>
                <a:cs typeface="Arial"/>
              </a:rPr>
              <a:t>Implement Dashboard</a:t>
            </a:r>
            <a:endParaRPr lang="en-US" sz="1000">
              <a:solidFill>
                <a:srgbClr val="000000"/>
              </a:solidFill>
              <a:latin typeface="Calibri"/>
              <a:ea typeface="Calibri"/>
              <a:cs typeface="Arial"/>
            </a:endParaRPr>
          </a:p>
        </p:txBody>
      </p:sp>
    </p:spTree>
    <p:extLst>
      <p:ext uri="{BB962C8B-B14F-4D97-AF65-F5344CB8AC3E}">
        <p14:creationId xmlns:p14="http://schemas.microsoft.com/office/powerpoint/2010/main" val="71712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4D803-6234-02B9-142F-BFA950AFC58D}"/>
              </a:ext>
            </a:extLst>
          </p:cNvPr>
          <p:cNvSpPr>
            <a:spLocks noGrp="1"/>
          </p:cNvSpPr>
          <p:nvPr>
            <p:ph type="title"/>
          </p:nvPr>
        </p:nvSpPr>
        <p:spPr>
          <a:xfrm>
            <a:off x="911225" y="637457"/>
            <a:ext cx="10369550" cy="553998"/>
          </a:xfrm>
        </p:spPr>
        <p:txBody>
          <a:bodyPr wrap="square" lIns="0" tIns="0" rIns="0" bIns="0" anchor="t">
            <a:spAutoFit/>
          </a:bodyPr>
          <a:lstStyle/>
          <a:p>
            <a:pPr algn="l"/>
            <a:r>
              <a:rPr lang="en-US">
                <a:solidFill>
                  <a:srgbClr val="000000"/>
                </a:solidFill>
                <a:ea typeface="Calibri"/>
              </a:rPr>
              <a:t>System Design &amp; Architecture</a:t>
            </a:r>
            <a:endParaRPr lang="en-US"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ADC6738F-43DD-EDEE-8136-06347C3A421F}"/>
              </a:ext>
            </a:extLst>
          </p:cNvPr>
          <p:cNvSpPr>
            <a:spLocks noGrp="1"/>
          </p:cNvSpPr>
          <p:nvPr>
            <p:ph type="body" idx="1"/>
          </p:nvPr>
        </p:nvSpPr>
        <p:spPr>
          <a:xfrm>
            <a:off x="469134" y="1070273"/>
            <a:ext cx="9517115" cy="276999"/>
          </a:xfrm>
        </p:spPr>
        <p:txBody>
          <a:bodyPr wrap="square" lIns="0" tIns="0" rIns="0" bIns="0" anchor="t">
            <a:spAutoFit/>
          </a:bodyPr>
          <a:lstStyle/>
          <a:p>
            <a:r>
              <a:rPr lang="en-US">
                <a:ea typeface="Calibri"/>
                <a:cs typeface="Calibri"/>
              </a:rPr>
              <a:t>This diagram shows actual technical implementation.</a:t>
            </a:r>
            <a:endParaRPr lang="en-US"/>
          </a:p>
        </p:txBody>
      </p:sp>
      <p:pic>
        <p:nvPicPr>
          <p:cNvPr id="5" name="Picture 4" descr="A diagram of a software application&#10;&#10;AI-generated content may be incorrect.">
            <a:extLst>
              <a:ext uri="{FF2B5EF4-FFF2-40B4-BE49-F238E27FC236}">
                <a16:creationId xmlns:a16="http://schemas.microsoft.com/office/drawing/2014/main" id="{31AF64DE-C8D4-A729-1FF2-521ACB584330}"/>
              </a:ext>
            </a:extLst>
          </p:cNvPr>
          <p:cNvPicPr>
            <a:picLocks noChangeAspect="1"/>
          </p:cNvPicPr>
          <p:nvPr/>
        </p:nvPicPr>
        <p:blipFill>
          <a:blip r:embed="rId2"/>
          <a:stretch>
            <a:fillRect/>
          </a:stretch>
        </p:blipFill>
        <p:spPr>
          <a:xfrm>
            <a:off x="118056" y="1068007"/>
            <a:ext cx="11537324" cy="4732718"/>
          </a:xfrm>
          <a:prstGeom prst="rect">
            <a:avLst/>
          </a:prstGeom>
        </p:spPr>
      </p:pic>
    </p:spTree>
    <p:extLst>
      <p:ext uri="{BB962C8B-B14F-4D97-AF65-F5344CB8AC3E}">
        <p14:creationId xmlns:p14="http://schemas.microsoft.com/office/powerpoint/2010/main" val="189446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F3D70-029C-9FC2-AD06-08BF2B0D2CF4}"/>
              </a:ext>
            </a:extLst>
          </p:cNvPr>
          <p:cNvSpPr>
            <a:spLocks noGrp="1"/>
          </p:cNvSpPr>
          <p:nvPr>
            <p:ph type="title"/>
          </p:nvPr>
        </p:nvSpPr>
        <p:spPr>
          <a:xfrm>
            <a:off x="390364" y="386672"/>
            <a:ext cx="3387983" cy="1015663"/>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a:ea typeface="Calibri"/>
            </a:endParaRPr>
          </a:p>
        </p:txBody>
      </p:sp>
      <p:sp>
        <p:nvSpPr>
          <p:cNvPr id="3" name="Text Placeholder 2">
            <a:extLst>
              <a:ext uri="{FF2B5EF4-FFF2-40B4-BE49-F238E27FC236}">
                <a16:creationId xmlns:a16="http://schemas.microsoft.com/office/drawing/2014/main" id="{BCFC7DF7-432A-AA7D-178E-BD65A3D4D305}"/>
              </a:ext>
            </a:extLst>
          </p:cNvPr>
          <p:cNvSpPr>
            <a:spLocks noGrp="1"/>
          </p:cNvSpPr>
          <p:nvPr>
            <p:ph type="body" idx="1"/>
          </p:nvPr>
        </p:nvSpPr>
        <p:spPr>
          <a:xfrm>
            <a:off x="391969" y="1199184"/>
            <a:ext cx="11214735" cy="1107996"/>
          </a:xfrm>
        </p:spPr>
        <p:txBody>
          <a:bodyPr wrap="square" lIns="0" tIns="0" rIns="0" bIns="0" anchor="t">
            <a:spAutoFit/>
          </a:bodyPr>
          <a:lstStyle/>
          <a:p>
            <a:pPr algn="l"/>
            <a:endParaRPr lang="en-US" b="1">
              <a:ea typeface="Calibri"/>
              <a:cs typeface="Calibri"/>
            </a:endParaRPr>
          </a:p>
          <a:p>
            <a:pPr algn="l"/>
            <a:endParaRPr lang="en-US" b="1">
              <a:ea typeface="Calibri"/>
              <a:cs typeface="Calibri"/>
            </a:endParaRPr>
          </a:p>
          <a:p>
            <a:pPr algn="l"/>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D706B740-BB37-739A-6FFE-250E322E0792}"/>
              </a:ext>
            </a:extLst>
          </p:cNvPr>
          <p:cNvSpPr txBox="1"/>
          <p:nvPr/>
        </p:nvSpPr>
        <p:spPr>
          <a:xfrm>
            <a:off x="1043842" y="1194354"/>
            <a:ext cx="10000384"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a:t>The </a:t>
            </a:r>
            <a:r>
              <a:rPr lang="en-US" sz="2000" err="1"/>
              <a:t>EVOptima</a:t>
            </a:r>
            <a:r>
              <a:rPr lang="en-US" sz="2000"/>
              <a:t> system is built using Django and Python, divided into key modules that ensure smooth operation of all core functionalities — from prediction to monitoring and fault detection.</a:t>
            </a:r>
            <a:endParaRPr lang="en-US" sz="2000">
              <a:solidFill>
                <a:srgbClr val="000000"/>
              </a:solidFill>
            </a:endParaRPr>
          </a:p>
          <a:p>
            <a:pPr algn="l"/>
            <a:endParaRPr lang="en-US" sz="2000"/>
          </a:p>
          <a:p>
            <a:pPr algn="l"/>
            <a:r>
              <a:rPr lang="en-US" sz="2000" b="1"/>
              <a:t>1. Energy Prediction Modul</a:t>
            </a:r>
            <a:r>
              <a:rPr lang="en-US" sz="2000"/>
              <a:t>e</a:t>
            </a:r>
            <a:br>
              <a:rPr lang="en-US" sz="2000"/>
            </a:br>
            <a:r>
              <a:rPr lang="en-US" sz="2000"/>
              <a:t> • Takes input (Temperature, SOC, Duration, Timestamp)</a:t>
            </a:r>
            <a:br>
              <a:rPr lang="en-US" sz="2000"/>
            </a:br>
            <a:r>
              <a:rPr lang="en-US" sz="2000"/>
              <a:t> • Uses  Random Forest, and Linear Regression for energy prediction</a:t>
            </a:r>
            <a:br>
              <a:rPr lang="en-US" sz="2000"/>
            </a:br>
            <a:r>
              <a:rPr lang="en-US" sz="2000"/>
              <a:t> • Displays predicted energy, voltage, and current</a:t>
            </a:r>
          </a:p>
          <a:p>
            <a:pPr algn="l"/>
            <a:endParaRPr lang="en-US" sz="2000"/>
          </a:p>
          <a:p>
            <a:pPr algn="l"/>
            <a:r>
              <a:rPr lang="en-US" sz="2000" b="1"/>
              <a:t>2. Fault Detection Module</a:t>
            </a:r>
            <a:br>
              <a:rPr lang="en-US" sz="2000"/>
            </a:br>
            <a:r>
              <a:rPr lang="en-US" sz="2000"/>
              <a:t> • Monitors voltage, current, and temperature in real time</a:t>
            </a:r>
            <a:br>
              <a:rPr lang="en-US" sz="2000"/>
            </a:br>
            <a:r>
              <a:rPr lang="en-US" sz="2000"/>
              <a:t> • Detects abnormal readings beyond thresholds</a:t>
            </a:r>
            <a:br>
              <a:rPr lang="en-US" sz="2000"/>
            </a:br>
            <a:r>
              <a:rPr lang="en-US" sz="2000"/>
              <a:t> • Logs and alerts faults on the dashboard</a:t>
            </a:r>
          </a:p>
          <a:p>
            <a:pPr algn="l"/>
            <a:endParaRPr lang="en-US" sz="2000"/>
          </a:p>
          <a:p>
            <a:pPr algn="l"/>
            <a:r>
              <a:rPr lang="en-US" sz="2000" b="1"/>
              <a:t>3. Threshold Management Module</a:t>
            </a:r>
            <a:br>
              <a:rPr lang="en-US" sz="2000"/>
            </a:br>
            <a:r>
              <a:rPr lang="en-US" sz="2000"/>
              <a:t> • Admin can modify safe operational limits for current, voltage, and temperature</a:t>
            </a:r>
            <a:br>
              <a:rPr lang="en-US" sz="2000"/>
            </a:br>
            <a:r>
              <a:rPr lang="en-US" sz="2000"/>
              <a:t> • Updates stored in database for live monitoring</a:t>
            </a:r>
          </a:p>
          <a:p>
            <a:pPr algn="l"/>
            <a:endParaRPr lang="en-US" sz="2000"/>
          </a:p>
          <a:p>
            <a:pPr algn="l"/>
            <a:endParaRPr lang="en-US" sz="2000">
              <a:solidFill>
                <a:srgbClr val="000000"/>
              </a:solidFill>
            </a:endParaRPr>
          </a:p>
        </p:txBody>
      </p:sp>
    </p:spTree>
    <p:extLst>
      <p:ext uri="{BB962C8B-B14F-4D97-AF65-F5344CB8AC3E}">
        <p14:creationId xmlns:p14="http://schemas.microsoft.com/office/powerpoint/2010/main" val="1529540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D02A0-EC75-50C3-51C4-F01B79706F9D}"/>
              </a:ext>
            </a:extLst>
          </p:cNvPr>
          <p:cNvSpPr>
            <a:spLocks noGrp="1"/>
          </p:cNvSpPr>
          <p:nvPr>
            <p:ph type="title"/>
          </p:nvPr>
        </p:nvSpPr>
        <p:spPr>
          <a:xfrm>
            <a:off x="389307" y="376498"/>
            <a:ext cx="10369550" cy="1015663"/>
          </a:xfrm>
        </p:spPr>
        <p:txBody>
          <a:bodyPr wrap="square" lIns="0" tIns="0" rIns="0" bIns="0" anchor="t">
            <a:spAutoFit/>
          </a:bodyPr>
          <a:lstStyle/>
          <a:p>
            <a:pPr algn="l"/>
            <a:r>
              <a:rPr lang="en-US" sz="4800">
                <a:solidFill>
                  <a:schemeClr val="tx1"/>
                </a:solidFill>
                <a:ea typeface="Calibri"/>
              </a:rPr>
              <a:t>Work Done</a:t>
            </a:r>
            <a:r>
              <a:rPr lang="en-US" sz="4800" b="0">
                <a:solidFill>
                  <a:schemeClr val="tx1"/>
                </a:solidFill>
                <a:ea typeface="Calibri"/>
              </a:rPr>
              <a:t> </a:t>
            </a:r>
          </a:p>
          <a:p>
            <a:endParaRPr lang="en-US">
              <a:ea typeface="Calibri"/>
            </a:endParaRPr>
          </a:p>
        </p:txBody>
      </p:sp>
      <p:sp>
        <p:nvSpPr>
          <p:cNvPr id="3" name="Text Placeholder 2">
            <a:extLst>
              <a:ext uri="{FF2B5EF4-FFF2-40B4-BE49-F238E27FC236}">
                <a16:creationId xmlns:a16="http://schemas.microsoft.com/office/drawing/2014/main" id="{2071B886-0338-1D6B-3495-9D44F5502EB1}"/>
              </a:ext>
            </a:extLst>
          </p:cNvPr>
          <p:cNvSpPr>
            <a:spLocks noGrp="1"/>
          </p:cNvSpPr>
          <p:nvPr>
            <p:ph type="body" idx="1"/>
          </p:nvPr>
        </p:nvSpPr>
        <p:spPr>
          <a:xfrm>
            <a:off x="391969" y="1600779"/>
            <a:ext cx="11214735" cy="1384995"/>
          </a:xfrm>
        </p:spPr>
        <p:txBody>
          <a:bodyPr wrap="square" lIns="0" tIns="0" rIns="0" bIns="0" anchor="t">
            <a:spAutoFit/>
          </a:bodyPr>
          <a:lstStyle/>
          <a:p>
            <a:pPr algn="l"/>
            <a:endParaRPr lang="en-US" b="1">
              <a:ea typeface="Calibri"/>
              <a:cs typeface="Calibri"/>
            </a:endParaRPr>
          </a:p>
          <a:p>
            <a:pPr algn="l"/>
            <a:endParaRPr lang="en-US">
              <a:ea typeface="Calibri"/>
              <a:cs typeface="Calibri"/>
            </a:endParaRPr>
          </a:p>
          <a:p>
            <a:pPr algn="l"/>
            <a:endParaRPr lang="en-US">
              <a:ea typeface="Calibri"/>
              <a:cs typeface="Calibri"/>
            </a:endParaRPr>
          </a:p>
          <a:p>
            <a:pPr algn="l"/>
            <a:endParaRPr lang="en-US">
              <a:ea typeface="Calibri"/>
              <a:cs typeface="Calibri"/>
            </a:endParaRPr>
          </a:p>
          <a:p>
            <a:endParaRPr lang="en-US">
              <a:ea typeface="Calibri"/>
              <a:cs typeface="Calibri"/>
            </a:endParaRPr>
          </a:p>
        </p:txBody>
      </p:sp>
      <p:sp>
        <p:nvSpPr>
          <p:cNvPr id="5" name="TextBox 4">
            <a:extLst>
              <a:ext uri="{FF2B5EF4-FFF2-40B4-BE49-F238E27FC236}">
                <a16:creationId xmlns:a16="http://schemas.microsoft.com/office/drawing/2014/main" id="{7F4CA0FA-CD41-D921-4287-3A0171FA2110}"/>
              </a:ext>
            </a:extLst>
          </p:cNvPr>
          <p:cNvSpPr txBox="1"/>
          <p:nvPr/>
        </p:nvSpPr>
        <p:spPr>
          <a:xfrm>
            <a:off x="1114749" y="1601224"/>
            <a:ext cx="7956334"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latin typeface="Calibri"/>
                <a:ea typeface="Calibri"/>
                <a:cs typeface="Calibri"/>
              </a:rPr>
              <a:t>4. User Authentication Module</a:t>
            </a:r>
            <a:br>
              <a:rPr lang="en-US" sz="2000" dirty="0">
                <a:latin typeface="Calibri"/>
                <a:ea typeface="Calibri"/>
                <a:cs typeface="Calibri"/>
              </a:rPr>
            </a:br>
            <a:r>
              <a:rPr lang="en-US" sz="2000" dirty="0">
                <a:latin typeface="Calibri"/>
                <a:ea typeface="Calibri"/>
                <a:cs typeface="Calibri"/>
              </a:rPr>
              <a:t> • Secure login/signup using Django authentication</a:t>
            </a:r>
            <a:br>
              <a:rPr lang="en-US" sz="2000" dirty="0">
                <a:latin typeface="Calibri"/>
                <a:ea typeface="Calibri"/>
                <a:cs typeface="Calibri"/>
              </a:rPr>
            </a:br>
            <a:r>
              <a:rPr lang="en-US" sz="2000" dirty="0">
                <a:latin typeface="Calibri"/>
                <a:ea typeface="Calibri"/>
                <a:cs typeface="Calibri"/>
              </a:rPr>
              <a:t> • Restricts access to unauthorized users</a:t>
            </a:r>
            <a:endParaRPr lang="en-US" sz="2000" dirty="0">
              <a:solidFill>
                <a:srgbClr val="000000"/>
              </a:solidFill>
              <a:latin typeface="Calibri"/>
              <a:ea typeface="Calibri"/>
              <a:cs typeface="Calibri"/>
            </a:endParaRPr>
          </a:p>
          <a:p>
            <a:pPr algn="l"/>
            <a:endParaRPr lang="en-US" sz="2000">
              <a:latin typeface="Calibri"/>
              <a:ea typeface="Calibri"/>
              <a:cs typeface="Calibri"/>
            </a:endParaRPr>
          </a:p>
          <a:p>
            <a:pPr algn="l"/>
            <a:r>
              <a:rPr lang="en-US" sz="2000" b="1" dirty="0">
                <a:latin typeface="Calibri"/>
                <a:ea typeface="Calibri"/>
                <a:cs typeface="Calibri"/>
              </a:rPr>
              <a:t>5. Visualization Module</a:t>
            </a:r>
            <a:br>
              <a:rPr lang="en-US" sz="2000" dirty="0">
                <a:latin typeface="Calibri"/>
                <a:ea typeface="Calibri"/>
                <a:cs typeface="Calibri"/>
              </a:rPr>
            </a:br>
            <a:r>
              <a:rPr lang="en-US" sz="2000" dirty="0">
                <a:latin typeface="Calibri"/>
                <a:ea typeface="Calibri"/>
                <a:cs typeface="Calibri"/>
              </a:rPr>
              <a:t> • Uses Matplotlib for real-time and historical data graphs</a:t>
            </a:r>
            <a:br>
              <a:rPr lang="en-US" sz="2000" dirty="0">
                <a:latin typeface="Calibri"/>
                <a:ea typeface="Calibri"/>
                <a:cs typeface="Calibri"/>
              </a:rPr>
            </a:br>
            <a:r>
              <a:rPr lang="en-US" sz="2000" dirty="0">
                <a:latin typeface="Calibri"/>
                <a:ea typeface="Calibri"/>
                <a:cs typeface="Calibri"/>
              </a:rPr>
              <a:t> • Highlights faults visually with color-coded alerts</a:t>
            </a:r>
            <a:endParaRPr lang="en-US" sz="2000" dirty="0"/>
          </a:p>
          <a:p>
            <a:pPr algn="l"/>
            <a:r>
              <a:rPr lang="en-US" sz="2000" dirty="0">
                <a:latin typeface="Calibri"/>
                <a:ea typeface="Calibri"/>
                <a:cs typeface="Calibri"/>
              </a:rPr>
              <a:t> • Uses Chart.js, Matplotlib for real-time and historical data graphs</a:t>
            </a:r>
            <a:endParaRPr lang="en-US" dirty="0"/>
          </a:p>
          <a:p>
            <a:pPr algn="l"/>
            <a:endParaRPr lang="en-US" sz="2000">
              <a:latin typeface="Calibri"/>
              <a:ea typeface="Calibri"/>
              <a:cs typeface="Calibri"/>
            </a:endParaRPr>
          </a:p>
          <a:p>
            <a:pPr algn="l"/>
            <a:endParaRPr lang="en-US" sz="2000">
              <a:latin typeface="Calibri"/>
              <a:ea typeface="Calibri"/>
              <a:cs typeface="Calibri"/>
            </a:endParaRPr>
          </a:p>
          <a:p>
            <a:pPr algn="l"/>
            <a:r>
              <a:rPr lang="en-US" sz="2000" b="1" dirty="0">
                <a:latin typeface="Calibri"/>
                <a:ea typeface="Calibri"/>
                <a:cs typeface="Calibri"/>
              </a:rPr>
              <a:t>6. Real-Time Monitoring Module</a:t>
            </a:r>
            <a:br>
              <a:rPr lang="en-US" sz="2000" dirty="0">
                <a:latin typeface="Calibri"/>
                <a:ea typeface="Calibri"/>
                <a:cs typeface="Calibri"/>
              </a:rPr>
            </a:br>
            <a:r>
              <a:rPr lang="en-US" sz="2000" dirty="0">
                <a:latin typeface="Calibri"/>
                <a:ea typeface="Calibri"/>
                <a:cs typeface="Calibri"/>
              </a:rPr>
              <a:t> • Continuously updates live data (current, voltage, temperature, power)</a:t>
            </a:r>
            <a:br>
              <a:rPr lang="en-US" sz="2000" dirty="0">
                <a:latin typeface="Calibri"/>
                <a:ea typeface="Calibri"/>
                <a:cs typeface="Calibri"/>
              </a:rPr>
            </a:br>
            <a:r>
              <a:rPr lang="en-US" sz="2000" dirty="0">
                <a:latin typeface="Calibri"/>
                <a:ea typeface="Calibri"/>
                <a:cs typeface="Calibri"/>
              </a:rPr>
              <a:t> • Displays results with minimal delay for smooth performance</a:t>
            </a:r>
            <a:endParaRPr lang="en-US" sz="2000" dirty="0"/>
          </a:p>
        </p:txBody>
      </p:sp>
    </p:spTree>
    <p:extLst>
      <p:ext uri="{BB962C8B-B14F-4D97-AF65-F5344CB8AC3E}">
        <p14:creationId xmlns:p14="http://schemas.microsoft.com/office/powerpoint/2010/main" val="2983744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C38A9-4E7D-4087-5F41-9ECA624B3901}"/>
              </a:ext>
            </a:extLst>
          </p:cNvPr>
          <p:cNvSpPr>
            <a:spLocks noGrp="1"/>
          </p:cNvSpPr>
          <p:nvPr>
            <p:ph type="title"/>
          </p:nvPr>
        </p:nvSpPr>
        <p:spPr>
          <a:xfrm>
            <a:off x="536321" y="564305"/>
            <a:ext cx="10369550" cy="369332"/>
          </a:xfrm>
        </p:spPr>
        <p:txBody>
          <a:bodyPr/>
          <a:lstStyle/>
          <a:p>
            <a:r>
              <a:rPr lang="en-US" sz="2400">
                <a:solidFill>
                  <a:schemeClr val="tx1"/>
                </a:solidFill>
              </a:rPr>
              <a:t>Expected Input and Output</a:t>
            </a:r>
          </a:p>
        </p:txBody>
      </p:sp>
      <p:sp>
        <p:nvSpPr>
          <p:cNvPr id="3" name="Text Placeholder 2">
            <a:extLst>
              <a:ext uri="{FF2B5EF4-FFF2-40B4-BE49-F238E27FC236}">
                <a16:creationId xmlns:a16="http://schemas.microsoft.com/office/drawing/2014/main" id="{7200AC4A-98FC-DCB7-D388-D490F50D83AF}"/>
              </a:ext>
            </a:extLst>
          </p:cNvPr>
          <p:cNvSpPr>
            <a:spLocks noGrp="1"/>
          </p:cNvSpPr>
          <p:nvPr>
            <p:ph type="body" idx="1"/>
          </p:nvPr>
        </p:nvSpPr>
        <p:spPr>
          <a:xfrm>
            <a:off x="391969" y="1600779"/>
            <a:ext cx="4721637" cy="1538883"/>
          </a:xfrm>
        </p:spPr>
        <p:txBody>
          <a:bodyPr wrap="square" lIns="0" tIns="0" rIns="0" bIns="0" anchor="t">
            <a:spAutoFit/>
          </a:bodyPr>
          <a:lstStyle/>
          <a:p>
            <a:r>
              <a:rPr lang="en-US" sz="2000" b="1">
                <a:ea typeface="Calibri"/>
                <a:cs typeface="Calibri"/>
              </a:rPr>
              <a:t>Login window</a:t>
            </a:r>
            <a:r>
              <a:rPr lang="en-US" sz="2000">
                <a:ea typeface="Calibri"/>
                <a:cs typeface="Calibri"/>
              </a:rPr>
              <a:t> </a:t>
            </a:r>
          </a:p>
          <a:p>
            <a:endParaRPr lang="en-US" sz="2000">
              <a:ea typeface="Calibri"/>
              <a:cs typeface="Calibri"/>
            </a:endParaRPr>
          </a:p>
          <a:p>
            <a:r>
              <a:rPr lang="en-US" sz="2000">
                <a:ea typeface="Calibri"/>
                <a:cs typeface="Calibri"/>
              </a:rPr>
              <a:t>This will allows only authorized personnel to access the system.</a:t>
            </a:r>
          </a:p>
          <a:p>
            <a:r>
              <a:rPr lang="en-US" sz="2000">
                <a:ea typeface="Calibri"/>
                <a:cs typeface="Calibri"/>
              </a:rPr>
              <a:t>Increase system security.</a:t>
            </a:r>
          </a:p>
        </p:txBody>
      </p:sp>
      <p:pic>
        <p:nvPicPr>
          <p:cNvPr id="4" name="Picture 3" descr="A screenshot of a computer&#10;&#10;AI-generated content may be incorrect.">
            <a:extLst>
              <a:ext uri="{FF2B5EF4-FFF2-40B4-BE49-F238E27FC236}">
                <a16:creationId xmlns:a16="http://schemas.microsoft.com/office/drawing/2014/main" id="{A41F443D-DEFF-FE88-87AC-58012B8D4DD1}"/>
              </a:ext>
            </a:extLst>
          </p:cNvPr>
          <p:cNvPicPr>
            <a:picLocks noChangeAspect="1"/>
          </p:cNvPicPr>
          <p:nvPr/>
        </p:nvPicPr>
        <p:blipFill>
          <a:blip r:embed="rId2"/>
          <a:stretch>
            <a:fillRect/>
          </a:stretch>
        </p:blipFill>
        <p:spPr>
          <a:xfrm>
            <a:off x="5469038" y="2527138"/>
            <a:ext cx="5642660" cy="3202330"/>
          </a:xfrm>
          <a:prstGeom prst="rect">
            <a:avLst/>
          </a:prstGeom>
        </p:spPr>
      </p:pic>
    </p:spTree>
    <p:extLst>
      <p:ext uri="{BB962C8B-B14F-4D97-AF65-F5344CB8AC3E}">
        <p14:creationId xmlns:p14="http://schemas.microsoft.com/office/powerpoint/2010/main" val="1782136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053A9-0682-28D1-498D-188D51633BDC}"/>
              </a:ext>
            </a:extLst>
          </p:cNvPr>
          <p:cNvSpPr>
            <a:spLocks noGrp="1"/>
          </p:cNvSpPr>
          <p:nvPr>
            <p:ph type="title"/>
          </p:nvPr>
        </p:nvSpPr>
        <p:spPr>
          <a:xfrm>
            <a:off x="390364" y="550647"/>
            <a:ext cx="10369550" cy="369332"/>
          </a:xfrm>
        </p:spPr>
        <p:txBody>
          <a:bodyPr wrap="square" lIns="0" tIns="0" rIns="0" bIns="0" anchor="t">
            <a:spAutoFit/>
          </a:bodyPr>
          <a:lstStyle/>
          <a:p>
            <a:r>
              <a:rPr lang="en-US" sz="2400">
                <a:solidFill>
                  <a:schemeClr val="tx1"/>
                </a:solidFill>
                <a:ea typeface="Calibri"/>
              </a:rPr>
              <a:t>Expected Input and Output</a:t>
            </a:r>
            <a:endParaRPr lang="en-US" sz="2400">
              <a:solidFill>
                <a:schemeClr val="tx1"/>
              </a:solidFill>
            </a:endParaRPr>
          </a:p>
        </p:txBody>
      </p:sp>
      <p:sp>
        <p:nvSpPr>
          <p:cNvPr id="3" name="Text Placeholder 2">
            <a:extLst>
              <a:ext uri="{FF2B5EF4-FFF2-40B4-BE49-F238E27FC236}">
                <a16:creationId xmlns:a16="http://schemas.microsoft.com/office/drawing/2014/main" id="{5DB290BD-B791-D36D-D920-C49B842C0FA6}"/>
              </a:ext>
            </a:extLst>
          </p:cNvPr>
          <p:cNvSpPr>
            <a:spLocks noGrp="1"/>
          </p:cNvSpPr>
          <p:nvPr>
            <p:ph type="body" idx="1"/>
          </p:nvPr>
        </p:nvSpPr>
        <p:spPr>
          <a:xfrm>
            <a:off x="391969" y="1600779"/>
            <a:ext cx="5091701" cy="3016210"/>
          </a:xfrm>
        </p:spPr>
        <p:txBody>
          <a:bodyPr wrap="square" lIns="0" tIns="0" rIns="0" bIns="0" anchor="t">
            <a:spAutoFit/>
          </a:bodyPr>
          <a:lstStyle/>
          <a:p>
            <a:r>
              <a:rPr lang="en-US" sz="2000" b="1">
                <a:ea typeface="Calibri"/>
                <a:cs typeface="Calibri"/>
              </a:rPr>
              <a:t>Home screen : </a:t>
            </a:r>
          </a:p>
          <a:p>
            <a:endParaRPr lang="en-US" sz="2000">
              <a:ea typeface="Calibri"/>
              <a:cs typeface="Calibri"/>
            </a:endParaRPr>
          </a:p>
          <a:p>
            <a:r>
              <a:rPr lang="en-US" sz="2000">
                <a:ea typeface="Calibri"/>
                <a:cs typeface="Calibri"/>
              </a:rPr>
              <a:t>After successful login user will redirect to home screen.</a:t>
            </a:r>
          </a:p>
          <a:p>
            <a:r>
              <a:rPr lang="en-US" sz="2000">
                <a:ea typeface="Calibri"/>
                <a:cs typeface="Calibri"/>
              </a:rPr>
              <a:t>This pages shows </a:t>
            </a:r>
          </a:p>
          <a:p>
            <a:pPr marL="285750" indent="-285750">
              <a:buFont typeface="Arial"/>
              <a:buChar char="•"/>
            </a:pPr>
            <a:r>
              <a:rPr lang="en-US" sz="2000">
                <a:ea typeface="Calibri"/>
                <a:cs typeface="Calibri"/>
              </a:rPr>
              <a:t>Welcome greeting </a:t>
            </a:r>
          </a:p>
          <a:p>
            <a:pPr marL="285750" indent="-285750">
              <a:buFont typeface="Arial"/>
              <a:buChar char="•"/>
            </a:pPr>
            <a:r>
              <a:rPr lang="en-US" sz="2000">
                <a:ea typeface="Calibri"/>
                <a:cs typeface="Calibri"/>
              </a:rPr>
              <a:t>System status</a:t>
            </a:r>
          </a:p>
          <a:p>
            <a:pPr marL="285750" indent="-285750">
              <a:buFont typeface="Arial"/>
              <a:buChar char="•"/>
            </a:pPr>
            <a:r>
              <a:rPr lang="en-US" sz="2000">
                <a:ea typeface="Calibri"/>
                <a:cs typeface="Calibri"/>
              </a:rPr>
              <a:t>Recent Events</a:t>
            </a:r>
          </a:p>
          <a:p>
            <a:endParaRPr lang="en-US">
              <a:ea typeface="Calibri"/>
              <a:cs typeface="Calibri"/>
            </a:endParaRPr>
          </a:p>
          <a:p>
            <a:endParaRPr lang="en-US">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FC43C37A-8AE9-DD17-FD32-BA9BEE15360A}"/>
              </a:ext>
            </a:extLst>
          </p:cNvPr>
          <p:cNvPicPr>
            <a:picLocks noChangeAspect="1"/>
          </p:cNvPicPr>
          <p:nvPr/>
        </p:nvPicPr>
        <p:blipFill>
          <a:blip r:embed="rId2"/>
          <a:stretch>
            <a:fillRect/>
          </a:stretch>
        </p:blipFill>
        <p:spPr>
          <a:xfrm>
            <a:off x="5652304" y="2150962"/>
            <a:ext cx="6269621" cy="3501343"/>
          </a:xfrm>
          <a:prstGeom prst="rect">
            <a:avLst/>
          </a:prstGeom>
        </p:spPr>
      </p:pic>
    </p:spTree>
    <p:extLst>
      <p:ext uri="{BB962C8B-B14F-4D97-AF65-F5344CB8AC3E}">
        <p14:creationId xmlns:p14="http://schemas.microsoft.com/office/powerpoint/2010/main" val="3802373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B5D1D-A9A6-D84F-6CF9-A9B20E152FFA}"/>
              </a:ext>
            </a:extLst>
          </p:cNvPr>
          <p:cNvSpPr>
            <a:spLocks noGrp="1"/>
          </p:cNvSpPr>
          <p:nvPr>
            <p:ph type="title"/>
          </p:nvPr>
        </p:nvSpPr>
        <p:spPr>
          <a:xfrm>
            <a:off x="390364" y="454191"/>
            <a:ext cx="10369550" cy="646331"/>
          </a:xfrm>
        </p:spPr>
        <p:txBody>
          <a:bodyPr wrap="square" lIns="0" tIns="0" rIns="0" bIns="0" anchor="t">
            <a:spAutoFit/>
          </a:bodyPr>
          <a:lstStyle/>
          <a:p>
            <a:pPr algn="l"/>
            <a:r>
              <a:rPr lang="en-US" sz="2400">
                <a:solidFill>
                  <a:schemeClr val="tx1"/>
                </a:solidFill>
                <a:ea typeface="Calibri"/>
              </a:rPr>
              <a:t>Expected Input and Output</a:t>
            </a:r>
            <a:endParaRPr lang="en-US" sz="2400"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3E30F120-AAE2-5D32-A11B-481F57F8561F}"/>
              </a:ext>
            </a:extLst>
          </p:cNvPr>
          <p:cNvSpPr>
            <a:spLocks noGrp="1"/>
          </p:cNvSpPr>
          <p:nvPr>
            <p:ph type="body" idx="1"/>
          </p:nvPr>
        </p:nvSpPr>
        <p:spPr>
          <a:xfrm>
            <a:off x="391969" y="1600779"/>
            <a:ext cx="4686587" cy="2154436"/>
          </a:xfrm>
        </p:spPr>
        <p:txBody>
          <a:bodyPr wrap="square" lIns="0" tIns="0" rIns="0" bIns="0" anchor="t">
            <a:spAutoFit/>
          </a:bodyPr>
          <a:lstStyle/>
          <a:p>
            <a:r>
              <a:rPr lang="en-US" sz="2000" b="1">
                <a:ea typeface="Calibri"/>
                <a:cs typeface="Calibri"/>
              </a:rPr>
              <a:t>Prediction Window : </a:t>
            </a:r>
          </a:p>
          <a:p>
            <a:endParaRPr lang="en-US" sz="2000" b="1">
              <a:ea typeface="Calibri"/>
              <a:cs typeface="Calibri"/>
            </a:endParaRPr>
          </a:p>
          <a:p>
            <a:r>
              <a:rPr lang="en-US" sz="2000">
                <a:ea typeface="Calibri"/>
                <a:cs typeface="Calibri"/>
              </a:rPr>
              <a:t>Contains details about all charging points</a:t>
            </a:r>
          </a:p>
          <a:p>
            <a:pPr marL="285750" indent="-285750">
              <a:buFont typeface="Arial"/>
              <a:buChar char="•"/>
            </a:pPr>
            <a:r>
              <a:rPr lang="en-US" sz="2000">
                <a:ea typeface="Calibri"/>
                <a:cs typeface="Calibri"/>
              </a:rPr>
              <a:t>Status of charging point</a:t>
            </a:r>
          </a:p>
          <a:p>
            <a:pPr marL="285750" indent="-285750">
              <a:buFont typeface="Arial"/>
              <a:buChar char="•"/>
            </a:pPr>
            <a:r>
              <a:rPr lang="en-US" sz="2000">
                <a:ea typeface="Calibri"/>
                <a:cs typeface="Calibri"/>
              </a:rPr>
              <a:t>Display predicted value(</a:t>
            </a:r>
            <a:r>
              <a:rPr lang="en-US" sz="2000" err="1">
                <a:ea typeface="Calibri"/>
                <a:cs typeface="Calibri"/>
              </a:rPr>
              <a:t>current,power</a:t>
            </a:r>
            <a:r>
              <a:rPr lang="en-US" sz="2000">
                <a:ea typeface="Calibri"/>
                <a:cs typeface="Calibri"/>
              </a:rPr>
              <a:t>)</a:t>
            </a:r>
          </a:p>
          <a:p>
            <a:pPr marL="285750" indent="-285750">
              <a:buFont typeface="Arial"/>
              <a:buChar char="•"/>
            </a:pPr>
            <a:r>
              <a:rPr lang="en-US" sz="2000">
                <a:ea typeface="Calibri"/>
                <a:cs typeface="Calibri"/>
              </a:rPr>
              <a:t>Total power consumption</a:t>
            </a:r>
          </a:p>
          <a:p>
            <a:endParaRPr lang="en-US" sz="2000" b="1">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1030F875-DE44-0A39-EACE-3AE93AEC25D5}"/>
              </a:ext>
            </a:extLst>
          </p:cNvPr>
          <p:cNvPicPr>
            <a:picLocks noChangeAspect="1"/>
          </p:cNvPicPr>
          <p:nvPr/>
        </p:nvPicPr>
        <p:blipFill>
          <a:blip r:embed="rId2"/>
          <a:stretch>
            <a:fillRect/>
          </a:stretch>
        </p:blipFill>
        <p:spPr>
          <a:xfrm>
            <a:off x="5256835" y="1267290"/>
            <a:ext cx="6713317" cy="3973975"/>
          </a:xfrm>
          <a:prstGeom prst="rect">
            <a:avLst/>
          </a:prstGeom>
        </p:spPr>
      </p:pic>
    </p:spTree>
    <p:extLst>
      <p:ext uri="{BB962C8B-B14F-4D97-AF65-F5344CB8AC3E}">
        <p14:creationId xmlns:p14="http://schemas.microsoft.com/office/powerpoint/2010/main" val="2260663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93A24-978E-D5FA-4829-504F3D7E86CC}"/>
              </a:ext>
            </a:extLst>
          </p:cNvPr>
          <p:cNvSpPr>
            <a:spLocks noGrp="1"/>
          </p:cNvSpPr>
          <p:nvPr>
            <p:ph type="title"/>
          </p:nvPr>
        </p:nvSpPr>
        <p:spPr>
          <a:xfrm>
            <a:off x="390364" y="569938"/>
            <a:ext cx="10369550" cy="646331"/>
          </a:xfrm>
        </p:spPr>
        <p:txBody>
          <a:bodyPr wrap="square" lIns="0" tIns="0" rIns="0" bIns="0" anchor="t">
            <a:spAutoFit/>
          </a:bodyPr>
          <a:lstStyle/>
          <a:p>
            <a:pPr algn="l"/>
            <a:r>
              <a:rPr lang="en-US" sz="2400">
                <a:solidFill>
                  <a:schemeClr val="tx1"/>
                </a:solidFill>
                <a:ea typeface="Calibri"/>
              </a:rPr>
              <a:t>Expected Input and Output</a:t>
            </a:r>
            <a:endParaRPr lang="en-US" sz="2400"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B75E39E1-EDDC-6D7D-E93E-B3A00D3A24A6}"/>
              </a:ext>
            </a:extLst>
          </p:cNvPr>
          <p:cNvSpPr>
            <a:spLocks noGrp="1"/>
          </p:cNvSpPr>
          <p:nvPr>
            <p:ph type="body" idx="1"/>
          </p:nvPr>
        </p:nvSpPr>
        <p:spPr>
          <a:xfrm>
            <a:off x="391969" y="1600779"/>
            <a:ext cx="4588773" cy="1231106"/>
          </a:xfrm>
        </p:spPr>
        <p:txBody>
          <a:bodyPr wrap="square" lIns="0" tIns="0" rIns="0" bIns="0" anchor="t">
            <a:spAutoFit/>
          </a:bodyPr>
          <a:lstStyle/>
          <a:p>
            <a:r>
              <a:rPr lang="en-US" sz="2000" b="1">
                <a:ea typeface="Calibri"/>
                <a:cs typeface="Calibri"/>
              </a:rPr>
              <a:t>Fault detection window : </a:t>
            </a:r>
          </a:p>
          <a:p>
            <a:endParaRPr lang="en-US" sz="2000">
              <a:ea typeface="Calibri"/>
              <a:cs typeface="Calibri"/>
            </a:endParaRPr>
          </a:p>
          <a:p>
            <a:r>
              <a:rPr lang="en-US" sz="2000">
                <a:ea typeface="Calibri"/>
                <a:cs typeface="Calibri"/>
              </a:rPr>
              <a:t>This shows </a:t>
            </a:r>
            <a:r>
              <a:rPr lang="en-US" sz="2000" err="1">
                <a:ea typeface="Calibri"/>
                <a:cs typeface="Calibri"/>
              </a:rPr>
              <a:t>realtime</a:t>
            </a:r>
            <a:r>
              <a:rPr lang="en-US" sz="2000">
                <a:ea typeface="Calibri"/>
                <a:cs typeface="Calibri"/>
              </a:rPr>
              <a:t> fault detection.</a:t>
            </a:r>
          </a:p>
          <a:p>
            <a:endParaRPr lang="en-US" sz="2000">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08AF6CC5-B7BB-A590-FB84-F8F1571659DD}"/>
              </a:ext>
            </a:extLst>
          </p:cNvPr>
          <p:cNvPicPr>
            <a:picLocks noChangeAspect="1"/>
          </p:cNvPicPr>
          <p:nvPr/>
        </p:nvPicPr>
        <p:blipFill>
          <a:blip r:embed="rId2"/>
          <a:stretch>
            <a:fillRect/>
          </a:stretch>
        </p:blipFill>
        <p:spPr>
          <a:xfrm>
            <a:off x="5681241" y="1215342"/>
            <a:ext cx="6231038" cy="3906457"/>
          </a:xfrm>
          <a:prstGeom prst="rect">
            <a:avLst/>
          </a:prstGeom>
        </p:spPr>
      </p:pic>
    </p:spTree>
    <p:extLst>
      <p:ext uri="{BB962C8B-B14F-4D97-AF65-F5344CB8AC3E}">
        <p14:creationId xmlns:p14="http://schemas.microsoft.com/office/powerpoint/2010/main" val="227999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B18D7-6E46-102D-EF41-974E4BA6654B}"/>
              </a:ext>
            </a:extLst>
          </p:cNvPr>
          <p:cNvSpPr>
            <a:spLocks noGrp="1"/>
          </p:cNvSpPr>
          <p:nvPr>
            <p:ph type="title"/>
          </p:nvPr>
        </p:nvSpPr>
        <p:spPr>
          <a:xfrm>
            <a:off x="355171" y="328538"/>
            <a:ext cx="10369550" cy="677108"/>
          </a:xfrm>
        </p:spPr>
        <p:txBody>
          <a:bodyPr wrap="square" lIns="0" tIns="0" rIns="0" bIns="0" anchor="t">
            <a:spAutoFit/>
          </a:bodyPr>
          <a:lstStyle/>
          <a:p>
            <a:r>
              <a:rPr lang="en-US" sz="4400" b="0">
                <a:solidFill>
                  <a:schemeClr val="tx1"/>
                </a:solidFill>
                <a:ea typeface="Calibri"/>
              </a:rPr>
              <a:t>Status of Research Paper /Patent </a:t>
            </a:r>
            <a:endParaRPr lang="en-US"/>
          </a:p>
        </p:txBody>
      </p:sp>
      <p:sp>
        <p:nvSpPr>
          <p:cNvPr id="5" name="Text Placeholder 4">
            <a:extLst>
              <a:ext uri="{FF2B5EF4-FFF2-40B4-BE49-F238E27FC236}">
                <a16:creationId xmlns:a16="http://schemas.microsoft.com/office/drawing/2014/main" id="{0EB77585-8E62-22AB-8E28-E907BE04C447}"/>
              </a:ext>
            </a:extLst>
          </p:cNvPr>
          <p:cNvSpPr>
            <a:spLocks noGrp="1"/>
          </p:cNvSpPr>
          <p:nvPr>
            <p:ph type="body" idx="1"/>
          </p:nvPr>
        </p:nvSpPr>
        <p:spPr>
          <a:xfrm>
            <a:off x="359772" y="1473151"/>
            <a:ext cx="11214735" cy="1661993"/>
          </a:xfrm>
        </p:spPr>
        <p:txBody>
          <a:bodyPr wrap="square" lIns="0" tIns="0" rIns="0" bIns="0" anchor="t">
            <a:spAutoFit/>
          </a:bodyPr>
          <a:lstStyle/>
          <a:p>
            <a:pPr algn="l"/>
            <a:r>
              <a:rPr lang="en-US">
                <a:ea typeface="Calibri"/>
                <a:cs typeface="Calibri"/>
              </a:rPr>
              <a:t>•</a:t>
            </a:r>
            <a:r>
              <a:rPr lang="en-US" b="1">
                <a:ea typeface="Calibri"/>
                <a:cs typeface="Calibri"/>
              </a:rPr>
              <a:t>Research Paper: Conference/Journal (*To be decided by Committee and Guide)</a:t>
            </a:r>
            <a:endParaRPr lang="en-US">
              <a:ea typeface="Calibri"/>
              <a:cs typeface="Calibri"/>
            </a:endParaRPr>
          </a:p>
          <a:p>
            <a:r>
              <a:rPr lang="en-US">
                <a:ea typeface="Calibri"/>
                <a:cs typeface="Calibri"/>
              </a:rPr>
              <a:t>         (*Note: POST - PROJECT SUBMISSION REQUIREMENT:  : As mentioned earlier, the project titles and the scope of projects shall be such that at least ONE SCOPUS / </a:t>
            </a:r>
            <a:r>
              <a:rPr lang="en-US" err="1">
                <a:ea typeface="Calibri"/>
                <a:cs typeface="Calibri"/>
              </a:rPr>
              <a:t>WoS</a:t>
            </a:r>
            <a:r>
              <a:rPr lang="en-US">
                <a:ea typeface="Calibri"/>
                <a:cs typeface="Calibri"/>
              </a:rPr>
              <a:t> indexed publication / Book Chapter / Patent is derived out of the project work. The student has to pay the fees for publication. It shall clarify to all Project Guides and the project students that if the desired aim is not achieved before ESE Viva Voce of VII Sem ESE, the project may be extended to next SIX months and the final viva voce of project shall be conducted at the time of VIII Sem ESE.)</a:t>
            </a:r>
            <a:endParaRPr lang="en-US"/>
          </a:p>
        </p:txBody>
      </p:sp>
    </p:spTree>
    <p:extLst>
      <p:ext uri="{BB962C8B-B14F-4D97-AF65-F5344CB8AC3E}">
        <p14:creationId xmlns:p14="http://schemas.microsoft.com/office/powerpoint/2010/main" val="196007677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9707-75B8-BE78-8B06-BE52E45C82B3}"/>
              </a:ext>
            </a:extLst>
          </p:cNvPr>
          <p:cNvSpPr>
            <a:spLocks noGrp="1"/>
          </p:cNvSpPr>
          <p:nvPr>
            <p:ph type="title"/>
          </p:nvPr>
        </p:nvSpPr>
        <p:spPr>
          <a:xfrm>
            <a:off x="715576" y="4746079"/>
            <a:ext cx="10369550" cy="553998"/>
          </a:xfrm>
        </p:spPr>
        <p:txBody>
          <a:bodyPr wrap="square" lIns="0" tIns="0" rIns="0" bIns="0" anchor="t">
            <a:spAutoFit/>
          </a:bodyPr>
          <a:lstStyle/>
          <a:p>
            <a:br>
              <a:rPr lang="en-US">
                <a:ea typeface="Calibri"/>
              </a:rPr>
            </a:br>
            <a:endParaRPr lang="en-US">
              <a:ea typeface="Calibri"/>
            </a:endParaRPr>
          </a:p>
        </p:txBody>
      </p:sp>
      <p:sp>
        <p:nvSpPr>
          <p:cNvPr id="3" name="Text Placeholder 2">
            <a:extLst>
              <a:ext uri="{FF2B5EF4-FFF2-40B4-BE49-F238E27FC236}">
                <a16:creationId xmlns:a16="http://schemas.microsoft.com/office/drawing/2014/main" id="{C50692D7-B637-3AF3-DA3C-A9CDE083E3B3}"/>
              </a:ext>
            </a:extLst>
          </p:cNvPr>
          <p:cNvSpPr>
            <a:spLocks noGrp="1"/>
          </p:cNvSpPr>
          <p:nvPr>
            <p:ph type="body" idx="1"/>
          </p:nvPr>
        </p:nvSpPr>
        <p:spPr>
          <a:xfrm>
            <a:off x="978915" y="2012671"/>
            <a:ext cx="1362397" cy="830997"/>
          </a:xfrm>
        </p:spPr>
        <p:txBody>
          <a:bodyPr wrap="square" lIns="0" tIns="0" rIns="0" bIns="0" anchor="t">
            <a:spAutoFit/>
          </a:bodyPr>
          <a:lstStyle/>
          <a:p>
            <a:pPr algn="l"/>
            <a:r>
              <a:rPr lang="en-US">
                <a:ea typeface="+mn-lt"/>
                <a:cs typeface="+mn-lt"/>
              </a:rPr>
              <a:t>•</a:t>
            </a:r>
            <a:r>
              <a:rPr lang="en-US" b="1">
                <a:ea typeface="+mn-lt"/>
                <a:cs typeface="+mn-lt"/>
              </a:rPr>
              <a:t>Patent: </a:t>
            </a:r>
            <a:r>
              <a:rPr lang="en-US">
                <a:ea typeface="+mn-lt"/>
                <a:cs typeface="+mn-lt"/>
              </a:rPr>
              <a:t>Yes</a:t>
            </a:r>
            <a:endParaRPr lang="en-US"/>
          </a:p>
          <a:p>
            <a:pPr algn="l"/>
            <a:endParaRPr lang="en-US">
              <a:ea typeface="+mn-lt"/>
              <a:cs typeface="+mn-lt"/>
            </a:endParaRPr>
          </a:p>
          <a:p>
            <a:pPr algn="l"/>
            <a:endParaRPr lang="en-US" b="1">
              <a:ea typeface="Calibri"/>
              <a:cs typeface="Calibri"/>
            </a:endParaRPr>
          </a:p>
        </p:txBody>
      </p:sp>
      <p:sp>
        <p:nvSpPr>
          <p:cNvPr id="4" name="TextBox 3">
            <a:extLst>
              <a:ext uri="{FF2B5EF4-FFF2-40B4-BE49-F238E27FC236}">
                <a16:creationId xmlns:a16="http://schemas.microsoft.com/office/drawing/2014/main" id="{E7B6C1DC-76A8-72C0-AFC8-B3FB1642D501}"/>
              </a:ext>
            </a:extLst>
          </p:cNvPr>
          <p:cNvSpPr txBox="1"/>
          <p:nvPr/>
        </p:nvSpPr>
        <p:spPr>
          <a:xfrm>
            <a:off x="841874" y="552048"/>
            <a:ext cx="71766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b="1"/>
              <a:t>Patent</a:t>
            </a:r>
            <a:endParaRPr lang="en-US" sz="4800" b="1">
              <a:solidFill>
                <a:srgbClr val="000000"/>
              </a:solidFill>
            </a:endParaRPr>
          </a:p>
        </p:txBody>
      </p:sp>
      <p:pic>
        <p:nvPicPr>
          <p:cNvPr id="6" name="Picture 5" descr="A screenshot of a computer&#10;&#10;AI-generated content may be incorrect.">
            <a:extLst>
              <a:ext uri="{FF2B5EF4-FFF2-40B4-BE49-F238E27FC236}">
                <a16:creationId xmlns:a16="http://schemas.microsoft.com/office/drawing/2014/main" id="{7F0B26A8-967A-8D2B-9552-638CA5106369}"/>
              </a:ext>
            </a:extLst>
          </p:cNvPr>
          <p:cNvPicPr>
            <a:picLocks noChangeAspect="1"/>
          </p:cNvPicPr>
          <p:nvPr/>
        </p:nvPicPr>
        <p:blipFill>
          <a:blip r:embed="rId2"/>
          <a:stretch>
            <a:fillRect/>
          </a:stretch>
        </p:blipFill>
        <p:spPr>
          <a:xfrm>
            <a:off x="4428982" y="1395211"/>
            <a:ext cx="6553754" cy="5462789"/>
          </a:xfrm>
          <a:prstGeom prst="rect">
            <a:avLst/>
          </a:prstGeom>
        </p:spPr>
      </p:pic>
    </p:spTree>
    <p:extLst>
      <p:ext uri="{BB962C8B-B14F-4D97-AF65-F5344CB8AC3E}">
        <p14:creationId xmlns:p14="http://schemas.microsoft.com/office/powerpoint/2010/main" val="121479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44211" y="230361"/>
            <a:ext cx="10369550" cy="695960"/>
          </a:xfrm>
          <a:prstGeom prst="rect">
            <a:avLst/>
          </a:prstGeom>
        </p:spPr>
        <p:txBody>
          <a:bodyPr vert="horz" wrap="square" lIns="0" tIns="12700" rIns="0" bIns="0" rtlCol="0">
            <a:spAutoFit/>
          </a:bodyPr>
          <a:lstStyle/>
          <a:p>
            <a:pPr marL="12700">
              <a:lnSpc>
                <a:spcPct val="100000"/>
              </a:lnSpc>
              <a:spcBef>
                <a:spcPts val="100"/>
              </a:spcBef>
            </a:pPr>
            <a:r>
              <a:rPr sz="4400">
                <a:solidFill>
                  <a:srgbClr val="000000"/>
                </a:solidFill>
              </a:rPr>
              <a:t>References</a:t>
            </a:r>
            <a:r>
              <a:t>(*Strictly</a:t>
            </a:r>
            <a:r>
              <a:rPr spc="-35"/>
              <a:t> </a:t>
            </a:r>
            <a:r>
              <a:t>in</a:t>
            </a:r>
            <a:r>
              <a:rPr spc="-30"/>
              <a:t> </a:t>
            </a:r>
            <a:r>
              <a:t>IEEE</a:t>
            </a:r>
            <a:r>
              <a:rPr spc="-30"/>
              <a:t> </a:t>
            </a:r>
            <a:r>
              <a:rPr spc="-10"/>
              <a:t>format)</a:t>
            </a:r>
            <a:endParaRPr sz="4400"/>
          </a:p>
        </p:txBody>
      </p:sp>
      <p:sp>
        <p:nvSpPr>
          <p:cNvPr id="3" name="TextBox 2">
            <a:extLst>
              <a:ext uri="{FF2B5EF4-FFF2-40B4-BE49-F238E27FC236}">
                <a16:creationId xmlns:a16="http://schemas.microsoft.com/office/drawing/2014/main" id="{78A18F83-E506-B7BC-19F4-DC44D46DAC45}"/>
              </a:ext>
            </a:extLst>
          </p:cNvPr>
          <p:cNvSpPr txBox="1"/>
          <p:nvPr/>
        </p:nvSpPr>
        <p:spPr>
          <a:xfrm>
            <a:off x="574037" y="994064"/>
            <a:ext cx="11130727"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222222"/>
                </a:solidFill>
                <a:latin typeface="Calibri"/>
                <a:ea typeface="Calibri"/>
                <a:cs typeface="Arial"/>
              </a:rPr>
              <a:t>1.</a:t>
            </a:r>
            <a:r>
              <a:rPr lang="en-US">
                <a:solidFill>
                  <a:srgbClr val="222222"/>
                </a:solidFill>
                <a:latin typeface="Calibri"/>
                <a:ea typeface="Calibri"/>
                <a:cs typeface="Calibri"/>
              </a:rPr>
              <a:t>A. </a:t>
            </a:r>
            <a:r>
              <a:rPr lang="en-US" err="1">
                <a:solidFill>
                  <a:srgbClr val="222222"/>
                </a:solidFill>
                <a:latin typeface="Calibri"/>
                <a:ea typeface="Calibri"/>
                <a:cs typeface="Calibri"/>
              </a:rPr>
              <a:t>Almaghrebi</a:t>
            </a:r>
            <a:r>
              <a:rPr lang="en-US">
                <a:solidFill>
                  <a:srgbClr val="222222"/>
                </a:solidFill>
                <a:latin typeface="Calibri"/>
                <a:ea typeface="Calibri"/>
                <a:cs typeface="Calibri"/>
              </a:rPr>
              <a:t>, F. </a:t>
            </a:r>
            <a:r>
              <a:rPr lang="en-US" err="1">
                <a:solidFill>
                  <a:srgbClr val="222222"/>
                </a:solidFill>
                <a:latin typeface="Calibri"/>
                <a:ea typeface="Calibri"/>
                <a:cs typeface="Calibri"/>
              </a:rPr>
              <a:t>Aljuheshi</a:t>
            </a:r>
            <a:r>
              <a:rPr lang="en-US">
                <a:solidFill>
                  <a:srgbClr val="222222"/>
                </a:solidFill>
                <a:latin typeface="Calibri"/>
                <a:ea typeface="Calibri"/>
                <a:cs typeface="Calibri"/>
              </a:rPr>
              <a:t>, M. </a:t>
            </a:r>
            <a:r>
              <a:rPr lang="en-US" err="1">
                <a:solidFill>
                  <a:srgbClr val="222222"/>
                </a:solidFill>
                <a:latin typeface="Calibri"/>
                <a:ea typeface="Calibri"/>
                <a:cs typeface="Calibri"/>
              </a:rPr>
              <a:t>Rafaie</a:t>
            </a:r>
            <a:r>
              <a:rPr lang="en-US">
                <a:solidFill>
                  <a:srgbClr val="222222"/>
                </a:solidFill>
                <a:latin typeface="Calibri"/>
                <a:ea typeface="Calibri"/>
                <a:cs typeface="Calibri"/>
              </a:rPr>
              <a:t>, K. James, and M. Alahmad, “Data-Driven Charging Demand Prediction at Public Charging Stations Using Supervised Machine Learning Regression Methods,” </a:t>
            </a:r>
            <a:r>
              <a:rPr lang="en-US" i="1">
                <a:solidFill>
                  <a:srgbClr val="222222"/>
                </a:solidFill>
                <a:latin typeface="Calibri"/>
                <a:ea typeface="Calibri"/>
                <a:cs typeface="Calibri"/>
              </a:rPr>
              <a:t>Energies</a:t>
            </a:r>
            <a:r>
              <a:rPr lang="en-US">
                <a:solidFill>
                  <a:srgbClr val="222222"/>
                </a:solidFill>
                <a:latin typeface="Calibri"/>
                <a:ea typeface="Calibri"/>
                <a:cs typeface="Calibri"/>
              </a:rPr>
              <a:t>, vol. 13, no. 16, p. 4231, 2020. </a:t>
            </a:r>
            <a:r>
              <a:rPr lang="en-US">
                <a:solidFill>
                  <a:schemeClr val="tx1">
                    <a:lumMod val="76000"/>
                    <a:lumOff val="24000"/>
                  </a:schemeClr>
                </a:solidFill>
                <a:latin typeface="Calibri"/>
                <a:ea typeface="Calibri"/>
                <a:cs typeface="Calibri"/>
                <a:hlinkClick r:id="rId2">
                  <a:extLst>
                    <a:ext uri="{A12FA001-AC4F-418D-AE19-62706E023703}">
                      <ahyp:hlinkClr xmlns:ahyp="http://schemas.microsoft.com/office/drawing/2018/hyperlinkcolor" val="tx"/>
                    </a:ext>
                  </a:extLst>
                </a:hlinkClick>
              </a:rPr>
              <a:t>https://doi.org/10.3390/en13164231</a:t>
            </a:r>
            <a:endParaRPr lang="en-US" u="sng">
              <a:solidFill>
                <a:schemeClr val="tx1">
                  <a:lumMod val="76000"/>
                  <a:lumOff val="24000"/>
                </a:schemeClr>
              </a:solidFill>
              <a:latin typeface="Calibri"/>
              <a:ea typeface="Calibri"/>
              <a:cs typeface="Calibri"/>
              <a:hlinkClick r:id="rId2">
                <a:extLst>
                  <a:ext uri="{A12FA001-AC4F-418D-AE19-62706E023703}">
                    <ahyp:hlinkClr xmlns:ahyp="http://schemas.microsoft.com/office/drawing/2018/hyperlinkcolor" val="tx"/>
                  </a:ext>
                </a:extLst>
              </a:hlinkClick>
            </a:endParaRPr>
          </a:p>
          <a:p>
            <a:pPr algn="just"/>
            <a:endParaRPr lang="en-US">
              <a:solidFill>
                <a:srgbClr val="222222"/>
              </a:solidFill>
              <a:latin typeface="Calibri"/>
              <a:ea typeface="Calibri"/>
              <a:cs typeface="Arial"/>
            </a:endParaRPr>
          </a:p>
          <a:p>
            <a:pPr algn="just"/>
            <a:r>
              <a:rPr lang="en-US">
                <a:solidFill>
                  <a:srgbClr val="222222"/>
                </a:solidFill>
                <a:latin typeface="Calibri"/>
                <a:ea typeface="Calibri"/>
                <a:cs typeface="Arial"/>
              </a:rPr>
              <a:t>2.</a:t>
            </a:r>
            <a:r>
              <a:rPr lang="en-US">
                <a:solidFill>
                  <a:srgbClr val="222222"/>
                </a:solidFill>
                <a:latin typeface="Calibri"/>
                <a:ea typeface="Calibri"/>
                <a:cs typeface="Calibri"/>
              </a:rPr>
              <a:t>S. Deb, “Machine Learning for Solving Charging Infrastructure Planning: A Comprehensive Review,” in </a:t>
            </a:r>
            <a:r>
              <a:rPr lang="en-US" i="1">
                <a:solidFill>
                  <a:srgbClr val="222222"/>
                </a:solidFill>
                <a:latin typeface="Calibri"/>
                <a:ea typeface="Calibri"/>
                <a:cs typeface="Calibri"/>
              </a:rPr>
              <a:t>Proc. 2021 IEEE Int. Conf. on Smart Grid and Smart Cities (ICSGSC)</a:t>
            </a:r>
            <a:r>
              <a:rPr lang="en-US">
                <a:solidFill>
                  <a:srgbClr val="222222"/>
                </a:solidFill>
                <a:latin typeface="Calibri"/>
                <a:ea typeface="Calibri"/>
                <a:cs typeface="Calibri"/>
              </a:rPr>
              <a:t>, Tokyo, Japan, 2021, pp. 16–22. </a:t>
            </a:r>
            <a:r>
              <a:rPr lang="en-US" err="1">
                <a:solidFill>
                  <a:srgbClr val="222222"/>
                </a:solidFill>
                <a:latin typeface="Calibri"/>
                <a:ea typeface="Calibri"/>
                <a:cs typeface="Calibri"/>
              </a:rPr>
              <a:t>doi</a:t>
            </a:r>
            <a:r>
              <a:rPr lang="en-US">
                <a:solidFill>
                  <a:srgbClr val="222222"/>
                </a:solidFill>
                <a:latin typeface="Calibri"/>
                <a:ea typeface="Calibri"/>
                <a:cs typeface="Calibri"/>
              </a:rPr>
              <a:t>: 10.1109/ICSGSC52434.2021.9490407</a:t>
            </a:r>
            <a:endParaRPr lang="en-US">
              <a:solidFill>
                <a:srgbClr val="000000"/>
              </a:solidFill>
              <a:latin typeface="Calibri"/>
              <a:ea typeface="Calibri"/>
              <a:cs typeface="Calibri"/>
            </a:endParaRPr>
          </a:p>
          <a:p>
            <a:pPr algn="just"/>
            <a:endParaRPr lang="en-US">
              <a:latin typeface="Calibri"/>
              <a:ea typeface="Calibri"/>
              <a:cs typeface="Calibri"/>
            </a:endParaRPr>
          </a:p>
          <a:p>
            <a:pPr algn="just"/>
            <a:r>
              <a:rPr lang="en-US">
                <a:solidFill>
                  <a:srgbClr val="222222"/>
                </a:solidFill>
                <a:latin typeface="Calibri"/>
                <a:ea typeface="Calibri"/>
                <a:cs typeface="Arial"/>
              </a:rPr>
              <a:t>3.</a:t>
            </a:r>
            <a:r>
              <a:rPr lang="en-US">
                <a:solidFill>
                  <a:srgbClr val="222222"/>
                </a:solidFill>
                <a:latin typeface="Calibri"/>
                <a:ea typeface="Calibri"/>
                <a:cs typeface="Calibri"/>
              </a:rPr>
              <a:t>Abu </a:t>
            </a:r>
            <a:r>
              <a:rPr lang="en-US" err="1">
                <a:solidFill>
                  <a:srgbClr val="222222"/>
                </a:solidFill>
                <a:latin typeface="Calibri"/>
                <a:ea typeface="Calibri"/>
                <a:cs typeface="Calibri"/>
              </a:rPr>
              <a:t>Shufian</a:t>
            </a:r>
            <a:r>
              <a:rPr lang="en-US">
                <a:solidFill>
                  <a:srgbClr val="222222"/>
                </a:solidFill>
                <a:latin typeface="Calibri"/>
                <a:ea typeface="Calibri"/>
                <a:cs typeface="Calibri"/>
              </a:rPr>
              <a:t>, N. Hannan, M. M. Hossain Emon, S. Kabir, S. A. Fattah, and M. S. Hossain, “Automatic Fault Detection and Analysis of Electric Vehicle Charging Station by Machine Learning,” in </a:t>
            </a:r>
            <a:r>
              <a:rPr lang="en-US" i="1">
                <a:solidFill>
                  <a:srgbClr val="222222"/>
                </a:solidFill>
                <a:latin typeface="Calibri"/>
                <a:ea typeface="Calibri"/>
                <a:cs typeface="Calibri"/>
              </a:rPr>
              <a:t>Proc. 2024 IEEE Region 10 Symposium (TENSYMP)</a:t>
            </a:r>
            <a:r>
              <a:rPr lang="en-US">
                <a:solidFill>
                  <a:srgbClr val="222222"/>
                </a:solidFill>
                <a:latin typeface="Calibri"/>
                <a:ea typeface="Calibri"/>
                <a:cs typeface="Calibri"/>
              </a:rPr>
              <a:t>, 2024, pp. 1–6. </a:t>
            </a:r>
            <a:r>
              <a:rPr lang="en-US" err="1">
                <a:solidFill>
                  <a:srgbClr val="222222"/>
                </a:solidFill>
                <a:latin typeface="Calibri"/>
                <a:ea typeface="Calibri"/>
                <a:cs typeface="Calibri"/>
              </a:rPr>
              <a:t>doi</a:t>
            </a:r>
            <a:r>
              <a:rPr lang="en-US">
                <a:solidFill>
                  <a:srgbClr val="222222"/>
                </a:solidFill>
                <a:latin typeface="Calibri"/>
                <a:ea typeface="Calibri"/>
                <a:cs typeface="Calibri"/>
              </a:rPr>
              <a:t>: 10.1109/TENSYMP61132.2024.10752256.</a:t>
            </a:r>
          </a:p>
          <a:p>
            <a:pPr algn="just"/>
            <a:endParaRPr lang="en-US">
              <a:solidFill>
                <a:srgbClr val="333333"/>
              </a:solidFill>
              <a:latin typeface="Calibri"/>
              <a:ea typeface="Calibri"/>
              <a:cs typeface="Arial"/>
            </a:endParaRPr>
          </a:p>
          <a:p>
            <a:pPr algn="just"/>
            <a:r>
              <a:rPr lang="en-US">
                <a:solidFill>
                  <a:srgbClr val="333333"/>
                </a:solidFill>
                <a:latin typeface="Calibri"/>
                <a:ea typeface="Calibri"/>
                <a:cs typeface="Arial"/>
              </a:rPr>
              <a:t>4.</a:t>
            </a:r>
            <a:r>
              <a:rPr lang="en-US">
                <a:solidFill>
                  <a:srgbClr val="333333"/>
                </a:solidFill>
                <a:latin typeface="Calibri"/>
                <a:ea typeface="Calibri"/>
                <a:cs typeface="Calibri"/>
              </a:rPr>
              <a:t>Meiyi Huo, S. Pang, H. Bai, W. Li, M. Xu, and T. Liu, "Data-Driven Short-Term Electric Vehicle Charging Station Demand Forecasting," in </a:t>
            </a:r>
            <a:r>
              <a:rPr lang="en-US" i="1">
                <a:solidFill>
                  <a:srgbClr val="333333"/>
                </a:solidFill>
                <a:latin typeface="Calibri"/>
                <a:ea typeface="Calibri"/>
                <a:cs typeface="Calibri"/>
              </a:rPr>
              <a:t>Proc. 2024 IEEE CIEEC</a:t>
            </a:r>
            <a:r>
              <a:rPr lang="en-US">
                <a:solidFill>
                  <a:srgbClr val="333333"/>
                </a:solidFill>
                <a:latin typeface="Calibri"/>
                <a:ea typeface="Calibri"/>
                <a:cs typeface="Calibri"/>
              </a:rPr>
              <a:t>, pp. 1–5, 2024.</a:t>
            </a:r>
          </a:p>
          <a:p>
            <a:pPr algn="just"/>
            <a:endParaRPr lang="en-US">
              <a:solidFill>
                <a:srgbClr val="333333"/>
              </a:solidFill>
              <a:latin typeface="Calibri"/>
              <a:ea typeface="Calibri"/>
              <a:cs typeface="Arial"/>
            </a:endParaRPr>
          </a:p>
          <a:p>
            <a:pPr algn="just"/>
            <a:r>
              <a:rPr lang="en-US">
                <a:solidFill>
                  <a:srgbClr val="333333"/>
                </a:solidFill>
                <a:latin typeface="Calibri"/>
                <a:ea typeface="Calibri"/>
                <a:cs typeface="Arial"/>
              </a:rPr>
              <a:t>5.</a:t>
            </a:r>
            <a:r>
              <a:rPr lang="en-US">
                <a:solidFill>
                  <a:srgbClr val="333333"/>
                </a:solidFill>
                <a:latin typeface="Calibri"/>
                <a:ea typeface="Calibri"/>
                <a:cs typeface="Calibri"/>
              </a:rPr>
              <a:t>A. Palaniappan, P. Bhukya, S.K. Chitti, and J. Gao, “Data-Driven Analysis of EV Energy Prediction and Planning of EV Charging Infrastructure,” in </a:t>
            </a:r>
            <a:r>
              <a:rPr lang="en-US" i="1">
                <a:solidFill>
                  <a:srgbClr val="333333"/>
                </a:solidFill>
                <a:latin typeface="Calibri"/>
                <a:ea typeface="Calibri"/>
                <a:cs typeface="Calibri"/>
              </a:rPr>
              <a:t>Proc. 2023 IEEE Big Data Service and Applications</a:t>
            </a:r>
            <a:r>
              <a:rPr lang="en-US">
                <a:solidFill>
                  <a:srgbClr val="333333"/>
                </a:solidFill>
                <a:latin typeface="Calibri"/>
                <a:ea typeface="Calibri"/>
                <a:cs typeface="Calibri"/>
              </a:rPr>
              <a:t>, Athens, Greece, 2023, pp. 17–24. </a:t>
            </a:r>
            <a:r>
              <a:rPr lang="en-US" err="1">
                <a:solidFill>
                  <a:srgbClr val="333333"/>
                </a:solidFill>
                <a:latin typeface="Calibri"/>
                <a:ea typeface="Calibri"/>
                <a:cs typeface="Calibri"/>
              </a:rPr>
              <a:t>doi</a:t>
            </a:r>
            <a:r>
              <a:rPr lang="en-US">
                <a:solidFill>
                  <a:srgbClr val="333333"/>
                </a:solidFill>
                <a:latin typeface="Calibri"/>
                <a:ea typeface="Calibri"/>
                <a:cs typeface="Calibri"/>
              </a:rPr>
              <a:t>: 10.1109/BigDataService58306.2023.00009</a:t>
            </a:r>
            <a:endParaRPr lang="en-US">
              <a:solidFill>
                <a:srgbClr val="222222"/>
              </a:solidFill>
              <a:latin typeface="Calibri"/>
              <a:ea typeface="Calibri"/>
              <a:cs typeface="Calibri"/>
            </a:endParaRPr>
          </a:p>
          <a:p>
            <a:pPr algn="just"/>
            <a:endParaRPr lang="en-US">
              <a:solidFill>
                <a:srgbClr val="222222"/>
              </a:solidFill>
              <a:latin typeface="Calibri"/>
              <a:ea typeface="Roboto"/>
              <a:cs typeface="Roboto"/>
            </a:endParaRPr>
          </a:p>
          <a:p>
            <a:pPr algn="just"/>
            <a:endParaRPr lang="en-US">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0332-C44A-D851-FFE3-B08D7432EE4E}"/>
              </a:ext>
            </a:extLst>
          </p:cNvPr>
          <p:cNvSpPr>
            <a:spLocks noGrp="1"/>
          </p:cNvSpPr>
          <p:nvPr>
            <p:ph type="title"/>
          </p:nvPr>
        </p:nvSpPr>
        <p:spPr>
          <a:xfrm>
            <a:off x="390364" y="348090"/>
            <a:ext cx="10369550" cy="954107"/>
          </a:xfrm>
        </p:spPr>
        <p:txBody>
          <a:bodyPr wrap="square" lIns="0" tIns="0" rIns="0" bIns="0" anchor="t">
            <a:spAutoFit/>
          </a:bodyPr>
          <a:lstStyle/>
          <a:p>
            <a:pPr algn="l"/>
            <a:r>
              <a:rPr lang="en-US" sz="4400">
                <a:solidFill>
                  <a:srgbClr val="000000"/>
                </a:solidFill>
                <a:ea typeface="Calibri"/>
              </a:rPr>
              <a:t>References</a:t>
            </a:r>
            <a:r>
              <a:rPr lang="en-US">
                <a:ea typeface="Calibri"/>
              </a:rPr>
              <a:t>(*Strictly in IEEE format)</a:t>
            </a:r>
            <a:endParaRPr lang="en-US" b="0">
              <a:solidFill>
                <a:srgbClr val="000000"/>
              </a:solidFill>
              <a:ea typeface="Calibri"/>
            </a:endParaRPr>
          </a:p>
          <a:p>
            <a:endParaRPr lang="en-US">
              <a:ea typeface="Calibri"/>
            </a:endParaRPr>
          </a:p>
        </p:txBody>
      </p:sp>
      <p:sp>
        <p:nvSpPr>
          <p:cNvPr id="3" name="Text Placeholder 2">
            <a:extLst>
              <a:ext uri="{FF2B5EF4-FFF2-40B4-BE49-F238E27FC236}">
                <a16:creationId xmlns:a16="http://schemas.microsoft.com/office/drawing/2014/main" id="{2D69E5DB-5DDC-CE7F-4438-083B9E2E67B1}"/>
              </a:ext>
            </a:extLst>
          </p:cNvPr>
          <p:cNvSpPr>
            <a:spLocks noGrp="1"/>
          </p:cNvSpPr>
          <p:nvPr>
            <p:ph type="body" idx="1"/>
          </p:nvPr>
        </p:nvSpPr>
        <p:spPr>
          <a:xfrm>
            <a:off x="391969" y="1108855"/>
            <a:ext cx="11214735" cy="9971961"/>
          </a:xfrm>
          <a:solidFill>
            <a:schemeClr val="bg1"/>
          </a:solidFill>
        </p:spPr>
        <p:txBody>
          <a:bodyPr wrap="square" lIns="0" tIns="0" rIns="0" bIns="0" anchor="t">
            <a:spAutoFit/>
          </a:bodyPr>
          <a:lstStyle/>
          <a:p>
            <a:pPr algn="just"/>
            <a:r>
              <a:rPr lang="en-US">
                <a:solidFill>
                  <a:srgbClr val="000000"/>
                </a:solidFill>
                <a:ea typeface="+mn-lt"/>
                <a:cs typeface="+mn-lt"/>
              </a:rPr>
              <a:t>6.Prashanth Rajagopalan and Prakash Ranganathan, “Electric Vehicle Charging Behavior Prediction using Machine Learning Models,” in </a:t>
            </a:r>
            <a:r>
              <a:rPr lang="en-US" i="1">
                <a:solidFill>
                  <a:srgbClr val="000000"/>
                </a:solidFill>
                <a:ea typeface="+mn-lt"/>
                <a:cs typeface="+mn-lt"/>
              </a:rPr>
              <a:t>Proc. 2022 IEEE Electrical Power and Energy Conf. (EPEC)</a:t>
            </a:r>
            <a:r>
              <a:rPr lang="en-US">
                <a:solidFill>
                  <a:srgbClr val="000000"/>
                </a:solidFill>
                <a:ea typeface="+mn-lt"/>
                <a:cs typeface="+mn-lt"/>
              </a:rPr>
              <a:t>, 2022, pp. 1–5</a:t>
            </a:r>
          </a:p>
          <a:p>
            <a:pPr algn="just"/>
            <a:endParaRPr lang="en-US">
              <a:solidFill>
                <a:srgbClr val="000000"/>
              </a:solidFill>
              <a:ea typeface="+mn-lt"/>
              <a:cs typeface="+mn-lt"/>
            </a:endParaRPr>
          </a:p>
          <a:p>
            <a:pPr algn="just"/>
            <a:r>
              <a:rPr lang="en-US">
                <a:solidFill>
                  <a:srgbClr val="333333"/>
                </a:solidFill>
                <a:ea typeface="+mn-lt"/>
                <a:cs typeface="+mn-lt"/>
              </a:rPr>
              <a:t>7.H. S. </a:t>
            </a:r>
            <a:r>
              <a:rPr lang="en-US" err="1">
                <a:solidFill>
                  <a:srgbClr val="333333"/>
                </a:solidFill>
                <a:ea typeface="+mn-lt"/>
                <a:cs typeface="+mn-lt"/>
              </a:rPr>
              <a:t>Hareshma</a:t>
            </a:r>
            <a:r>
              <a:rPr lang="en-US">
                <a:solidFill>
                  <a:srgbClr val="333333"/>
                </a:solidFill>
                <a:ea typeface="+mn-lt"/>
                <a:cs typeface="+mn-lt"/>
              </a:rPr>
              <a:t> and S. P. </a:t>
            </a:r>
            <a:r>
              <a:rPr lang="en-US" err="1">
                <a:solidFill>
                  <a:srgbClr val="333333"/>
                </a:solidFill>
                <a:ea typeface="+mn-lt"/>
                <a:cs typeface="+mn-lt"/>
              </a:rPr>
              <a:t>Sivraj</a:t>
            </a:r>
            <a:r>
              <a:rPr lang="en-US">
                <a:solidFill>
                  <a:srgbClr val="333333"/>
                </a:solidFill>
                <a:ea typeface="+mn-lt"/>
                <a:cs typeface="+mn-lt"/>
              </a:rPr>
              <a:t>, “Design and Development of Smart Charging Infrastructure for Electric Vehicles,” </a:t>
            </a:r>
            <a:r>
              <a:rPr lang="en-US" i="1">
                <a:solidFill>
                  <a:srgbClr val="333333"/>
                </a:solidFill>
                <a:ea typeface="+mn-lt"/>
                <a:cs typeface="+mn-lt"/>
              </a:rPr>
              <a:t>Proc. 2023 4th Int. Conf. Energy, Power and Environment (ICEFEET)</a:t>
            </a:r>
            <a:r>
              <a:rPr lang="en-US">
                <a:solidFill>
                  <a:srgbClr val="333333"/>
                </a:solidFill>
                <a:ea typeface="+mn-lt"/>
                <a:cs typeface="+mn-lt"/>
              </a:rPr>
              <a:t>, 2023, pp. 1–6.</a:t>
            </a:r>
            <a:endParaRPr lang="en-US"/>
          </a:p>
          <a:p>
            <a:pPr algn="just"/>
            <a:endParaRPr lang="en-US" sz="1200">
              <a:solidFill>
                <a:srgbClr val="333333"/>
              </a:solidFill>
              <a:ea typeface="+mn-lt"/>
              <a:cs typeface="+mn-lt"/>
            </a:endParaRPr>
          </a:p>
          <a:p>
            <a:pPr algn="just"/>
            <a:endParaRPr lang="en-US" sz="1200">
              <a:solidFill>
                <a:srgbClr val="333333"/>
              </a:solidFill>
              <a:ea typeface="+mn-lt"/>
              <a:cs typeface="+mn-lt"/>
            </a:endParaRPr>
          </a:p>
          <a:p>
            <a:pPr algn="just"/>
            <a:r>
              <a:rPr lang="en-US">
                <a:solidFill>
                  <a:srgbClr val="333333"/>
                </a:solidFill>
                <a:ea typeface="+mn-lt"/>
                <a:cs typeface="+mn-lt"/>
              </a:rPr>
              <a:t>8.A. </a:t>
            </a:r>
            <a:r>
              <a:rPr lang="en-US" err="1">
                <a:solidFill>
                  <a:srgbClr val="333333"/>
                </a:solidFill>
                <a:ea typeface="+mn-lt"/>
                <a:cs typeface="+mn-lt"/>
              </a:rPr>
              <a:t>Lilhore</a:t>
            </a:r>
            <a:r>
              <a:rPr lang="en-US">
                <a:solidFill>
                  <a:srgbClr val="333333"/>
                </a:solidFill>
                <a:ea typeface="+mn-lt"/>
                <a:cs typeface="+mn-lt"/>
              </a:rPr>
              <a:t>, K. Kiran Prasad, and V. Agarwal, “Machine Learning-based Electric Vehicle User Behavior Prediction,” in </a:t>
            </a:r>
            <a:r>
              <a:rPr lang="en-US" i="1">
                <a:solidFill>
                  <a:srgbClr val="333333"/>
                </a:solidFill>
                <a:ea typeface="+mn-lt"/>
                <a:cs typeface="+mn-lt"/>
              </a:rPr>
              <a:t>Proc. 2023 IEEE Global Conference on Renewable Energy (GLOBCONHT)</a:t>
            </a:r>
            <a:r>
              <a:rPr lang="en-US">
                <a:solidFill>
                  <a:srgbClr val="333333"/>
                </a:solidFill>
                <a:ea typeface="+mn-lt"/>
                <a:cs typeface="+mn-lt"/>
              </a:rPr>
              <a:t>, 2023, pp. 1–6</a:t>
            </a:r>
            <a:endParaRPr lang="en-US">
              <a:ea typeface="Calibri"/>
              <a:cs typeface="Calibri"/>
            </a:endParaRPr>
          </a:p>
          <a:p>
            <a:pPr algn="just"/>
            <a:endParaRPr lang="en-US">
              <a:solidFill>
                <a:srgbClr val="333333"/>
              </a:solidFill>
              <a:latin typeface="Arial"/>
              <a:cs typeface="Arial"/>
            </a:endParaRPr>
          </a:p>
          <a:p>
            <a:pPr algn="just"/>
            <a:r>
              <a:rPr lang="en-US">
                <a:solidFill>
                  <a:srgbClr val="333333"/>
                </a:solidFill>
                <a:latin typeface="Arial"/>
                <a:cs typeface="Arial"/>
              </a:rPr>
              <a:t>9.</a:t>
            </a:r>
            <a:r>
              <a:rPr lang="en-US">
                <a:solidFill>
                  <a:srgbClr val="333333"/>
                </a:solidFill>
                <a:ea typeface="+mn-lt"/>
                <a:cs typeface="+mn-lt"/>
              </a:rPr>
              <a:t>M. Straka, R. Carvalho, G. van der Poel, and U. </a:t>
            </a:r>
            <a:r>
              <a:rPr lang="en-US" err="1">
                <a:solidFill>
                  <a:srgbClr val="333333"/>
                </a:solidFill>
                <a:ea typeface="+mn-lt"/>
                <a:cs typeface="+mn-lt"/>
              </a:rPr>
              <a:t>Buzna</a:t>
            </a:r>
            <a:r>
              <a:rPr lang="en-US">
                <a:solidFill>
                  <a:srgbClr val="333333"/>
                </a:solidFill>
                <a:ea typeface="+mn-lt"/>
                <a:cs typeface="+mn-lt"/>
              </a:rPr>
              <a:t>, “Analysis of Energy Consumption at Slow Charging Infrastructure for Electric Vehicles,” </a:t>
            </a:r>
            <a:r>
              <a:rPr lang="en-US" i="1">
                <a:solidFill>
                  <a:srgbClr val="333333"/>
                </a:solidFill>
                <a:ea typeface="+mn-lt"/>
                <a:cs typeface="+mn-lt"/>
              </a:rPr>
              <a:t>IEEE Access</a:t>
            </a:r>
            <a:r>
              <a:rPr lang="en-US">
                <a:solidFill>
                  <a:srgbClr val="333333"/>
                </a:solidFill>
                <a:ea typeface="+mn-lt"/>
                <a:cs typeface="+mn-lt"/>
              </a:rPr>
              <a:t>, vol. 9, pp. 49362–49374, 2021. </a:t>
            </a:r>
            <a:r>
              <a:rPr lang="en-US" err="1">
                <a:solidFill>
                  <a:srgbClr val="333333"/>
                </a:solidFill>
                <a:ea typeface="+mn-lt"/>
                <a:cs typeface="+mn-lt"/>
              </a:rPr>
              <a:t>doi</a:t>
            </a:r>
            <a:r>
              <a:rPr lang="en-US">
                <a:solidFill>
                  <a:srgbClr val="333333"/>
                </a:solidFill>
                <a:ea typeface="+mn-lt"/>
                <a:cs typeface="+mn-lt"/>
              </a:rPr>
              <a:t>: 10.1109/ACCESS.2021.3071180</a:t>
            </a:r>
            <a:endParaRPr lang="en-US">
              <a:latin typeface="Arial"/>
              <a:cs typeface="Arial"/>
            </a:endParaRPr>
          </a:p>
          <a:p>
            <a:pPr algn="just"/>
            <a:endParaRPr lang="en-US">
              <a:solidFill>
                <a:srgbClr val="333333"/>
              </a:solidFill>
              <a:latin typeface="Arial"/>
              <a:cs typeface="Arial"/>
            </a:endParaRPr>
          </a:p>
          <a:p>
            <a:pPr algn="just"/>
            <a:r>
              <a:rPr lang="en-US">
                <a:solidFill>
                  <a:srgbClr val="333333"/>
                </a:solidFill>
                <a:latin typeface="Arial"/>
                <a:cs typeface="Arial"/>
              </a:rPr>
              <a:t>10.</a:t>
            </a:r>
            <a:r>
              <a:rPr lang="en-US">
                <a:solidFill>
                  <a:srgbClr val="333333"/>
                </a:solidFill>
                <a:ea typeface="+mn-lt"/>
                <a:cs typeface="+mn-lt"/>
              </a:rPr>
              <a:t>S. M. S and R. Gunabalan, “Enhancement of Charging Efficiency of Batteries for Electric Vehicles: Review,” in </a:t>
            </a:r>
            <a:r>
              <a:rPr lang="en-US" i="1">
                <a:solidFill>
                  <a:srgbClr val="333333"/>
                </a:solidFill>
                <a:ea typeface="+mn-lt"/>
                <a:cs typeface="+mn-lt"/>
              </a:rPr>
              <a:t>Proc. 2022 Fourth Int. Conf. on Emerging Research in Electronics, Computer Science and Technology (ICERECT)</a:t>
            </a:r>
            <a:r>
              <a:rPr lang="en-US">
                <a:solidFill>
                  <a:srgbClr val="333333"/>
                </a:solidFill>
                <a:ea typeface="+mn-lt"/>
                <a:cs typeface="+mn-lt"/>
              </a:rPr>
              <a:t>, </a:t>
            </a:r>
            <a:r>
              <a:rPr lang="en-US" err="1">
                <a:solidFill>
                  <a:srgbClr val="333333"/>
                </a:solidFill>
                <a:ea typeface="+mn-lt"/>
                <a:cs typeface="+mn-lt"/>
              </a:rPr>
              <a:t>Mandya</a:t>
            </a:r>
            <a:r>
              <a:rPr lang="en-US">
                <a:solidFill>
                  <a:srgbClr val="333333"/>
                </a:solidFill>
                <a:ea typeface="+mn-lt"/>
                <a:cs typeface="+mn-lt"/>
              </a:rPr>
              <a:t>, India, 2022, pp. 1–6. </a:t>
            </a:r>
            <a:r>
              <a:rPr lang="en-US" err="1">
                <a:solidFill>
                  <a:srgbClr val="333333"/>
                </a:solidFill>
                <a:ea typeface="+mn-lt"/>
                <a:cs typeface="+mn-lt"/>
              </a:rPr>
              <a:t>doi</a:t>
            </a:r>
            <a:r>
              <a:rPr lang="en-US">
                <a:solidFill>
                  <a:srgbClr val="333333"/>
                </a:solidFill>
                <a:ea typeface="+mn-lt"/>
                <a:cs typeface="+mn-lt"/>
              </a:rPr>
              <a:t>: 10.1109/ICERECT56837.2022.10060243</a:t>
            </a:r>
            <a:endParaRPr lang="en-US">
              <a:latin typeface="Arial"/>
              <a:cs typeface="Arial"/>
            </a:endParaRPr>
          </a:p>
          <a:p>
            <a:pPr algn="just"/>
            <a:endParaRPr lang="en-US">
              <a:solidFill>
                <a:srgbClr val="333333"/>
              </a:solidFill>
              <a:latin typeface="Arial"/>
              <a:cs typeface="Arial"/>
            </a:endParaRPr>
          </a:p>
          <a:p>
            <a:pPr algn="just"/>
            <a:r>
              <a:rPr lang="en-US">
                <a:solidFill>
                  <a:srgbClr val="333333"/>
                </a:solidFill>
                <a:latin typeface="Arial"/>
                <a:cs typeface="Arial"/>
              </a:rPr>
              <a:t>11.</a:t>
            </a:r>
            <a:r>
              <a:rPr lang="en-US">
                <a:solidFill>
                  <a:srgbClr val="333333"/>
                </a:solidFill>
                <a:ea typeface="+mn-lt"/>
                <a:cs typeface="+mn-lt"/>
              </a:rPr>
              <a:t>M. Shukla, D. K. Singh, A. Yadav, A. K. Singh, N. A. </a:t>
            </a:r>
            <a:r>
              <a:rPr lang="en-US" err="1">
                <a:solidFill>
                  <a:srgbClr val="333333"/>
                </a:solidFill>
                <a:ea typeface="+mn-lt"/>
                <a:cs typeface="+mn-lt"/>
              </a:rPr>
              <a:t>Jumaa</a:t>
            </a:r>
            <a:r>
              <a:rPr lang="en-US">
                <a:solidFill>
                  <a:srgbClr val="333333"/>
                </a:solidFill>
                <a:ea typeface="+mn-lt"/>
                <a:cs typeface="+mn-lt"/>
              </a:rPr>
              <a:t>, and A. Mohammed, “Optimizing Electric Vehicle Charging Station Placement in Urban Areas: A Data-Driven Approach,” in </a:t>
            </a:r>
            <a:r>
              <a:rPr lang="en-US" i="1">
                <a:solidFill>
                  <a:srgbClr val="333333"/>
                </a:solidFill>
                <a:ea typeface="+mn-lt"/>
                <a:cs typeface="+mn-lt"/>
              </a:rPr>
              <a:t>Proc. 2023 3rd Int. Conf. Advance Computing and Innovative Technologies in Engineering (ICACITE)</a:t>
            </a:r>
            <a:r>
              <a:rPr lang="en-US">
                <a:solidFill>
                  <a:srgbClr val="333333"/>
                </a:solidFill>
                <a:ea typeface="+mn-lt"/>
                <a:cs typeface="+mn-lt"/>
              </a:rPr>
              <a:t>, Greater Noida, India, 2023, pp. 2835–2838. </a:t>
            </a:r>
            <a:r>
              <a:rPr lang="en-US" err="1">
                <a:solidFill>
                  <a:srgbClr val="333333"/>
                </a:solidFill>
                <a:ea typeface="+mn-lt"/>
                <a:cs typeface="+mn-lt"/>
              </a:rPr>
              <a:t>doi</a:t>
            </a:r>
            <a:r>
              <a:rPr lang="en-US">
                <a:solidFill>
                  <a:srgbClr val="333333"/>
                </a:solidFill>
                <a:ea typeface="+mn-lt"/>
                <a:cs typeface="+mn-lt"/>
              </a:rPr>
              <a:t>: 10.1109/ICACITE57410.2023.10183075</a:t>
            </a:r>
            <a:endParaRPr lang="en-US">
              <a:latin typeface="Arial"/>
              <a:cs typeface="Arial"/>
            </a:endParaRPr>
          </a:p>
          <a:p>
            <a:pPr algn="just"/>
            <a:endParaRPr lang="en-US">
              <a:solidFill>
                <a:srgbClr val="333333"/>
              </a:solidFill>
              <a:latin typeface="Arial"/>
              <a:cs typeface="Arial"/>
            </a:endParaRPr>
          </a:p>
          <a:p>
            <a:pPr algn="l"/>
            <a:endParaRPr lang="en-US">
              <a:solidFill>
                <a:srgbClr val="333333"/>
              </a:solidFill>
              <a:latin typeface="Calibri"/>
              <a:ea typeface="+mn-lt"/>
              <a:cs typeface="Calibri"/>
            </a:endParaRPr>
          </a:p>
          <a:p>
            <a:pPr algn="l"/>
            <a:endParaRPr lang="en-US" sz="1200">
              <a:solidFill>
                <a:srgbClr val="333333"/>
              </a:solidFill>
              <a:ea typeface="+mn-lt"/>
              <a:cs typeface="+mn-lt"/>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a:p>
            <a:endParaRPr lang="en-US">
              <a:solidFill>
                <a:srgbClr val="000000"/>
              </a:solidFill>
              <a:ea typeface="Calibri"/>
              <a:cs typeface="Calibri"/>
            </a:endParaRPr>
          </a:p>
        </p:txBody>
      </p:sp>
    </p:spTree>
    <p:extLst>
      <p:ext uri="{BB962C8B-B14F-4D97-AF65-F5344CB8AC3E}">
        <p14:creationId xmlns:p14="http://schemas.microsoft.com/office/powerpoint/2010/main" val="303049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B8A4-AF1F-7264-6E48-D9A6B8FE7C77}"/>
              </a:ext>
            </a:extLst>
          </p:cNvPr>
          <p:cNvSpPr>
            <a:spLocks noGrp="1"/>
          </p:cNvSpPr>
          <p:nvPr>
            <p:ph type="title"/>
          </p:nvPr>
        </p:nvSpPr>
        <p:spPr>
          <a:xfrm>
            <a:off x="499333" y="647754"/>
            <a:ext cx="10369550" cy="677108"/>
          </a:xfrm>
        </p:spPr>
        <p:txBody>
          <a:bodyPr wrap="square" lIns="0" tIns="0" rIns="0" bIns="0" anchor="t">
            <a:spAutoFit/>
          </a:bodyPr>
          <a:lstStyle/>
          <a:p>
            <a:r>
              <a:rPr lang="en-US" sz="4400">
                <a:solidFill>
                  <a:srgbClr val="000000"/>
                </a:solidFill>
                <a:ea typeface="Calibri"/>
              </a:rPr>
              <a:t>References</a:t>
            </a:r>
            <a:r>
              <a:rPr lang="en-US">
                <a:ea typeface="Calibri"/>
              </a:rPr>
              <a:t>(*Strictly in IEEE format)</a:t>
            </a:r>
            <a:endParaRPr lang="en-US"/>
          </a:p>
        </p:txBody>
      </p:sp>
      <p:sp>
        <p:nvSpPr>
          <p:cNvPr id="3" name="Text Placeholder 2">
            <a:extLst>
              <a:ext uri="{FF2B5EF4-FFF2-40B4-BE49-F238E27FC236}">
                <a16:creationId xmlns:a16="http://schemas.microsoft.com/office/drawing/2014/main" id="{07C9C65B-7762-4951-BBED-3FDF746E2D58}"/>
              </a:ext>
            </a:extLst>
          </p:cNvPr>
          <p:cNvSpPr>
            <a:spLocks noGrp="1"/>
          </p:cNvSpPr>
          <p:nvPr>
            <p:ph type="body" idx="1"/>
          </p:nvPr>
        </p:nvSpPr>
        <p:spPr>
          <a:xfrm>
            <a:off x="494942" y="1322752"/>
            <a:ext cx="11214735" cy="6740307"/>
          </a:xfrm>
        </p:spPr>
        <p:txBody>
          <a:bodyPr wrap="square" lIns="0" tIns="0" rIns="0" bIns="0" anchor="t">
            <a:spAutoFit/>
          </a:bodyPr>
          <a:lstStyle/>
          <a:p>
            <a:pPr algn="just"/>
            <a:endParaRPr lang="en-US">
              <a:solidFill>
                <a:srgbClr val="000000"/>
              </a:solidFill>
              <a:latin typeface="Arial"/>
              <a:ea typeface="Calibri"/>
              <a:cs typeface="Arial"/>
            </a:endParaRPr>
          </a:p>
          <a:p>
            <a:pPr algn="just"/>
            <a:r>
              <a:rPr lang="en-US">
                <a:solidFill>
                  <a:srgbClr val="333333"/>
                </a:solidFill>
                <a:ea typeface="Calibri"/>
                <a:cs typeface="Calibri"/>
              </a:rPr>
              <a:t>12.F. Qiao and S. Lin, “Predicting Electrical Vehicle Charging Patterns at Public Charging Stations,” in </a:t>
            </a:r>
            <a:r>
              <a:rPr lang="en-US" i="1">
                <a:solidFill>
                  <a:srgbClr val="333333"/>
                </a:solidFill>
                <a:ea typeface="Calibri"/>
                <a:cs typeface="Calibri"/>
              </a:rPr>
              <a:t>Proc. 2024 Int. </a:t>
            </a:r>
            <a:r>
              <a:rPr lang="en-US" i="1" err="1">
                <a:solidFill>
                  <a:srgbClr val="333333"/>
                </a:solidFill>
                <a:ea typeface="Calibri"/>
                <a:cs typeface="Calibri"/>
              </a:rPr>
              <a:t>Conf.Big</a:t>
            </a:r>
            <a:r>
              <a:rPr lang="en-US" i="1">
                <a:solidFill>
                  <a:srgbClr val="333333"/>
                </a:solidFill>
                <a:ea typeface="Calibri"/>
                <a:cs typeface="Calibri"/>
              </a:rPr>
              <a:t> Data, AI and IoT Engineering (ICBAIE)</a:t>
            </a:r>
            <a:r>
              <a:rPr lang="en-US">
                <a:solidFill>
                  <a:srgbClr val="333333"/>
                </a:solidFill>
                <a:ea typeface="Calibri"/>
                <a:cs typeface="Calibri"/>
              </a:rPr>
              <a:t>, 2024, pp. 1–8.</a:t>
            </a:r>
            <a:endParaRPr lang="en-US">
              <a:solidFill>
                <a:srgbClr val="000000"/>
              </a:solidFill>
              <a:ea typeface="Calibri"/>
              <a:cs typeface="Calibri"/>
            </a:endParaRPr>
          </a:p>
          <a:p>
            <a:pPr algn="just"/>
            <a:endParaRPr lang="en-US">
              <a:solidFill>
                <a:srgbClr val="000000"/>
              </a:solidFill>
              <a:ea typeface="Calibri"/>
              <a:cs typeface="Calibri"/>
            </a:endParaRPr>
          </a:p>
          <a:p>
            <a:pPr algn="l"/>
            <a:r>
              <a:rPr lang="en-US">
                <a:solidFill>
                  <a:srgbClr val="333333"/>
                </a:solidFill>
                <a:ea typeface="Calibri"/>
                <a:cs typeface="Calibri"/>
              </a:rPr>
              <a:t>13.S. Shahriar, A. R. Al-Ali, A. H. Osman, S. </a:t>
            </a:r>
            <a:r>
              <a:rPr lang="en-US" err="1">
                <a:solidFill>
                  <a:srgbClr val="333333"/>
                </a:solidFill>
                <a:ea typeface="Calibri"/>
                <a:cs typeface="Calibri"/>
              </a:rPr>
              <a:t>Dhou</a:t>
            </a:r>
            <a:r>
              <a:rPr lang="en-US">
                <a:solidFill>
                  <a:srgbClr val="333333"/>
                </a:solidFill>
                <a:ea typeface="Calibri"/>
                <a:cs typeface="Calibri"/>
              </a:rPr>
              <a:t>, and M. </a:t>
            </a:r>
            <a:r>
              <a:rPr lang="en-US" err="1">
                <a:solidFill>
                  <a:srgbClr val="333333"/>
                </a:solidFill>
                <a:ea typeface="Calibri"/>
                <a:cs typeface="Calibri"/>
              </a:rPr>
              <a:t>Nijim</a:t>
            </a:r>
            <a:r>
              <a:rPr lang="en-US">
                <a:solidFill>
                  <a:srgbClr val="333333"/>
                </a:solidFill>
                <a:ea typeface="Calibri"/>
                <a:cs typeface="Calibri"/>
              </a:rPr>
              <a:t>, “Machine Learning Approaches for EV Charging </a:t>
            </a:r>
            <a:r>
              <a:rPr lang="en-US" err="1">
                <a:solidFill>
                  <a:srgbClr val="333333"/>
                </a:solidFill>
                <a:ea typeface="Calibri"/>
                <a:cs typeface="Calibri"/>
              </a:rPr>
              <a:t>Behavior:A</a:t>
            </a:r>
            <a:r>
              <a:rPr lang="en-US">
                <a:solidFill>
                  <a:srgbClr val="333333"/>
                </a:solidFill>
                <a:ea typeface="Calibri"/>
                <a:cs typeface="Calibri"/>
              </a:rPr>
              <a:t> Review,” </a:t>
            </a:r>
            <a:r>
              <a:rPr lang="en-US" i="1">
                <a:solidFill>
                  <a:srgbClr val="333333"/>
                </a:solidFill>
                <a:ea typeface="Calibri"/>
                <a:cs typeface="Calibri"/>
              </a:rPr>
              <a:t>IEEE Access</a:t>
            </a:r>
            <a:r>
              <a:rPr lang="en-US">
                <a:solidFill>
                  <a:srgbClr val="333333"/>
                </a:solidFill>
                <a:ea typeface="Calibri"/>
                <a:cs typeface="Calibri"/>
              </a:rPr>
              <a:t>, vol. 8, pp. 168980–168993, 2020. </a:t>
            </a:r>
            <a:r>
              <a:rPr lang="en-US" err="1">
                <a:solidFill>
                  <a:srgbClr val="333333"/>
                </a:solidFill>
                <a:ea typeface="Calibri"/>
                <a:cs typeface="Calibri"/>
              </a:rPr>
              <a:t>doi</a:t>
            </a:r>
            <a:r>
              <a:rPr lang="en-US">
                <a:solidFill>
                  <a:srgbClr val="333333"/>
                </a:solidFill>
                <a:ea typeface="Calibri"/>
                <a:cs typeface="Calibri"/>
              </a:rPr>
              <a:t>: 10.1109/ACCESS.2020.3023388</a:t>
            </a:r>
            <a:endParaRPr lang="en-US"/>
          </a:p>
          <a:p>
            <a:pPr algn="l"/>
            <a:endParaRPr lang="en-US">
              <a:solidFill>
                <a:srgbClr val="333333"/>
              </a:solidFill>
              <a:ea typeface="Calibri"/>
              <a:cs typeface="Calibri"/>
            </a:endParaRPr>
          </a:p>
          <a:p>
            <a:pPr algn="l"/>
            <a:r>
              <a:rPr lang="en-US">
                <a:solidFill>
                  <a:srgbClr val="333333"/>
                </a:solidFill>
                <a:ea typeface="Calibri"/>
                <a:cs typeface="Calibri"/>
              </a:rPr>
              <a:t>14.R. Atallah, N. Al-</a:t>
            </a:r>
            <a:r>
              <a:rPr lang="en-US" err="1">
                <a:solidFill>
                  <a:srgbClr val="333333"/>
                </a:solidFill>
                <a:ea typeface="Calibri"/>
                <a:cs typeface="Calibri"/>
              </a:rPr>
              <a:t>Dahabreh</a:t>
            </a:r>
            <a:r>
              <a:rPr lang="en-US">
                <a:solidFill>
                  <a:srgbClr val="333333"/>
                </a:solidFill>
                <a:ea typeface="Calibri"/>
                <a:cs typeface="Calibri"/>
              </a:rPr>
              <a:t>, M. A. Sayed, K. </a:t>
            </a:r>
            <a:r>
              <a:rPr lang="en-US" err="1">
                <a:solidFill>
                  <a:srgbClr val="333333"/>
                </a:solidFill>
                <a:ea typeface="Calibri"/>
                <a:cs typeface="Calibri"/>
              </a:rPr>
              <a:t>Sarieddine</a:t>
            </a:r>
            <a:r>
              <a:rPr lang="en-US">
                <a:solidFill>
                  <a:srgbClr val="333333"/>
                </a:solidFill>
                <a:ea typeface="Calibri"/>
                <a:cs typeface="Calibri"/>
              </a:rPr>
              <a:t>, M. </a:t>
            </a:r>
            <a:r>
              <a:rPr lang="en-US" err="1">
                <a:solidFill>
                  <a:srgbClr val="333333"/>
                </a:solidFill>
                <a:ea typeface="Calibri"/>
                <a:cs typeface="Calibri"/>
              </a:rPr>
              <a:t>Elhattab</a:t>
            </a:r>
            <a:r>
              <a:rPr lang="en-US">
                <a:solidFill>
                  <a:srgbClr val="333333"/>
                </a:solidFill>
                <a:ea typeface="Calibri"/>
                <a:cs typeface="Calibri"/>
              </a:rPr>
              <a:t>, M. Khabbaz, and C. Assi, “Quality of Service Evaluation and Forecast for EV Charging Based on Real-</a:t>
            </a:r>
            <a:r>
              <a:rPr lang="en-US" err="1">
                <a:solidFill>
                  <a:srgbClr val="333333"/>
                </a:solidFill>
                <a:ea typeface="Calibri"/>
                <a:cs typeface="Calibri"/>
              </a:rPr>
              <a:t>WorldData</a:t>
            </a:r>
            <a:r>
              <a:rPr lang="en-US">
                <a:solidFill>
                  <a:srgbClr val="333333"/>
                </a:solidFill>
                <a:ea typeface="Calibri"/>
                <a:cs typeface="Calibri"/>
              </a:rPr>
              <a:t>,” in </a:t>
            </a:r>
            <a:r>
              <a:rPr lang="en-US" i="1">
                <a:solidFill>
                  <a:srgbClr val="333333"/>
                </a:solidFill>
                <a:ea typeface="Calibri"/>
                <a:cs typeface="Calibri"/>
              </a:rPr>
              <a:t>Proc. 2023 19th Int. Conf. Wireless and Mobile Computing, Networking and Communications (</a:t>
            </a:r>
            <a:r>
              <a:rPr lang="en-US" i="1" err="1">
                <a:solidFill>
                  <a:srgbClr val="333333"/>
                </a:solidFill>
                <a:ea typeface="Calibri"/>
                <a:cs typeface="Calibri"/>
              </a:rPr>
              <a:t>WiMob</a:t>
            </a:r>
            <a:r>
              <a:rPr lang="en-US" i="1">
                <a:solidFill>
                  <a:srgbClr val="333333"/>
                </a:solidFill>
                <a:ea typeface="Calibri"/>
                <a:cs typeface="Calibri"/>
              </a:rPr>
              <a:t>)</a:t>
            </a:r>
            <a:r>
              <a:rPr lang="en-US">
                <a:solidFill>
                  <a:srgbClr val="333333"/>
                </a:solidFill>
                <a:ea typeface="Calibri"/>
                <a:cs typeface="Calibri"/>
              </a:rPr>
              <a:t>, Montreal, QC, Canada, 2023, pp. 280–285. doi:10.1109/WiMob58348.2023.10187855</a:t>
            </a:r>
            <a:endParaRPr lang="en-US">
              <a:ea typeface="Calibri"/>
              <a:cs typeface="Calibri"/>
            </a:endParaRPr>
          </a:p>
          <a:p>
            <a:pPr algn="l"/>
            <a:endParaRPr lang="en-US">
              <a:ea typeface="Calibri"/>
              <a:cs typeface="Calibri"/>
            </a:endParaRPr>
          </a:p>
          <a:p>
            <a:pPr algn="l"/>
            <a:r>
              <a:rPr lang="en-US">
                <a:solidFill>
                  <a:srgbClr val="333333"/>
                </a:solidFill>
                <a:ea typeface="Calibri"/>
                <a:cs typeface="Calibri"/>
              </a:rPr>
              <a:t>15.V. N. </a:t>
            </a:r>
            <a:r>
              <a:rPr lang="en-US" err="1">
                <a:solidFill>
                  <a:srgbClr val="333333"/>
                </a:solidFill>
                <a:ea typeface="Calibri"/>
                <a:cs typeface="Calibri"/>
              </a:rPr>
              <a:t>Karkaria</a:t>
            </a:r>
            <a:r>
              <a:rPr lang="en-US">
                <a:solidFill>
                  <a:srgbClr val="333333"/>
                </a:solidFill>
                <a:ea typeface="Calibri"/>
                <a:cs typeface="Calibri"/>
              </a:rPr>
              <a:t>, S. B. Abrish Aaditya, A. </a:t>
            </a:r>
            <a:r>
              <a:rPr lang="en-US" err="1">
                <a:solidFill>
                  <a:srgbClr val="333333"/>
                </a:solidFill>
                <a:ea typeface="Calibri"/>
                <a:cs typeface="Calibri"/>
              </a:rPr>
              <a:t>Karnadikar</a:t>
            </a:r>
            <a:r>
              <a:rPr lang="en-US">
                <a:solidFill>
                  <a:srgbClr val="333333"/>
                </a:solidFill>
                <a:ea typeface="Calibri"/>
                <a:cs typeface="Calibri"/>
              </a:rPr>
              <a:t>, P. B. Karandikar, and S. Joshi, "EV Charging Infrastructure Development Using Machine Learning," in </a:t>
            </a:r>
            <a:r>
              <a:rPr lang="en-US" i="1">
                <a:solidFill>
                  <a:srgbClr val="333333"/>
                </a:solidFill>
                <a:ea typeface="Calibri"/>
                <a:cs typeface="Calibri"/>
              </a:rPr>
              <a:t>Proc. 2023 Int. </a:t>
            </a:r>
            <a:r>
              <a:rPr lang="en-US" i="1" err="1">
                <a:solidFill>
                  <a:srgbClr val="333333"/>
                </a:solidFill>
                <a:ea typeface="Calibri"/>
                <a:cs typeface="Calibri"/>
              </a:rPr>
              <a:t>Conf.Emerging</a:t>
            </a:r>
            <a:r>
              <a:rPr lang="en-US" i="1">
                <a:solidFill>
                  <a:srgbClr val="333333"/>
                </a:solidFill>
                <a:ea typeface="Calibri"/>
                <a:cs typeface="Calibri"/>
              </a:rPr>
              <a:t> Computing and Automation (ICECA)</a:t>
            </a:r>
            <a:r>
              <a:rPr lang="en-US">
                <a:solidFill>
                  <a:srgbClr val="333333"/>
                </a:solidFill>
                <a:ea typeface="Calibri"/>
                <a:cs typeface="Calibri"/>
              </a:rPr>
              <a:t>, 2023, pp. 1–6.</a:t>
            </a:r>
            <a:endParaRPr lang="en-US">
              <a:ea typeface="Calibri"/>
              <a:cs typeface="Calibri"/>
            </a:endParaRPr>
          </a:p>
          <a:p>
            <a:pPr algn="l"/>
            <a:endParaRPr lang="en-US">
              <a:ea typeface="Calibri"/>
              <a:cs typeface="Calibri"/>
            </a:endParaRPr>
          </a:p>
          <a:p>
            <a:pPr algn="l"/>
            <a:r>
              <a:rPr lang="en-US">
                <a:solidFill>
                  <a:srgbClr val="333333"/>
                </a:solidFill>
                <a:ea typeface="Calibri"/>
                <a:cs typeface="Calibri"/>
              </a:rPr>
              <a:t>16.D. Adhya, A. K. Chakraborty, A. Pal, and A. Bhattacharya, “Machine Learning Application for Prediction of EV Charging Demand for the Scenario of Agartala, India,” </a:t>
            </a:r>
            <a:r>
              <a:rPr lang="en-US" i="1">
                <a:solidFill>
                  <a:srgbClr val="333333"/>
                </a:solidFill>
                <a:ea typeface="Calibri"/>
                <a:cs typeface="Calibri"/>
              </a:rPr>
              <a:t>Proc. 2022 </a:t>
            </a:r>
            <a:r>
              <a:rPr lang="en-US" i="1" err="1">
                <a:solidFill>
                  <a:srgbClr val="333333"/>
                </a:solidFill>
                <a:ea typeface="Calibri"/>
                <a:cs typeface="Calibri"/>
              </a:rPr>
              <a:t>IEEEInt</a:t>
            </a:r>
            <a:r>
              <a:rPr lang="en-US" i="1">
                <a:solidFill>
                  <a:srgbClr val="333333"/>
                </a:solidFill>
                <a:ea typeface="Calibri"/>
                <a:cs typeface="Calibri"/>
              </a:rPr>
              <a:t>. Conf. Electrical Power and Energy Systems (ICEPE)</a:t>
            </a:r>
            <a:r>
              <a:rPr lang="en-US">
                <a:solidFill>
                  <a:srgbClr val="333333"/>
                </a:solidFill>
                <a:ea typeface="Calibri"/>
                <a:cs typeface="Calibri"/>
              </a:rPr>
              <a:t>, pp. 1–6, 2022.</a:t>
            </a:r>
            <a:endParaRPr lang="en-US"/>
          </a:p>
          <a:p>
            <a:pPr algn="l"/>
            <a:endParaRPr lang="en-US">
              <a:solidFill>
                <a:srgbClr val="333333"/>
              </a:solidFill>
              <a:ea typeface="Calibri"/>
              <a:cs typeface="Calibri"/>
            </a:endParaRPr>
          </a:p>
          <a:p>
            <a:pPr algn="l"/>
            <a:endParaRPr lang="en-US">
              <a:solidFill>
                <a:srgbClr val="333333"/>
              </a:solidFill>
              <a:ea typeface="Calibri"/>
              <a:cs typeface="Calibri"/>
            </a:endParaRPr>
          </a:p>
          <a:p>
            <a:pPr algn="l"/>
            <a:endParaRPr lang="en-US">
              <a:solidFill>
                <a:srgbClr val="333333"/>
              </a:solidFill>
              <a:latin typeface="Arial"/>
              <a:ea typeface="Calibri"/>
              <a:cs typeface="Calibri"/>
            </a:endParaRPr>
          </a:p>
          <a:p>
            <a:pPr algn="l"/>
            <a:endParaRPr lang="en-US">
              <a:solidFill>
                <a:srgbClr val="333333"/>
              </a:solidFill>
              <a:latin typeface="Arial"/>
              <a:ea typeface="Calibri"/>
              <a:cs typeface="Calibri"/>
            </a:endParaRPr>
          </a:p>
          <a:p>
            <a:pPr algn="l"/>
            <a:endParaRPr lang="en-US" sz="1200">
              <a:solidFill>
                <a:srgbClr val="333333"/>
              </a:solidFill>
              <a:ea typeface="Calibri"/>
              <a:cs typeface="Calibri"/>
            </a:endParaRPr>
          </a:p>
          <a:p>
            <a:pPr algn="l"/>
            <a:endParaRPr lang="en-US" sz="1200">
              <a:solidFill>
                <a:srgbClr val="333333"/>
              </a:solidFill>
              <a:ea typeface="Calibri"/>
              <a:cs typeface="Calibri"/>
            </a:endParaRPr>
          </a:p>
        </p:txBody>
      </p:sp>
    </p:spTree>
    <p:extLst>
      <p:ext uri="{BB962C8B-B14F-4D97-AF65-F5344CB8AC3E}">
        <p14:creationId xmlns:p14="http://schemas.microsoft.com/office/powerpoint/2010/main" val="4065791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589C5-1A64-270C-9387-30C9B45104D3}"/>
              </a:ext>
            </a:extLst>
          </p:cNvPr>
          <p:cNvSpPr>
            <a:spLocks noGrp="1"/>
          </p:cNvSpPr>
          <p:nvPr>
            <p:ph type="title"/>
          </p:nvPr>
        </p:nvSpPr>
        <p:spPr>
          <a:xfrm>
            <a:off x="396360" y="668349"/>
            <a:ext cx="10369550" cy="677108"/>
          </a:xfrm>
        </p:spPr>
        <p:txBody>
          <a:bodyPr wrap="square" lIns="0" tIns="0" rIns="0" bIns="0" anchor="t">
            <a:spAutoFit/>
          </a:bodyPr>
          <a:lstStyle/>
          <a:p>
            <a:r>
              <a:rPr lang="en-US" sz="4400">
                <a:solidFill>
                  <a:srgbClr val="000000"/>
                </a:solidFill>
                <a:ea typeface="Calibri"/>
              </a:rPr>
              <a:t>References</a:t>
            </a:r>
            <a:r>
              <a:rPr lang="en-US">
                <a:ea typeface="Calibri"/>
              </a:rPr>
              <a:t>(*Strictly in IEEE format)</a:t>
            </a:r>
            <a:endParaRPr lang="en-US"/>
          </a:p>
        </p:txBody>
      </p:sp>
      <p:sp>
        <p:nvSpPr>
          <p:cNvPr id="3" name="Text Placeholder 2">
            <a:extLst>
              <a:ext uri="{FF2B5EF4-FFF2-40B4-BE49-F238E27FC236}">
                <a16:creationId xmlns:a16="http://schemas.microsoft.com/office/drawing/2014/main" id="{154DABA5-9E95-9AD1-1FA5-FAB7A606D925}"/>
              </a:ext>
            </a:extLst>
          </p:cNvPr>
          <p:cNvSpPr>
            <a:spLocks noGrp="1"/>
          </p:cNvSpPr>
          <p:nvPr>
            <p:ph type="body" idx="1"/>
          </p:nvPr>
        </p:nvSpPr>
        <p:spPr>
          <a:xfrm>
            <a:off x="391969" y="1600779"/>
            <a:ext cx="11214735" cy="4431983"/>
          </a:xfrm>
        </p:spPr>
        <p:txBody>
          <a:bodyPr wrap="square" lIns="0" tIns="0" rIns="0" bIns="0" anchor="t">
            <a:spAutoFit/>
          </a:bodyPr>
          <a:lstStyle/>
          <a:p>
            <a:pPr algn="l"/>
            <a:r>
              <a:rPr lang="en-US">
                <a:solidFill>
                  <a:srgbClr val="333333"/>
                </a:solidFill>
                <a:latin typeface="Calibri"/>
                <a:ea typeface="Calibri"/>
                <a:cs typeface="Calibri"/>
              </a:rPr>
              <a:t>1</a:t>
            </a:r>
            <a:r>
              <a:rPr lang="en-US">
                <a:solidFill>
                  <a:srgbClr val="333333"/>
                </a:solidFill>
                <a:latin typeface="Arial"/>
                <a:cs typeface="Arial"/>
              </a:rPr>
              <a:t>7.M. </a:t>
            </a:r>
            <a:r>
              <a:rPr lang="en-US" err="1">
                <a:solidFill>
                  <a:srgbClr val="333333"/>
                </a:solidFill>
                <a:latin typeface="Arial"/>
                <a:cs typeface="Arial"/>
              </a:rPr>
              <a:t>Chendeb</a:t>
            </a:r>
            <a:r>
              <a:rPr lang="en-US">
                <a:solidFill>
                  <a:srgbClr val="333333"/>
                </a:solidFill>
                <a:latin typeface="Arial"/>
                <a:cs typeface="Arial"/>
              </a:rPr>
              <a:t> EL Rai, S. Abdul Hadi, H. Abu Damis, and A. </a:t>
            </a:r>
            <a:r>
              <a:rPr lang="en-US" err="1">
                <a:solidFill>
                  <a:srgbClr val="333333"/>
                </a:solidFill>
                <a:latin typeface="Arial"/>
                <a:cs typeface="Arial"/>
              </a:rPr>
              <a:t>Gawanmeh</a:t>
            </a:r>
            <a:r>
              <a:rPr lang="en-US">
                <a:solidFill>
                  <a:srgbClr val="333333"/>
                </a:solidFill>
                <a:latin typeface="Arial"/>
                <a:cs typeface="Arial"/>
              </a:rPr>
              <a:t>, “Prediction of Electric </a:t>
            </a:r>
            <a:r>
              <a:rPr lang="en-US" err="1">
                <a:solidFill>
                  <a:srgbClr val="333333"/>
                </a:solidFill>
                <a:latin typeface="Arial"/>
                <a:cs typeface="Arial"/>
              </a:rPr>
              <a:t>VehicleCharging</a:t>
            </a:r>
            <a:r>
              <a:rPr lang="en-US">
                <a:solidFill>
                  <a:srgbClr val="333333"/>
                </a:solidFill>
                <a:latin typeface="Arial"/>
                <a:cs typeface="Arial"/>
              </a:rPr>
              <a:t> Stations Distribution Using Machine Learning,” in </a:t>
            </a:r>
            <a:r>
              <a:rPr lang="en-US" i="1">
                <a:solidFill>
                  <a:srgbClr val="333333"/>
                </a:solidFill>
                <a:latin typeface="Arial"/>
                <a:cs typeface="Arial"/>
              </a:rPr>
              <a:t>Proc. 2022 5th </a:t>
            </a:r>
            <a:r>
              <a:rPr lang="en-US" i="1" err="1">
                <a:solidFill>
                  <a:srgbClr val="333333"/>
                </a:solidFill>
                <a:latin typeface="Arial"/>
                <a:cs typeface="Arial"/>
              </a:rPr>
              <a:t>Int.Conf</a:t>
            </a:r>
            <a:r>
              <a:rPr lang="en-US" i="1">
                <a:solidFill>
                  <a:srgbClr val="333333"/>
                </a:solidFill>
                <a:latin typeface="Arial"/>
                <a:cs typeface="Arial"/>
              </a:rPr>
              <a:t>. Signal Processing </a:t>
            </a:r>
            <a:r>
              <a:rPr lang="en-US" i="1" err="1">
                <a:solidFill>
                  <a:srgbClr val="333333"/>
                </a:solidFill>
                <a:latin typeface="Arial"/>
                <a:cs typeface="Arial"/>
              </a:rPr>
              <a:t>andInformation</a:t>
            </a:r>
            <a:r>
              <a:rPr lang="en-US" i="1">
                <a:solidFill>
                  <a:srgbClr val="333333"/>
                </a:solidFill>
                <a:latin typeface="Arial"/>
                <a:cs typeface="Arial"/>
              </a:rPr>
              <a:t> Security (ICSPIS)</a:t>
            </a:r>
            <a:r>
              <a:rPr lang="en-US">
                <a:solidFill>
                  <a:srgbClr val="333333"/>
                </a:solidFill>
                <a:latin typeface="Arial"/>
                <a:cs typeface="Arial"/>
              </a:rPr>
              <a:t>, 2022, pp. 1–6. </a:t>
            </a:r>
            <a:r>
              <a:rPr lang="en-US" err="1">
                <a:solidFill>
                  <a:srgbClr val="333333"/>
                </a:solidFill>
                <a:latin typeface="Arial"/>
                <a:cs typeface="Arial"/>
              </a:rPr>
              <a:t>doi</a:t>
            </a:r>
            <a:r>
              <a:rPr lang="en-US">
                <a:solidFill>
                  <a:srgbClr val="333333"/>
                </a:solidFill>
                <a:latin typeface="Arial"/>
                <a:cs typeface="Arial"/>
              </a:rPr>
              <a:t>: 10.1109/ICSPIS57063.2022.10002556.</a:t>
            </a:r>
            <a:endParaRPr lang="en-US"/>
          </a:p>
          <a:p>
            <a:pPr algn="l"/>
            <a:endParaRPr lang="en-US">
              <a:solidFill>
                <a:srgbClr val="333333"/>
              </a:solidFill>
              <a:latin typeface="Arial"/>
              <a:cs typeface="Arial"/>
            </a:endParaRPr>
          </a:p>
          <a:p>
            <a:pPr algn="l"/>
            <a:r>
              <a:rPr lang="en-US">
                <a:solidFill>
                  <a:srgbClr val="333333"/>
                </a:solidFill>
                <a:latin typeface="Arial"/>
                <a:cs typeface="Arial"/>
              </a:rPr>
              <a:t>18.H. Li, J. Zhu, Y. Zhou, D. Feng, K. Zhang, and B. Shen, “Review of Load Forecasting Methods for </a:t>
            </a:r>
            <a:r>
              <a:rPr lang="en-US" err="1">
                <a:solidFill>
                  <a:srgbClr val="333333"/>
                </a:solidFill>
                <a:latin typeface="Arial"/>
                <a:cs typeface="Arial"/>
              </a:rPr>
              <a:t>ElectricVehicle</a:t>
            </a:r>
            <a:r>
              <a:rPr lang="en-US">
                <a:solidFill>
                  <a:srgbClr val="333333"/>
                </a:solidFill>
                <a:latin typeface="Arial"/>
                <a:cs typeface="Arial"/>
              </a:rPr>
              <a:t> Charging Station,” in </a:t>
            </a:r>
            <a:r>
              <a:rPr lang="en-US" i="1">
                <a:solidFill>
                  <a:srgbClr val="333333"/>
                </a:solidFill>
                <a:latin typeface="Arial"/>
                <a:cs typeface="Arial"/>
              </a:rPr>
              <a:t>Proc. 2022 IEEE IAS Industrial and Commercial Power System Asia</a:t>
            </a:r>
            <a:r>
              <a:rPr lang="en-US">
                <a:solidFill>
                  <a:srgbClr val="333333"/>
                </a:solidFill>
                <a:latin typeface="Arial"/>
                <a:cs typeface="Arial"/>
              </a:rPr>
              <a:t>, pp. 1–8,2022.</a:t>
            </a:r>
            <a:endParaRPr lang="en-US">
              <a:latin typeface="Arial"/>
              <a:cs typeface="Arial"/>
            </a:endParaRPr>
          </a:p>
          <a:p>
            <a:pPr algn="l"/>
            <a:endParaRPr lang="en-US">
              <a:latin typeface="Arial"/>
              <a:cs typeface="Arial"/>
            </a:endParaRPr>
          </a:p>
          <a:p>
            <a:pPr algn="l"/>
            <a:r>
              <a:rPr lang="en-US">
                <a:solidFill>
                  <a:srgbClr val="333333"/>
                </a:solidFill>
                <a:latin typeface="Arial"/>
                <a:cs typeface="Arial"/>
              </a:rPr>
              <a:t>19.K. H. Akhil, K. Deepa, S.V. Tresa Sangeetha, and N. Neelima, "Prediction of Battery Failure in EVs </a:t>
            </a:r>
            <a:r>
              <a:rPr lang="en-US" err="1">
                <a:solidFill>
                  <a:srgbClr val="333333"/>
                </a:solidFill>
                <a:latin typeface="Arial"/>
                <a:cs typeface="Arial"/>
              </a:rPr>
              <a:t>UsingMachine</a:t>
            </a:r>
            <a:r>
              <a:rPr lang="en-US">
                <a:solidFill>
                  <a:srgbClr val="333333"/>
                </a:solidFill>
                <a:latin typeface="Arial"/>
                <a:cs typeface="Arial"/>
              </a:rPr>
              <a:t> Learning: A Case Study," </a:t>
            </a:r>
            <a:r>
              <a:rPr lang="en-US" i="1">
                <a:solidFill>
                  <a:srgbClr val="333333"/>
                </a:solidFill>
                <a:latin typeface="Arial"/>
                <a:cs typeface="Arial"/>
              </a:rPr>
              <a:t>2024 Int. Conf. Knowledge Engineering and Communication Systems(ICKECS)</a:t>
            </a:r>
            <a:r>
              <a:rPr lang="en-US">
                <a:solidFill>
                  <a:srgbClr val="333333"/>
                </a:solidFill>
                <a:latin typeface="Arial"/>
                <a:cs typeface="Arial"/>
              </a:rPr>
              <a:t>, pp. 1–7, 2024. </a:t>
            </a:r>
            <a:r>
              <a:rPr lang="en-US" err="1">
                <a:solidFill>
                  <a:srgbClr val="333333"/>
                </a:solidFill>
                <a:latin typeface="Arial"/>
                <a:cs typeface="Arial"/>
              </a:rPr>
              <a:t>doi</a:t>
            </a:r>
            <a:r>
              <a:rPr lang="en-US">
                <a:solidFill>
                  <a:srgbClr val="333333"/>
                </a:solidFill>
                <a:latin typeface="Arial"/>
                <a:cs typeface="Arial"/>
              </a:rPr>
              <a:t>: 10.1109/ICKECS61492.2024.10617051.</a:t>
            </a:r>
            <a:endParaRPr lang="en-US">
              <a:latin typeface="Arial"/>
              <a:cs typeface="Arial"/>
            </a:endParaRPr>
          </a:p>
          <a:p>
            <a:pPr algn="l"/>
            <a:endParaRPr lang="en-US">
              <a:latin typeface="Arial"/>
              <a:cs typeface="Arial"/>
            </a:endParaRPr>
          </a:p>
          <a:p>
            <a:pPr algn="l"/>
            <a:r>
              <a:rPr lang="en-US">
                <a:solidFill>
                  <a:srgbClr val="333333"/>
                </a:solidFill>
                <a:latin typeface="Arial"/>
                <a:cs typeface="Arial"/>
              </a:rPr>
              <a:t>20.K. N. B. S. Hitesh, P. Saran Teja, and J. Ram Kumar, “Electric Vehicle Charging Demand Prediction </a:t>
            </a:r>
            <a:r>
              <a:rPr lang="en-US" err="1">
                <a:solidFill>
                  <a:srgbClr val="333333"/>
                </a:solidFill>
                <a:latin typeface="Arial"/>
                <a:cs typeface="Arial"/>
              </a:rPr>
              <a:t>usingMachine</a:t>
            </a:r>
            <a:r>
              <a:rPr lang="en-US">
                <a:solidFill>
                  <a:srgbClr val="333333"/>
                </a:solidFill>
                <a:latin typeface="Arial"/>
                <a:cs typeface="Arial"/>
              </a:rPr>
              <a:t> Learning Algorithms,” in </a:t>
            </a:r>
            <a:r>
              <a:rPr lang="en-US" i="1">
                <a:solidFill>
                  <a:srgbClr val="333333"/>
                </a:solidFill>
                <a:latin typeface="Arial"/>
                <a:cs typeface="Arial"/>
              </a:rPr>
              <a:t>Proc. 2024 8th Int. Conf. Inventive Systems and Control (ICISC)</a:t>
            </a:r>
            <a:r>
              <a:rPr lang="en-US">
                <a:solidFill>
                  <a:srgbClr val="333333"/>
                </a:solidFill>
                <a:latin typeface="Arial"/>
                <a:cs typeface="Arial"/>
              </a:rPr>
              <a:t>, 2024, pp.1–7. </a:t>
            </a:r>
            <a:r>
              <a:rPr lang="en-US" err="1">
                <a:solidFill>
                  <a:srgbClr val="333333"/>
                </a:solidFill>
                <a:latin typeface="Arial"/>
                <a:cs typeface="Arial"/>
              </a:rPr>
              <a:t>doi</a:t>
            </a:r>
            <a:r>
              <a:rPr lang="en-US">
                <a:solidFill>
                  <a:srgbClr val="333333"/>
                </a:solidFill>
                <a:latin typeface="Arial"/>
                <a:cs typeface="Arial"/>
              </a:rPr>
              <a:t>: 10.1109/ICISC62624.2024.00015.</a:t>
            </a:r>
            <a:endParaRPr lang="en-US">
              <a:latin typeface="Arial"/>
              <a:cs typeface="Arial"/>
            </a:endParaRPr>
          </a:p>
          <a:p>
            <a:endParaRPr lang="en-US">
              <a:ea typeface="Calibri"/>
              <a:cs typeface="Calibri"/>
            </a:endParaRPr>
          </a:p>
        </p:txBody>
      </p:sp>
    </p:spTree>
    <p:extLst>
      <p:ext uri="{BB962C8B-B14F-4D97-AF65-F5344CB8AC3E}">
        <p14:creationId xmlns:p14="http://schemas.microsoft.com/office/powerpoint/2010/main" val="4131660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8228"/>
            <a:ext cx="12192000" cy="6858000"/>
          </a:xfrm>
          <a:custGeom>
            <a:avLst/>
            <a:gdLst/>
            <a:ahLst/>
            <a:cxnLst/>
            <a:rect l="l" t="t" r="r" b="b"/>
            <a:pathLst>
              <a:path w="12192000" h="6858000">
                <a:moveTo>
                  <a:pt x="12191999" y="6857999"/>
                </a:moveTo>
                <a:lnTo>
                  <a:pt x="0" y="6857999"/>
                </a:lnTo>
                <a:lnTo>
                  <a:pt x="0" y="0"/>
                </a:lnTo>
                <a:lnTo>
                  <a:pt x="12191999" y="0"/>
                </a:lnTo>
                <a:lnTo>
                  <a:pt x="12191999" y="6857999"/>
                </a:lnTo>
                <a:close/>
              </a:path>
            </a:pathLst>
          </a:custGeom>
          <a:solidFill>
            <a:srgbClr val="44546A"/>
          </a:solidFill>
        </p:spPr>
        <p:txBody>
          <a:bodyPr wrap="square" lIns="0" tIns="0" rIns="0" bIns="0" rtlCol="0" anchor="t"/>
          <a:lstStyle/>
          <a:p>
            <a:r>
              <a:rPr lang="en-US" dirty="0"/>
              <a:t>T</a:t>
            </a:r>
            <a:endParaRPr dirty="0"/>
          </a:p>
        </p:txBody>
      </p:sp>
      <p:sp>
        <p:nvSpPr>
          <p:cNvPr id="3" name="TextBox 2">
            <a:extLst>
              <a:ext uri="{FF2B5EF4-FFF2-40B4-BE49-F238E27FC236}">
                <a16:creationId xmlns:a16="http://schemas.microsoft.com/office/drawing/2014/main" id="{968C4E90-C567-7892-8317-5188709BD7A3}"/>
              </a:ext>
            </a:extLst>
          </p:cNvPr>
          <p:cNvSpPr txBox="1"/>
          <p:nvPr/>
        </p:nvSpPr>
        <p:spPr>
          <a:xfrm>
            <a:off x="3875054" y="2726236"/>
            <a:ext cx="443497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YESHWANTRAO CHAVAN COLLEGE OF ENGINEERING</vt:lpstr>
      <vt:lpstr>Department Vision and Mission</vt:lpstr>
      <vt:lpstr>Program Outcomes/Program Specific Outcomes</vt:lpstr>
      <vt:lpstr>Program Outcomes/Program Specific Outcomes</vt:lpstr>
      <vt:lpstr>Course Outcomes</vt:lpstr>
      <vt:lpstr>Contents</vt:lpstr>
      <vt:lpstr>Problem Statement </vt:lpstr>
      <vt:lpstr>Introduction</vt:lpstr>
      <vt:lpstr>Objective</vt:lpstr>
      <vt:lpstr>PowerPoint Presentation</vt:lpstr>
      <vt:lpstr>Work Done </vt:lpstr>
      <vt:lpstr>System Design &amp; Architecture </vt:lpstr>
      <vt:lpstr>Work Done  </vt:lpstr>
      <vt:lpstr>Work Done  </vt:lpstr>
      <vt:lpstr>Expected Input and Output</vt:lpstr>
      <vt:lpstr>Expected Input and Output</vt:lpstr>
      <vt:lpstr>Expected Input and Output </vt:lpstr>
      <vt:lpstr>Expected Input and Output </vt:lpstr>
      <vt:lpstr>Status of Research Paper /Patent </vt:lpstr>
      <vt:lpstr> </vt:lpstr>
      <vt:lpstr>References(*Strictly in IEEE format)</vt:lpstr>
      <vt:lpstr>References(*Strictly in IEEE format) </vt:lpstr>
      <vt:lpstr>References(*Strictly in IEEE format)</vt:lpstr>
      <vt:lpstr>References(*Strictly in IEEE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YESHWANTRAO CHAVAN COLLEGE OF ENGINEERING</dc:title>
  <cp:revision>20</cp:revision>
  <dcterms:created xsi:type="dcterms:W3CDTF">2025-02-20T14:06:12Z</dcterms:created>
  <dcterms:modified xsi:type="dcterms:W3CDTF">2025-11-26T08:38:01Z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2025-02-20T00:00:00Z</vt:filetime>
  </property>
  <property fmtid="{D5CDD505-2E9C-101B-9397-08002B2CF9AE}" pid="3" name="Creator">
    <vt:lpwstr>Google</vt:lpwstr>
  </property>
  <property fmtid="{D5CDD505-2E9C-101B-9397-08002B2CF9AE}" pid="4" name="LastSaved">
    <vt:filetime>2025-02-20T00:00:00Z</vt:filetime>
  </property>
</Properties>
</file>