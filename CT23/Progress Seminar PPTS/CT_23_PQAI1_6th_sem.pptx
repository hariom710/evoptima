
<file path=[Content_Types].xml><?xml version="1.0" encoding="utf-8"?>
<Types xmlns="http://schemas.openxmlformats.org/package/2006/content-types">
  <Default ContentType="image/jpg" Extension="jpg"/>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ms-powerpoint.comments+xml" PartName="/ppt/comments/modernComment_10A_2ABE7A61.xml"/>
  <Override ContentType="application/vnd.ms-powerpoint.comments+xml" PartName="/ppt/comments/modernComment_110_74D465E3.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12192000" cy="6858000"/>
  <p:defaultTextStyle>
    <a:defPPr lvl="0">
      <a:defRPr kern="0"/>
    </a:defPPr>
    <a:lvl1pPr lvl="0"/>
    <a:lvl2pPr lvl="1"/>
    <a:lvl3pPr lvl="2"/>
    <a:lvl4pPr lvl="3"/>
    <a:lvl5pPr lvl="4"/>
    <a:lvl6pPr lvl="5"/>
    <a:lvl7pPr lvl="6"/>
    <a:lvl8pPr lvl="7"/>
    <a:lvl9pPr lvl="8"/>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2D5ABB26-0587-4C30-8999-92F81FD0307C}" styleName="No Style, No Grid">
    <a:wholeTbl>
      <a:tcTxStyle>
        <a:fontRef idx="minor">
          <a:scrgbClr b="0" g="0" r="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cmpd="sng" w="12700">
              <a:solidFill>
                <a:schemeClr val="lt1"/>
              </a:solidFill>
            </a:ln>
          </a:left>
          <a:right>
            <a:ln cmpd="sng" w="12700">
              <a:solidFill>
                <a:schemeClr val="lt1"/>
              </a:solidFill>
            </a:ln>
          </a:right>
          <a:top>
            <a:ln cmpd="sng" w="12700">
              <a:solidFill>
                <a:schemeClr val="lt1"/>
              </a:solidFill>
            </a:ln>
          </a:top>
          <a:bottom>
            <a:ln cmpd="sng" w="12700">
              <a:solidFill>
                <a:schemeClr val="lt1"/>
              </a:solidFill>
            </a:ln>
          </a:bottom>
          <a:insideH>
            <a:ln cmpd="sng" w="12700">
              <a:solidFill>
                <a:schemeClr val="lt1"/>
              </a:solidFill>
            </a:ln>
          </a:insideH>
          <a:insideV>
            <a:ln cmpd="sng"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cmpd="sng" w="38100">
              <a:solidFill>
                <a:schemeClr val="lt1"/>
              </a:solidFill>
            </a:ln>
          </a:top>
        </a:tcBdr>
        <a:fill>
          <a:solidFill>
            <a:schemeClr val="accent1"/>
          </a:solidFill>
        </a:fill>
      </a:tcStyle>
    </a:lastRow>
    <a:firstRow>
      <a:tcTxStyle b="on">
        <a:fontRef idx="minor">
          <a:prstClr val="black"/>
        </a:fontRef>
        <a:schemeClr val="lt1"/>
      </a:tcTxStyle>
      <a:tcStyle>
        <a:tcBdr>
          <a:bottom>
            <a:ln cmpd="sng" w="38100">
              <a:solidFill>
                <a:schemeClr val="lt1"/>
              </a:solidFill>
            </a:ln>
          </a:bottom>
        </a:tcBdr>
        <a:fill>
          <a:solidFill>
            <a:schemeClr val="accent1"/>
          </a:solidFill>
        </a:fill>
      </a:tcStyle>
    </a:firstRow>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slideMaster" Target="slideMasters/slide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modernComment_10A_2ABE7A61.xml><?xml version="1.0" encoding="utf-8"?>
<p188:cmLst xmlns:a="http://schemas.openxmlformats.org/drawingml/2006/main" xmlns:r="http://schemas.openxmlformats.org/officeDocument/2006/relationships" xmlns:p188="http://schemas.microsoft.com/office/powerpoint/2018/8/main">
  <p188:cm id="{E26883C0-8931-4515-858D-65EABE6DD7B1}" authorId="{95582667-6102-27E7-ED8E-01A166EB4B6B}" created="2025-02-21T09:25:30.268">
    <pc:sldMkLst xmlns:pc="http://schemas.microsoft.com/office/powerpoint/2013/main/command">
      <pc:docMk/>
      <pc:sldMk cId="717126241" sldId="266"/>
    </pc:sldMkLst>
    <p188:txBody>
      <a:bodyPr/>
      <a:lstStyle/>
      <a:p>
        <a:r>
          <a:rPr lang="en-US"/>
          <a:t>ajun kahii kraich ahe kaa</a:t>
        </a:r>
      </a:p>
    </p188:txBody>
  </p188:cm>
</p188:cmLst>
</file>

<file path=ppt/comments/modernComment_110_74D465E3.xml><?xml version="1.0" encoding="utf-8"?>
<p188:cmLst xmlns:a="http://schemas.openxmlformats.org/drawingml/2006/main" xmlns:r="http://schemas.openxmlformats.org/officeDocument/2006/relationships" xmlns:p188="http://schemas.microsoft.com/office/powerpoint/2018/8/main">
  <p188:cm id="{879DBA14-E603-4321-98A2-D8DA8FFDA99E}" authorId="{95582667-6102-27E7-ED8E-01A166EB4B6B}" created="2025-02-21T09:25:47.409">
    <pc:sldMkLst xmlns:pc="http://schemas.microsoft.com/office/powerpoint/2013/main/command">
      <pc:docMk/>
      <pc:sldMk cId="1960076771" sldId="272"/>
    </pc:sldMkLst>
    <p188:txBody>
      <a:bodyPr/>
      <a:lstStyle/>
      <a:p>
        <a:r>
          <a:rPr lang="en-US"/>
          <a:t>ajun kahi kraich ahe ka</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800" b="1" i="0">
                <a:solidFill>
                  <a:srgbClr val="FF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1225" y="637457"/>
            <a:ext cx="10369550" cy="695960"/>
          </a:xfrm>
          <a:prstGeom prst="rect">
            <a:avLst/>
          </a:prstGeom>
        </p:spPr>
        <p:txBody>
          <a:bodyPr wrap="square" lIns="0" tIns="0" rIns="0" bIns="0">
            <a:spAutoFit/>
          </a:bodyPr>
          <a:lstStyle>
            <a:lvl1pPr>
              <a:defRPr sz="1800" b="1" i="0">
                <a:solidFill>
                  <a:srgbClr val="FF0000"/>
                </a:solidFill>
                <a:latin typeface="Calibri"/>
                <a:cs typeface="Calibri"/>
              </a:defRPr>
            </a:lvl1pPr>
          </a:lstStyle>
          <a:p>
            <a:endParaRPr/>
          </a:p>
        </p:txBody>
      </p:sp>
      <p:sp>
        <p:nvSpPr>
          <p:cNvPr id="3" name="Holder 3"/>
          <p:cNvSpPr>
            <a:spLocks noGrp="1"/>
          </p:cNvSpPr>
          <p:nvPr>
            <p:ph type="body" idx="1"/>
          </p:nvPr>
        </p:nvSpPr>
        <p:spPr>
          <a:xfrm>
            <a:off x="391969" y="1600779"/>
            <a:ext cx="11214735" cy="477583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A_2ABE7A6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hariom710/Advanced-Monitoring-and-Control-Mechanism-for-Electric-Vehicle-Charging-Using-Machine-Learning.git"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10_74D465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3390/electricity4020009" TargetMode="External"/><Relationship Id="rId2" Type="http://schemas.openxmlformats.org/officeDocument/2006/relationships/hyperlink" Target="https://doi.org/10.3390/en13164231"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435" y="127199"/>
            <a:ext cx="1360300" cy="1272343"/>
          </a:xfrm>
          <a:prstGeom prst="rect">
            <a:avLst/>
          </a:prstGeom>
        </p:spPr>
      </p:pic>
      <p:pic>
        <p:nvPicPr>
          <p:cNvPr id="3" name="object 3"/>
          <p:cNvPicPr/>
          <p:nvPr/>
        </p:nvPicPr>
        <p:blipFill>
          <a:blip r:embed="rId3" cstate="print"/>
          <a:stretch>
            <a:fillRect/>
          </a:stretch>
        </p:blipFill>
        <p:spPr>
          <a:xfrm>
            <a:off x="10628026" y="92980"/>
            <a:ext cx="1424066" cy="1306563"/>
          </a:xfrm>
          <a:prstGeom prst="rect">
            <a:avLst/>
          </a:prstGeom>
        </p:spPr>
      </p:pic>
      <p:sp>
        <p:nvSpPr>
          <p:cNvPr id="4" name="object 4"/>
          <p:cNvSpPr txBox="1"/>
          <p:nvPr/>
        </p:nvSpPr>
        <p:spPr>
          <a:xfrm>
            <a:off x="1328960" y="3521952"/>
            <a:ext cx="2989580" cy="2684517"/>
          </a:xfrm>
          <a:prstGeom prst="rect">
            <a:avLst/>
          </a:prstGeom>
        </p:spPr>
        <p:txBody>
          <a:bodyPr vert="horz" wrap="square" lIns="0" tIns="12065" rIns="0" bIns="0" rtlCol="0" anchor="t">
            <a:spAutoFit/>
          </a:bodyPr>
          <a:lstStyle/>
          <a:p>
            <a:pPr marL="12700" marR="5080" algn="l">
              <a:lnSpc>
                <a:spcPct val="100899"/>
              </a:lnSpc>
              <a:spcBef>
                <a:spcPts val="95"/>
              </a:spcBef>
              <a:tabLst>
                <a:tab pos="1708785" algn="l"/>
              </a:tabLst>
            </a:pPr>
            <a:r>
              <a:t>PRESENTED BY:</a:t>
            </a:r>
            <a:r>
              <a:rPr lang="en-US"/>
              <a:t> CT-23</a:t>
            </a:r>
          </a:p>
          <a:p>
            <a:pPr marL="12700" marR="5080" algn="l">
              <a:lnSpc>
                <a:spcPct val="100899"/>
              </a:lnSpc>
              <a:spcBef>
                <a:spcPts val="95"/>
              </a:spcBef>
              <a:tabLst>
                <a:tab pos="1708785" algn="l"/>
              </a:tabLst>
            </a:pPr>
            <a:r>
              <a:rPr lang="en-US"/>
              <a:t> Vedika </a:t>
            </a:r>
            <a:r>
              <a:rPr lang="en-US" err="1"/>
              <a:t>Peshane</a:t>
            </a:r>
            <a:r>
              <a:rPr lang="en-US"/>
              <a:t> - 31</a:t>
            </a:r>
          </a:p>
          <a:p>
            <a:pPr marL="12700" marR="5080" algn="l">
              <a:lnSpc>
                <a:spcPct val="100899"/>
              </a:lnSpc>
              <a:spcBef>
                <a:spcPts val="95"/>
              </a:spcBef>
              <a:tabLst>
                <a:tab pos="1708785" algn="l"/>
              </a:tabLst>
            </a:pPr>
            <a:r>
              <a:rPr lang="en-US"/>
              <a:t> Aditya </a:t>
            </a:r>
            <a:r>
              <a:rPr lang="en-US" err="1"/>
              <a:t>Bhone</a:t>
            </a:r>
            <a:r>
              <a:rPr lang="en-US"/>
              <a:t> - 39</a:t>
            </a:r>
          </a:p>
          <a:p>
            <a:pPr marL="12700" marR="5080" algn="l">
              <a:lnSpc>
                <a:spcPct val="100899"/>
              </a:lnSpc>
              <a:spcBef>
                <a:spcPts val="95"/>
              </a:spcBef>
              <a:tabLst>
                <a:tab pos="1708785" algn="l"/>
              </a:tabLst>
            </a:pPr>
            <a:r>
              <a:rPr lang="en-US"/>
              <a:t> Atharva </a:t>
            </a:r>
            <a:r>
              <a:rPr lang="en-US" err="1"/>
              <a:t>Pophali</a:t>
            </a:r>
            <a:r>
              <a:rPr lang="en-US"/>
              <a:t> - 47</a:t>
            </a:r>
          </a:p>
          <a:p>
            <a:pPr marL="12700" marR="5080" algn="l">
              <a:lnSpc>
                <a:spcPct val="100899"/>
              </a:lnSpc>
              <a:spcBef>
                <a:spcPts val="95"/>
              </a:spcBef>
              <a:tabLst>
                <a:tab pos="1708785" algn="l"/>
              </a:tabLst>
            </a:pPr>
            <a:r>
              <a:rPr lang="en-US"/>
              <a:t> Atharva </a:t>
            </a:r>
            <a:r>
              <a:rPr lang="en-US" err="1"/>
              <a:t>Fukey</a:t>
            </a:r>
            <a:r>
              <a:rPr lang="en-US"/>
              <a:t> - 48</a:t>
            </a:r>
          </a:p>
          <a:p>
            <a:pPr marL="12700" marR="5080" algn="l">
              <a:lnSpc>
                <a:spcPct val="100899"/>
              </a:lnSpc>
              <a:spcBef>
                <a:spcPts val="95"/>
              </a:spcBef>
              <a:tabLst>
                <a:tab pos="1708785" algn="l"/>
              </a:tabLst>
            </a:pPr>
            <a:r>
              <a:rPr lang="en-US"/>
              <a:t> Hariom Balang - 57</a:t>
            </a:r>
          </a:p>
          <a:p>
            <a:pPr marL="12700" marR="5080" algn="l">
              <a:lnSpc>
                <a:spcPct val="100899"/>
              </a:lnSpc>
              <a:spcBef>
                <a:spcPts val="95"/>
              </a:spcBef>
              <a:tabLst>
                <a:tab pos="1708785" algn="l"/>
              </a:tabLst>
            </a:pPr>
            <a:r>
              <a:rPr lang="en-US"/>
              <a:t> Kiran Wande - 103</a:t>
            </a:r>
          </a:p>
          <a:p>
            <a:pPr marL="12700" marR="5080" algn="l">
              <a:lnSpc>
                <a:spcPct val="100899"/>
              </a:lnSpc>
              <a:spcBef>
                <a:spcPts val="95"/>
              </a:spcBef>
              <a:tabLst>
                <a:tab pos="1708785" algn="l"/>
              </a:tabLst>
            </a:pPr>
            <a:endParaRPr lang="en-US" sz="1850" spc="5">
              <a:solidFill>
                <a:srgbClr val="000000"/>
              </a:solidFill>
              <a:latin typeface="Arial MT"/>
              <a:cs typeface="Arial"/>
            </a:endParaRPr>
          </a:p>
          <a:p>
            <a:pPr marL="12700" marR="5080" algn="l">
              <a:lnSpc>
                <a:spcPct val="100899"/>
              </a:lnSpc>
              <a:spcBef>
                <a:spcPts val="95"/>
              </a:spcBef>
              <a:tabLst>
                <a:tab pos="1708785" algn="l"/>
              </a:tabLst>
            </a:pPr>
            <a:endParaRPr lang="en-US" sz="1850" spc="5">
              <a:solidFill>
                <a:srgbClr val="000000"/>
              </a:solidFill>
              <a:latin typeface="Arial MT"/>
              <a:cs typeface="Arial"/>
            </a:endParaRPr>
          </a:p>
        </p:txBody>
      </p:sp>
      <p:sp>
        <p:nvSpPr>
          <p:cNvPr id="5" name="object 5"/>
          <p:cNvSpPr txBox="1"/>
          <p:nvPr/>
        </p:nvSpPr>
        <p:spPr>
          <a:xfrm>
            <a:off x="8356217" y="3590704"/>
            <a:ext cx="1686560" cy="594995"/>
          </a:xfrm>
          <a:prstGeom prst="rect">
            <a:avLst/>
          </a:prstGeom>
        </p:spPr>
        <p:txBody>
          <a:bodyPr vert="horz" wrap="square" lIns="0" tIns="14604" rIns="0" bIns="0" rtlCol="0" anchor="t">
            <a:spAutoFit/>
          </a:bodyPr>
          <a:lstStyle/>
          <a:p>
            <a:pPr marL="78105" algn="l">
              <a:lnSpc>
                <a:spcPct val="100000"/>
              </a:lnSpc>
              <a:spcBef>
                <a:spcPts val="114"/>
              </a:spcBef>
            </a:pPr>
            <a:r>
              <a:rPr sz="1850" b="1">
                <a:latin typeface="Arial"/>
                <a:cs typeface="Arial"/>
              </a:rPr>
              <a:t>SECTION</a:t>
            </a:r>
            <a:r>
              <a:rPr sz="1850" b="1" spc="-5">
                <a:latin typeface="Arial"/>
                <a:cs typeface="Arial"/>
              </a:rPr>
              <a:t> </a:t>
            </a:r>
            <a:r>
              <a:rPr sz="1850">
                <a:latin typeface="Arial MT"/>
                <a:cs typeface="Arial MT"/>
              </a:rPr>
              <a:t>:</a:t>
            </a:r>
            <a:r>
              <a:rPr sz="1850" spc="-10">
                <a:latin typeface="Arial MT"/>
                <a:cs typeface="Arial MT"/>
              </a:rPr>
              <a:t> </a:t>
            </a:r>
            <a:r>
              <a:rPr sz="1850" spc="-50">
                <a:latin typeface="Arial MT"/>
                <a:cs typeface="Arial MT"/>
              </a:rPr>
              <a:t>A</a:t>
            </a:r>
            <a:endParaRPr sz="1850">
              <a:latin typeface="Arial MT"/>
              <a:cs typeface="Arial MT"/>
            </a:endParaRPr>
          </a:p>
          <a:p>
            <a:pPr marL="12700" algn="l">
              <a:lnSpc>
                <a:spcPct val="100000"/>
              </a:lnSpc>
              <a:spcBef>
                <a:spcPts val="20"/>
              </a:spcBef>
            </a:pPr>
            <a:r>
              <a:rPr sz="1850" b="1">
                <a:latin typeface="Arial"/>
                <a:cs typeface="Arial"/>
              </a:rPr>
              <a:t>YEAR</a:t>
            </a:r>
            <a:r>
              <a:rPr sz="1850">
                <a:latin typeface="Arial MT"/>
                <a:cs typeface="Arial MT"/>
              </a:rPr>
              <a:t>:</a:t>
            </a:r>
            <a:r>
              <a:rPr sz="1850" spc="10">
                <a:latin typeface="Arial MT"/>
                <a:cs typeface="Arial MT"/>
              </a:rPr>
              <a:t> </a:t>
            </a:r>
            <a:r>
              <a:rPr sz="1850">
                <a:latin typeface="Arial MT"/>
                <a:cs typeface="Arial MT"/>
              </a:rPr>
              <a:t>2024-</a:t>
            </a:r>
            <a:r>
              <a:rPr sz="1850" spc="-25">
                <a:latin typeface="Arial MT"/>
                <a:cs typeface="Arial MT"/>
              </a:rPr>
              <a:t>25</a:t>
            </a:r>
            <a:endParaRPr sz="1850">
              <a:latin typeface="Arial MT"/>
              <a:cs typeface="Arial MT"/>
            </a:endParaRPr>
          </a:p>
        </p:txBody>
      </p:sp>
      <p:sp>
        <p:nvSpPr>
          <p:cNvPr id="6" name="object 6"/>
          <p:cNvSpPr txBox="1"/>
          <p:nvPr/>
        </p:nvSpPr>
        <p:spPr>
          <a:xfrm>
            <a:off x="1328681" y="5878089"/>
            <a:ext cx="2055495" cy="1158650"/>
          </a:xfrm>
          <a:prstGeom prst="rect">
            <a:avLst/>
          </a:prstGeom>
        </p:spPr>
        <p:txBody>
          <a:bodyPr vert="horz" wrap="square" lIns="0" tIns="14604" rIns="0" bIns="0" rtlCol="0" anchor="t">
            <a:spAutoFit/>
          </a:bodyPr>
          <a:lstStyle/>
          <a:p>
            <a:pPr marL="12700">
              <a:lnSpc>
                <a:spcPct val="100000"/>
              </a:lnSpc>
              <a:spcBef>
                <a:spcPts val="114"/>
              </a:spcBef>
            </a:pPr>
            <a:r>
              <a:rPr sz="1850" b="1">
                <a:latin typeface="Arial"/>
                <a:cs typeface="Arial"/>
              </a:rPr>
              <a:t>COLLEGE</a:t>
            </a:r>
            <a:r>
              <a:rPr sz="1850" b="1" spc="-30">
                <a:latin typeface="Arial"/>
                <a:cs typeface="Arial"/>
              </a:rPr>
              <a:t> </a:t>
            </a:r>
            <a:r>
              <a:rPr sz="1850" b="1" spc="-10">
                <a:latin typeface="Arial"/>
                <a:cs typeface="Arial"/>
              </a:rPr>
              <a:t>GUIDE</a:t>
            </a:r>
            <a:r>
              <a:rPr sz="1850" spc="-10">
                <a:latin typeface="Arial MT"/>
                <a:cs typeface="Arial MT"/>
              </a:rPr>
              <a:t>:</a:t>
            </a:r>
          </a:p>
          <a:p>
            <a:pPr algn="l"/>
            <a:r>
              <a:rPr lang="en-US" sz="1900" spc="-10" err="1">
                <a:latin typeface="Arial"/>
                <a:cs typeface="Arial"/>
              </a:rPr>
              <a:t>Prof.N.U.Sambhe</a:t>
            </a:r>
            <a:endParaRPr lang="en-US" err="1"/>
          </a:p>
          <a:p>
            <a:pPr marL="12700">
              <a:spcBef>
                <a:spcPts val="112"/>
              </a:spcBef>
            </a:pPr>
            <a:br>
              <a:rPr lang="en-US"/>
            </a:br>
            <a:endParaRPr lang="en-US"/>
          </a:p>
        </p:txBody>
      </p:sp>
      <p:sp>
        <p:nvSpPr>
          <p:cNvPr id="7" name="object 7"/>
          <p:cNvSpPr txBox="1"/>
          <p:nvPr/>
        </p:nvSpPr>
        <p:spPr>
          <a:xfrm>
            <a:off x="8016675" y="5915467"/>
            <a:ext cx="3776092" cy="1166344"/>
          </a:xfrm>
          <a:prstGeom prst="rect">
            <a:avLst/>
          </a:prstGeom>
        </p:spPr>
        <p:txBody>
          <a:bodyPr vert="horz" wrap="square" lIns="0" tIns="14604" rIns="0" bIns="0" rtlCol="0" anchor="t">
            <a:spAutoFit/>
          </a:bodyPr>
          <a:lstStyle/>
          <a:p>
            <a:pPr algn="ctr"/>
            <a:r>
              <a:rPr lang="en-US" sz="1900" b="1" spc="-10">
                <a:latin typeface="Arial"/>
                <a:cs typeface="Arial"/>
              </a:rPr>
              <a:t>Co-guide from Electrical Dept.</a:t>
            </a:r>
            <a:endParaRPr/>
          </a:p>
          <a:p>
            <a:pPr algn="ctr"/>
            <a:r>
              <a:rPr lang="en-US" sz="1900" spc="-10" err="1">
                <a:latin typeface="Arial"/>
                <a:cs typeface="Arial"/>
              </a:rPr>
              <a:t>Prof.P.S.Shete</a:t>
            </a:r>
            <a:r>
              <a:rPr lang="en-US" sz="1900" spc="-10">
                <a:latin typeface="Arial"/>
                <a:cs typeface="Arial"/>
              </a:rPr>
              <a:t> </a:t>
            </a:r>
            <a:endParaRPr/>
          </a:p>
          <a:p>
            <a:pPr marL="1905" algn="ctr">
              <a:spcBef>
                <a:spcPts val="113"/>
              </a:spcBef>
            </a:pPr>
            <a:br>
              <a:rPr lang="en-US"/>
            </a:br>
            <a:endParaRPr lang="en-US"/>
          </a:p>
        </p:txBody>
      </p:sp>
      <p:sp>
        <p:nvSpPr>
          <p:cNvPr id="8" name="object 8"/>
          <p:cNvSpPr txBox="1">
            <a:spLocks noGrp="1"/>
          </p:cNvSpPr>
          <p:nvPr>
            <p:ph type="title"/>
          </p:nvPr>
        </p:nvSpPr>
        <p:spPr>
          <a:xfrm>
            <a:off x="1437306" y="75037"/>
            <a:ext cx="9600565" cy="1430520"/>
          </a:xfrm>
          <a:prstGeom prst="rect">
            <a:avLst/>
          </a:prstGeom>
        </p:spPr>
        <p:txBody>
          <a:bodyPr vert="horz" wrap="square" lIns="0" tIns="95885" rIns="0" bIns="0" rtlCol="0" anchor="t">
            <a:spAutoFit/>
          </a:bodyPr>
          <a:lstStyle/>
          <a:p>
            <a:pPr marL="3033395" marR="5080" indent="-3021330">
              <a:lnSpc>
                <a:spcPts val="5180"/>
              </a:lnSpc>
              <a:spcBef>
                <a:spcPts val="755"/>
              </a:spcBef>
            </a:pPr>
            <a:r>
              <a:rPr sz="4400" spc="-20">
                <a:solidFill>
                  <a:srgbClr val="000000"/>
                </a:solidFill>
              </a:rPr>
              <a:t>YESHWANTRAO</a:t>
            </a:r>
            <a:r>
              <a:rPr sz="4800" spc="-75">
                <a:solidFill>
                  <a:srgbClr val="000000"/>
                </a:solidFill>
              </a:rPr>
              <a:t> </a:t>
            </a:r>
            <a:r>
              <a:rPr sz="4800">
                <a:solidFill>
                  <a:srgbClr val="000000"/>
                </a:solidFill>
              </a:rPr>
              <a:t>CHAVAN</a:t>
            </a:r>
            <a:r>
              <a:rPr sz="4800" spc="-75">
                <a:solidFill>
                  <a:srgbClr val="000000"/>
                </a:solidFill>
              </a:rPr>
              <a:t> </a:t>
            </a:r>
            <a:r>
              <a:rPr sz="4800">
                <a:solidFill>
                  <a:srgbClr val="000000"/>
                </a:solidFill>
              </a:rPr>
              <a:t>COLLEGE</a:t>
            </a:r>
            <a:r>
              <a:rPr sz="4800" spc="-70">
                <a:solidFill>
                  <a:srgbClr val="000000"/>
                </a:solidFill>
              </a:rPr>
              <a:t> </a:t>
            </a:r>
            <a:r>
              <a:rPr sz="4800" spc="-25">
                <a:solidFill>
                  <a:srgbClr val="000000"/>
                </a:solidFill>
              </a:rPr>
              <a:t>OF </a:t>
            </a:r>
            <a:r>
              <a:rPr sz="4800" spc="-10">
                <a:solidFill>
                  <a:srgbClr val="000000"/>
                </a:solidFill>
              </a:rPr>
              <a:t>ENGINEERING</a:t>
            </a:r>
            <a:endParaRPr sz="4800"/>
          </a:p>
        </p:txBody>
      </p:sp>
      <p:sp>
        <p:nvSpPr>
          <p:cNvPr id="10" name="object 10"/>
          <p:cNvSpPr txBox="1"/>
          <p:nvPr/>
        </p:nvSpPr>
        <p:spPr>
          <a:xfrm>
            <a:off x="1043623" y="1498941"/>
            <a:ext cx="9832340" cy="2028761"/>
          </a:xfrm>
          <a:prstGeom prst="rect">
            <a:avLst/>
          </a:prstGeom>
        </p:spPr>
        <p:txBody>
          <a:bodyPr vert="horz" wrap="square" lIns="0" tIns="12700" rIns="0" bIns="0" rtlCol="0" anchor="t">
            <a:spAutoFit/>
          </a:bodyPr>
          <a:lstStyle/>
          <a:p>
            <a:pPr marL="12700">
              <a:spcBef>
                <a:spcPts val="100"/>
              </a:spcBef>
            </a:pPr>
            <a:r>
              <a:rPr lang="en-US" sz="3600" b="1" spc="-10">
                <a:latin typeface="Calibri"/>
                <a:cs typeface="Calibri"/>
              </a:rPr>
              <a:t>            </a:t>
            </a:r>
            <a:r>
              <a:rPr sz="3600" b="1" spc="-10">
                <a:latin typeface="Calibri"/>
                <a:cs typeface="Calibri"/>
              </a:rPr>
              <a:t>Department</a:t>
            </a:r>
            <a:r>
              <a:rPr sz="3600" b="1" spc="-125">
                <a:latin typeface="Calibri"/>
                <a:cs typeface="Calibri"/>
              </a:rPr>
              <a:t> </a:t>
            </a:r>
            <a:r>
              <a:rPr sz="3600" b="1">
                <a:latin typeface="Calibri"/>
                <a:cs typeface="Calibri"/>
              </a:rPr>
              <a:t>of</a:t>
            </a:r>
            <a:r>
              <a:rPr sz="3600" b="1" spc="-120">
                <a:latin typeface="Calibri"/>
                <a:cs typeface="Calibri"/>
              </a:rPr>
              <a:t> </a:t>
            </a:r>
            <a:r>
              <a:rPr sz="3600" b="1">
                <a:latin typeface="Calibri"/>
                <a:cs typeface="Calibri"/>
              </a:rPr>
              <a:t>Computer</a:t>
            </a:r>
            <a:r>
              <a:rPr sz="3600" b="1" spc="-120">
                <a:latin typeface="Calibri"/>
                <a:cs typeface="Calibri"/>
              </a:rPr>
              <a:t> </a:t>
            </a:r>
            <a:r>
              <a:rPr lang="en-US" sz="3600" b="1" spc="-10">
                <a:latin typeface="Calibri"/>
                <a:cs typeface="Calibri"/>
              </a:rPr>
              <a:t>Technology</a:t>
            </a:r>
            <a:endParaRPr sz="3600">
              <a:latin typeface="Calibri"/>
              <a:cs typeface="Calibri"/>
            </a:endParaRPr>
          </a:p>
          <a:p>
            <a:pPr marL="109220" algn="ctr">
              <a:lnSpc>
                <a:spcPct val="100000"/>
              </a:lnSpc>
              <a:spcBef>
                <a:spcPts val="50"/>
              </a:spcBef>
            </a:pPr>
            <a:r>
              <a:rPr sz="2400" b="1">
                <a:latin typeface="Calibri"/>
                <a:cs typeface="Calibri"/>
              </a:rPr>
              <a:t>PQAI</a:t>
            </a:r>
            <a:r>
              <a:rPr sz="2400" b="1" spc="-70">
                <a:latin typeface="Calibri"/>
                <a:cs typeface="Calibri"/>
              </a:rPr>
              <a:t> </a:t>
            </a:r>
            <a:r>
              <a:rPr sz="2400" b="1">
                <a:latin typeface="Calibri"/>
                <a:cs typeface="Calibri"/>
              </a:rPr>
              <a:t>Seminar</a:t>
            </a:r>
            <a:r>
              <a:rPr sz="2400" b="1" spc="-70">
                <a:latin typeface="Calibri"/>
                <a:cs typeface="Calibri"/>
              </a:rPr>
              <a:t> </a:t>
            </a:r>
            <a:r>
              <a:rPr sz="2400" b="1" spc="-25">
                <a:latin typeface="Calibri"/>
                <a:cs typeface="Calibri"/>
              </a:rPr>
              <a:t>on</a:t>
            </a:r>
            <a:endParaRPr lang="en-US" sz="2400">
              <a:latin typeface="Calibri"/>
              <a:cs typeface="Calibri"/>
            </a:endParaRPr>
          </a:p>
          <a:p>
            <a:pPr marL="125095" algn="ctr">
              <a:spcBef>
                <a:spcPts val="480"/>
              </a:spcBef>
            </a:pPr>
            <a:r>
              <a:rPr lang="en-US" sz="3200" b="1" spc="-10">
                <a:latin typeface="Calibri"/>
                <a:cs typeface="Calibri"/>
              </a:rPr>
              <a:t>Advanced monitoring and control mechanism for electric vehicle charging station using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524000">
              <a:lnSpc>
                <a:spcPct val="100000"/>
              </a:lnSpc>
              <a:spcBef>
                <a:spcPts val="100"/>
              </a:spcBef>
            </a:pPr>
            <a:r>
              <a:rPr sz="4400">
                <a:solidFill>
                  <a:srgbClr val="000000"/>
                </a:solidFill>
              </a:rPr>
              <a:t>Department</a:t>
            </a:r>
            <a:r>
              <a:rPr sz="4400" spc="-55">
                <a:solidFill>
                  <a:srgbClr val="000000"/>
                </a:solidFill>
              </a:rPr>
              <a:t> </a:t>
            </a:r>
            <a:r>
              <a:rPr sz="4400">
                <a:solidFill>
                  <a:srgbClr val="000000"/>
                </a:solidFill>
              </a:rPr>
              <a:t>Vision</a:t>
            </a:r>
            <a:r>
              <a:rPr sz="4400" spc="-55">
                <a:solidFill>
                  <a:srgbClr val="000000"/>
                </a:solidFill>
              </a:rPr>
              <a:t> </a:t>
            </a:r>
            <a:r>
              <a:rPr sz="4400">
                <a:solidFill>
                  <a:srgbClr val="000000"/>
                </a:solidFill>
              </a:rPr>
              <a:t>and</a:t>
            </a:r>
            <a:r>
              <a:rPr sz="4400" spc="-55">
                <a:solidFill>
                  <a:srgbClr val="000000"/>
                </a:solidFill>
              </a:rPr>
              <a:t> </a:t>
            </a:r>
            <a:r>
              <a:rPr sz="4400" spc="-10">
                <a:solidFill>
                  <a:srgbClr val="000000"/>
                </a:solidFill>
              </a:rPr>
              <a:t>Mission</a:t>
            </a:r>
            <a:endParaRPr sz="4400"/>
          </a:p>
        </p:txBody>
      </p:sp>
      <p:sp>
        <p:nvSpPr>
          <p:cNvPr id="3" name="object 3"/>
          <p:cNvSpPr txBox="1"/>
          <p:nvPr/>
        </p:nvSpPr>
        <p:spPr>
          <a:xfrm>
            <a:off x="911225" y="1412077"/>
            <a:ext cx="10367645" cy="3606165"/>
          </a:xfrm>
          <a:prstGeom prst="rect">
            <a:avLst/>
          </a:prstGeom>
        </p:spPr>
        <p:txBody>
          <a:bodyPr vert="horz" wrap="square" lIns="0" tIns="53975" rIns="0" bIns="0" rtlCol="0">
            <a:spAutoFit/>
          </a:bodyPr>
          <a:lstStyle/>
          <a:p>
            <a:pPr algn="ctr">
              <a:lnSpc>
                <a:spcPct val="100000"/>
              </a:lnSpc>
              <a:spcBef>
                <a:spcPts val="425"/>
              </a:spcBef>
            </a:pPr>
            <a:r>
              <a:rPr sz="2800" b="1" spc="-10">
                <a:latin typeface="Arial"/>
                <a:cs typeface="Arial"/>
              </a:rPr>
              <a:t>Vision</a:t>
            </a:r>
            <a:endParaRPr sz="2800">
              <a:latin typeface="Arial"/>
              <a:cs typeface="Arial"/>
            </a:endParaRPr>
          </a:p>
          <a:p>
            <a:pPr marL="12700" marR="5715" algn="just">
              <a:lnSpc>
                <a:spcPts val="2690"/>
              </a:lnSpc>
              <a:spcBef>
                <a:spcPts val="975"/>
              </a:spcBef>
            </a:pPr>
            <a:r>
              <a:rPr sz="2800">
                <a:solidFill>
                  <a:srgbClr val="18100F"/>
                </a:solidFill>
                <a:latin typeface="Arial MT"/>
                <a:cs typeface="Arial MT"/>
              </a:rPr>
              <a:t>To</a:t>
            </a:r>
            <a:r>
              <a:rPr sz="2800" spc="65">
                <a:solidFill>
                  <a:srgbClr val="18100F"/>
                </a:solidFill>
                <a:latin typeface="Arial MT"/>
                <a:cs typeface="Arial MT"/>
              </a:rPr>
              <a:t>  </a:t>
            </a:r>
            <a:r>
              <a:rPr sz="2800">
                <a:solidFill>
                  <a:srgbClr val="18100F"/>
                </a:solidFill>
                <a:latin typeface="Arial MT"/>
                <a:cs typeface="Arial MT"/>
              </a:rPr>
              <a:t>be</a:t>
            </a:r>
            <a:r>
              <a:rPr sz="2800" spc="65">
                <a:solidFill>
                  <a:srgbClr val="18100F"/>
                </a:solidFill>
                <a:latin typeface="Arial MT"/>
                <a:cs typeface="Arial MT"/>
              </a:rPr>
              <a:t>  </a:t>
            </a:r>
            <a:r>
              <a:rPr sz="2800">
                <a:solidFill>
                  <a:srgbClr val="18100F"/>
                </a:solidFill>
                <a:latin typeface="Arial MT"/>
                <a:cs typeface="Arial MT"/>
              </a:rPr>
              <a:t>a</a:t>
            </a:r>
            <a:r>
              <a:rPr sz="2800" spc="65">
                <a:solidFill>
                  <a:srgbClr val="18100F"/>
                </a:solidFill>
                <a:latin typeface="Arial MT"/>
                <a:cs typeface="Arial MT"/>
              </a:rPr>
              <a:t>  </a:t>
            </a:r>
            <a:r>
              <a:rPr sz="2800" spc="-25">
                <a:solidFill>
                  <a:srgbClr val="18100F"/>
                </a:solidFill>
                <a:latin typeface="Arial MT"/>
                <a:cs typeface="Arial MT"/>
              </a:rPr>
              <a:t>well-</a:t>
            </a:r>
            <a:r>
              <a:rPr sz="2800">
                <a:solidFill>
                  <a:srgbClr val="18100F"/>
                </a:solidFill>
                <a:latin typeface="Arial MT"/>
                <a:cs typeface="Arial MT"/>
              </a:rPr>
              <a:t>known</a:t>
            </a:r>
            <a:r>
              <a:rPr sz="2800" spc="65">
                <a:solidFill>
                  <a:srgbClr val="18100F"/>
                </a:solidFill>
                <a:latin typeface="Arial MT"/>
                <a:cs typeface="Arial MT"/>
              </a:rPr>
              <a:t>  </a:t>
            </a:r>
            <a:r>
              <a:rPr sz="2800">
                <a:solidFill>
                  <a:srgbClr val="18100F"/>
                </a:solidFill>
                <a:latin typeface="Arial MT"/>
                <a:cs typeface="Arial MT"/>
              </a:rPr>
              <a:t>center</a:t>
            </a:r>
            <a:r>
              <a:rPr sz="2800" spc="65">
                <a:solidFill>
                  <a:srgbClr val="18100F"/>
                </a:solidFill>
                <a:latin typeface="Arial MT"/>
                <a:cs typeface="Arial MT"/>
              </a:rPr>
              <a:t>  </a:t>
            </a:r>
            <a:r>
              <a:rPr sz="2800">
                <a:solidFill>
                  <a:srgbClr val="18100F"/>
                </a:solidFill>
                <a:latin typeface="Arial MT"/>
                <a:cs typeface="Arial MT"/>
              </a:rPr>
              <a:t>for</a:t>
            </a:r>
            <a:r>
              <a:rPr sz="2800" spc="65">
                <a:solidFill>
                  <a:srgbClr val="18100F"/>
                </a:solidFill>
                <a:latin typeface="Arial MT"/>
                <a:cs typeface="Arial MT"/>
              </a:rPr>
              <a:t>  </a:t>
            </a:r>
            <a:r>
              <a:rPr sz="2800">
                <a:solidFill>
                  <a:srgbClr val="18100F"/>
                </a:solidFill>
                <a:latin typeface="Arial MT"/>
                <a:cs typeface="Arial MT"/>
              </a:rPr>
              <a:t>pursuing</a:t>
            </a:r>
            <a:r>
              <a:rPr sz="2800" spc="65">
                <a:solidFill>
                  <a:srgbClr val="18100F"/>
                </a:solidFill>
                <a:latin typeface="Arial MT"/>
                <a:cs typeface="Arial MT"/>
              </a:rPr>
              <a:t>  </a:t>
            </a:r>
            <a:r>
              <a:rPr sz="2800">
                <a:solidFill>
                  <a:srgbClr val="18100F"/>
                </a:solidFill>
                <a:latin typeface="Arial MT"/>
                <a:cs typeface="Arial MT"/>
              </a:rPr>
              <a:t>computer</a:t>
            </a:r>
            <a:r>
              <a:rPr sz="2800" spc="65">
                <a:solidFill>
                  <a:srgbClr val="18100F"/>
                </a:solidFill>
                <a:latin typeface="Arial MT"/>
                <a:cs typeface="Arial MT"/>
              </a:rPr>
              <a:t>  </a:t>
            </a:r>
            <a:r>
              <a:rPr sz="2800" spc="-10">
                <a:solidFill>
                  <a:srgbClr val="18100F"/>
                </a:solidFill>
                <a:latin typeface="Arial MT"/>
                <a:cs typeface="Arial MT"/>
              </a:rPr>
              <a:t>education </a:t>
            </a:r>
            <a:r>
              <a:rPr sz="2800">
                <a:solidFill>
                  <a:srgbClr val="18100F"/>
                </a:solidFill>
                <a:latin typeface="Arial MT"/>
                <a:cs typeface="Arial MT"/>
              </a:rPr>
              <a:t>through</a:t>
            </a:r>
            <a:r>
              <a:rPr sz="2800" spc="555">
                <a:solidFill>
                  <a:srgbClr val="18100F"/>
                </a:solidFill>
                <a:latin typeface="Arial MT"/>
                <a:cs typeface="Arial MT"/>
              </a:rPr>
              <a:t>   </a:t>
            </a:r>
            <a:r>
              <a:rPr sz="2800">
                <a:solidFill>
                  <a:srgbClr val="18100F"/>
                </a:solidFill>
                <a:latin typeface="Arial MT"/>
                <a:cs typeface="Arial MT"/>
              </a:rPr>
              <a:t>innovative</a:t>
            </a:r>
            <a:r>
              <a:rPr sz="2800" spc="555">
                <a:solidFill>
                  <a:srgbClr val="18100F"/>
                </a:solidFill>
                <a:latin typeface="Arial MT"/>
                <a:cs typeface="Arial MT"/>
              </a:rPr>
              <a:t>   </a:t>
            </a:r>
            <a:r>
              <a:rPr sz="2800">
                <a:solidFill>
                  <a:srgbClr val="18100F"/>
                </a:solidFill>
                <a:latin typeface="Arial MT"/>
                <a:cs typeface="Arial MT"/>
              </a:rPr>
              <a:t>pedagogy,</a:t>
            </a:r>
            <a:r>
              <a:rPr sz="2800" spc="555">
                <a:solidFill>
                  <a:srgbClr val="18100F"/>
                </a:solidFill>
                <a:latin typeface="Arial MT"/>
                <a:cs typeface="Arial MT"/>
              </a:rPr>
              <a:t>   </a:t>
            </a:r>
            <a:r>
              <a:rPr sz="2800" spc="-25">
                <a:solidFill>
                  <a:srgbClr val="18100F"/>
                </a:solidFill>
                <a:latin typeface="Arial MT"/>
                <a:cs typeface="Arial MT"/>
              </a:rPr>
              <a:t>value-</a:t>
            </a:r>
            <a:r>
              <a:rPr sz="2800">
                <a:solidFill>
                  <a:srgbClr val="18100F"/>
                </a:solidFill>
                <a:latin typeface="Arial MT"/>
                <a:cs typeface="Arial MT"/>
              </a:rPr>
              <a:t>based</a:t>
            </a:r>
            <a:r>
              <a:rPr sz="2800" spc="-40">
                <a:solidFill>
                  <a:srgbClr val="18100F"/>
                </a:solidFill>
                <a:latin typeface="Arial MT"/>
                <a:cs typeface="Arial MT"/>
              </a:rPr>
              <a:t> </a:t>
            </a:r>
            <a:r>
              <a:rPr sz="2800">
                <a:solidFill>
                  <a:srgbClr val="18100F"/>
                </a:solidFill>
                <a:latin typeface="Arial MT"/>
                <a:cs typeface="Arial MT"/>
              </a:rPr>
              <a:t>education</a:t>
            </a:r>
            <a:r>
              <a:rPr sz="2800" spc="-40">
                <a:solidFill>
                  <a:srgbClr val="18100F"/>
                </a:solidFill>
                <a:latin typeface="Arial MT"/>
                <a:cs typeface="Arial MT"/>
              </a:rPr>
              <a:t> </a:t>
            </a:r>
            <a:r>
              <a:rPr sz="2800" spc="-25">
                <a:solidFill>
                  <a:srgbClr val="18100F"/>
                </a:solidFill>
                <a:latin typeface="Arial MT"/>
                <a:cs typeface="Arial MT"/>
              </a:rPr>
              <a:t>and </a:t>
            </a:r>
            <a:r>
              <a:rPr sz="2800">
                <a:solidFill>
                  <a:srgbClr val="18100F"/>
                </a:solidFill>
                <a:latin typeface="Arial MT"/>
                <a:cs typeface="Arial MT"/>
              </a:rPr>
              <a:t>industry</a:t>
            </a:r>
            <a:r>
              <a:rPr sz="2800" spc="-105">
                <a:solidFill>
                  <a:srgbClr val="18100F"/>
                </a:solidFill>
                <a:latin typeface="Arial MT"/>
                <a:cs typeface="Arial MT"/>
              </a:rPr>
              <a:t> </a:t>
            </a:r>
            <a:r>
              <a:rPr sz="2800" spc="-10">
                <a:solidFill>
                  <a:srgbClr val="18100F"/>
                </a:solidFill>
                <a:latin typeface="Arial MT"/>
                <a:cs typeface="Arial MT"/>
              </a:rPr>
              <a:t>collaboration.</a:t>
            </a:r>
            <a:endParaRPr sz="2800">
              <a:latin typeface="Arial MT"/>
              <a:cs typeface="Arial MT"/>
            </a:endParaRPr>
          </a:p>
          <a:p>
            <a:pPr algn="ctr">
              <a:lnSpc>
                <a:spcPct val="100000"/>
              </a:lnSpc>
              <a:spcBef>
                <a:spcPts val="350"/>
              </a:spcBef>
            </a:pPr>
            <a:r>
              <a:rPr sz="2800" b="1" spc="-10">
                <a:latin typeface="Arial"/>
                <a:cs typeface="Arial"/>
              </a:rPr>
              <a:t>Mission</a:t>
            </a:r>
            <a:endParaRPr sz="2800">
              <a:latin typeface="Arial"/>
              <a:cs typeface="Arial"/>
            </a:endParaRPr>
          </a:p>
          <a:p>
            <a:pPr marL="12700" marR="5080" algn="just">
              <a:lnSpc>
                <a:spcPct val="80000"/>
              </a:lnSpc>
              <a:spcBef>
                <a:spcPts val="1000"/>
              </a:spcBef>
            </a:pPr>
            <a:r>
              <a:rPr sz="2800">
                <a:solidFill>
                  <a:srgbClr val="18100F"/>
                </a:solidFill>
                <a:latin typeface="Arial MT"/>
                <a:cs typeface="Arial MT"/>
              </a:rPr>
              <a:t>To</a:t>
            </a:r>
            <a:r>
              <a:rPr sz="2800" spc="-40">
                <a:solidFill>
                  <a:srgbClr val="18100F"/>
                </a:solidFill>
                <a:latin typeface="Arial MT"/>
                <a:cs typeface="Arial MT"/>
              </a:rPr>
              <a:t> </a:t>
            </a:r>
            <a:r>
              <a:rPr sz="2800">
                <a:solidFill>
                  <a:srgbClr val="18100F"/>
                </a:solidFill>
                <a:latin typeface="Arial MT"/>
                <a:cs typeface="Arial MT"/>
              </a:rPr>
              <a:t>establish</a:t>
            </a:r>
            <a:r>
              <a:rPr sz="2800" spc="-35">
                <a:solidFill>
                  <a:srgbClr val="18100F"/>
                </a:solidFill>
                <a:latin typeface="Arial MT"/>
                <a:cs typeface="Arial MT"/>
              </a:rPr>
              <a:t> </a:t>
            </a:r>
            <a:r>
              <a:rPr sz="2800">
                <a:solidFill>
                  <a:srgbClr val="18100F"/>
                </a:solidFill>
                <a:latin typeface="Arial MT"/>
                <a:cs typeface="Arial MT"/>
              </a:rPr>
              <a:t>learning</a:t>
            </a:r>
            <a:r>
              <a:rPr sz="2800" spc="215">
                <a:solidFill>
                  <a:srgbClr val="18100F"/>
                </a:solidFill>
                <a:latin typeface="Arial MT"/>
                <a:cs typeface="Arial MT"/>
              </a:rPr>
              <a:t>   </a:t>
            </a:r>
            <a:r>
              <a:rPr sz="2800">
                <a:solidFill>
                  <a:srgbClr val="18100F"/>
                </a:solidFill>
                <a:latin typeface="Arial MT"/>
                <a:cs typeface="Arial MT"/>
              </a:rPr>
              <a:t>ambience</a:t>
            </a:r>
            <a:r>
              <a:rPr sz="2800" spc="220">
                <a:solidFill>
                  <a:srgbClr val="18100F"/>
                </a:solidFill>
                <a:latin typeface="Arial MT"/>
                <a:cs typeface="Arial MT"/>
              </a:rPr>
              <a:t>   </a:t>
            </a:r>
            <a:r>
              <a:rPr sz="2800">
                <a:solidFill>
                  <a:srgbClr val="18100F"/>
                </a:solidFill>
                <a:latin typeface="Arial MT"/>
                <a:cs typeface="Arial MT"/>
              </a:rPr>
              <a:t>for</a:t>
            </a:r>
            <a:r>
              <a:rPr sz="2800" spc="220">
                <a:solidFill>
                  <a:srgbClr val="18100F"/>
                </a:solidFill>
                <a:latin typeface="Arial MT"/>
                <a:cs typeface="Arial MT"/>
              </a:rPr>
              <a:t>   </a:t>
            </a:r>
            <a:r>
              <a:rPr sz="2800">
                <a:solidFill>
                  <a:srgbClr val="18100F"/>
                </a:solidFill>
                <a:latin typeface="Arial MT"/>
                <a:cs typeface="Arial MT"/>
              </a:rPr>
              <a:t>ushering</a:t>
            </a:r>
            <a:r>
              <a:rPr sz="2800" spc="220">
                <a:solidFill>
                  <a:srgbClr val="18100F"/>
                </a:solidFill>
                <a:latin typeface="Arial MT"/>
                <a:cs typeface="Arial MT"/>
              </a:rPr>
              <a:t>   </a:t>
            </a:r>
            <a:r>
              <a:rPr sz="2800">
                <a:solidFill>
                  <a:srgbClr val="18100F"/>
                </a:solidFill>
                <a:latin typeface="Arial MT"/>
                <a:cs typeface="Arial MT"/>
              </a:rPr>
              <a:t>in</a:t>
            </a:r>
            <a:r>
              <a:rPr sz="2800" spc="220">
                <a:solidFill>
                  <a:srgbClr val="18100F"/>
                </a:solidFill>
                <a:latin typeface="Arial MT"/>
                <a:cs typeface="Arial MT"/>
              </a:rPr>
              <a:t>   </a:t>
            </a:r>
            <a:r>
              <a:rPr sz="2800" spc="-10">
                <a:solidFill>
                  <a:srgbClr val="18100F"/>
                </a:solidFill>
                <a:latin typeface="Arial MT"/>
                <a:cs typeface="Arial MT"/>
              </a:rPr>
              <a:t>computer </a:t>
            </a:r>
            <a:r>
              <a:rPr sz="2800">
                <a:solidFill>
                  <a:srgbClr val="18100F"/>
                </a:solidFill>
                <a:latin typeface="Arial MT"/>
                <a:cs typeface="Arial MT"/>
              </a:rPr>
              <a:t>engineering</a:t>
            </a:r>
            <a:r>
              <a:rPr sz="2800" spc="260">
                <a:solidFill>
                  <a:srgbClr val="18100F"/>
                </a:solidFill>
                <a:latin typeface="Arial MT"/>
                <a:cs typeface="Arial MT"/>
              </a:rPr>
              <a:t> </a:t>
            </a:r>
            <a:r>
              <a:rPr sz="2800">
                <a:solidFill>
                  <a:srgbClr val="18100F"/>
                </a:solidFill>
                <a:latin typeface="Arial MT"/>
                <a:cs typeface="Arial MT"/>
              </a:rPr>
              <a:t>professionals</a:t>
            </a:r>
            <a:r>
              <a:rPr sz="2800" spc="265">
                <a:solidFill>
                  <a:srgbClr val="18100F"/>
                </a:solidFill>
                <a:latin typeface="Arial MT"/>
                <a:cs typeface="Arial MT"/>
              </a:rPr>
              <a:t> </a:t>
            </a:r>
            <a:r>
              <a:rPr sz="2800">
                <a:solidFill>
                  <a:srgbClr val="18100F"/>
                </a:solidFill>
                <a:latin typeface="Arial MT"/>
                <a:cs typeface="Arial MT"/>
              </a:rPr>
              <a:t>in</a:t>
            </a:r>
            <a:r>
              <a:rPr sz="2800" spc="265">
                <a:solidFill>
                  <a:srgbClr val="18100F"/>
                </a:solidFill>
                <a:latin typeface="Arial MT"/>
                <a:cs typeface="Arial MT"/>
              </a:rPr>
              <a:t> </a:t>
            </a:r>
            <a:r>
              <a:rPr sz="2800">
                <a:solidFill>
                  <a:srgbClr val="18100F"/>
                </a:solidFill>
                <a:latin typeface="Arial MT"/>
                <a:cs typeface="Arial MT"/>
              </a:rPr>
              <a:t>core</a:t>
            </a:r>
            <a:r>
              <a:rPr sz="2800" spc="265">
                <a:solidFill>
                  <a:srgbClr val="18100F"/>
                </a:solidFill>
                <a:latin typeface="Arial MT"/>
                <a:cs typeface="Arial MT"/>
              </a:rPr>
              <a:t> </a:t>
            </a:r>
            <a:r>
              <a:rPr sz="2800">
                <a:solidFill>
                  <a:srgbClr val="18100F"/>
                </a:solidFill>
                <a:latin typeface="Arial MT"/>
                <a:cs typeface="Arial MT"/>
              </a:rPr>
              <a:t>and</a:t>
            </a:r>
            <a:r>
              <a:rPr sz="2800" spc="265">
                <a:solidFill>
                  <a:srgbClr val="18100F"/>
                </a:solidFill>
                <a:latin typeface="Arial MT"/>
                <a:cs typeface="Arial MT"/>
              </a:rPr>
              <a:t> </a:t>
            </a:r>
            <a:r>
              <a:rPr sz="2800">
                <a:solidFill>
                  <a:srgbClr val="18100F"/>
                </a:solidFill>
                <a:latin typeface="Arial MT"/>
                <a:cs typeface="Arial MT"/>
              </a:rPr>
              <a:t>multidisciplinary</a:t>
            </a:r>
            <a:r>
              <a:rPr sz="2800" spc="265">
                <a:solidFill>
                  <a:srgbClr val="18100F"/>
                </a:solidFill>
                <a:latin typeface="Arial MT"/>
                <a:cs typeface="Arial MT"/>
              </a:rPr>
              <a:t> </a:t>
            </a:r>
            <a:r>
              <a:rPr sz="2800">
                <a:solidFill>
                  <a:srgbClr val="18100F"/>
                </a:solidFill>
                <a:latin typeface="Arial MT"/>
                <a:cs typeface="Arial MT"/>
              </a:rPr>
              <a:t>arena</a:t>
            </a:r>
            <a:r>
              <a:rPr sz="2800" spc="265">
                <a:solidFill>
                  <a:srgbClr val="18100F"/>
                </a:solidFill>
                <a:latin typeface="Arial MT"/>
                <a:cs typeface="Arial MT"/>
              </a:rPr>
              <a:t> </a:t>
            </a:r>
            <a:r>
              <a:rPr sz="2800" spc="-25">
                <a:solidFill>
                  <a:srgbClr val="18100F"/>
                </a:solidFill>
                <a:latin typeface="Arial MT"/>
                <a:cs typeface="Arial MT"/>
              </a:rPr>
              <a:t>by </a:t>
            </a:r>
            <a:r>
              <a:rPr sz="2800">
                <a:solidFill>
                  <a:srgbClr val="18100F"/>
                </a:solidFill>
                <a:latin typeface="Arial MT"/>
                <a:cs typeface="Arial MT"/>
              </a:rPr>
              <a:t>developing</a:t>
            </a:r>
            <a:r>
              <a:rPr sz="2800" spc="495">
                <a:solidFill>
                  <a:srgbClr val="18100F"/>
                </a:solidFill>
                <a:latin typeface="Arial MT"/>
                <a:cs typeface="Arial MT"/>
              </a:rPr>
              <a:t>    </a:t>
            </a:r>
            <a:r>
              <a:rPr sz="2800" spc="-25">
                <a:solidFill>
                  <a:srgbClr val="18100F"/>
                </a:solidFill>
                <a:latin typeface="Arial MT"/>
                <a:cs typeface="Arial MT"/>
              </a:rPr>
              <a:t>problem-</a:t>
            </a:r>
            <a:r>
              <a:rPr sz="2800">
                <a:solidFill>
                  <a:srgbClr val="18100F"/>
                </a:solidFill>
                <a:latin typeface="Arial MT"/>
                <a:cs typeface="Arial MT"/>
              </a:rPr>
              <a:t>solving</a:t>
            </a:r>
            <a:r>
              <a:rPr sz="2800" spc="500">
                <a:solidFill>
                  <a:srgbClr val="18100F"/>
                </a:solidFill>
                <a:latin typeface="Arial MT"/>
                <a:cs typeface="Arial MT"/>
              </a:rPr>
              <a:t>    </a:t>
            </a:r>
            <a:r>
              <a:rPr sz="2800">
                <a:solidFill>
                  <a:srgbClr val="18100F"/>
                </a:solidFill>
                <a:latin typeface="Arial MT"/>
                <a:cs typeface="Arial MT"/>
              </a:rPr>
              <a:t>skills</a:t>
            </a:r>
            <a:r>
              <a:rPr sz="2800" spc="495">
                <a:solidFill>
                  <a:srgbClr val="18100F"/>
                </a:solidFill>
                <a:latin typeface="Arial MT"/>
                <a:cs typeface="Arial MT"/>
              </a:rPr>
              <a:t>    </a:t>
            </a:r>
            <a:r>
              <a:rPr sz="2800">
                <a:solidFill>
                  <a:srgbClr val="18100F"/>
                </a:solidFill>
                <a:latin typeface="Arial MT"/>
                <a:cs typeface="Arial MT"/>
              </a:rPr>
              <a:t>through</a:t>
            </a:r>
            <a:r>
              <a:rPr sz="2800" spc="500">
                <a:solidFill>
                  <a:srgbClr val="18100F"/>
                </a:solidFill>
                <a:latin typeface="Arial MT"/>
                <a:cs typeface="Arial MT"/>
              </a:rPr>
              <a:t>    </a:t>
            </a:r>
            <a:r>
              <a:rPr sz="2800" spc="-10">
                <a:solidFill>
                  <a:srgbClr val="18100F"/>
                </a:solidFill>
                <a:latin typeface="Arial MT"/>
                <a:cs typeface="Arial MT"/>
              </a:rPr>
              <a:t>emerging technologies.</a:t>
            </a:r>
            <a:endParaRPr sz="28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9135" y="38768"/>
            <a:ext cx="8620125" cy="1299845"/>
          </a:xfrm>
          <a:prstGeom prst="rect">
            <a:avLst/>
          </a:prstGeom>
        </p:spPr>
        <p:txBody>
          <a:bodyPr vert="horz" wrap="square" lIns="0" tIns="88900" rIns="0" bIns="0" rtlCol="0">
            <a:spAutoFit/>
          </a:bodyPr>
          <a:lstStyle/>
          <a:p>
            <a:pPr marL="12700" marR="5080">
              <a:lnSpc>
                <a:spcPts val="4750"/>
              </a:lnSpc>
              <a:spcBef>
                <a:spcPts val="700"/>
              </a:spcBef>
            </a:pPr>
            <a:r>
              <a:rPr sz="4400">
                <a:solidFill>
                  <a:srgbClr val="000000"/>
                </a:solidFill>
              </a:rPr>
              <a:t>Program</a:t>
            </a:r>
            <a:r>
              <a:rPr sz="4400" spc="-70">
                <a:solidFill>
                  <a:srgbClr val="000000"/>
                </a:solidFill>
              </a:rPr>
              <a:t> </a:t>
            </a:r>
            <a:r>
              <a:rPr sz="4400">
                <a:solidFill>
                  <a:srgbClr val="000000"/>
                </a:solidFill>
              </a:rPr>
              <a:t>Outcomes/Program</a:t>
            </a:r>
            <a:r>
              <a:rPr sz="4400" spc="-55">
                <a:solidFill>
                  <a:srgbClr val="000000"/>
                </a:solidFill>
              </a:rPr>
              <a:t> </a:t>
            </a:r>
            <a:r>
              <a:rPr sz="4400" spc="-10">
                <a:solidFill>
                  <a:srgbClr val="000000"/>
                </a:solidFill>
              </a:rPr>
              <a:t>Specific Outcomes</a:t>
            </a:r>
            <a:endParaRPr sz="4400"/>
          </a:p>
        </p:txBody>
      </p:sp>
      <p:sp>
        <p:nvSpPr>
          <p:cNvPr id="3" name="object 3"/>
          <p:cNvSpPr txBox="1"/>
          <p:nvPr/>
        </p:nvSpPr>
        <p:spPr>
          <a:xfrm>
            <a:off x="551005" y="1335615"/>
            <a:ext cx="11263630" cy="5358765"/>
          </a:xfrm>
          <a:prstGeom prst="rect">
            <a:avLst/>
          </a:prstGeom>
        </p:spPr>
        <p:txBody>
          <a:bodyPr vert="horz" wrap="square" lIns="0" tIns="112395" rIns="0" bIns="0" rtlCol="0">
            <a:spAutoFit/>
          </a:bodyPr>
          <a:lstStyle/>
          <a:p>
            <a:pPr marL="12700">
              <a:lnSpc>
                <a:spcPct val="100000"/>
              </a:lnSpc>
              <a:spcBef>
                <a:spcPts val="885"/>
              </a:spcBef>
            </a:pPr>
            <a:r>
              <a:rPr sz="1800">
                <a:latin typeface="Calibri"/>
                <a:cs typeface="Calibri"/>
              </a:rPr>
              <a:t>At</a:t>
            </a:r>
            <a:r>
              <a:rPr sz="1800" spc="-30">
                <a:latin typeface="Calibri"/>
                <a:cs typeface="Calibri"/>
              </a:rPr>
              <a:t> </a:t>
            </a:r>
            <a:r>
              <a:rPr sz="1800">
                <a:latin typeface="Calibri"/>
                <a:cs typeface="Calibri"/>
              </a:rPr>
              <a:t>the</a:t>
            </a:r>
            <a:r>
              <a:rPr sz="1800" spc="-30">
                <a:latin typeface="Calibri"/>
                <a:cs typeface="Calibri"/>
              </a:rPr>
              <a:t> </a:t>
            </a:r>
            <a:r>
              <a:rPr sz="1800">
                <a:latin typeface="Calibri"/>
                <a:cs typeface="Calibri"/>
              </a:rPr>
              <a:t>end</a:t>
            </a:r>
            <a:r>
              <a:rPr sz="1800" spc="-30">
                <a:latin typeface="Calibri"/>
                <a:cs typeface="Calibri"/>
              </a:rPr>
              <a:t> </a:t>
            </a:r>
            <a:r>
              <a:rPr sz="1800">
                <a:latin typeface="Calibri"/>
                <a:cs typeface="Calibri"/>
              </a:rPr>
              <a:t>of</a:t>
            </a:r>
            <a:r>
              <a:rPr sz="1800" spc="-25">
                <a:latin typeface="Calibri"/>
                <a:cs typeface="Calibri"/>
              </a:rPr>
              <a:t> </a:t>
            </a:r>
            <a:r>
              <a:rPr sz="1800">
                <a:latin typeface="Calibri"/>
                <a:cs typeface="Calibri"/>
              </a:rPr>
              <a:t>Program,</a:t>
            </a:r>
            <a:r>
              <a:rPr sz="1800" spc="-30">
                <a:latin typeface="Calibri"/>
                <a:cs typeface="Calibri"/>
              </a:rPr>
              <a:t> </a:t>
            </a:r>
            <a:r>
              <a:rPr sz="1800" spc="-10">
                <a:latin typeface="Calibri"/>
                <a:cs typeface="Calibri"/>
              </a:rPr>
              <a:t>Graduate</a:t>
            </a:r>
            <a:r>
              <a:rPr sz="1800" spc="-30">
                <a:latin typeface="Calibri"/>
                <a:cs typeface="Calibri"/>
              </a:rPr>
              <a:t> </a:t>
            </a:r>
            <a:r>
              <a:rPr sz="1800" spc="-10">
                <a:latin typeface="Calibri"/>
                <a:cs typeface="Calibri"/>
              </a:rPr>
              <a:t>students</a:t>
            </a:r>
            <a:r>
              <a:rPr sz="1800" spc="-30">
                <a:latin typeface="Calibri"/>
                <a:cs typeface="Calibri"/>
              </a:rPr>
              <a:t> </a:t>
            </a:r>
            <a:r>
              <a:rPr sz="1800">
                <a:latin typeface="Calibri"/>
                <a:cs typeface="Calibri"/>
              </a:rPr>
              <a:t>will</a:t>
            </a:r>
            <a:r>
              <a:rPr sz="1800" spc="-25">
                <a:latin typeface="Calibri"/>
                <a:cs typeface="Calibri"/>
              </a:rPr>
              <a:t> </a:t>
            </a:r>
            <a:r>
              <a:rPr sz="1800" spc="-20">
                <a:latin typeface="Calibri"/>
                <a:cs typeface="Calibri"/>
              </a:rPr>
              <a:t>have</a:t>
            </a:r>
            <a:endParaRPr sz="1800">
              <a:latin typeface="Calibri"/>
              <a:cs typeface="Calibri"/>
            </a:endParaRPr>
          </a:p>
          <a:p>
            <a:pPr marL="240029" marR="145415" indent="-193675">
              <a:lnSpc>
                <a:spcPts val="1939"/>
              </a:lnSpc>
              <a:spcBef>
                <a:spcPts val="1030"/>
              </a:spcBef>
              <a:buFont typeface="Arial MT"/>
              <a:buChar char="•"/>
              <a:tabLst>
                <a:tab pos="241300" algn="l"/>
              </a:tabLst>
            </a:pPr>
            <a:r>
              <a:rPr sz="1800">
                <a:latin typeface="Calibri"/>
                <a:cs typeface="Calibri"/>
              </a:rPr>
              <a:t>PO1:</a:t>
            </a:r>
            <a:r>
              <a:rPr sz="1800" spc="-50">
                <a:latin typeface="Calibri"/>
                <a:cs typeface="Calibri"/>
              </a:rPr>
              <a:t> </a:t>
            </a:r>
            <a:r>
              <a:rPr sz="1800" spc="-10">
                <a:latin typeface="Calibri"/>
                <a:cs typeface="Calibri"/>
              </a:rPr>
              <a:t>Engineering</a:t>
            </a:r>
            <a:r>
              <a:rPr sz="1800" spc="-50">
                <a:latin typeface="Calibri"/>
                <a:cs typeface="Calibri"/>
              </a:rPr>
              <a:t> </a:t>
            </a:r>
            <a:r>
              <a:rPr sz="1800" spc="-10">
                <a:latin typeface="Calibri"/>
                <a:cs typeface="Calibri"/>
              </a:rPr>
              <a:t>Knowledge:</a:t>
            </a:r>
            <a:r>
              <a:rPr sz="1800" spc="-50">
                <a:latin typeface="Calibri"/>
                <a:cs typeface="Calibri"/>
              </a:rPr>
              <a:t> </a:t>
            </a:r>
            <a:r>
              <a:rPr sz="1800">
                <a:latin typeface="Calibri"/>
                <a:cs typeface="Calibri"/>
              </a:rPr>
              <a:t>Apply</a:t>
            </a:r>
            <a:r>
              <a:rPr sz="1800" spc="-50">
                <a:latin typeface="Calibri"/>
                <a:cs typeface="Calibri"/>
              </a:rPr>
              <a:t> </a:t>
            </a:r>
            <a:r>
              <a:rPr sz="1800" spc="-10">
                <a:latin typeface="Calibri"/>
                <a:cs typeface="Calibri"/>
              </a:rPr>
              <a:t>knowledge</a:t>
            </a:r>
            <a:r>
              <a:rPr sz="1800" spc="-50">
                <a:latin typeface="Calibri"/>
                <a:cs typeface="Calibri"/>
              </a:rPr>
              <a:t> </a:t>
            </a:r>
            <a:r>
              <a:rPr sz="1800">
                <a:latin typeface="Calibri"/>
                <a:cs typeface="Calibri"/>
              </a:rPr>
              <a:t>of</a:t>
            </a:r>
            <a:r>
              <a:rPr sz="1800" spc="-50">
                <a:latin typeface="Calibri"/>
                <a:cs typeface="Calibri"/>
              </a:rPr>
              <a:t> </a:t>
            </a:r>
            <a:r>
              <a:rPr sz="1800">
                <a:latin typeface="Calibri"/>
                <a:cs typeface="Calibri"/>
              </a:rPr>
              <a:t>mathematics,</a:t>
            </a:r>
            <a:r>
              <a:rPr sz="1800" spc="-50">
                <a:latin typeface="Calibri"/>
                <a:cs typeface="Calibri"/>
              </a:rPr>
              <a:t> </a:t>
            </a:r>
            <a:r>
              <a:rPr sz="1800">
                <a:latin typeface="Calibri"/>
                <a:cs typeface="Calibri"/>
              </a:rPr>
              <a:t>natural</a:t>
            </a:r>
            <a:r>
              <a:rPr sz="1800" spc="-50">
                <a:latin typeface="Calibri"/>
                <a:cs typeface="Calibri"/>
              </a:rPr>
              <a:t> </a:t>
            </a:r>
            <a:r>
              <a:rPr sz="1800">
                <a:latin typeface="Calibri"/>
                <a:cs typeface="Calibri"/>
              </a:rPr>
              <a:t>science,</a:t>
            </a:r>
            <a:r>
              <a:rPr sz="1800" spc="-45">
                <a:latin typeface="Calibri"/>
                <a:cs typeface="Calibri"/>
              </a:rPr>
              <a:t> </a:t>
            </a:r>
            <a:r>
              <a:rPr sz="1800" spc="-10">
                <a:latin typeface="Calibri"/>
                <a:cs typeface="Calibri"/>
              </a:rPr>
              <a:t>computing,</a:t>
            </a:r>
            <a:r>
              <a:rPr sz="1800" spc="-50">
                <a:latin typeface="Calibri"/>
                <a:cs typeface="Calibri"/>
              </a:rPr>
              <a:t> </a:t>
            </a:r>
            <a:r>
              <a:rPr sz="1800" spc="-10">
                <a:latin typeface="Calibri"/>
                <a:cs typeface="Calibri"/>
              </a:rPr>
              <a:t>engineering 	fundamentals</a:t>
            </a:r>
            <a:r>
              <a:rPr sz="1800" spc="-40">
                <a:latin typeface="Calibri"/>
                <a:cs typeface="Calibri"/>
              </a:rPr>
              <a:t> </a:t>
            </a:r>
            <a:r>
              <a:rPr sz="1800">
                <a:latin typeface="Calibri"/>
                <a:cs typeface="Calibri"/>
              </a:rPr>
              <a:t>and</a:t>
            </a:r>
            <a:r>
              <a:rPr sz="1800" spc="-35">
                <a:latin typeface="Calibri"/>
                <a:cs typeface="Calibri"/>
              </a:rPr>
              <a:t> </a:t>
            </a:r>
            <a:r>
              <a:rPr sz="1800">
                <a:latin typeface="Calibri"/>
                <a:cs typeface="Calibri"/>
              </a:rPr>
              <a:t>an</a:t>
            </a:r>
            <a:r>
              <a:rPr sz="1800" spc="-35">
                <a:latin typeface="Calibri"/>
                <a:cs typeface="Calibri"/>
              </a:rPr>
              <a:t> </a:t>
            </a:r>
            <a:r>
              <a:rPr sz="1800" spc="-10">
                <a:latin typeface="Calibri"/>
                <a:cs typeface="Calibri"/>
              </a:rPr>
              <a:t>engineering</a:t>
            </a:r>
            <a:r>
              <a:rPr sz="1800" spc="-35">
                <a:latin typeface="Calibri"/>
                <a:cs typeface="Calibri"/>
              </a:rPr>
              <a:t> </a:t>
            </a:r>
            <a:r>
              <a:rPr sz="1800" spc="-10">
                <a:latin typeface="Calibri"/>
                <a:cs typeface="Calibri"/>
              </a:rPr>
              <a:t>specialization</a:t>
            </a:r>
            <a:r>
              <a:rPr sz="1800" spc="-40">
                <a:latin typeface="Calibri"/>
                <a:cs typeface="Calibri"/>
              </a:rPr>
              <a:t> </a:t>
            </a:r>
            <a:r>
              <a:rPr sz="1800">
                <a:latin typeface="Calibri"/>
                <a:cs typeface="Calibri"/>
              </a:rPr>
              <a:t>as</a:t>
            </a:r>
            <a:r>
              <a:rPr sz="1800" spc="-35">
                <a:latin typeface="Calibri"/>
                <a:cs typeface="Calibri"/>
              </a:rPr>
              <a:t> </a:t>
            </a:r>
            <a:r>
              <a:rPr sz="1800" spc="-10">
                <a:latin typeface="Calibri"/>
                <a:cs typeface="Calibri"/>
              </a:rPr>
              <a:t>specified</a:t>
            </a:r>
            <a:r>
              <a:rPr sz="1800" spc="-35">
                <a:latin typeface="Calibri"/>
                <a:cs typeface="Calibri"/>
              </a:rPr>
              <a:t> </a:t>
            </a:r>
            <a:r>
              <a:rPr sz="1800">
                <a:latin typeface="Calibri"/>
                <a:cs typeface="Calibri"/>
              </a:rPr>
              <a:t>in</a:t>
            </a:r>
            <a:r>
              <a:rPr sz="1800" spc="-40">
                <a:latin typeface="Calibri"/>
                <a:cs typeface="Calibri"/>
              </a:rPr>
              <a:t> </a:t>
            </a:r>
            <a:r>
              <a:rPr sz="1800">
                <a:latin typeface="Calibri"/>
                <a:cs typeface="Calibri"/>
              </a:rPr>
              <a:t>WK1</a:t>
            </a:r>
            <a:r>
              <a:rPr sz="1800" spc="-35">
                <a:latin typeface="Calibri"/>
                <a:cs typeface="Calibri"/>
              </a:rPr>
              <a:t> </a:t>
            </a:r>
            <a:r>
              <a:rPr sz="1800">
                <a:latin typeface="Calibri"/>
                <a:cs typeface="Calibri"/>
              </a:rPr>
              <a:t>to</a:t>
            </a:r>
            <a:r>
              <a:rPr sz="1800" spc="-35">
                <a:latin typeface="Calibri"/>
                <a:cs typeface="Calibri"/>
              </a:rPr>
              <a:t> </a:t>
            </a:r>
            <a:r>
              <a:rPr sz="1800">
                <a:latin typeface="Calibri"/>
                <a:cs typeface="Calibri"/>
              </a:rPr>
              <a:t>WK4</a:t>
            </a:r>
            <a:r>
              <a:rPr sz="1800" spc="-35">
                <a:latin typeface="Calibri"/>
                <a:cs typeface="Calibri"/>
              </a:rPr>
              <a:t> </a:t>
            </a:r>
            <a:r>
              <a:rPr sz="1800" spc="-10">
                <a:latin typeface="Calibri"/>
                <a:cs typeface="Calibri"/>
              </a:rPr>
              <a:t>respectively</a:t>
            </a:r>
            <a:r>
              <a:rPr sz="1800" spc="-40">
                <a:latin typeface="Calibri"/>
                <a:cs typeface="Calibri"/>
              </a:rPr>
              <a:t> </a:t>
            </a:r>
            <a:r>
              <a:rPr sz="1800">
                <a:latin typeface="Calibri"/>
                <a:cs typeface="Calibri"/>
              </a:rPr>
              <a:t>to</a:t>
            </a:r>
            <a:r>
              <a:rPr sz="1800" spc="-35">
                <a:latin typeface="Calibri"/>
                <a:cs typeface="Calibri"/>
              </a:rPr>
              <a:t> </a:t>
            </a:r>
            <a:r>
              <a:rPr sz="1800">
                <a:latin typeface="Calibri"/>
                <a:cs typeface="Calibri"/>
              </a:rPr>
              <a:t>develop</a:t>
            </a:r>
            <a:r>
              <a:rPr sz="1800" spc="-35">
                <a:latin typeface="Calibri"/>
                <a:cs typeface="Calibri"/>
              </a:rPr>
              <a:t> </a:t>
            </a:r>
            <a:r>
              <a:rPr sz="1800">
                <a:latin typeface="Calibri"/>
                <a:cs typeface="Calibri"/>
              </a:rPr>
              <a:t>to</a:t>
            </a:r>
            <a:r>
              <a:rPr sz="1800" spc="-35">
                <a:latin typeface="Calibri"/>
                <a:cs typeface="Calibri"/>
              </a:rPr>
              <a:t> </a:t>
            </a:r>
            <a:r>
              <a:rPr sz="1800">
                <a:latin typeface="Calibri"/>
                <a:cs typeface="Calibri"/>
              </a:rPr>
              <a:t>the</a:t>
            </a:r>
            <a:r>
              <a:rPr sz="1800" spc="-40">
                <a:latin typeface="Calibri"/>
                <a:cs typeface="Calibri"/>
              </a:rPr>
              <a:t> </a:t>
            </a:r>
            <a:r>
              <a:rPr sz="1800">
                <a:latin typeface="Calibri"/>
                <a:cs typeface="Calibri"/>
              </a:rPr>
              <a:t>solution</a:t>
            </a:r>
            <a:r>
              <a:rPr sz="1800" spc="-35">
                <a:latin typeface="Calibri"/>
                <a:cs typeface="Calibri"/>
              </a:rPr>
              <a:t> </a:t>
            </a:r>
            <a:r>
              <a:rPr sz="1800" spc="-25">
                <a:latin typeface="Calibri"/>
                <a:cs typeface="Calibri"/>
              </a:rPr>
              <a:t>of 	</a:t>
            </a:r>
            <a:r>
              <a:rPr sz="1800">
                <a:latin typeface="Calibri"/>
                <a:cs typeface="Calibri"/>
              </a:rPr>
              <a:t>complex</a:t>
            </a:r>
            <a:r>
              <a:rPr sz="1800" spc="-65">
                <a:latin typeface="Calibri"/>
                <a:cs typeface="Calibri"/>
              </a:rPr>
              <a:t> </a:t>
            </a:r>
            <a:r>
              <a:rPr sz="1800" spc="-10">
                <a:latin typeface="Calibri"/>
                <a:cs typeface="Calibri"/>
              </a:rPr>
              <a:t>engineering</a:t>
            </a:r>
            <a:r>
              <a:rPr sz="1800" spc="-65">
                <a:latin typeface="Calibri"/>
                <a:cs typeface="Calibri"/>
              </a:rPr>
              <a:t> </a:t>
            </a:r>
            <a:r>
              <a:rPr sz="1800" spc="-10">
                <a:latin typeface="Calibri"/>
                <a:cs typeface="Calibri"/>
              </a:rPr>
              <a:t>problems.</a:t>
            </a:r>
            <a:endParaRPr sz="1800">
              <a:latin typeface="Calibri"/>
              <a:cs typeface="Calibri"/>
            </a:endParaRPr>
          </a:p>
          <a:p>
            <a:pPr marL="240029" marR="491490" indent="-193675">
              <a:lnSpc>
                <a:spcPts val="1939"/>
              </a:lnSpc>
              <a:spcBef>
                <a:spcPts val="1010"/>
              </a:spcBef>
              <a:buFont typeface="Arial MT"/>
              <a:buChar char="•"/>
              <a:tabLst>
                <a:tab pos="241300" algn="l"/>
              </a:tabLst>
            </a:pPr>
            <a:r>
              <a:rPr sz="1800">
                <a:latin typeface="Calibri"/>
                <a:cs typeface="Calibri"/>
              </a:rPr>
              <a:t>PO2:</a:t>
            </a:r>
            <a:r>
              <a:rPr sz="1800" spc="-50">
                <a:latin typeface="Calibri"/>
                <a:cs typeface="Calibri"/>
              </a:rPr>
              <a:t> </a:t>
            </a:r>
            <a:r>
              <a:rPr sz="1800">
                <a:latin typeface="Calibri"/>
                <a:cs typeface="Calibri"/>
              </a:rPr>
              <a:t>Problem</a:t>
            </a:r>
            <a:r>
              <a:rPr sz="1800" spc="-50">
                <a:latin typeface="Calibri"/>
                <a:cs typeface="Calibri"/>
              </a:rPr>
              <a:t> </a:t>
            </a:r>
            <a:r>
              <a:rPr sz="1800">
                <a:latin typeface="Calibri"/>
                <a:cs typeface="Calibri"/>
              </a:rPr>
              <a:t>Analysis:</a:t>
            </a:r>
            <a:r>
              <a:rPr sz="1800" spc="-50">
                <a:latin typeface="Calibri"/>
                <a:cs typeface="Calibri"/>
              </a:rPr>
              <a:t> </a:t>
            </a:r>
            <a:r>
              <a:rPr sz="1800" spc="-10">
                <a:latin typeface="Calibri"/>
                <a:cs typeface="Calibri"/>
              </a:rPr>
              <a:t>Identify,</a:t>
            </a:r>
            <a:r>
              <a:rPr sz="1800" spc="-50">
                <a:latin typeface="Calibri"/>
                <a:cs typeface="Calibri"/>
              </a:rPr>
              <a:t> </a:t>
            </a:r>
            <a:r>
              <a:rPr sz="1800" spc="-10">
                <a:latin typeface="Calibri"/>
                <a:cs typeface="Calibri"/>
              </a:rPr>
              <a:t>formulate,</a:t>
            </a:r>
            <a:r>
              <a:rPr sz="1800" spc="-50">
                <a:latin typeface="Calibri"/>
                <a:cs typeface="Calibri"/>
              </a:rPr>
              <a:t> </a:t>
            </a:r>
            <a:r>
              <a:rPr sz="1800">
                <a:latin typeface="Calibri"/>
                <a:cs typeface="Calibri"/>
              </a:rPr>
              <a:t>review</a:t>
            </a:r>
            <a:r>
              <a:rPr sz="1800" spc="-45">
                <a:latin typeface="Calibri"/>
                <a:cs typeface="Calibri"/>
              </a:rPr>
              <a:t> </a:t>
            </a:r>
            <a:r>
              <a:rPr sz="1800" spc="-10">
                <a:latin typeface="Calibri"/>
                <a:cs typeface="Calibri"/>
              </a:rPr>
              <a:t>research</a:t>
            </a:r>
            <a:r>
              <a:rPr sz="1800" spc="-50">
                <a:latin typeface="Calibri"/>
                <a:cs typeface="Calibri"/>
              </a:rPr>
              <a:t> </a:t>
            </a:r>
            <a:r>
              <a:rPr sz="1800" spc="-10">
                <a:latin typeface="Calibri"/>
                <a:cs typeface="Calibri"/>
              </a:rPr>
              <a:t>literature</a:t>
            </a:r>
            <a:r>
              <a:rPr sz="1800" spc="-50">
                <a:latin typeface="Calibri"/>
                <a:cs typeface="Calibri"/>
              </a:rPr>
              <a:t> </a:t>
            </a:r>
            <a:r>
              <a:rPr sz="1800">
                <a:latin typeface="Calibri"/>
                <a:cs typeface="Calibri"/>
              </a:rPr>
              <a:t>and</a:t>
            </a:r>
            <a:r>
              <a:rPr sz="1800" spc="-50">
                <a:latin typeface="Calibri"/>
                <a:cs typeface="Calibri"/>
              </a:rPr>
              <a:t> </a:t>
            </a:r>
            <a:r>
              <a:rPr sz="1800">
                <a:latin typeface="Calibri"/>
                <a:cs typeface="Calibri"/>
              </a:rPr>
              <a:t>analyze</a:t>
            </a:r>
            <a:r>
              <a:rPr sz="1800" spc="-50">
                <a:latin typeface="Calibri"/>
                <a:cs typeface="Calibri"/>
              </a:rPr>
              <a:t> </a:t>
            </a:r>
            <a:r>
              <a:rPr sz="1800">
                <a:latin typeface="Calibri"/>
                <a:cs typeface="Calibri"/>
              </a:rPr>
              <a:t>complex</a:t>
            </a:r>
            <a:r>
              <a:rPr sz="1800" spc="-45">
                <a:latin typeface="Calibri"/>
                <a:cs typeface="Calibri"/>
              </a:rPr>
              <a:t> </a:t>
            </a:r>
            <a:r>
              <a:rPr sz="1800" spc="-10">
                <a:latin typeface="Calibri"/>
                <a:cs typeface="Calibri"/>
              </a:rPr>
              <a:t>engineering</a:t>
            </a:r>
            <a:r>
              <a:rPr sz="1800" spc="-50">
                <a:latin typeface="Calibri"/>
                <a:cs typeface="Calibri"/>
              </a:rPr>
              <a:t> </a:t>
            </a:r>
            <a:r>
              <a:rPr sz="1800" spc="-10">
                <a:latin typeface="Calibri"/>
                <a:cs typeface="Calibri"/>
              </a:rPr>
              <a:t>problems 	</a:t>
            </a:r>
            <a:r>
              <a:rPr sz="1800">
                <a:latin typeface="Calibri"/>
                <a:cs typeface="Calibri"/>
              </a:rPr>
              <a:t>reaching</a:t>
            </a:r>
            <a:r>
              <a:rPr sz="1800" spc="-45">
                <a:latin typeface="Calibri"/>
                <a:cs typeface="Calibri"/>
              </a:rPr>
              <a:t> </a:t>
            </a:r>
            <a:r>
              <a:rPr sz="1800" spc="-10">
                <a:latin typeface="Calibri"/>
                <a:cs typeface="Calibri"/>
              </a:rPr>
              <a:t>substantiated</a:t>
            </a:r>
            <a:r>
              <a:rPr sz="1800" spc="-40">
                <a:latin typeface="Calibri"/>
                <a:cs typeface="Calibri"/>
              </a:rPr>
              <a:t> </a:t>
            </a:r>
            <a:r>
              <a:rPr sz="1800" spc="-10">
                <a:latin typeface="Calibri"/>
                <a:cs typeface="Calibri"/>
              </a:rPr>
              <a:t>conclusions</a:t>
            </a:r>
            <a:r>
              <a:rPr sz="1800" spc="-40">
                <a:latin typeface="Calibri"/>
                <a:cs typeface="Calibri"/>
              </a:rPr>
              <a:t> </a:t>
            </a:r>
            <a:r>
              <a:rPr sz="1800">
                <a:latin typeface="Calibri"/>
                <a:cs typeface="Calibri"/>
              </a:rPr>
              <a:t>with</a:t>
            </a:r>
            <a:r>
              <a:rPr sz="1800" spc="-40">
                <a:latin typeface="Calibri"/>
                <a:cs typeface="Calibri"/>
              </a:rPr>
              <a:t> </a:t>
            </a:r>
            <a:r>
              <a:rPr sz="1800" spc="-10">
                <a:latin typeface="Calibri"/>
                <a:cs typeface="Calibri"/>
              </a:rPr>
              <a:t>consideration</a:t>
            </a:r>
            <a:r>
              <a:rPr sz="1800" spc="-45">
                <a:latin typeface="Calibri"/>
                <a:cs typeface="Calibri"/>
              </a:rPr>
              <a:t> </a:t>
            </a:r>
            <a:r>
              <a:rPr sz="1800">
                <a:latin typeface="Calibri"/>
                <a:cs typeface="Calibri"/>
              </a:rPr>
              <a:t>for</a:t>
            </a:r>
            <a:r>
              <a:rPr sz="1800" spc="-40">
                <a:latin typeface="Calibri"/>
                <a:cs typeface="Calibri"/>
              </a:rPr>
              <a:t> </a:t>
            </a:r>
            <a:r>
              <a:rPr sz="1800" spc="-10">
                <a:latin typeface="Calibri"/>
                <a:cs typeface="Calibri"/>
              </a:rPr>
              <a:t>sustainable</a:t>
            </a:r>
            <a:r>
              <a:rPr sz="1800" spc="-40">
                <a:latin typeface="Calibri"/>
                <a:cs typeface="Calibri"/>
              </a:rPr>
              <a:t> </a:t>
            </a:r>
            <a:r>
              <a:rPr sz="1800" spc="-10">
                <a:latin typeface="Calibri"/>
                <a:cs typeface="Calibri"/>
              </a:rPr>
              <a:t>development.</a:t>
            </a:r>
            <a:r>
              <a:rPr sz="1800" spc="-40">
                <a:latin typeface="Calibri"/>
                <a:cs typeface="Calibri"/>
              </a:rPr>
              <a:t> </a:t>
            </a:r>
            <a:r>
              <a:rPr sz="1800">
                <a:latin typeface="Calibri"/>
                <a:cs typeface="Calibri"/>
              </a:rPr>
              <a:t>(WK1</a:t>
            </a:r>
            <a:r>
              <a:rPr sz="1800" spc="-45">
                <a:latin typeface="Calibri"/>
                <a:cs typeface="Calibri"/>
              </a:rPr>
              <a:t> </a:t>
            </a:r>
            <a:r>
              <a:rPr sz="1800">
                <a:latin typeface="Calibri"/>
                <a:cs typeface="Calibri"/>
              </a:rPr>
              <a:t>to</a:t>
            </a:r>
            <a:r>
              <a:rPr sz="1800" spc="-40">
                <a:latin typeface="Calibri"/>
                <a:cs typeface="Calibri"/>
              </a:rPr>
              <a:t> </a:t>
            </a:r>
            <a:r>
              <a:rPr sz="1800" spc="-20">
                <a:latin typeface="Calibri"/>
                <a:cs typeface="Calibri"/>
              </a:rPr>
              <a:t>WK4)</a:t>
            </a:r>
            <a:endParaRPr sz="1800">
              <a:latin typeface="Calibri"/>
              <a:cs typeface="Calibri"/>
            </a:endParaRPr>
          </a:p>
          <a:p>
            <a:pPr marL="240029" marR="71120" indent="-193675">
              <a:lnSpc>
                <a:spcPts val="1939"/>
              </a:lnSpc>
              <a:spcBef>
                <a:spcPts val="1010"/>
              </a:spcBef>
              <a:buFont typeface="Arial MT"/>
              <a:buChar char="•"/>
              <a:tabLst>
                <a:tab pos="241300" algn="l"/>
              </a:tabLst>
            </a:pPr>
            <a:r>
              <a:rPr sz="1800">
                <a:latin typeface="Calibri"/>
                <a:cs typeface="Calibri"/>
              </a:rPr>
              <a:t>PO3:</a:t>
            </a:r>
            <a:r>
              <a:rPr sz="1800" spc="-50">
                <a:latin typeface="Calibri"/>
                <a:cs typeface="Calibri"/>
              </a:rPr>
              <a:t> </a:t>
            </a:r>
            <a:r>
              <a:rPr sz="1800" spc="-10">
                <a:latin typeface="Calibri"/>
                <a:cs typeface="Calibri"/>
              </a:rPr>
              <a:t>Design/Development</a:t>
            </a:r>
            <a:r>
              <a:rPr sz="1800" spc="-50">
                <a:latin typeface="Calibri"/>
                <a:cs typeface="Calibri"/>
              </a:rPr>
              <a:t> </a:t>
            </a:r>
            <a:r>
              <a:rPr sz="1800">
                <a:latin typeface="Calibri"/>
                <a:cs typeface="Calibri"/>
              </a:rPr>
              <a:t>of</a:t>
            </a:r>
            <a:r>
              <a:rPr sz="1800" spc="-45">
                <a:latin typeface="Calibri"/>
                <a:cs typeface="Calibri"/>
              </a:rPr>
              <a:t> </a:t>
            </a:r>
            <a:r>
              <a:rPr sz="1800" spc="-10">
                <a:latin typeface="Calibri"/>
                <a:cs typeface="Calibri"/>
              </a:rPr>
              <a:t>Solutions:</a:t>
            </a:r>
            <a:r>
              <a:rPr sz="1800" spc="-50">
                <a:latin typeface="Calibri"/>
                <a:cs typeface="Calibri"/>
              </a:rPr>
              <a:t> </a:t>
            </a:r>
            <a:r>
              <a:rPr sz="1800">
                <a:latin typeface="Calibri"/>
                <a:cs typeface="Calibri"/>
              </a:rPr>
              <a:t>Design</a:t>
            </a:r>
            <a:r>
              <a:rPr sz="1800" spc="-50">
                <a:latin typeface="Calibri"/>
                <a:cs typeface="Calibri"/>
              </a:rPr>
              <a:t> </a:t>
            </a:r>
            <a:r>
              <a:rPr sz="1800">
                <a:latin typeface="Calibri"/>
                <a:cs typeface="Calibri"/>
              </a:rPr>
              <a:t>creative</a:t>
            </a:r>
            <a:r>
              <a:rPr sz="1800" spc="-45">
                <a:latin typeface="Calibri"/>
                <a:cs typeface="Calibri"/>
              </a:rPr>
              <a:t> </a:t>
            </a:r>
            <a:r>
              <a:rPr sz="1800">
                <a:latin typeface="Calibri"/>
                <a:cs typeface="Calibri"/>
              </a:rPr>
              <a:t>solutions</a:t>
            </a:r>
            <a:r>
              <a:rPr sz="1800" spc="-50">
                <a:latin typeface="Calibri"/>
                <a:cs typeface="Calibri"/>
              </a:rPr>
              <a:t> </a:t>
            </a:r>
            <a:r>
              <a:rPr sz="1800">
                <a:latin typeface="Calibri"/>
                <a:cs typeface="Calibri"/>
              </a:rPr>
              <a:t>for</a:t>
            </a:r>
            <a:r>
              <a:rPr sz="1800" spc="-45">
                <a:latin typeface="Calibri"/>
                <a:cs typeface="Calibri"/>
              </a:rPr>
              <a:t> </a:t>
            </a:r>
            <a:r>
              <a:rPr sz="1800">
                <a:latin typeface="Calibri"/>
                <a:cs typeface="Calibri"/>
              </a:rPr>
              <a:t>complex</a:t>
            </a:r>
            <a:r>
              <a:rPr sz="1800" spc="-50">
                <a:latin typeface="Calibri"/>
                <a:cs typeface="Calibri"/>
              </a:rPr>
              <a:t> </a:t>
            </a:r>
            <a:r>
              <a:rPr sz="1800" spc="-10">
                <a:latin typeface="Calibri"/>
                <a:cs typeface="Calibri"/>
              </a:rPr>
              <a:t>engineering</a:t>
            </a:r>
            <a:r>
              <a:rPr sz="1800" spc="-50">
                <a:latin typeface="Calibri"/>
                <a:cs typeface="Calibri"/>
              </a:rPr>
              <a:t> </a:t>
            </a:r>
            <a:r>
              <a:rPr sz="1800" spc="-10">
                <a:latin typeface="Calibri"/>
                <a:cs typeface="Calibri"/>
              </a:rPr>
              <a:t>problems</a:t>
            </a:r>
            <a:r>
              <a:rPr sz="1800" spc="-45">
                <a:latin typeface="Calibri"/>
                <a:cs typeface="Calibri"/>
              </a:rPr>
              <a:t> </a:t>
            </a:r>
            <a:r>
              <a:rPr sz="1800" spc="-25">
                <a:latin typeface="Calibri"/>
                <a:cs typeface="Calibri"/>
              </a:rPr>
              <a:t>and 	</a:t>
            </a:r>
            <a:r>
              <a:rPr sz="1800" spc="-10">
                <a:latin typeface="Calibri"/>
                <a:cs typeface="Calibri"/>
              </a:rPr>
              <a:t>design/develop</a:t>
            </a:r>
            <a:r>
              <a:rPr sz="1800" spc="-30">
                <a:latin typeface="Calibri"/>
                <a:cs typeface="Calibri"/>
              </a:rPr>
              <a:t> </a:t>
            </a:r>
            <a:r>
              <a:rPr sz="1800" spc="-20">
                <a:latin typeface="Calibri"/>
                <a:cs typeface="Calibri"/>
              </a:rPr>
              <a:t>systems/components/processes</a:t>
            </a:r>
            <a:r>
              <a:rPr sz="1800" spc="-25">
                <a:latin typeface="Calibri"/>
                <a:cs typeface="Calibri"/>
              </a:rPr>
              <a:t> </a:t>
            </a:r>
            <a:r>
              <a:rPr sz="1800">
                <a:latin typeface="Calibri"/>
                <a:cs typeface="Calibri"/>
              </a:rPr>
              <a:t>to</a:t>
            </a:r>
            <a:r>
              <a:rPr sz="1800" spc="-25">
                <a:latin typeface="Calibri"/>
                <a:cs typeface="Calibri"/>
              </a:rPr>
              <a:t> </a:t>
            </a:r>
            <a:r>
              <a:rPr sz="1800">
                <a:latin typeface="Calibri"/>
                <a:cs typeface="Calibri"/>
              </a:rPr>
              <a:t>meet</a:t>
            </a:r>
            <a:r>
              <a:rPr sz="1800" spc="-25">
                <a:latin typeface="Calibri"/>
                <a:cs typeface="Calibri"/>
              </a:rPr>
              <a:t> </a:t>
            </a:r>
            <a:r>
              <a:rPr sz="1800" spc="-10">
                <a:latin typeface="Calibri"/>
                <a:cs typeface="Calibri"/>
              </a:rPr>
              <a:t>identified</a:t>
            </a:r>
            <a:r>
              <a:rPr sz="1800" spc="-25">
                <a:latin typeface="Calibri"/>
                <a:cs typeface="Calibri"/>
              </a:rPr>
              <a:t> </a:t>
            </a:r>
            <a:r>
              <a:rPr sz="1800">
                <a:latin typeface="Calibri"/>
                <a:cs typeface="Calibri"/>
              </a:rPr>
              <a:t>needs</a:t>
            </a:r>
            <a:r>
              <a:rPr sz="1800" spc="-30">
                <a:latin typeface="Calibri"/>
                <a:cs typeface="Calibri"/>
              </a:rPr>
              <a:t> </a:t>
            </a:r>
            <a:r>
              <a:rPr sz="1800">
                <a:latin typeface="Calibri"/>
                <a:cs typeface="Calibri"/>
              </a:rPr>
              <a:t>with</a:t>
            </a:r>
            <a:r>
              <a:rPr sz="1800" spc="-25">
                <a:latin typeface="Calibri"/>
                <a:cs typeface="Calibri"/>
              </a:rPr>
              <a:t> </a:t>
            </a:r>
            <a:r>
              <a:rPr sz="1800" spc="-10">
                <a:latin typeface="Calibri"/>
                <a:cs typeface="Calibri"/>
              </a:rPr>
              <a:t>consideration</a:t>
            </a:r>
            <a:r>
              <a:rPr sz="1800" spc="-25">
                <a:latin typeface="Calibri"/>
                <a:cs typeface="Calibri"/>
              </a:rPr>
              <a:t> </a:t>
            </a:r>
            <a:r>
              <a:rPr sz="1800">
                <a:latin typeface="Calibri"/>
                <a:cs typeface="Calibri"/>
              </a:rPr>
              <a:t>for</a:t>
            </a:r>
            <a:r>
              <a:rPr sz="1800" spc="-25">
                <a:latin typeface="Calibri"/>
                <a:cs typeface="Calibri"/>
              </a:rPr>
              <a:t> </a:t>
            </a:r>
            <a:r>
              <a:rPr sz="1800">
                <a:latin typeface="Calibri"/>
                <a:cs typeface="Calibri"/>
              </a:rPr>
              <a:t>the</a:t>
            </a:r>
            <a:r>
              <a:rPr sz="1800" spc="-25">
                <a:latin typeface="Calibri"/>
                <a:cs typeface="Calibri"/>
              </a:rPr>
              <a:t> </a:t>
            </a:r>
            <a:r>
              <a:rPr sz="1800">
                <a:latin typeface="Calibri"/>
                <a:cs typeface="Calibri"/>
              </a:rPr>
              <a:t>public</a:t>
            </a:r>
            <a:r>
              <a:rPr sz="1800" spc="-25">
                <a:latin typeface="Calibri"/>
                <a:cs typeface="Calibri"/>
              </a:rPr>
              <a:t> </a:t>
            </a:r>
            <a:r>
              <a:rPr sz="1800">
                <a:latin typeface="Calibri"/>
                <a:cs typeface="Calibri"/>
              </a:rPr>
              <a:t>health</a:t>
            </a:r>
            <a:r>
              <a:rPr sz="1800" spc="-30">
                <a:latin typeface="Calibri"/>
                <a:cs typeface="Calibri"/>
              </a:rPr>
              <a:t> </a:t>
            </a:r>
            <a:r>
              <a:rPr sz="1800" spc="-25">
                <a:latin typeface="Calibri"/>
                <a:cs typeface="Calibri"/>
              </a:rPr>
              <a:t>and 	</a:t>
            </a:r>
            <a:r>
              <a:rPr sz="1800">
                <a:latin typeface="Calibri"/>
                <a:cs typeface="Calibri"/>
              </a:rPr>
              <a:t>safety,</a:t>
            </a:r>
            <a:r>
              <a:rPr sz="1800" spc="-45">
                <a:latin typeface="Calibri"/>
                <a:cs typeface="Calibri"/>
              </a:rPr>
              <a:t> </a:t>
            </a:r>
            <a:r>
              <a:rPr sz="1800" spc="-20">
                <a:latin typeface="Calibri"/>
                <a:cs typeface="Calibri"/>
              </a:rPr>
              <a:t>whole-</a:t>
            </a:r>
            <a:r>
              <a:rPr sz="1800">
                <a:latin typeface="Calibri"/>
                <a:cs typeface="Calibri"/>
              </a:rPr>
              <a:t>life</a:t>
            </a:r>
            <a:r>
              <a:rPr sz="1800" spc="-40">
                <a:latin typeface="Calibri"/>
                <a:cs typeface="Calibri"/>
              </a:rPr>
              <a:t> </a:t>
            </a:r>
            <a:r>
              <a:rPr sz="1800">
                <a:latin typeface="Calibri"/>
                <a:cs typeface="Calibri"/>
              </a:rPr>
              <a:t>cost,</a:t>
            </a:r>
            <a:r>
              <a:rPr sz="1800" spc="-40">
                <a:latin typeface="Calibri"/>
                <a:cs typeface="Calibri"/>
              </a:rPr>
              <a:t> </a:t>
            </a:r>
            <a:r>
              <a:rPr sz="1800">
                <a:latin typeface="Calibri"/>
                <a:cs typeface="Calibri"/>
              </a:rPr>
              <a:t>net</a:t>
            </a:r>
            <a:r>
              <a:rPr sz="1800" spc="-40">
                <a:latin typeface="Calibri"/>
                <a:cs typeface="Calibri"/>
              </a:rPr>
              <a:t> </a:t>
            </a:r>
            <a:r>
              <a:rPr sz="1800">
                <a:latin typeface="Calibri"/>
                <a:cs typeface="Calibri"/>
              </a:rPr>
              <a:t>zero</a:t>
            </a:r>
            <a:r>
              <a:rPr sz="1800" spc="-40">
                <a:latin typeface="Calibri"/>
                <a:cs typeface="Calibri"/>
              </a:rPr>
              <a:t> </a:t>
            </a:r>
            <a:r>
              <a:rPr sz="1800">
                <a:latin typeface="Calibri"/>
                <a:cs typeface="Calibri"/>
              </a:rPr>
              <a:t>carbon,</a:t>
            </a:r>
            <a:r>
              <a:rPr sz="1800" spc="-45">
                <a:latin typeface="Calibri"/>
                <a:cs typeface="Calibri"/>
              </a:rPr>
              <a:t> </a:t>
            </a:r>
            <a:r>
              <a:rPr sz="1800">
                <a:latin typeface="Calibri"/>
                <a:cs typeface="Calibri"/>
              </a:rPr>
              <a:t>culture,</a:t>
            </a:r>
            <a:r>
              <a:rPr sz="1800" spc="-40">
                <a:latin typeface="Calibri"/>
                <a:cs typeface="Calibri"/>
              </a:rPr>
              <a:t> </a:t>
            </a:r>
            <a:r>
              <a:rPr sz="1800">
                <a:latin typeface="Calibri"/>
                <a:cs typeface="Calibri"/>
              </a:rPr>
              <a:t>society</a:t>
            </a:r>
            <a:r>
              <a:rPr sz="1800" spc="-40">
                <a:latin typeface="Calibri"/>
                <a:cs typeface="Calibri"/>
              </a:rPr>
              <a:t> </a:t>
            </a:r>
            <a:r>
              <a:rPr sz="1800">
                <a:latin typeface="Calibri"/>
                <a:cs typeface="Calibri"/>
              </a:rPr>
              <a:t>and</a:t>
            </a:r>
            <a:r>
              <a:rPr sz="1800" spc="-40">
                <a:latin typeface="Calibri"/>
                <a:cs typeface="Calibri"/>
              </a:rPr>
              <a:t> </a:t>
            </a:r>
            <a:r>
              <a:rPr sz="1800" spc="-10">
                <a:latin typeface="Calibri"/>
                <a:cs typeface="Calibri"/>
              </a:rPr>
              <a:t>environment</a:t>
            </a:r>
            <a:r>
              <a:rPr sz="1800" spc="-40">
                <a:latin typeface="Calibri"/>
                <a:cs typeface="Calibri"/>
              </a:rPr>
              <a:t> </a:t>
            </a:r>
            <a:r>
              <a:rPr sz="1800">
                <a:latin typeface="Calibri"/>
                <a:cs typeface="Calibri"/>
              </a:rPr>
              <a:t>as</a:t>
            </a:r>
            <a:r>
              <a:rPr sz="1800" spc="-45">
                <a:latin typeface="Calibri"/>
                <a:cs typeface="Calibri"/>
              </a:rPr>
              <a:t> </a:t>
            </a:r>
            <a:r>
              <a:rPr sz="1800" spc="-10">
                <a:latin typeface="Calibri"/>
                <a:cs typeface="Calibri"/>
              </a:rPr>
              <a:t>required.</a:t>
            </a:r>
            <a:r>
              <a:rPr sz="1800" spc="-40">
                <a:latin typeface="Calibri"/>
                <a:cs typeface="Calibri"/>
              </a:rPr>
              <a:t> </a:t>
            </a:r>
            <a:r>
              <a:rPr sz="1800" spc="-10">
                <a:latin typeface="Calibri"/>
                <a:cs typeface="Calibri"/>
              </a:rPr>
              <a:t>(WK5)</a:t>
            </a:r>
            <a:endParaRPr sz="1800">
              <a:latin typeface="Calibri"/>
              <a:cs typeface="Calibri"/>
            </a:endParaRPr>
          </a:p>
          <a:p>
            <a:pPr marL="240029" marR="370840" indent="-193675">
              <a:lnSpc>
                <a:spcPts val="1939"/>
              </a:lnSpc>
              <a:spcBef>
                <a:spcPts val="1010"/>
              </a:spcBef>
              <a:buFont typeface="Arial MT"/>
              <a:buChar char="•"/>
              <a:tabLst>
                <a:tab pos="241300" algn="l"/>
              </a:tabLst>
            </a:pPr>
            <a:r>
              <a:rPr sz="1800">
                <a:latin typeface="Calibri"/>
                <a:cs typeface="Calibri"/>
              </a:rPr>
              <a:t>PO4:</a:t>
            </a:r>
            <a:r>
              <a:rPr sz="1800" spc="-60">
                <a:latin typeface="Calibri"/>
                <a:cs typeface="Calibri"/>
              </a:rPr>
              <a:t> </a:t>
            </a:r>
            <a:r>
              <a:rPr sz="1800">
                <a:latin typeface="Calibri"/>
                <a:cs typeface="Calibri"/>
              </a:rPr>
              <a:t>Conduct</a:t>
            </a:r>
            <a:r>
              <a:rPr sz="1800" spc="-55">
                <a:latin typeface="Calibri"/>
                <a:cs typeface="Calibri"/>
              </a:rPr>
              <a:t> </a:t>
            </a:r>
            <a:r>
              <a:rPr sz="1800">
                <a:latin typeface="Calibri"/>
                <a:cs typeface="Calibri"/>
              </a:rPr>
              <a:t>Investigations</a:t>
            </a:r>
            <a:r>
              <a:rPr sz="1800" spc="-60">
                <a:latin typeface="Calibri"/>
                <a:cs typeface="Calibri"/>
              </a:rPr>
              <a:t> </a:t>
            </a:r>
            <a:r>
              <a:rPr sz="1800">
                <a:latin typeface="Calibri"/>
                <a:cs typeface="Calibri"/>
              </a:rPr>
              <a:t>of</a:t>
            </a:r>
            <a:r>
              <a:rPr sz="1800" spc="-55">
                <a:latin typeface="Calibri"/>
                <a:cs typeface="Calibri"/>
              </a:rPr>
              <a:t> </a:t>
            </a:r>
            <a:r>
              <a:rPr sz="1800">
                <a:latin typeface="Calibri"/>
                <a:cs typeface="Calibri"/>
              </a:rPr>
              <a:t>Complex</a:t>
            </a:r>
            <a:r>
              <a:rPr sz="1800" spc="-60">
                <a:latin typeface="Calibri"/>
                <a:cs typeface="Calibri"/>
              </a:rPr>
              <a:t> </a:t>
            </a:r>
            <a:r>
              <a:rPr sz="1800" spc="-10">
                <a:latin typeface="Calibri"/>
                <a:cs typeface="Calibri"/>
              </a:rPr>
              <a:t>Problems:</a:t>
            </a:r>
            <a:r>
              <a:rPr sz="1800" spc="-55">
                <a:latin typeface="Calibri"/>
                <a:cs typeface="Calibri"/>
              </a:rPr>
              <a:t> </a:t>
            </a:r>
            <a:r>
              <a:rPr sz="1800">
                <a:latin typeface="Calibri"/>
                <a:cs typeface="Calibri"/>
              </a:rPr>
              <a:t>Conduct</a:t>
            </a:r>
            <a:r>
              <a:rPr sz="1800" spc="-60">
                <a:latin typeface="Calibri"/>
                <a:cs typeface="Calibri"/>
              </a:rPr>
              <a:t> </a:t>
            </a:r>
            <a:r>
              <a:rPr sz="1800">
                <a:latin typeface="Calibri"/>
                <a:cs typeface="Calibri"/>
              </a:rPr>
              <a:t>investigations</a:t>
            </a:r>
            <a:r>
              <a:rPr sz="1800" spc="-55">
                <a:latin typeface="Calibri"/>
                <a:cs typeface="Calibri"/>
              </a:rPr>
              <a:t> </a:t>
            </a:r>
            <a:r>
              <a:rPr sz="1800">
                <a:latin typeface="Calibri"/>
                <a:cs typeface="Calibri"/>
              </a:rPr>
              <a:t>of</a:t>
            </a:r>
            <a:r>
              <a:rPr sz="1800" spc="-60">
                <a:latin typeface="Calibri"/>
                <a:cs typeface="Calibri"/>
              </a:rPr>
              <a:t> </a:t>
            </a:r>
            <a:r>
              <a:rPr sz="1800">
                <a:latin typeface="Calibri"/>
                <a:cs typeface="Calibri"/>
              </a:rPr>
              <a:t>complex</a:t>
            </a:r>
            <a:r>
              <a:rPr sz="1800" spc="-55">
                <a:latin typeface="Calibri"/>
                <a:cs typeface="Calibri"/>
              </a:rPr>
              <a:t> </a:t>
            </a:r>
            <a:r>
              <a:rPr sz="1800" spc="-10">
                <a:latin typeface="Calibri"/>
                <a:cs typeface="Calibri"/>
              </a:rPr>
              <a:t>engineering</a:t>
            </a:r>
            <a:r>
              <a:rPr sz="1800" spc="-60">
                <a:latin typeface="Calibri"/>
                <a:cs typeface="Calibri"/>
              </a:rPr>
              <a:t> </a:t>
            </a:r>
            <a:r>
              <a:rPr sz="1800" spc="-10">
                <a:latin typeface="Calibri"/>
                <a:cs typeface="Calibri"/>
              </a:rPr>
              <a:t>problems</a:t>
            </a:r>
            <a:r>
              <a:rPr sz="1800" spc="-55">
                <a:latin typeface="Calibri"/>
                <a:cs typeface="Calibri"/>
              </a:rPr>
              <a:t> </a:t>
            </a:r>
            <a:r>
              <a:rPr sz="1800" spc="-10">
                <a:latin typeface="Calibri"/>
                <a:cs typeface="Calibri"/>
              </a:rPr>
              <a:t>using 	</a:t>
            </a:r>
            <a:r>
              <a:rPr sz="1800" spc="-20">
                <a:latin typeface="Calibri"/>
                <a:cs typeface="Calibri"/>
              </a:rPr>
              <a:t>research-</a:t>
            </a:r>
            <a:r>
              <a:rPr sz="1800">
                <a:latin typeface="Calibri"/>
                <a:cs typeface="Calibri"/>
              </a:rPr>
              <a:t>based</a:t>
            </a:r>
            <a:r>
              <a:rPr sz="1800" spc="-30">
                <a:latin typeface="Calibri"/>
                <a:cs typeface="Calibri"/>
              </a:rPr>
              <a:t> </a:t>
            </a:r>
            <a:r>
              <a:rPr sz="1800" spc="-10">
                <a:latin typeface="Calibri"/>
                <a:cs typeface="Calibri"/>
              </a:rPr>
              <a:t>knowledge</a:t>
            </a:r>
            <a:r>
              <a:rPr sz="1800" spc="-30">
                <a:latin typeface="Calibri"/>
                <a:cs typeface="Calibri"/>
              </a:rPr>
              <a:t> </a:t>
            </a:r>
            <a:r>
              <a:rPr sz="1800" spc="-10">
                <a:latin typeface="Calibri"/>
                <a:cs typeface="Calibri"/>
              </a:rPr>
              <a:t>including</a:t>
            </a:r>
            <a:r>
              <a:rPr sz="1800" spc="-30">
                <a:latin typeface="Calibri"/>
                <a:cs typeface="Calibri"/>
              </a:rPr>
              <a:t> </a:t>
            </a:r>
            <a:r>
              <a:rPr sz="1800">
                <a:latin typeface="Calibri"/>
                <a:cs typeface="Calibri"/>
              </a:rPr>
              <a:t>design</a:t>
            </a:r>
            <a:r>
              <a:rPr sz="1800" spc="-30">
                <a:latin typeface="Calibri"/>
                <a:cs typeface="Calibri"/>
              </a:rPr>
              <a:t> </a:t>
            </a:r>
            <a:r>
              <a:rPr sz="1800">
                <a:latin typeface="Calibri"/>
                <a:cs typeface="Calibri"/>
              </a:rPr>
              <a:t>of</a:t>
            </a:r>
            <a:r>
              <a:rPr sz="1800" spc="-25">
                <a:latin typeface="Calibri"/>
                <a:cs typeface="Calibri"/>
              </a:rPr>
              <a:t> </a:t>
            </a:r>
            <a:r>
              <a:rPr sz="1800" spc="-10">
                <a:latin typeface="Calibri"/>
                <a:cs typeface="Calibri"/>
              </a:rPr>
              <a:t>experiments,</a:t>
            </a:r>
            <a:r>
              <a:rPr sz="1800" spc="-30">
                <a:latin typeface="Calibri"/>
                <a:cs typeface="Calibri"/>
              </a:rPr>
              <a:t> </a:t>
            </a:r>
            <a:r>
              <a:rPr sz="1800" spc="-10">
                <a:latin typeface="Calibri"/>
                <a:cs typeface="Calibri"/>
              </a:rPr>
              <a:t>modelling,</a:t>
            </a:r>
            <a:r>
              <a:rPr sz="1800" spc="-30">
                <a:latin typeface="Calibri"/>
                <a:cs typeface="Calibri"/>
              </a:rPr>
              <a:t> </a:t>
            </a:r>
            <a:r>
              <a:rPr sz="1800">
                <a:latin typeface="Calibri"/>
                <a:cs typeface="Calibri"/>
              </a:rPr>
              <a:t>analysis</a:t>
            </a:r>
            <a:r>
              <a:rPr sz="1800" spc="-30">
                <a:latin typeface="Calibri"/>
                <a:cs typeface="Calibri"/>
              </a:rPr>
              <a:t> </a:t>
            </a:r>
            <a:r>
              <a:rPr sz="1800">
                <a:latin typeface="Calibri"/>
                <a:cs typeface="Calibri"/>
              </a:rPr>
              <a:t>&amp;</a:t>
            </a:r>
            <a:r>
              <a:rPr sz="1800" spc="-30">
                <a:latin typeface="Calibri"/>
                <a:cs typeface="Calibri"/>
              </a:rPr>
              <a:t> </a:t>
            </a:r>
            <a:r>
              <a:rPr sz="1800" spc="-10">
                <a:latin typeface="Calibri"/>
                <a:cs typeface="Calibri"/>
              </a:rPr>
              <a:t>interpretation</a:t>
            </a:r>
            <a:r>
              <a:rPr sz="1800" spc="-25">
                <a:latin typeface="Calibri"/>
                <a:cs typeface="Calibri"/>
              </a:rPr>
              <a:t> </a:t>
            </a:r>
            <a:r>
              <a:rPr sz="1800">
                <a:latin typeface="Calibri"/>
                <a:cs typeface="Calibri"/>
              </a:rPr>
              <a:t>of</a:t>
            </a:r>
            <a:r>
              <a:rPr sz="1800" spc="-30">
                <a:latin typeface="Calibri"/>
                <a:cs typeface="Calibri"/>
              </a:rPr>
              <a:t> </a:t>
            </a:r>
            <a:r>
              <a:rPr sz="1800">
                <a:latin typeface="Calibri"/>
                <a:cs typeface="Calibri"/>
              </a:rPr>
              <a:t>data</a:t>
            </a:r>
            <a:r>
              <a:rPr sz="1800" spc="-30">
                <a:latin typeface="Calibri"/>
                <a:cs typeface="Calibri"/>
              </a:rPr>
              <a:t> </a:t>
            </a:r>
            <a:r>
              <a:rPr sz="1800">
                <a:latin typeface="Calibri"/>
                <a:cs typeface="Calibri"/>
              </a:rPr>
              <a:t>to</a:t>
            </a:r>
            <a:r>
              <a:rPr sz="1800" spc="-30">
                <a:latin typeface="Calibri"/>
                <a:cs typeface="Calibri"/>
              </a:rPr>
              <a:t> </a:t>
            </a:r>
            <a:r>
              <a:rPr sz="1800" spc="-10">
                <a:latin typeface="Calibri"/>
                <a:cs typeface="Calibri"/>
              </a:rPr>
              <a:t>provide 	</a:t>
            </a:r>
            <a:r>
              <a:rPr sz="1800">
                <a:latin typeface="Calibri"/>
                <a:cs typeface="Calibri"/>
              </a:rPr>
              <a:t>valid</a:t>
            </a:r>
            <a:r>
              <a:rPr sz="1800" spc="-45">
                <a:latin typeface="Calibri"/>
                <a:cs typeface="Calibri"/>
              </a:rPr>
              <a:t> </a:t>
            </a:r>
            <a:r>
              <a:rPr sz="1800" spc="-10">
                <a:latin typeface="Calibri"/>
                <a:cs typeface="Calibri"/>
              </a:rPr>
              <a:t>conclusions.</a:t>
            </a:r>
            <a:r>
              <a:rPr sz="1800" spc="-45">
                <a:latin typeface="Calibri"/>
                <a:cs typeface="Calibri"/>
              </a:rPr>
              <a:t> </a:t>
            </a:r>
            <a:r>
              <a:rPr sz="1800" spc="-10">
                <a:latin typeface="Calibri"/>
                <a:cs typeface="Calibri"/>
              </a:rPr>
              <a:t>(WK8).</a:t>
            </a:r>
            <a:endParaRPr sz="1800">
              <a:latin typeface="Calibri"/>
              <a:cs typeface="Calibri"/>
            </a:endParaRPr>
          </a:p>
          <a:p>
            <a:pPr marL="240029" marR="5080" indent="-193675">
              <a:lnSpc>
                <a:spcPts val="1939"/>
              </a:lnSpc>
              <a:spcBef>
                <a:spcPts val="1015"/>
              </a:spcBef>
              <a:buFont typeface="Arial MT"/>
              <a:buChar char="•"/>
              <a:tabLst>
                <a:tab pos="241300" algn="l"/>
              </a:tabLst>
            </a:pPr>
            <a:r>
              <a:rPr sz="1800">
                <a:latin typeface="Calibri"/>
                <a:cs typeface="Calibri"/>
              </a:rPr>
              <a:t>PO5:</a:t>
            </a:r>
            <a:r>
              <a:rPr sz="1800" spc="-45">
                <a:latin typeface="Calibri"/>
                <a:cs typeface="Calibri"/>
              </a:rPr>
              <a:t> </a:t>
            </a:r>
            <a:r>
              <a:rPr sz="1800" spc="-10">
                <a:latin typeface="Calibri"/>
                <a:cs typeface="Calibri"/>
              </a:rPr>
              <a:t>Engineering</a:t>
            </a:r>
            <a:r>
              <a:rPr sz="1800" spc="-50">
                <a:latin typeface="Calibri"/>
                <a:cs typeface="Calibri"/>
              </a:rPr>
              <a:t> </a:t>
            </a:r>
            <a:r>
              <a:rPr sz="1800">
                <a:latin typeface="Calibri"/>
                <a:cs typeface="Calibri"/>
              </a:rPr>
              <a:t>Tool</a:t>
            </a:r>
            <a:r>
              <a:rPr sz="1800" spc="-45">
                <a:latin typeface="Calibri"/>
                <a:cs typeface="Calibri"/>
              </a:rPr>
              <a:t> </a:t>
            </a:r>
            <a:r>
              <a:rPr sz="1800">
                <a:latin typeface="Calibri"/>
                <a:cs typeface="Calibri"/>
              </a:rPr>
              <a:t>Usage:</a:t>
            </a:r>
            <a:r>
              <a:rPr sz="1800" spc="-45">
                <a:latin typeface="Calibri"/>
                <a:cs typeface="Calibri"/>
              </a:rPr>
              <a:t> </a:t>
            </a:r>
            <a:r>
              <a:rPr sz="1800">
                <a:latin typeface="Calibri"/>
                <a:cs typeface="Calibri"/>
              </a:rPr>
              <a:t>Create,</a:t>
            </a:r>
            <a:r>
              <a:rPr sz="1800" spc="-45">
                <a:latin typeface="Calibri"/>
                <a:cs typeface="Calibri"/>
              </a:rPr>
              <a:t> </a:t>
            </a:r>
            <a:r>
              <a:rPr sz="1800">
                <a:latin typeface="Calibri"/>
                <a:cs typeface="Calibri"/>
              </a:rPr>
              <a:t>select</a:t>
            </a:r>
            <a:r>
              <a:rPr sz="1800" spc="-45">
                <a:latin typeface="Calibri"/>
                <a:cs typeface="Calibri"/>
              </a:rPr>
              <a:t> </a:t>
            </a:r>
            <a:r>
              <a:rPr sz="1800">
                <a:latin typeface="Calibri"/>
                <a:cs typeface="Calibri"/>
              </a:rPr>
              <a:t>and</a:t>
            </a:r>
            <a:r>
              <a:rPr sz="1800" spc="-45">
                <a:latin typeface="Calibri"/>
                <a:cs typeface="Calibri"/>
              </a:rPr>
              <a:t> </a:t>
            </a:r>
            <a:r>
              <a:rPr sz="1800">
                <a:latin typeface="Calibri"/>
                <a:cs typeface="Calibri"/>
              </a:rPr>
              <a:t>apply</a:t>
            </a:r>
            <a:r>
              <a:rPr sz="1800" spc="-45">
                <a:latin typeface="Calibri"/>
                <a:cs typeface="Calibri"/>
              </a:rPr>
              <a:t> </a:t>
            </a:r>
            <a:r>
              <a:rPr sz="1800" spc="-10">
                <a:latin typeface="Calibri"/>
                <a:cs typeface="Calibri"/>
              </a:rPr>
              <a:t>appropriate</a:t>
            </a:r>
            <a:r>
              <a:rPr sz="1800" spc="-45">
                <a:latin typeface="Calibri"/>
                <a:cs typeface="Calibri"/>
              </a:rPr>
              <a:t> </a:t>
            </a:r>
            <a:r>
              <a:rPr sz="1800" spc="-10">
                <a:latin typeface="Calibri"/>
                <a:cs typeface="Calibri"/>
              </a:rPr>
              <a:t>techniques,</a:t>
            </a:r>
            <a:r>
              <a:rPr sz="1800" spc="-45">
                <a:latin typeface="Calibri"/>
                <a:cs typeface="Calibri"/>
              </a:rPr>
              <a:t> </a:t>
            </a:r>
            <a:r>
              <a:rPr sz="1800" spc="-10">
                <a:latin typeface="Calibri"/>
                <a:cs typeface="Calibri"/>
              </a:rPr>
              <a:t>resources</a:t>
            </a:r>
            <a:r>
              <a:rPr sz="1800" spc="-45">
                <a:latin typeface="Calibri"/>
                <a:cs typeface="Calibri"/>
              </a:rPr>
              <a:t> </a:t>
            </a:r>
            <a:r>
              <a:rPr sz="1800">
                <a:latin typeface="Calibri"/>
                <a:cs typeface="Calibri"/>
              </a:rPr>
              <a:t>and</a:t>
            </a:r>
            <a:r>
              <a:rPr sz="1800" spc="-45">
                <a:latin typeface="Calibri"/>
                <a:cs typeface="Calibri"/>
              </a:rPr>
              <a:t> </a:t>
            </a:r>
            <a:r>
              <a:rPr sz="1800">
                <a:latin typeface="Calibri"/>
                <a:cs typeface="Calibri"/>
              </a:rPr>
              <a:t>modern</a:t>
            </a:r>
            <a:r>
              <a:rPr sz="1800" spc="-45">
                <a:latin typeface="Calibri"/>
                <a:cs typeface="Calibri"/>
              </a:rPr>
              <a:t> </a:t>
            </a:r>
            <a:r>
              <a:rPr sz="1800" spc="-10">
                <a:latin typeface="Calibri"/>
                <a:cs typeface="Calibri"/>
              </a:rPr>
              <a:t>engineering</a:t>
            </a:r>
            <a:r>
              <a:rPr sz="1800" spc="-45">
                <a:latin typeface="Calibri"/>
                <a:cs typeface="Calibri"/>
              </a:rPr>
              <a:t> </a:t>
            </a:r>
            <a:r>
              <a:rPr sz="1800">
                <a:latin typeface="Calibri"/>
                <a:cs typeface="Calibri"/>
              </a:rPr>
              <a:t>&amp;</a:t>
            </a:r>
            <a:r>
              <a:rPr sz="1800" spc="-45">
                <a:latin typeface="Calibri"/>
                <a:cs typeface="Calibri"/>
              </a:rPr>
              <a:t> </a:t>
            </a:r>
            <a:r>
              <a:rPr sz="1800" spc="-25">
                <a:latin typeface="Calibri"/>
                <a:cs typeface="Calibri"/>
              </a:rPr>
              <a:t>IT 	</a:t>
            </a:r>
            <a:r>
              <a:rPr sz="1800">
                <a:latin typeface="Calibri"/>
                <a:cs typeface="Calibri"/>
              </a:rPr>
              <a:t>tools,</a:t>
            </a:r>
            <a:r>
              <a:rPr sz="1800" spc="-40">
                <a:latin typeface="Calibri"/>
                <a:cs typeface="Calibri"/>
              </a:rPr>
              <a:t> </a:t>
            </a:r>
            <a:r>
              <a:rPr sz="1800" spc="-10">
                <a:latin typeface="Calibri"/>
                <a:cs typeface="Calibri"/>
              </a:rPr>
              <a:t>including</a:t>
            </a:r>
            <a:r>
              <a:rPr sz="1800" spc="-35">
                <a:latin typeface="Calibri"/>
                <a:cs typeface="Calibri"/>
              </a:rPr>
              <a:t> </a:t>
            </a:r>
            <a:r>
              <a:rPr sz="1800" spc="-10">
                <a:latin typeface="Calibri"/>
                <a:cs typeface="Calibri"/>
              </a:rPr>
              <a:t>prediction</a:t>
            </a:r>
            <a:r>
              <a:rPr sz="1800" spc="-40">
                <a:latin typeface="Calibri"/>
                <a:cs typeface="Calibri"/>
              </a:rPr>
              <a:t> </a:t>
            </a:r>
            <a:r>
              <a:rPr sz="1800">
                <a:latin typeface="Calibri"/>
                <a:cs typeface="Calibri"/>
              </a:rPr>
              <a:t>and</a:t>
            </a:r>
            <a:r>
              <a:rPr sz="1800" spc="-35">
                <a:latin typeface="Calibri"/>
                <a:cs typeface="Calibri"/>
              </a:rPr>
              <a:t> </a:t>
            </a:r>
            <a:r>
              <a:rPr sz="1800" spc="-10">
                <a:latin typeface="Calibri"/>
                <a:cs typeface="Calibri"/>
              </a:rPr>
              <a:t>modelling</a:t>
            </a:r>
            <a:r>
              <a:rPr sz="1800" spc="-40">
                <a:latin typeface="Calibri"/>
                <a:cs typeface="Calibri"/>
              </a:rPr>
              <a:t> </a:t>
            </a:r>
            <a:r>
              <a:rPr sz="1800" spc="-10">
                <a:latin typeface="Calibri"/>
                <a:cs typeface="Calibri"/>
              </a:rPr>
              <a:t>recognizing</a:t>
            </a:r>
            <a:r>
              <a:rPr sz="1800" spc="-35">
                <a:latin typeface="Calibri"/>
                <a:cs typeface="Calibri"/>
              </a:rPr>
              <a:t> </a:t>
            </a:r>
            <a:r>
              <a:rPr sz="1800">
                <a:latin typeface="Calibri"/>
                <a:cs typeface="Calibri"/>
              </a:rPr>
              <a:t>their</a:t>
            </a:r>
            <a:r>
              <a:rPr sz="1800" spc="-40">
                <a:latin typeface="Calibri"/>
                <a:cs typeface="Calibri"/>
              </a:rPr>
              <a:t> </a:t>
            </a:r>
            <a:r>
              <a:rPr sz="1800">
                <a:latin typeface="Calibri"/>
                <a:cs typeface="Calibri"/>
              </a:rPr>
              <a:t>limitations</a:t>
            </a:r>
            <a:r>
              <a:rPr sz="1800" spc="-35">
                <a:latin typeface="Calibri"/>
                <a:cs typeface="Calibri"/>
              </a:rPr>
              <a:t> </a:t>
            </a:r>
            <a:r>
              <a:rPr sz="1800">
                <a:latin typeface="Calibri"/>
                <a:cs typeface="Calibri"/>
              </a:rPr>
              <a:t>to</a:t>
            </a:r>
            <a:r>
              <a:rPr sz="1800" spc="-35">
                <a:latin typeface="Calibri"/>
                <a:cs typeface="Calibri"/>
              </a:rPr>
              <a:t> </a:t>
            </a:r>
            <a:r>
              <a:rPr sz="1800">
                <a:latin typeface="Calibri"/>
                <a:cs typeface="Calibri"/>
              </a:rPr>
              <a:t>solve</a:t>
            </a:r>
            <a:r>
              <a:rPr sz="1800" spc="-40">
                <a:latin typeface="Calibri"/>
                <a:cs typeface="Calibri"/>
              </a:rPr>
              <a:t> </a:t>
            </a:r>
            <a:r>
              <a:rPr sz="1800">
                <a:latin typeface="Calibri"/>
                <a:cs typeface="Calibri"/>
              </a:rPr>
              <a:t>complex</a:t>
            </a:r>
            <a:r>
              <a:rPr sz="1800" spc="-35">
                <a:latin typeface="Calibri"/>
                <a:cs typeface="Calibri"/>
              </a:rPr>
              <a:t> </a:t>
            </a:r>
            <a:r>
              <a:rPr sz="1800" spc="-10">
                <a:latin typeface="Calibri"/>
                <a:cs typeface="Calibri"/>
              </a:rPr>
              <a:t>engineering</a:t>
            </a:r>
            <a:r>
              <a:rPr sz="1800" spc="-40">
                <a:latin typeface="Calibri"/>
                <a:cs typeface="Calibri"/>
              </a:rPr>
              <a:t> </a:t>
            </a:r>
            <a:r>
              <a:rPr sz="1800" spc="-10">
                <a:latin typeface="Calibri"/>
                <a:cs typeface="Calibri"/>
              </a:rPr>
              <a:t>problems.</a:t>
            </a:r>
            <a:r>
              <a:rPr sz="1800" spc="-35">
                <a:latin typeface="Calibri"/>
                <a:cs typeface="Calibri"/>
              </a:rPr>
              <a:t> </a:t>
            </a:r>
            <a:r>
              <a:rPr sz="1800" spc="-20">
                <a:latin typeface="Calibri"/>
                <a:cs typeface="Calibri"/>
              </a:rPr>
              <a:t>(WK2</a:t>
            </a:r>
            <a:r>
              <a:rPr sz="1800" spc="500">
                <a:latin typeface="Calibri"/>
                <a:cs typeface="Calibri"/>
              </a:rPr>
              <a:t> 	</a:t>
            </a:r>
            <a:r>
              <a:rPr sz="1800">
                <a:latin typeface="Calibri"/>
                <a:cs typeface="Calibri"/>
              </a:rPr>
              <a:t>and</a:t>
            </a:r>
            <a:r>
              <a:rPr sz="1800" spc="-45">
                <a:latin typeface="Calibri"/>
                <a:cs typeface="Calibri"/>
              </a:rPr>
              <a:t> </a:t>
            </a:r>
            <a:r>
              <a:rPr sz="1800" spc="-20">
                <a:latin typeface="Calibri"/>
                <a:cs typeface="Calibri"/>
              </a:rPr>
              <a:t>WK6)</a:t>
            </a:r>
            <a:endParaRPr sz="1800">
              <a:latin typeface="Calibri"/>
              <a:cs typeface="Calibri"/>
            </a:endParaRPr>
          </a:p>
          <a:p>
            <a:pPr marL="240029" marR="381635" indent="-193675">
              <a:lnSpc>
                <a:spcPts val="1939"/>
              </a:lnSpc>
              <a:spcBef>
                <a:spcPts val="1010"/>
              </a:spcBef>
              <a:buFont typeface="Arial MT"/>
              <a:buChar char="•"/>
              <a:tabLst>
                <a:tab pos="241300" algn="l"/>
              </a:tabLst>
            </a:pPr>
            <a:r>
              <a:rPr sz="1800">
                <a:latin typeface="Calibri"/>
                <a:cs typeface="Calibri"/>
              </a:rPr>
              <a:t>PO6:</a:t>
            </a:r>
            <a:r>
              <a:rPr sz="1800" spc="-55">
                <a:latin typeface="Calibri"/>
                <a:cs typeface="Calibri"/>
              </a:rPr>
              <a:t> </a:t>
            </a:r>
            <a:r>
              <a:rPr sz="1800">
                <a:latin typeface="Calibri"/>
                <a:cs typeface="Calibri"/>
              </a:rPr>
              <a:t>The</a:t>
            </a:r>
            <a:r>
              <a:rPr sz="1800" spc="-55">
                <a:latin typeface="Calibri"/>
                <a:cs typeface="Calibri"/>
              </a:rPr>
              <a:t> </a:t>
            </a:r>
            <a:r>
              <a:rPr sz="1800" spc="-10">
                <a:latin typeface="Calibri"/>
                <a:cs typeface="Calibri"/>
              </a:rPr>
              <a:t>Engineer</a:t>
            </a:r>
            <a:r>
              <a:rPr sz="1800" spc="-50">
                <a:latin typeface="Calibri"/>
                <a:cs typeface="Calibri"/>
              </a:rPr>
              <a:t> </a:t>
            </a:r>
            <a:r>
              <a:rPr sz="1800">
                <a:latin typeface="Calibri"/>
                <a:cs typeface="Calibri"/>
              </a:rPr>
              <a:t>and</a:t>
            </a:r>
            <a:r>
              <a:rPr sz="1800" spc="-55">
                <a:latin typeface="Calibri"/>
                <a:cs typeface="Calibri"/>
              </a:rPr>
              <a:t> </a:t>
            </a:r>
            <a:r>
              <a:rPr sz="1800">
                <a:latin typeface="Calibri"/>
                <a:cs typeface="Calibri"/>
              </a:rPr>
              <a:t>The</a:t>
            </a:r>
            <a:r>
              <a:rPr sz="1800" spc="-55">
                <a:latin typeface="Calibri"/>
                <a:cs typeface="Calibri"/>
              </a:rPr>
              <a:t> </a:t>
            </a:r>
            <a:r>
              <a:rPr sz="1800">
                <a:latin typeface="Calibri"/>
                <a:cs typeface="Calibri"/>
              </a:rPr>
              <a:t>World:</a:t>
            </a:r>
            <a:r>
              <a:rPr sz="1800" spc="-55">
                <a:latin typeface="Calibri"/>
                <a:cs typeface="Calibri"/>
              </a:rPr>
              <a:t> </a:t>
            </a:r>
            <a:r>
              <a:rPr sz="1800">
                <a:latin typeface="Calibri"/>
                <a:cs typeface="Calibri"/>
              </a:rPr>
              <a:t>Analyze</a:t>
            </a:r>
            <a:r>
              <a:rPr sz="1800" spc="-50">
                <a:latin typeface="Calibri"/>
                <a:cs typeface="Calibri"/>
              </a:rPr>
              <a:t> </a:t>
            </a:r>
            <a:r>
              <a:rPr sz="1800">
                <a:latin typeface="Calibri"/>
                <a:cs typeface="Calibri"/>
              </a:rPr>
              <a:t>and</a:t>
            </a:r>
            <a:r>
              <a:rPr sz="1800" spc="-55">
                <a:latin typeface="Calibri"/>
                <a:cs typeface="Calibri"/>
              </a:rPr>
              <a:t> </a:t>
            </a:r>
            <a:r>
              <a:rPr sz="1800">
                <a:latin typeface="Calibri"/>
                <a:cs typeface="Calibri"/>
              </a:rPr>
              <a:t>evaluate</a:t>
            </a:r>
            <a:r>
              <a:rPr sz="1800" spc="-55">
                <a:latin typeface="Calibri"/>
                <a:cs typeface="Calibri"/>
              </a:rPr>
              <a:t> </a:t>
            </a:r>
            <a:r>
              <a:rPr sz="1800">
                <a:latin typeface="Calibri"/>
                <a:cs typeface="Calibri"/>
              </a:rPr>
              <a:t>societal</a:t>
            </a:r>
            <a:r>
              <a:rPr sz="1800" spc="-50">
                <a:latin typeface="Calibri"/>
                <a:cs typeface="Calibri"/>
              </a:rPr>
              <a:t> </a:t>
            </a:r>
            <a:r>
              <a:rPr sz="1800">
                <a:latin typeface="Calibri"/>
                <a:cs typeface="Calibri"/>
              </a:rPr>
              <a:t>and</a:t>
            </a:r>
            <a:r>
              <a:rPr sz="1800" spc="-55">
                <a:latin typeface="Calibri"/>
                <a:cs typeface="Calibri"/>
              </a:rPr>
              <a:t> </a:t>
            </a:r>
            <a:r>
              <a:rPr sz="1800" spc="-10">
                <a:latin typeface="Calibri"/>
                <a:cs typeface="Calibri"/>
              </a:rPr>
              <a:t>environmental</a:t>
            </a:r>
            <a:r>
              <a:rPr sz="1800" spc="-55">
                <a:latin typeface="Calibri"/>
                <a:cs typeface="Calibri"/>
              </a:rPr>
              <a:t> </a:t>
            </a:r>
            <a:r>
              <a:rPr sz="1800">
                <a:latin typeface="Calibri"/>
                <a:cs typeface="Calibri"/>
              </a:rPr>
              <a:t>aspects</a:t>
            </a:r>
            <a:r>
              <a:rPr sz="1800" spc="-50">
                <a:latin typeface="Calibri"/>
                <a:cs typeface="Calibri"/>
              </a:rPr>
              <a:t> </a:t>
            </a:r>
            <a:r>
              <a:rPr sz="1800">
                <a:latin typeface="Calibri"/>
                <a:cs typeface="Calibri"/>
              </a:rPr>
              <a:t>while</a:t>
            </a:r>
            <a:r>
              <a:rPr sz="1800" spc="-55">
                <a:latin typeface="Calibri"/>
                <a:cs typeface="Calibri"/>
              </a:rPr>
              <a:t> </a:t>
            </a:r>
            <a:r>
              <a:rPr sz="1800">
                <a:latin typeface="Calibri"/>
                <a:cs typeface="Calibri"/>
              </a:rPr>
              <a:t>solving</a:t>
            </a:r>
            <a:r>
              <a:rPr sz="1800" spc="-55">
                <a:latin typeface="Calibri"/>
                <a:cs typeface="Calibri"/>
              </a:rPr>
              <a:t> </a:t>
            </a:r>
            <a:r>
              <a:rPr sz="1800" spc="-10">
                <a:latin typeface="Calibri"/>
                <a:cs typeface="Calibri"/>
              </a:rPr>
              <a:t>complex 	engineering</a:t>
            </a:r>
            <a:r>
              <a:rPr sz="1800" spc="-45">
                <a:latin typeface="Calibri"/>
                <a:cs typeface="Calibri"/>
              </a:rPr>
              <a:t> </a:t>
            </a:r>
            <a:r>
              <a:rPr sz="1800" spc="-10">
                <a:latin typeface="Calibri"/>
                <a:cs typeface="Calibri"/>
              </a:rPr>
              <a:t>problems</a:t>
            </a:r>
            <a:r>
              <a:rPr sz="1800" spc="-40">
                <a:latin typeface="Calibri"/>
                <a:cs typeface="Calibri"/>
              </a:rPr>
              <a:t> </a:t>
            </a:r>
            <a:r>
              <a:rPr sz="1800">
                <a:latin typeface="Calibri"/>
                <a:cs typeface="Calibri"/>
              </a:rPr>
              <a:t>for</a:t>
            </a:r>
            <a:r>
              <a:rPr sz="1800" spc="-40">
                <a:latin typeface="Calibri"/>
                <a:cs typeface="Calibri"/>
              </a:rPr>
              <a:t> </a:t>
            </a:r>
            <a:r>
              <a:rPr sz="1800">
                <a:latin typeface="Calibri"/>
                <a:cs typeface="Calibri"/>
              </a:rPr>
              <a:t>its</a:t>
            </a:r>
            <a:r>
              <a:rPr sz="1800" spc="-40">
                <a:latin typeface="Calibri"/>
                <a:cs typeface="Calibri"/>
              </a:rPr>
              <a:t> </a:t>
            </a:r>
            <a:r>
              <a:rPr sz="1800">
                <a:latin typeface="Calibri"/>
                <a:cs typeface="Calibri"/>
              </a:rPr>
              <a:t>impact</a:t>
            </a:r>
            <a:r>
              <a:rPr sz="1800" spc="-40">
                <a:latin typeface="Calibri"/>
                <a:cs typeface="Calibri"/>
              </a:rPr>
              <a:t> </a:t>
            </a:r>
            <a:r>
              <a:rPr sz="1800">
                <a:latin typeface="Calibri"/>
                <a:cs typeface="Calibri"/>
              </a:rPr>
              <a:t>on</a:t>
            </a:r>
            <a:r>
              <a:rPr sz="1800" spc="-45">
                <a:latin typeface="Calibri"/>
                <a:cs typeface="Calibri"/>
              </a:rPr>
              <a:t> </a:t>
            </a:r>
            <a:r>
              <a:rPr sz="1800">
                <a:latin typeface="Calibri"/>
                <a:cs typeface="Calibri"/>
              </a:rPr>
              <a:t>sustainability</a:t>
            </a:r>
            <a:r>
              <a:rPr sz="1800" spc="-40">
                <a:latin typeface="Calibri"/>
                <a:cs typeface="Calibri"/>
              </a:rPr>
              <a:t> </a:t>
            </a:r>
            <a:r>
              <a:rPr sz="1800">
                <a:latin typeface="Calibri"/>
                <a:cs typeface="Calibri"/>
              </a:rPr>
              <a:t>with</a:t>
            </a:r>
            <a:r>
              <a:rPr sz="1800" spc="-40">
                <a:latin typeface="Calibri"/>
                <a:cs typeface="Calibri"/>
              </a:rPr>
              <a:t> </a:t>
            </a:r>
            <a:r>
              <a:rPr sz="1800" spc="-10">
                <a:latin typeface="Calibri"/>
                <a:cs typeface="Calibri"/>
              </a:rPr>
              <a:t>reference</a:t>
            </a:r>
            <a:r>
              <a:rPr sz="1800" spc="-40">
                <a:latin typeface="Calibri"/>
                <a:cs typeface="Calibri"/>
              </a:rPr>
              <a:t> </a:t>
            </a:r>
            <a:r>
              <a:rPr sz="1800">
                <a:latin typeface="Calibri"/>
                <a:cs typeface="Calibri"/>
              </a:rPr>
              <a:t>to</a:t>
            </a:r>
            <a:r>
              <a:rPr sz="1800" spc="-40">
                <a:latin typeface="Calibri"/>
                <a:cs typeface="Calibri"/>
              </a:rPr>
              <a:t> </a:t>
            </a:r>
            <a:r>
              <a:rPr sz="1800" spc="-10">
                <a:latin typeface="Calibri"/>
                <a:cs typeface="Calibri"/>
              </a:rPr>
              <a:t>economy,</a:t>
            </a:r>
            <a:r>
              <a:rPr sz="1800" spc="-40">
                <a:latin typeface="Calibri"/>
                <a:cs typeface="Calibri"/>
              </a:rPr>
              <a:t> </a:t>
            </a:r>
            <a:r>
              <a:rPr sz="1800">
                <a:latin typeface="Calibri"/>
                <a:cs typeface="Calibri"/>
              </a:rPr>
              <a:t>health,</a:t>
            </a:r>
            <a:r>
              <a:rPr sz="1800" spc="-45">
                <a:latin typeface="Calibri"/>
                <a:cs typeface="Calibri"/>
              </a:rPr>
              <a:t> </a:t>
            </a:r>
            <a:r>
              <a:rPr sz="1800">
                <a:latin typeface="Calibri"/>
                <a:cs typeface="Calibri"/>
              </a:rPr>
              <a:t>safety,</a:t>
            </a:r>
            <a:r>
              <a:rPr sz="1800" spc="-40">
                <a:latin typeface="Calibri"/>
                <a:cs typeface="Calibri"/>
              </a:rPr>
              <a:t> </a:t>
            </a:r>
            <a:r>
              <a:rPr sz="1800">
                <a:latin typeface="Calibri"/>
                <a:cs typeface="Calibri"/>
              </a:rPr>
              <a:t>legal</a:t>
            </a:r>
            <a:r>
              <a:rPr sz="1800" spc="-40">
                <a:latin typeface="Calibri"/>
                <a:cs typeface="Calibri"/>
              </a:rPr>
              <a:t> </a:t>
            </a:r>
            <a:r>
              <a:rPr sz="1800" spc="-10">
                <a:latin typeface="Calibri"/>
                <a:cs typeface="Calibri"/>
              </a:rPr>
              <a:t>framework, 	</a:t>
            </a:r>
            <a:r>
              <a:rPr sz="1800">
                <a:latin typeface="Calibri"/>
                <a:cs typeface="Calibri"/>
              </a:rPr>
              <a:t>culture</a:t>
            </a:r>
            <a:r>
              <a:rPr sz="1800" spc="-60">
                <a:latin typeface="Calibri"/>
                <a:cs typeface="Calibri"/>
              </a:rPr>
              <a:t> </a:t>
            </a:r>
            <a:r>
              <a:rPr sz="1800">
                <a:latin typeface="Calibri"/>
                <a:cs typeface="Calibri"/>
              </a:rPr>
              <a:t>and</a:t>
            </a:r>
            <a:r>
              <a:rPr sz="1800" spc="-55">
                <a:latin typeface="Calibri"/>
                <a:cs typeface="Calibri"/>
              </a:rPr>
              <a:t> </a:t>
            </a:r>
            <a:r>
              <a:rPr sz="1800" spc="-10">
                <a:latin typeface="Calibri"/>
                <a:cs typeface="Calibri"/>
              </a:rPr>
              <a:t>environment.</a:t>
            </a:r>
            <a:r>
              <a:rPr sz="1800" spc="-60">
                <a:latin typeface="Calibri"/>
                <a:cs typeface="Calibri"/>
              </a:rPr>
              <a:t> </a:t>
            </a:r>
            <a:r>
              <a:rPr sz="1800">
                <a:latin typeface="Calibri"/>
                <a:cs typeface="Calibri"/>
              </a:rPr>
              <a:t>(WK1,</a:t>
            </a:r>
            <a:r>
              <a:rPr sz="1800" spc="-55">
                <a:latin typeface="Calibri"/>
                <a:cs typeface="Calibri"/>
              </a:rPr>
              <a:t> </a:t>
            </a:r>
            <a:r>
              <a:rPr sz="1800">
                <a:latin typeface="Calibri"/>
                <a:cs typeface="Calibri"/>
              </a:rPr>
              <a:t>WK5,</a:t>
            </a:r>
            <a:r>
              <a:rPr sz="1800" spc="-55">
                <a:latin typeface="Calibri"/>
                <a:cs typeface="Calibri"/>
              </a:rPr>
              <a:t> </a:t>
            </a:r>
            <a:r>
              <a:rPr sz="1800">
                <a:latin typeface="Calibri"/>
                <a:cs typeface="Calibri"/>
              </a:rPr>
              <a:t>and</a:t>
            </a:r>
            <a:r>
              <a:rPr sz="1800" spc="-60">
                <a:latin typeface="Calibri"/>
                <a:cs typeface="Calibri"/>
              </a:rPr>
              <a:t> </a:t>
            </a:r>
            <a:r>
              <a:rPr sz="1800" spc="-10">
                <a:latin typeface="Calibri"/>
                <a:cs typeface="Calibri"/>
              </a:rPr>
              <a:t>WK7).</a:t>
            </a:r>
            <a:endParaRPr sz="1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3198" y="160651"/>
            <a:ext cx="8620125" cy="1299845"/>
          </a:xfrm>
          <a:prstGeom prst="rect">
            <a:avLst/>
          </a:prstGeom>
        </p:spPr>
        <p:txBody>
          <a:bodyPr vert="horz" wrap="square" lIns="0" tIns="88900" rIns="0" bIns="0" rtlCol="0">
            <a:spAutoFit/>
          </a:bodyPr>
          <a:lstStyle/>
          <a:p>
            <a:pPr marL="12700" marR="5080">
              <a:lnSpc>
                <a:spcPts val="4750"/>
              </a:lnSpc>
              <a:spcBef>
                <a:spcPts val="700"/>
              </a:spcBef>
            </a:pPr>
            <a:r>
              <a:rPr sz="4400">
                <a:solidFill>
                  <a:srgbClr val="000000"/>
                </a:solidFill>
              </a:rPr>
              <a:t>Program</a:t>
            </a:r>
            <a:r>
              <a:rPr sz="4400" spc="-70">
                <a:solidFill>
                  <a:srgbClr val="000000"/>
                </a:solidFill>
              </a:rPr>
              <a:t> </a:t>
            </a:r>
            <a:r>
              <a:rPr sz="4400">
                <a:solidFill>
                  <a:srgbClr val="000000"/>
                </a:solidFill>
              </a:rPr>
              <a:t>Outcomes/Program</a:t>
            </a:r>
            <a:r>
              <a:rPr sz="4400" spc="-55">
                <a:solidFill>
                  <a:srgbClr val="000000"/>
                </a:solidFill>
              </a:rPr>
              <a:t> </a:t>
            </a:r>
            <a:r>
              <a:rPr sz="4400" spc="-10">
                <a:solidFill>
                  <a:srgbClr val="000000"/>
                </a:solidFill>
              </a:rPr>
              <a:t>Specific Outcomes</a:t>
            </a:r>
            <a:endParaRPr sz="4400"/>
          </a:p>
        </p:txBody>
      </p:sp>
      <p:sp>
        <p:nvSpPr>
          <p:cNvPr id="3" name="object 3"/>
          <p:cNvSpPr txBox="1"/>
          <p:nvPr/>
        </p:nvSpPr>
        <p:spPr>
          <a:xfrm>
            <a:off x="636839" y="1661718"/>
            <a:ext cx="10897870" cy="4222750"/>
          </a:xfrm>
          <a:prstGeom prst="rect">
            <a:avLst/>
          </a:prstGeom>
        </p:spPr>
        <p:txBody>
          <a:bodyPr vert="horz" wrap="square" lIns="0" tIns="101600" rIns="0" bIns="0" rtlCol="0">
            <a:spAutoFit/>
          </a:bodyPr>
          <a:lstStyle/>
          <a:p>
            <a:pPr marL="201930" marR="662940" indent="-189865">
              <a:lnSpc>
                <a:spcPct val="70400"/>
              </a:lnSpc>
              <a:spcBef>
                <a:spcPts val="800"/>
              </a:spcBef>
              <a:buFont typeface="Arial MT"/>
              <a:buChar char="•"/>
              <a:tabLst>
                <a:tab pos="203835" algn="l"/>
              </a:tabLst>
            </a:pPr>
            <a:r>
              <a:rPr sz="1950">
                <a:latin typeface="Calibri"/>
                <a:cs typeface="Calibri"/>
              </a:rPr>
              <a:t>PO7:</a:t>
            </a:r>
            <a:r>
              <a:rPr sz="1950" spc="-30">
                <a:latin typeface="Calibri"/>
                <a:cs typeface="Calibri"/>
              </a:rPr>
              <a:t> </a:t>
            </a:r>
            <a:r>
              <a:rPr sz="1950">
                <a:latin typeface="Calibri"/>
                <a:cs typeface="Calibri"/>
              </a:rPr>
              <a:t>Ethics:</a:t>
            </a:r>
            <a:r>
              <a:rPr sz="1950" spc="-25">
                <a:latin typeface="Calibri"/>
                <a:cs typeface="Calibri"/>
              </a:rPr>
              <a:t> </a:t>
            </a:r>
            <a:r>
              <a:rPr sz="1950">
                <a:latin typeface="Calibri"/>
                <a:cs typeface="Calibri"/>
              </a:rPr>
              <a:t>Apply</a:t>
            </a:r>
            <a:r>
              <a:rPr sz="1950" spc="-30">
                <a:latin typeface="Calibri"/>
                <a:cs typeface="Calibri"/>
              </a:rPr>
              <a:t> </a:t>
            </a:r>
            <a:r>
              <a:rPr sz="1950">
                <a:latin typeface="Calibri"/>
                <a:cs typeface="Calibri"/>
              </a:rPr>
              <a:t>ethical</a:t>
            </a:r>
            <a:r>
              <a:rPr sz="1950" spc="-25">
                <a:latin typeface="Calibri"/>
                <a:cs typeface="Calibri"/>
              </a:rPr>
              <a:t> </a:t>
            </a:r>
            <a:r>
              <a:rPr sz="1950">
                <a:latin typeface="Calibri"/>
                <a:cs typeface="Calibri"/>
              </a:rPr>
              <a:t>principles</a:t>
            </a:r>
            <a:r>
              <a:rPr sz="1950" spc="-30">
                <a:latin typeface="Calibri"/>
                <a:cs typeface="Calibri"/>
              </a:rPr>
              <a:t> </a:t>
            </a:r>
            <a:r>
              <a:rPr sz="1950">
                <a:latin typeface="Calibri"/>
                <a:cs typeface="Calibri"/>
              </a:rPr>
              <a:t>and</a:t>
            </a:r>
            <a:r>
              <a:rPr sz="1950" spc="-25">
                <a:latin typeface="Calibri"/>
                <a:cs typeface="Calibri"/>
              </a:rPr>
              <a:t> </a:t>
            </a:r>
            <a:r>
              <a:rPr sz="1950">
                <a:latin typeface="Calibri"/>
                <a:cs typeface="Calibri"/>
              </a:rPr>
              <a:t>commit</a:t>
            </a:r>
            <a:r>
              <a:rPr sz="1950" spc="-30">
                <a:latin typeface="Calibri"/>
                <a:cs typeface="Calibri"/>
              </a:rPr>
              <a:t> </a:t>
            </a:r>
            <a:r>
              <a:rPr sz="1950">
                <a:latin typeface="Calibri"/>
                <a:cs typeface="Calibri"/>
              </a:rPr>
              <a:t>to</a:t>
            </a:r>
            <a:r>
              <a:rPr sz="1950" spc="-25">
                <a:latin typeface="Calibri"/>
                <a:cs typeface="Calibri"/>
              </a:rPr>
              <a:t> </a:t>
            </a:r>
            <a:r>
              <a:rPr sz="1950">
                <a:latin typeface="Calibri"/>
                <a:cs typeface="Calibri"/>
              </a:rPr>
              <a:t>professional</a:t>
            </a:r>
            <a:r>
              <a:rPr sz="1950" spc="-30">
                <a:latin typeface="Calibri"/>
                <a:cs typeface="Calibri"/>
              </a:rPr>
              <a:t> </a:t>
            </a:r>
            <a:r>
              <a:rPr sz="1950">
                <a:latin typeface="Calibri"/>
                <a:cs typeface="Calibri"/>
              </a:rPr>
              <a:t>ethics,</a:t>
            </a:r>
            <a:r>
              <a:rPr sz="1950" spc="-25">
                <a:latin typeface="Calibri"/>
                <a:cs typeface="Calibri"/>
              </a:rPr>
              <a:t> </a:t>
            </a:r>
            <a:r>
              <a:rPr sz="1950">
                <a:latin typeface="Calibri"/>
                <a:cs typeface="Calibri"/>
              </a:rPr>
              <a:t>human</a:t>
            </a:r>
            <a:r>
              <a:rPr sz="1950" spc="-30">
                <a:latin typeface="Calibri"/>
                <a:cs typeface="Calibri"/>
              </a:rPr>
              <a:t> </a:t>
            </a:r>
            <a:r>
              <a:rPr sz="1950">
                <a:latin typeface="Calibri"/>
                <a:cs typeface="Calibri"/>
              </a:rPr>
              <a:t>values,</a:t>
            </a:r>
            <a:r>
              <a:rPr sz="1950" spc="-25">
                <a:latin typeface="Calibri"/>
                <a:cs typeface="Calibri"/>
              </a:rPr>
              <a:t> </a:t>
            </a:r>
            <a:r>
              <a:rPr sz="1950">
                <a:latin typeface="Calibri"/>
                <a:cs typeface="Calibri"/>
              </a:rPr>
              <a:t>diversity</a:t>
            </a:r>
            <a:r>
              <a:rPr sz="1950" spc="-25">
                <a:latin typeface="Calibri"/>
                <a:cs typeface="Calibri"/>
              </a:rPr>
              <a:t> and 	</a:t>
            </a:r>
            <a:r>
              <a:rPr sz="1950">
                <a:latin typeface="Calibri"/>
                <a:cs typeface="Calibri"/>
              </a:rPr>
              <a:t>inclusion;</a:t>
            </a:r>
            <a:r>
              <a:rPr sz="1950" spc="-30">
                <a:latin typeface="Calibri"/>
                <a:cs typeface="Calibri"/>
              </a:rPr>
              <a:t> </a:t>
            </a:r>
            <a:r>
              <a:rPr sz="1950">
                <a:latin typeface="Calibri"/>
                <a:cs typeface="Calibri"/>
              </a:rPr>
              <a:t>adhere</a:t>
            </a:r>
            <a:r>
              <a:rPr sz="1950" spc="-25">
                <a:latin typeface="Calibri"/>
                <a:cs typeface="Calibri"/>
              </a:rPr>
              <a:t> </a:t>
            </a:r>
            <a:r>
              <a:rPr sz="1950">
                <a:latin typeface="Calibri"/>
                <a:cs typeface="Calibri"/>
              </a:rPr>
              <a:t>to</a:t>
            </a:r>
            <a:r>
              <a:rPr sz="1950" spc="-30">
                <a:latin typeface="Calibri"/>
                <a:cs typeface="Calibri"/>
              </a:rPr>
              <a:t> </a:t>
            </a:r>
            <a:r>
              <a:rPr sz="1950">
                <a:latin typeface="Calibri"/>
                <a:cs typeface="Calibri"/>
              </a:rPr>
              <a:t>national</a:t>
            </a:r>
            <a:r>
              <a:rPr sz="1950" spc="-25">
                <a:latin typeface="Calibri"/>
                <a:cs typeface="Calibri"/>
              </a:rPr>
              <a:t> </a:t>
            </a:r>
            <a:r>
              <a:rPr sz="1950">
                <a:latin typeface="Calibri"/>
                <a:cs typeface="Calibri"/>
              </a:rPr>
              <a:t>&amp;</a:t>
            </a:r>
            <a:r>
              <a:rPr sz="1950" spc="-30">
                <a:latin typeface="Calibri"/>
                <a:cs typeface="Calibri"/>
              </a:rPr>
              <a:t> </a:t>
            </a:r>
            <a:r>
              <a:rPr sz="1950">
                <a:latin typeface="Calibri"/>
                <a:cs typeface="Calibri"/>
              </a:rPr>
              <a:t>international</a:t>
            </a:r>
            <a:r>
              <a:rPr sz="1950" spc="-25">
                <a:latin typeface="Calibri"/>
                <a:cs typeface="Calibri"/>
              </a:rPr>
              <a:t> </a:t>
            </a:r>
            <a:r>
              <a:rPr sz="1950">
                <a:latin typeface="Calibri"/>
                <a:cs typeface="Calibri"/>
              </a:rPr>
              <a:t>laws.</a:t>
            </a:r>
            <a:r>
              <a:rPr sz="1950" spc="-25">
                <a:latin typeface="Calibri"/>
                <a:cs typeface="Calibri"/>
              </a:rPr>
              <a:t> </a:t>
            </a:r>
            <a:r>
              <a:rPr sz="1950" spc="-10">
                <a:latin typeface="Calibri"/>
                <a:cs typeface="Calibri"/>
              </a:rPr>
              <a:t>(WK9).</a:t>
            </a:r>
            <a:endParaRPr sz="1950">
              <a:latin typeface="Calibri"/>
              <a:cs typeface="Calibri"/>
            </a:endParaRPr>
          </a:p>
          <a:p>
            <a:pPr marL="201930" marR="271145" indent="-189865">
              <a:lnSpc>
                <a:spcPct val="70400"/>
              </a:lnSpc>
              <a:spcBef>
                <a:spcPts val="1000"/>
              </a:spcBef>
              <a:buFont typeface="Arial MT"/>
              <a:buChar char="•"/>
              <a:tabLst>
                <a:tab pos="203835" algn="l"/>
              </a:tabLst>
            </a:pPr>
            <a:r>
              <a:rPr sz="1950">
                <a:latin typeface="Calibri"/>
                <a:cs typeface="Calibri"/>
              </a:rPr>
              <a:t>PO8:</a:t>
            </a:r>
            <a:r>
              <a:rPr sz="1950" spc="-25">
                <a:latin typeface="Calibri"/>
                <a:cs typeface="Calibri"/>
              </a:rPr>
              <a:t> </a:t>
            </a:r>
            <a:r>
              <a:rPr sz="1950">
                <a:latin typeface="Calibri"/>
                <a:cs typeface="Calibri"/>
              </a:rPr>
              <a:t>Individual</a:t>
            </a:r>
            <a:r>
              <a:rPr sz="1950" spc="-25">
                <a:latin typeface="Calibri"/>
                <a:cs typeface="Calibri"/>
              </a:rPr>
              <a:t> </a:t>
            </a:r>
            <a:r>
              <a:rPr sz="1950">
                <a:latin typeface="Calibri"/>
                <a:cs typeface="Calibri"/>
              </a:rPr>
              <a:t>and</a:t>
            </a:r>
            <a:r>
              <a:rPr sz="1950" spc="-20">
                <a:latin typeface="Calibri"/>
                <a:cs typeface="Calibri"/>
              </a:rPr>
              <a:t> </a:t>
            </a:r>
            <a:r>
              <a:rPr sz="1950">
                <a:latin typeface="Calibri"/>
                <a:cs typeface="Calibri"/>
              </a:rPr>
              <a:t>Collaborative</a:t>
            </a:r>
            <a:r>
              <a:rPr sz="1950" spc="-25">
                <a:latin typeface="Calibri"/>
                <a:cs typeface="Calibri"/>
              </a:rPr>
              <a:t> </a:t>
            </a:r>
            <a:r>
              <a:rPr sz="1950">
                <a:latin typeface="Calibri"/>
                <a:cs typeface="Calibri"/>
              </a:rPr>
              <a:t>Team</a:t>
            </a:r>
            <a:r>
              <a:rPr sz="1950" spc="-25">
                <a:latin typeface="Calibri"/>
                <a:cs typeface="Calibri"/>
              </a:rPr>
              <a:t> </a:t>
            </a:r>
            <a:r>
              <a:rPr sz="1950">
                <a:latin typeface="Calibri"/>
                <a:cs typeface="Calibri"/>
              </a:rPr>
              <a:t>work:</a:t>
            </a:r>
            <a:r>
              <a:rPr sz="1950" spc="-20">
                <a:latin typeface="Calibri"/>
                <a:cs typeface="Calibri"/>
              </a:rPr>
              <a:t> </a:t>
            </a:r>
            <a:r>
              <a:rPr sz="1950">
                <a:latin typeface="Calibri"/>
                <a:cs typeface="Calibri"/>
              </a:rPr>
              <a:t>Function</a:t>
            </a:r>
            <a:r>
              <a:rPr sz="1950" spc="-25">
                <a:latin typeface="Calibri"/>
                <a:cs typeface="Calibri"/>
              </a:rPr>
              <a:t> </a:t>
            </a:r>
            <a:r>
              <a:rPr sz="1950">
                <a:latin typeface="Calibri"/>
                <a:cs typeface="Calibri"/>
              </a:rPr>
              <a:t>effectively</a:t>
            </a:r>
            <a:r>
              <a:rPr sz="1950" spc="-25">
                <a:latin typeface="Calibri"/>
                <a:cs typeface="Calibri"/>
              </a:rPr>
              <a:t> </a:t>
            </a:r>
            <a:r>
              <a:rPr sz="1950">
                <a:latin typeface="Calibri"/>
                <a:cs typeface="Calibri"/>
              </a:rPr>
              <a:t>as</a:t>
            </a:r>
            <a:r>
              <a:rPr sz="1950" spc="-20">
                <a:latin typeface="Calibri"/>
                <a:cs typeface="Calibri"/>
              </a:rPr>
              <a:t> </a:t>
            </a:r>
            <a:r>
              <a:rPr sz="1950">
                <a:latin typeface="Calibri"/>
                <a:cs typeface="Calibri"/>
              </a:rPr>
              <a:t>an</a:t>
            </a:r>
            <a:r>
              <a:rPr sz="1950" spc="-25">
                <a:latin typeface="Calibri"/>
                <a:cs typeface="Calibri"/>
              </a:rPr>
              <a:t> </a:t>
            </a:r>
            <a:r>
              <a:rPr sz="1950">
                <a:latin typeface="Calibri"/>
                <a:cs typeface="Calibri"/>
              </a:rPr>
              <a:t>individual,</a:t>
            </a:r>
            <a:r>
              <a:rPr sz="1950" spc="-25">
                <a:latin typeface="Calibri"/>
                <a:cs typeface="Calibri"/>
              </a:rPr>
              <a:t> </a:t>
            </a:r>
            <a:r>
              <a:rPr sz="1950">
                <a:latin typeface="Calibri"/>
                <a:cs typeface="Calibri"/>
              </a:rPr>
              <a:t>and</a:t>
            </a:r>
            <a:r>
              <a:rPr sz="1950" spc="-20">
                <a:latin typeface="Calibri"/>
                <a:cs typeface="Calibri"/>
              </a:rPr>
              <a:t> </a:t>
            </a:r>
            <a:r>
              <a:rPr sz="1950">
                <a:latin typeface="Calibri"/>
                <a:cs typeface="Calibri"/>
              </a:rPr>
              <a:t>as</a:t>
            </a:r>
            <a:r>
              <a:rPr sz="1950" spc="-25">
                <a:latin typeface="Calibri"/>
                <a:cs typeface="Calibri"/>
              </a:rPr>
              <a:t> </a:t>
            </a:r>
            <a:r>
              <a:rPr sz="1950">
                <a:latin typeface="Calibri"/>
                <a:cs typeface="Calibri"/>
              </a:rPr>
              <a:t>a</a:t>
            </a:r>
            <a:r>
              <a:rPr sz="1950" spc="-25">
                <a:latin typeface="Calibri"/>
                <a:cs typeface="Calibri"/>
              </a:rPr>
              <a:t> </a:t>
            </a:r>
            <a:r>
              <a:rPr sz="1950">
                <a:latin typeface="Calibri"/>
                <a:cs typeface="Calibri"/>
              </a:rPr>
              <a:t>member</a:t>
            </a:r>
            <a:r>
              <a:rPr sz="1950" spc="-20">
                <a:latin typeface="Calibri"/>
                <a:cs typeface="Calibri"/>
              </a:rPr>
              <a:t> </a:t>
            </a:r>
            <a:r>
              <a:rPr sz="1950" spc="-25">
                <a:latin typeface="Calibri"/>
                <a:cs typeface="Calibri"/>
              </a:rPr>
              <a:t>or 	</a:t>
            </a:r>
            <a:r>
              <a:rPr sz="1950">
                <a:latin typeface="Calibri"/>
                <a:cs typeface="Calibri"/>
              </a:rPr>
              <a:t>leader</a:t>
            </a:r>
            <a:r>
              <a:rPr sz="1950" spc="-5">
                <a:latin typeface="Calibri"/>
                <a:cs typeface="Calibri"/>
              </a:rPr>
              <a:t> </a:t>
            </a:r>
            <a:r>
              <a:rPr sz="1950">
                <a:latin typeface="Calibri"/>
                <a:cs typeface="Calibri"/>
              </a:rPr>
              <a:t>in</a:t>
            </a:r>
            <a:r>
              <a:rPr sz="1950" spc="-5">
                <a:latin typeface="Calibri"/>
                <a:cs typeface="Calibri"/>
              </a:rPr>
              <a:t> </a:t>
            </a:r>
            <a:r>
              <a:rPr sz="1950" spc="-10">
                <a:latin typeface="Calibri"/>
                <a:cs typeface="Calibri"/>
              </a:rPr>
              <a:t>diverse/multi-</a:t>
            </a:r>
            <a:r>
              <a:rPr sz="1950">
                <a:latin typeface="Calibri"/>
                <a:cs typeface="Calibri"/>
              </a:rPr>
              <a:t>disciplinary</a:t>
            </a:r>
            <a:r>
              <a:rPr sz="1950" spc="-5">
                <a:latin typeface="Calibri"/>
                <a:cs typeface="Calibri"/>
              </a:rPr>
              <a:t> </a:t>
            </a:r>
            <a:r>
              <a:rPr sz="1950" spc="-10">
                <a:latin typeface="Calibri"/>
                <a:cs typeface="Calibri"/>
              </a:rPr>
              <a:t>teams.</a:t>
            </a:r>
            <a:endParaRPr sz="1950">
              <a:latin typeface="Calibri"/>
              <a:cs typeface="Calibri"/>
            </a:endParaRPr>
          </a:p>
          <a:p>
            <a:pPr marL="202565" indent="-189865">
              <a:lnSpc>
                <a:spcPts val="1995"/>
              </a:lnSpc>
              <a:spcBef>
                <a:spcPts val="305"/>
              </a:spcBef>
              <a:buFont typeface="Arial MT"/>
              <a:buChar char="•"/>
              <a:tabLst>
                <a:tab pos="202565" algn="l"/>
              </a:tabLst>
            </a:pPr>
            <a:r>
              <a:rPr sz="1950">
                <a:latin typeface="Calibri"/>
                <a:cs typeface="Calibri"/>
              </a:rPr>
              <a:t>PO9:</a:t>
            </a:r>
            <a:r>
              <a:rPr sz="1950" spc="-40">
                <a:latin typeface="Calibri"/>
                <a:cs typeface="Calibri"/>
              </a:rPr>
              <a:t> </a:t>
            </a:r>
            <a:r>
              <a:rPr sz="1950">
                <a:latin typeface="Calibri"/>
                <a:cs typeface="Calibri"/>
              </a:rPr>
              <a:t>Communication:</a:t>
            </a:r>
            <a:r>
              <a:rPr sz="1950" spc="-35">
                <a:latin typeface="Calibri"/>
                <a:cs typeface="Calibri"/>
              </a:rPr>
              <a:t> </a:t>
            </a:r>
            <a:r>
              <a:rPr sz="1950">
                <a:latin typeface="Calibri"/>
                <a:cs typeface="Calibri"/>
              </a:rPr>
              <a:t>Communicate</a:t>
            </a:r>
            <a:r>
              <a:rPr sz="1950" spc="-35">
                <a:latin typeface="Calibri"/>
                <a:cs typeface="Calibri"/>
              </a:rPr>
              <a:t> </a:t>
            </a:r>
            <a:r>
              <a:rPr sz="1950">
                <a:latin typeface="Calibri"/>
                <a:cs typeface="Calibri"/>
              </a:rPr>
              <a:t>effectively</a:t>
            </a:r>
            <a:r>
              <a:rPr sz="1950" spc="-40">
                <a:latin typeface="Calibri"/>
                <a:cs typeface="Calibri"/>
              </a:rPr>
              <a:t> </a:t>
            </a:r>
            <a:r>
              <a:rPr sz="1950">
                <a:latin typeface="Calibri"/>
                <a:cs typeface="Calibri"/>
              </a:rPr>
              <a:t>and</a:t>
            </a:r>
            <a:r>
              <a:rPr sz="1950" spc="-35">
                <a:latin typeface="Calibri"/>
                <a:cs typeface="Calibri"/>
              </a:rPr>
              <a:t> </a:t>
            </a:r>
            <a:r>
              <a:rPr sz="1950">
                <a:latin typeface="Calibri"/>
                <a:cs typeface="Calibri"/>
              </a:rPr>
              <a:t>inclusively</a:t>
            </a:r>
            <a:r>
              <a:rPr sz="1950" spc="-35">
                <a:latin typeface="Calibri"/>
                <a:cs typeface="Calibri"/>
              </a:rPr>
              <a:t> </a:t>
            </a:r>
            <a:r>
              <a:rPr sz="1950">
                <a:latin typeface="Calibri"/>
                <a:cs typeface="Calibri"/>
              </a:rPr>
              <a:t>within</a:t>
            </a:r>
            <a:r>
              <a:rPr sz="1950" spc="-40">
                <a:latin typeface="Calibri"/>
                <a:cs typeface="Calibri"/>
              </a:rPr>
              <a:t> </a:t>
            </a:r>
            <a:r>
              <a:rPr sz="1950">
                <a:latin typeface="Calibri"/>
                <a:cs typeface="Calibri"/>
              </a:rPr>
              <a:t>the</a:t>
            </a:r>
            <a:r>
              <a:rPr sz="1950" spc="-35">
                <a:latin typeface="Calibri"/>
                <a:cs typeface="Calibri"/>
              </a:rPr>
              <a:t> </a:t>
            </a:r>
            <a:r>
              <a:rPr sz="1950">
                <a:latin typeface="Calibri"/>
                <a:cs typeface="Calibri"/>
              </a:rPr>
              <a:t>engineering</a:t>
            </a:r>
            <a:r>
              <a:rPr sz="1950" spc="-35">
                <a:latin typeface="Calibri"/>
                <a:cs typeface="Calibri"/>
              </a:rPr>
              <a:t> </a:t>
            </a:r>
            <a:r>
              <a:rPr sz="1950">
                <a:latin typeface="Calibri"/>
                <a:cs typeface="Calibri"/>
              </a:rPr>
              <a:t>community</a:t>
            </a:r>
            <a:r>
              <a:rPr sz="1950" spc="-35">
                <a:latin typeface="Calibri"/>
                <a:cs typeface="Calibri"/>
              </a:rPr>
              <a:t> </a:t>
            </a:r>
            <a:r>
              <a:rPr sz="1950" spc="-25">
                <a:latin typeface="Calibri"/>
                <a:cs typeface="Calibri"/>
              </a:rPr>
              <a:t>and</a:t>
            </a:r>
            <a:endParaRPr sz="1950">
              <a:latin typeface="Calibri"/>
              <a:cs typeface="Calibri"/>
            </a:endParaRPr>
          </a:p>
          <a:p>
            <a:pPr marL="203835" marR="5080">
              <a:lnSpc>
                <a:spcPct val="70400"/>
              </a:lnSpc>
              <a:spcBef>
                <a:spcPts val="345"/>
              </a:spcBef>
            </a:pPr>
            <a:r>
              <a:rPr sz="1950">
                <a:latin typeface="Calibri"/>
                <a:cs typeface="Calibri"/>
              </a:rPr>
              <a:t>society</a:t>
            </a:r>
            <a:r>
              <a:rPr sz="1950" spc="-20">
                <a:latin typeface="Calibri"/>
                <a:cs typeface="Calibri"/>
              </a:rPr>
              <a:t> </a:t>
            </a:r>
            <a:r>
              <a:rPr sz="1950">
                <a:latin typeface="Calibri"/>
                <a:cs typeface="Calibri"/>
              </a:rPr>
              <a:t>at</a:t>
            </a:r>
            <a:r>
              <a:rPr sz="1950" spc="-20">
                <a:latin typeface="Calibri"/>
                <a:cs typeface="Calibri"/>
              </a:rPr>
              <a:t> </a:t>
            </a:r>
            <a:r>
              <a:rPr sz="1950">
                <a:latin typeface="Calibri"/>
                <a:cs typeface="Calibri"/>
              </a:rPr>
              <a:t>large,</a:t>
            </a:r>
            <a:r>
              <a:rPr sz="1950" spc="-20">
                <a:latin typeface="Calibri"/>
                <a:cs typeface="Calibri"/>
              </a:rPr>
              <a:t> </a:t>
            </a:r>
            <a:r>
              <a:rPr sz="1950">
                <a:latin typeface="Calibri"/>
                <a:cs typeface="Calibri"/>
              </a:rPr>
              <a:t>such</a:t>
            </a:r>
            <a:r>
              <a:rPr sz="1950" spc="-20">
                <a:latin typeface="Calibri"/>
                <a:cs typeface="Calibri"/>
              </a:rPr>
              <a:t> </a:t>
            </a:r>
            <a:r>
              <a:rPr sz="1950">
                <a:latin typeface="Calibri"/>
                <a:cs typeface="Calibri"/>
              </a:rPr>
              <a:t>as</a:t>
            </a:r>
            <a:r>
              <a:rPr sz="1950" spc="-20">
                <a:latin typeface="Calibri"/>
                <a:cs typeface="Calibri"/>
              </a:rPr>
              <a:t> </a:t>
            </a:r>
            <a:r>
              <a:rPr sz="1950">
                <a:latin typeface="Calibri"/>
                <a:cs typeface="Calibri"/>
              </a:rPr>
              <a:t>being</a:t>
            </a:r>
            <a:r>
              <a:rPr sz="1950" spc="-20">
                <a:latin typeface="Calibri"/>
                <a:cs typeface="Calibri"/>
              </a:rPr>
              <a:t> </a:t>
            </a:r>
            <a:r>
              <a:rPr sz="1950">
                <a:latin typeface="Calibri"/>
                <a:cs typeface="Calibri"/>
              </a:rPr>
              <a:t>able</a:t>
            </a:r>
            <a:r>
              <a:rPr sz="1950" spc="-20">
                <a:latin typeface="Calibri"/>
                <a:cs typeface="Calibri"/>
              </a:rPr>
              <a:t> </a:t>
            </a:r>
            <a:r>
              <a:rPr sz="1950">
                <a:latin typeface="Calibri"/>
                <a:cs typeface="Calibri"/>
              </a:rPr>
              <a:t>to</a:t>
            </a:r>
            <a:r>
              <a:rPr sz="1950" spc="-20">
                <a:latin typeface="Calibri"/>
                <a:cs typeface="Calibri"/>
              </a:rPr>
              <a:t> </a:t>
            </a:r>
            <a:r>
              <a:rPr sz="1950">
                <a:latin typeface="Calibri"/>
                <a:cs typeface="Calibri"/>
              </a:rPr>
              <a:t>comprehend</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write</a:t>
            </a:r>
            <a:r>
              <a:rPr sz="1950" spc="-20">
                <a:latin typeface="Calibri"/>
                <a:cs typeface="Calibri"/>
              </a:rPr>
              <a:t> </a:t>
            </a:r>
            <a:r>
              <a:rPr sz="1950">
                <a:latin typeface="Calibri"/>
                <a:cs typeface="Calibri"/>
              </a:rPr>
              <a:t>effective</a:t>
            </a:r>
            <a:r>
              <a:rPr sz="1950" spc="-20">
                <a:latin typeface="Calibri"/>
                <a:cs typeface="Calibri"/>
              </a:rPr>
              <a:t> </a:t>
            </a:r>
            <a:r>
              <a:rPr sz="1950">
                <a:latin typeface="Calibri"/>
                <a:cs typeface="Calibri"/>
              </a:rPr>
              <a:t>reports</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design</a:t>
            </a:r>
            <a:r>
              <a:rPr sz="1950" spc="-20">
                <a:latin typeface="Calibri"/>
                <a:cs typeface="Calibri"/>
              </a:rPr>
              <a:t> </a:t>
            </a:r>
            <a:r>
              <a:rPr sz="1950" spc="-10">
                <a:latin typeface="Calibri"/>
                <a:cs typeface="Calibri"/>
              </a:rPr>
              <a:t>documentation, </a:t>
            </a:r>
            <a:r>
              <a:rPr sz="1950">
                <a:latin typeface="Calibri"/>
                <a:cs typeface="Calibri"/>
              </a:rPr>
              <a:t>make</a:t>
            </a:r>
            <a:r>
              <a:rPr sz="1950" spc="-40">
                <a:latin typeface="Calibri"/>
                <a:cs typeface="Calibri"/>
              </a:rPr>
              <a:t> </a:t>
            </a:r>
            <a:r>
              <a:rPr sz="1950">
                <a:latin typeface="Calibri"/>
                <a:cs typeface="Calibri"/>
              </a:rPr>
              <a:t>effective</a:t>
            </a:r>
            <a:r>
              <a:rPr sz="1950" spc="-35">
                <a:latin typeface="Calibri"/>
                <a:cs typeface="Calibri"/>
              </a:rPr>
              <a:t> </a:t>
            </a:r>
            <a:r>
              <a:rPr sz="1950">
                <a:latin typeface="Calibri"/>
                <a:cs typeface="Calibri"/>
              </a:rPr>
              <a:t>presentations</a:t>
            </a:r>
            <a:r>
              <a:rPr sz="1950" spc="-35">
                <a:latin typeface="Calibri"/>
                <a:cs typeface="Calibri"/>
              </a:rPr>
              <a:t> </a:t>
            </a:r>
            <a:r>
              <a:rPr sz="1950">
                <a:latin typeface="Calibri"/>
                <a:cs typeface="Calibri"/>
              </a:rPr>
              <a:t>considering</a:t>
            </a:r>
            <a:r>
              <a:rPr sz="1950" spc="-35">
                <a:latin typeface="Calibri"/>
                <a:cs typeface="Calibri"/>
              </a:rPr>
              <a:t> </a:t>
            </a:r>
            <a:r>
              <a:rPr sz="1950">
                <a:latin typeface="Calibri"/>
                <a:cs typeface="Calibri"/>
              </a:rPr>
              <a:t>cultural,</a:t>
            </a:r>
            <a:r>
              <a:rPr sz="1950" spc="-40">
                <a:latin typeface="Calibri"/>
                <a:cs typeface="Calibri"/>
              </a:rPr>
              <a:t> </a:t>
            </a:r>
            <a:r>
              <a:rPr sz="1950">
                <a:latin typeface="Calibri"/>
                <a:cs typeface="Calibri"/>
              </a:rPr>
              <a:t>language,</a:t>
            </a:r>
            <a:r>
              <a:rPr sz="1950" spc="-35">
                <a:latin typeface="Calibri"/>
                <a:cs typeface="Calibri"/>
              </a:rPr>
              <a:t> </a:t>
            </a:r>
            <a:r>
              <a:rPr sz="1950">
                <a:latin typeface="Calibri"/>
                <a:cs typeface="Calibri"/>
              </a:rPr>
              <a:t>and</a:t>
            </a:r>
            <a:r>
              <a:rPr sz="1950" spc="-35">
                <a:latin typeface="Calibri"/>
                <a:cs typeface="Calibri"/>
              </a:rPr>
              <a:t> </a:t>
            </a:r>
            <a:r>
              <a:rPr sz="1950">
                <a:latin typeface="Calibri"/>
                <a:cs typeface="Calibri"/>
              </a:rPr>
              <a:t>learning</a:t>
            </a:r>
            <a:r>
              <a:rPr sz="1950" spc="-35">
                <a:latin typeface="Calibri"/>
                <a:cs typeface="Calibri"/>
              </a:rPr>
              <a:t> </a:t>
            </a:r>
            <a:r>
              <a:rPr sz="1950" spc="-10">
                <a:latin typeface="Calibri"/>
                <a:cs typeface="Calibri"/>
              </a:rPr>
              <a:t>differences</a:t>
            </a:r>
            <a:endParaRPr sz="1950">
              <a:latin typeface="Calibri"/>
              <a:cs typeface="Calibri"/>
            </a:endParaRPr>
          </a:p>
          <a:p>
            <a:pPr marL="202565" indent="-189865">
              <a:lnSpc>
                <a:spcPts val="1995"/>
              </a:lnSpc>
              <a:spcBef>
                <a:spcPts val="310"/>
              </a:spcBef>
              <a:buFont typeface="Arial MT"/>
              <a:buChar char="•"/>
              <a:tabLst>
                <a:tab pos="202565" algn="l"/>
              </a:tabLst>
            </a:pPr>
            <a:r>
              <a:rPr sz="1950">
                <a:latin typeface="Calibri"/>
                <a:cs typeface="Calibri"/>
              </a:rPr>
              <a:t>PO10:</a:t>
            </a:r>
            <a:r>
              <a:rPr sz="1950" spc="-30">
                <a:latin typeface="Calibri"/>
                <a:cs typeface="Calibri"/>
              </a:rPr>
              <a:t> </a:t>
            </a:r>
            <a:r>
              <a:rPr sz="1950">
                <a:latin typeface="Calibri"/>
                <a:cs typeface="Calibri"/>
              </a:rPr>
              <a:t>Project</a:t>
            </a:r>
            <a:r>
              <a:rPr sz="1950" spc="-25">
                <a:latin typeface="Calibri"/>
                <a:cs typeface="Calibri"/>
              </a:rPr>
              <a:t> </a:t>
            </a:r>
            <a:r>
              <a:rPr sz="1950">
                <a:latin typeface="Calibri"/>
                <a:cs typeface="Calibri"/>
              </a:rPr>
              <a:t>Management</a:t>
            </a:r>
            <a:r>
              <a:rPr sz="1950" spc="-30">
                <a:latin typeface="Calibri"/>
                <a:cs typeface="Calibri"/>
              </a:rPr>
              <a:t> </a:t>
            </a:r>
            <a:r>
              <a:rPr sz="1950">
                <a:latin typeface="Calibri"/>
                <a:cs typeface="Calibri"/>
              </a:rPr>
              <a:t>and</a:t>
            </a:r>
            <a:r>
              <a:rPr sz="1950" spc="-25">
                <a:latin typeface="Calibri"/>
                <a:cs typeface="Calibri"/>
              </a:rPr>
              <a:t> </a:t>
            </a:r>
            <a:r>
              <a:rPr sz="1950">
                <a:latin typeface="Calibri"/>
                <a:cs typeface="Calibri"/>
              </a:rPr>
              <a:t>Finance:</a:t>
            </a:r>
            <a:r>
              <a:rPr sz="1950" spc="-30">
                <a:latin typeface="Calibri"/>
                <a:cs typeface="Calibri"/>
              </a:rPr>
              <a:t> </a:t>
            </a:r>
            <a:r>
              <a:rPr sz="1950">
                <a:latin typeface="Calibri"/>
                <a:cs typeface="Calibri"/>
              </a:rPr>
              <a:t>Apply</a:t>
            </a:r>
            <a:r>
              <a:rPr sz="1950" spc="-25">
                <a:latin typeface="Calibri"/>
                <a:cs typeface="Calibri"/>
              </a:rPr>
              <a:t> </a:t>
            </a:r>
            <a:r>
              <a:rPr sz="1950">
                <a:latin typeface="Calibri"/>
                <a:cs typeface="Calibri"/>
              </a:rPr>
              <a:t>knowledge</a:t>
            </a:r>
            <a:r>
              <a:rPr sz="1950" spc="-30">
                <a:latin typeface="Calibri"/>
                <a:cs typeface="Calibri"/>
              </a:rPr>
              <a:t> </a:t>
            </a:r>
            <a:r>
              <a:rPr sz="1950">
                <a:latin typeface="Calibri"/>
                <a:cs typeface="Calibri"/>
              </a:rPr>
              <a:t>and</a:t>
            </a:r>
            <a:r>
              <a:rPr sz="1950" spc="-25">
                <a:latin typeface="Calibri"/>
                <a:cs typeface="Calibri"/>
              </a:rPr>
              <a:t> </a:t>
            </a:r>
            <a:r>
              <a:rPr sz="1950">
                <a:latin typeface="Calibri"/>
                <a:cs typeface="Calibri"/>
              </a:rPr>
              <a:t>understanding</a:t>
            </a:r>
            <a:r>
              <a:rPr sz="1950" spc="-30">
                <a:latin typeface="Calibri"/>
                <a:cs typeface="Calibri"/>
              </a:rPr>
              <a:t> </a:t>
            </a:r>
            <a:r>
              <a:rPr sz="1950">
                <a:latin typeface="Calibri"/>
                <a:cs typeface="Calibri"/>
              </a:rPr>
              <a:t>of</a:t>
            </a:r>
            <a:r>
              <a:rPr sz="1950" spc="-25">
                <a:latin typeface="Calibri"/>
                <a:cs typeface="Calibri"/>
              </a:rPr>
              <a:t> </a:t>
            </a:r>
            <a:r>
              <a:rPr sz="1950" spc="-10">
                <a:latin typeface="Calibri"/>
                <a:cs typeface="Calibri"/>
              </a:rPr>
              <a:t>engineering</a:t>
            </a:r>
            <a:endParaRPr sz="1950">
              <a:latin typeface="Calibri"/>
              <a:cs typeface="Calibri"/>
            </a:endParaRPr>
          </a:p>
          <a:p>
            <a:pPr marL="203835" marR="114935">
              <a:lnSpc>
                <a:spcPct val="70400"/>
              </a:lnSpc>
              <a:spcBef>
                <a:spcPts val="345"/>
              </a:spcBef>
            </a:pPr>
            <a:r>
              <a:rPr sz="1950">
                <a:latin typeface="Calibri"/>
                <a:cs typeface="Calibri"/>
              </a:rPr>
              <a:t>management</a:t>
            </a:r>
            <a:r>
              <a:rPr sz="1950" spc="-30">
                <a:latin typeface="Calibri"/>
                <a:cs typeface="Calibri"/>
              </a:rPr>
              <a:t> </a:t>
            </a:r>
            <a:r>
              <a:rPr sz="1950">
                <a:latin typeface="Calibri"/>
                <a:cs typeface="Calibri"/>
              </a:rPr>
              <a:t>principles</a:t>
            </a:r>
            <a:r>
              <a:rPr sz="1950" spc="-15">
                <a:latin typeface="Calibri"/>
                <a:cs typeface="Calibri"/>
              </a:rPr>
              <a:t> </a:t>
            </a:r>
            <a:r>
              <a:rPr sz="1950">
                <a:latin typeface="Calibri"/>
                <a:cs typeface="Calibri"/>
              </a:rPr>
              <a:t>and</a:t>
            </a:r>
            <a:r>
              <a:rPr sz="1950" spc="-15">
                <a:latin typeface="Calibri"/>
                <a:cs typeface="Calibri"/>
              </a:rPr>
              <a:t> </a:t>
            </a:r>
            <a:r>
              <a:rPr sz="1950">
                <a:latin typeface="Calibri"/>
                <a:cs typeface="Calibri"/>
              </a:rPr>
              <a:t>economic</a:t>
            </a:r>
            <a:r>
              <a:rPr sz="1950" spc="-15">
                <a:latin typeface="Calibri"/>
                <a:cs typeface="Calibri"/>
              </a:rPr>
              <a:t> </a:t>
            </a:r>
            <a:r>
              <a:rPr sz="1950" spc="-10">
                <a:latin typeface="Calibri"/>
                <a:cs typeface="Calibri"/>
              </a:rPr>
              <a:t>decision-</a:t>
            </a:r>
            <a:r>
              <a:rPr sz="1950">
                <a:latin typeface="Calibri"/>
                <a:cs typeface="Calibri"/>
              </a:rPr>
              <a:t>making</a:t>
            </a:r>
            <a:r>
              <a:rPr sz="1950" spc="-20">
                <a:latin typeface="Calibri"/>
                <a:cs typeface="Calibri"/>
              </a:rPr>
              <a:t> </a:t>
            </a:r>
            <a:r>
              <a:rPr sz="1950">
                <a:latin typeface="Calibri"/>
                <a:cs typeface="Calibri"/>
              </a:rPr>
              <a:t>and</a:t>
            </a:r>
            <a:r>
              <a:rPr sz="1950" spc="-15">
                <a:latin typeface="Calibri"/>
                <a:cs typeface="Calibri"/>
              </a:rPr>
              <a:t> </a:t>
            </a:r>
            <a:r>
              <a:rPr sz="1950">
                <a:latin typeface="Calibri"/>
                <a:cs typeface="Calibri"/>
              </a:rPr>
              <a:t>apply</a:t>
            </a:r>
            <a:r>
              <a:rPr sz="1950" spc="-15">
                <a:latin typeface="Calibri"/>
                <a:cs typeface="Calibri"/>
              </a:rPr>
              <a:t> </a:t>
            </a:r>
            <a:r>
              <a:rPr sz="1950">
                <a:latin typeface="Calibri"/>
                <a:cs typeface="Calibri"/>
              </a:rPr>
              <a:t>these</a:t>
            </a:r>
            <a:r>
              <a:rPr sz="1950" spc="-15">
                <a:latin typeface="Calibri"/>
                <a:cs typeface="Calibri"/>
              </a:rPr>
              <a:t> </a:t>
            </a:r>
            <a:r>
              <a:rPr sz="1950">
                <a:latin typeface="Calibri"/>
                <a:cs typeface="Calibri"/>
              </a:rPr>
              <a:t>to</a:t>
            </a:r>
            <a:r>
              <a:rPr sz="1950" spc="-15">
                <a:latin typeface="Calibri"/>
                <a:cs typeface="Calibri"/>
              </a:rPr>
              <a:t> </a:t>
            </a:r>
            <a:r>
              <a:rPr sz="1950">
                <a:latin typeface="Calibri"/>
                <a:cs typeface="Calibri"/>
              </a:rPr>
              <a:t>one’s</a:t>
            </a:r>
            <a:r>
              <a:rPr sz="1950" spc="-20">
                <a:latin typeface="Calibri"/>
                <a:cs typeface="Calibri"/>
              </a:rPr>
              <a:t> </a:t>
            </a:r>
            <a:r>
              <a:rPr sz="1950">
                <a:latin typeface="Calibri"/>
                <a:cs typeface="Calibri"/>
              </a:rPr>
              <a:t>own</a:t>
            </a:r>
            <a:r>
              <a:rPr sz="1950" spc="-15">
                <a:latin typeface="Calibri"/>
                <a:cs typeface="Calibri"/>
              </a:rPr>
              <a:t> </a:t>
            </a:r>
            <a:r>
              <a:rPr sz="1950">
                <a:latin typeface="Calibri"/>
                <a:cs typeface="Calibri"/>
              </a:rPr>
              <a:t>work,</a:t>
            </a:r>
            <a:r>
              <a:rPr sz="1950" spc="-15">
                <a:latin typeface="Calibri"/>
                <a:cs typeface="Calibri"/>
              </a:rPr>
              <a:t> </a:t>
            </a:r>
            <a:r>
              <a:rPr sz="1950">
                <a:latin typeface="Calibri"/>
                <a:cs typeface="Calibri"/>
              </a:rPr>
              <a:t>as</a:t>
            </a:r>
            <a:r>
              <a:rPr sz="1950" spc="-15">
                <a:latin typeface="Calibri"/>
                <a:cs typeface="Calibri"/>
              </a:rPr>
              <a:t> </a:t>
            </a:r>
            <a:r>
              <a:rPr sz="1950">
                <a:latin typeface="Calibri"/>
                <a:cs typeface="Calibri"/>
              </a:rPr>
              <a:t>a</a:t>
            </a:r>
            <a:r>
              <a:rPr sz="1950" spc="-15">
                <a:latin typeface="Calibri"/>
                <a:cs typeface="Calibri"/>
              </a:rPr>
              <a:t> </a:t>
            </a:r>
            <a:r>
              <a:rPr sz="1950" spc="-10">
                <a:latin typeface="Calibri"/>
                <a:cs typeface="Calibri"/>
              </a:rPr>
              <a:t>member </a:t>
            </a:r>
            <a:r>
              <a:rPr sz="1950">
                <a:latin typeface="Calibri"/>
                <a:cs typeface="Calibri"/>
              </a:rPr>
              <a:t>and</a:t>
            </a:r>
            <a:r>
              <a:rPr sz="1950" spc="-30">
                <a:latin typeface="Calibri"/>
                <a:cs typeface="Calibri"/>
              </a:rPr>
              <a:t> </a:t>
            </a:r>
            <a:r>
              <a:rPr sz="1950">
                <a:latin typeface="Calibri"/>
                <a:cs typeface="Calibri"/>
              </a:rPr>
              <a:t>leader</a:t>
            </a:r>
            <a:r>
              <a:rPr sz="1950" spc="-20">
                <a:latin typeface="Calibri"/>
                <a:cs typeface="Calibri"/>
              </a:rPr>
              <a:t> </a:t>
            </a:r>
            <a:r>
              <a:rPr sz="1950">
                <a:latin typeface="Calibri"/>
                <a:cs typeface="Calibri"/>
              </a:rPr>
              <a:t>in</a:t>
            </a:r>
            <a:r>
              <a:rPr sz="1950" spc="-20">
                <a:latin typeface="Calibri"/>
                <a:cs typeface="Calibri"/>
              </a:rPr>
              <a:t> </a:t>
            </a:r>
            <a:r>
              <a:rPr sz="1950">
                <a:latin typeface="Calibri"/>
                <a:cs typeface="Calibri"/>
              </a:rPr>
              <a:t>a</a:t>
            </a:r>
            <a:r>
              <a:rPr sz="1950" spc="-20">
                <a:latin typeface="Calibri"/>
                <a:cs typeface="Calibri"/>
              </a:rPr>
              <a:t> </a:t>
            </a:r>
            <a:r>
              <a:rPr sz="1950">
                <a:latin typeface="Calibri"/>
                <a:cs typeface="Calibri"/>
              </a:rPr>
              <a:t>team,</a:t>
            </a:r>
            <a:r>
              <a:rPr sz="1950" spc="-20">
                <a:latin typeface="Calibri"/>
                <a:cs typeface="Calibri"/>
              </a:rPr>
              <a:t> </a:t>
            </a:r>
            <a:r>
              <a:rPr sz="1950">
                <a:latin typeface="Calibri"/>
                <a:cs typeface="Calibri"/>
              </a:rPr>
              <a:t>and</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manage</a:t>
            </a:r>
            <a:r>
              <a:rPr sz="1950" spc="-20">
                <a:latin typeface="Calibri"/>
                <a:cs typeface="Calibri"/>
              </a:rPr>
              <a:t> </a:t>
            </a:r>
            <a:r>
              <a:rPr sz="1950">
                <a:latin typeface="Calibri"/>
                <a:cs typeface="Calibri"/>
              </a:rPr>
              <a:t>projects</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in</a:t>
            </a:r>
            <a:r>
              <a:rPr sz="1950" spc="-20">
                <a:latin typeface="Calibri"/>
                <a:cs typeface="Calibri"/>
              </a:rPr>
              <a:t> </a:t>
            </a:r>
            <a:r>
              <a:rPr sz="1950">
                <a:latin typeface="Calibri"/>
                <a:cs typeface="Calibri"/>
              </a:rPr>
              <a:t>multidisciplinary</a:t>
            </a:r>
            <a:r>
              <a:rPr sz="1950" spc="-15">
                <a:latin typeface="Calibri"/>
                <a:cs typeface="Calibri"/>
              </a:rPr>
              <a:t> </a:t>
            </a:r>
            <a:r>
              <a:rPr sz="1950" spc="-10">
                <a:latin typeface="Calibri"/>
                <a:cs typeface="Calibri"/>
              </a:rPr>
              <a:t>environments.</a:t>
            </a:r>
            <a:endParaRPr sz="1950">
              <a:latin typeface="Calibri"/>
              <a:cs typeface="Calibri"/>
            </a:endParaRPr>
          </a:p>
          <a:p>
            <a:pPr marL="201930" marR="31115" indent="-189865">
              <a:lnSpc>
                <a:spcPct val="70400"/>
              </a:lnSpc>
              <a:spcBef>
                <a:spcPts val="1000"/>
              </a:spcBef>
              <a:buFont typeface="Arial MT"/>
              <a:buChar char="•"/>
              <a:tabLst>
                <a:tab pos="203835" algn="l"/>
              </a:tabLst>
            </a:pPr>
            <a:r>
              <a:rPr sz="1950">
                <a:latin typeface="Calibri"/>
                <a:cs typeface="Calibri"/>
              </a:rPr>
              <a:t>PO11:</a:t>
            </a:r>
            <a:r>
              <a:rPr sz="1950" spc="-20">
                <a:latin typeface="Calibri"/>
                <a:cs typeface="Calibri"/>
              </a:rPr>
              <a:t> </a:t>
            </a:r>
            <a:r>
              <a:rPr sz="1950" spc="-10">
                <a:latin typeface="Calibri"/>
                <a:cs typeface="Calibri"/>
              </a:rPr>
              <a:t>Life-</a:t>
            </a:r>
            <a:r>
              <a:rPr sz="1950">
                <a:latin typeface="Calibri"/>
                <a:cs typeface="Calibri"/>
              </a:rPr>
              <a:t>Long</a:t>
            </a:r>
            <a:r>
              <a:rPr sz="1950" spc="-20">
                <a:latin typeface="Calibri"/>
                <a:cs typeface="Calibri"/>
              </a:rPr>
              <a:t> </a:t>
            </a:r>
            <a:r>
              <a:rPr sz="1950">
                <a:latin typeface="Calibri"/>
                <a:cs typeface="Calibri"/>
              </a:rPr>
              <a:t>Learning:</a:t>
            </a:r>
            <a:r>
              <a:rPr sz="1950" spc="-15">
                <a:latin typeface="Calibri"/>
                <a:cs typeface="Calibri"/>
              </a:rPr>
              <a:t> </a:t>
            </a:r>
            <a:r>
              <a:rPr sz="1950">
                <a:latin typeface="Calibri"/>
                <a:cs typeface="Calibri"/>
              </a:rPr>
              <a:t>Recognize</a:t>
            </a:r>
            <a:r>
              <a:rPr sz="1950" spc="-20">
                <a:latin typeface="Calibri"/>
                <a:cs typeface="Calibri"/>
              </a:rPr>
              <a:t> </a:t>
            </a:r>
            <a:r>
              <a:rPr sz="1950">
                <a:latin typeface="Calibri"/>
                <a:cs typeface="Calibri"/>
              </a:rPr>
              <a:t>the</a:t>
            </a:r>
            <a:r>
              <a:rPr sz="1950" spc="-15">
                <a:latin typeface="Calibri"/>
                <a:cs typeface="Calibri"/>
              </a:rPr>
              <a:t> </a:t>
            </a:r>
            <a:r>
              <a:rPr sz="1950">
                <a:latin typeface="Calibri"/>
                <a:cs typeface="Calibri"/>
              </a:rPr>
              <a:t>need</a:t>
            </a:r>
            <a:r>
              <a:rPr sz="1950" spc="-20">
                <a:latin typeface="Calibri"/>
                <a:cs typeface="Calibri"/>
              </a:rPr>
              <a:t> </a:t>
            </a:r>
            <a:r>
              <a:rPr sz="1950">
                <a:latin typeface="Calibri"/>
                <a:cs typeface="Calibri"/>
              </a:rPr>
              <a:t>for,</a:t>
            </a:r>
            <a:r>
              <a:rPr sz="1950" spc="-20">
                <a:latin typeface="Calibri"/>
                <a:cs typeface="Calibri"/>
              </a:rPr>
              <a:t> </a:t>
            </a:r>
            <a:r>
              <a:rPr sz="1950">
                <a:latin typeface="Calibri"/>
                <a:cs typeface="Calibri"/>
              </a:rPr>
              <a:t>and</a:t>
            </a:r>
            <a:r>
              <a:rPr sz="1950" spc="-15">
                <a:latin typeface="Calibri"/>
                <a:cs typeface="Calibri"/>
              </a:rPr>
              <a:t> </a:t>
            </a:r>
            <a:r>
              <a:rPr sz="1950">
                <a:latin typeface="Calibri"/>
                <a:cs typeface="Calibri"/>
              </a:rPr>
              <a:t>have</a:t>
            </a:r>
            <a:r>
              <a:rPr sz="1950" spc="-20">
                <a:latin typeface="Calibri"/>
                <a:cs typeface="Calibri"/>
              </a:rPr>
              <a:t> </a:t>
            </a:r>
            <a:r>
              <a:rPr sz="1950">
                <a:latin typeface="Calibri"/>
                <a:cs typeface="Calibri"/>
              </a:rPr>
              <a:t>the</a:t>
            </a:r>
            <a:r>
              <a:rPr sz="1950" spc="-15">
                <a:latin typeface="Calibri"/>
                <a:cs typeface="Calibri"/>
              </a:rPr>
              <a:t> </a:t>
            </a:r>
            <a:r>
              <a:rPr sz="1950">
                <a:latin typeface="Calibri"/>
                <a:cs typeface="Calibri"/>
              </a:rPr>
              <a:t>preparation</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ability</a:t>
            </a:r>
            <a:r>
              <a:rPr sz="1950" spc="-15">
                <a:latin typeface="Calibri"/>
                <a:cs typeface="Calibri"/>
              </a:rPr>
              <a:t> </a:t>
            </a:r>
            <a:r>
              <a:rPr sz="1950">
                <a:latin typeface="Calibri"/>
                <a:cs typeface="Calibri"/>
              </a:rPr>
              <a:t>for</a:t>
            </a:r>
            <a:r>
              <a:rPr sz="1950" spc="-20">
                <a:latin typeface="Calibri"/>
                <a:cs typeface="Calibri"/>
              </a:rPr>
              <a:t> </a:t>
            </a:r>
            <a:r>
              <a:rPr sz="1950">
                <a:latin typeface="Calibri"/>
                <a:cs typeface="Calibri"/>
              </a:rPr>
              <a:t>i)</a:t>
            </a:r>
            <a:r>
              <a:rPr sz="1950" spc="-15">
                <a:latin typeface="Calibri"/>
                <a:cs typeface="Calibri"/>
              </a:rPr>
              <a:t> </a:t>
            </a:r>
            <a:r>
              <a:rPr sz="1950" spc="-10">
                <a:latin typeface="Calibri"/>
                <a:cs typeface="Calibri"/>
              </a:rPr>
              <a:t>independent 	</a:t>
            </a:r>
            <a:r>
              <a:rPr sz="1950">
                <a:latin typeface="Calibri"/>
                <a:cs typeface="Calibri"/>
              </a:rPr>
              <a:t>and</a:t>
            </a:r>
            <a:r>
              <a:rPr sz="1950" spc="-30">
                <a:latin typeface="Calibri"/>
                <a:cs typeface="Calibri"/>
              </a:rPr>
              <a:t> </a:t>
            </a:r>
            <a:r>
              <a:rPr sz="1950" spc="-10">
                <a:latin typeface="Calibri"/>
                <a:cs typeface="Calibri"/>
              </a:rPr>
              <a:t>life-</a:t>
            </a:r>
            <a:r>
              <a:rPr sz="1950">
                <a:latin typeface="Calibri"/>
                <a:cs typeface="Calibri"/>
              </a:rPr>
              <a:t>long</a:t>
            </a:r>
            <a:r>
              <a:rPr sz="1950" spc="-20">
                <a:latin typeface="Calibri"/>
                <a:cs typeface="Calibri"/>
              </a:rPr>
              <a:t> </a:t>
            </a:r>
            <a:r>
              <a:rPr sz="1950">
                <a:latin typeface="Calibri"/>
                <a:cs typeface="Calibri"/>
              </a:rPr>
              <a:t>learning</a:t>
            </a:r>
            <a:r>
              <a:rPr sz="1950" spc="-15">
                <a:latin typeface="Calibri"/>
                <a:cs typeface="Calibri"/>
              </a:rPr>
              <a:t> </a:t>
            </a:r>
            <a:r>
              <a:rPr sz="1950">
                <a:latin typeface="Calibri"/>
                <a:cs typeface="Calibri"/>
              </a:rPr>
              <a:t>ii)</a:t>
            </a:r>
            <a:r>
              <a:rPr sz="1950" spc="-20">
                <a:latin typeface="Calibri"/>
                <a:cs typeface="Calibri"/>
              </a:rPr>
              <a:t> </a:t>
            </a:r>
            <a:r>
              <a:rPr sz="1950">
                <a:latin typeface="Calibri"/>
                <a:cs typeface="Calibri"/>
              </a:rPr>
              <a:t>adaptability</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new</a:t>
            </a:r>
            <a:r>
              <a:rPr sz="1950" spc="-15">
                <a:latin typeface="Calibri"/>
                <a:cs typeface="Calibri"/>
              </a:rPr>
              <a:t> </a:t>
            </a:r>
            <a:r>
              <a:rPr sz="1950">
                <a:latin typeface="Calibri"/>
                <a:cs typeface="Calibri"/>
              </a:rPr>
              <a:t>and</a:t>
            </a:r>
            <a:r>
              <a:rPr sz="1950" spc="-20">
                <a:latin typeface="Calibri"/>
                <a:cs typeface="Calibri"/>
              </a:rPr>
              <a:t> </a:t>
            </a:r>
            <a:r>
              <a:rPr sz="1950">
                <a:latin typeface="Calibri"/>
                <a:cs typeface="Calibri"/>
              </a:rPr>
              <a:t>emerging</a:t>
            </a:r>
            <a:r>
              <a:rPr sz="1950" spc="-15">
                <a:latin typeface="Calibri"/>
                <a:cs typeface="Calibri"/>
              </a:rPr>
              <a:t> </a:t>
            </a:r>
            <a:r>
              <a:rPr sz="1950" spc="-10">
                <a:latin typeface="Calibri"/>
                <a:cs typeface="Calibri"/>
              </a:rPr>
              <a:t>technologies</a:t>
            </a:r>
            <a:endParaRPr sz="1950">
              <a:latin typeface="Calibri"/>
              <a:cs typeface="Calibri"/>
            </a:endParaRPr>
          </a:p>
          <a:p>
            <a:pPr marL="201930" marR="20955" indent="-189865">
              <a:lnSpc>
                <a:spcPct val="70400"/>
              </a:lnSpc>
              <a:spcBef>
                <a:spcPts val="1000"/>
              </a:spcBef>
              <a:buFont typeface="Arial MT"/>
              <a:buChar char="•"/>
              <a:tabLst>
                <a:tab pos="203835" algn="l"/>
              </a:tabLst>
            </a:pPr>
            <a:r>
              <a:rPr sz="1950">
                <a:latin typeface="Calibri"/>
                <a:cs typeface="Calibri"/>
              </a:rPr>
              <a:t>[PSO</a:t>
            </a:r>
            <a:r>
              <a:rPr sz="1950" spc="-30">
                <a:latin typeface="Calibri"/>
                <a:cs typeface="Calibri"/>
              </a:rPr>
              <a:t> </a:t>
            </a:r>
            <a:r>
              <a:rPr sz="1950">
                <a:latin typeface="Calibri"/>
                <a:cs typeface="Calibri"/>
              </a:rPr>
              <a:t>1]</a:t>
            </a:r>
            <a:r>
              <a:rPr sz="1950" spc="-20">
                <a:latin typeface="Calibri"/>
                <a:cs typeface="Calibri"/>
              </a:rPr>
              <a:t> </a:t>
            </a:r>
            <a:r>
              <a:rPr sz="1950">
                <a:latin typeface="Calibri"/>
                <a:cs typeface="Calibri"/>
              </a:rPr>
              <a:t>An</a:t>
            </a:r>
            <a:r>
              <a:rPr sz="1950" spc="-15">
                <a:latin typeface="Calibri"/>
                <a:cs typeface="Calibri"/>
              </a:rPr>
              <a:t> </a:t>
            </a:r>
            <a:r>
              <a:rPr sz="1950">
                <a:latin typeface="Calibri"/>
                <a:cs typeface="Calibri"/>
              </a:rPr>
              <a:t>ability</a:t>
            </a:r>
            <a:r>
              <a:rPr sz="1950" spc="-20">
                <a:latin typeface="Calibri"/>
                <a:cs typeface="Calibri"/>
              </a:rPr>
              <a:t> </a:t>
            </a:r>
            <a:r>
              <a:rPr sz="1950">
                <a:latin typeface="Calibri"/>
                <a:cs typeface="Calibri"/>
              </a:rPr>
              <a:t>to</a:t>
            </a:r>
            <a:r>
              <a:rPr sz="1950" spc="-20">
                <a:latin typeface="Calibri"/>
                <a:cs typeface="Calibri"/>
              </a:rPr>
              <a:t> </a:t>
            </a:r>
            <a:r>
              <a:rPr sz="1950">
                <a:latin typeface="Calibri"/>
                <a:cs typeface="Calibri"/>
              </a:rPr>
              <a:t>acquire</a:t>
            </a:r>
            <a:r>
              <a:rPr sz="1950" spc="-15">
                <a:latin typeface="Calibri"/>
                <a:cs typeface="Calibri"/>
              </a:rPr>
              <a:t> </a:t>
            </a:r>
            <a:r>
              <a:rPr sz="1950">
                <a:latin typeface="Calibri"/>
                <a:cs typeface="Calibri"/>
              </a:rPr>
              <a:t>skills</a:t>
            </a:r>
            <a:r>
              <a:rPr sz="1950" spc="-20">
                <a:latin typeface="Calibri"/>
                <a:cs typeface="Calibri"/>
              </a:rPr>
              <a:t> </a:t>
            </a:r>
            <a:r>
              <a:rPr sz="1950">
                <a:latin typeface="Calibri"/>
                <a:cs typeface="Calibri"/>
              </a:rPr>
              <a:t>to</a:t>
            </a:r>
            <a:r>
              <a:rPr sz="1950" spc="-15">
                <a:latin typeface="Calibri"/>
                <a:cs typeface="Calibri"/>
              </a:rPr>
              <a:t> </a:t>
            </a:r>
            <a:r>
              <a:rPr sz="1950">
                <a:latin typeface="Calibri"/>
                <a:cs typeface="Calibri"/>
              </a:rPr>
              <a:t>design</a:t>
            </a:r>
            <a:r>
              <a:rPr sz="1950" spc="-20">
                <a:latin typeface="Calibri"/>
                <a:cs typeface="Calibri"/>
              </a:rPr>
              <a:t> </a:t>
            </a:r>
            <a:r>
              <a:rPr sz="1950">
                <a:latin typeface="Calibri"/>
                <a:cs typeface="Calibri"/>
              </a:rPr>
              <a:t>&amp;</a:t>
            </a:r>
            <a:r>
              <a:rPr sz="1950" spc="-20">
                <a:latin typeface="Calibri"/>
                <a:cs typeface="Calibri"/>
              </a:rPr>
              <a:t> </a:t>
            </a:r>
            <a:r>
              <a:rPr sz="1950">
                <a:latin typeface="Calibri"/>
                <a:cs typeface="Calibri"/>
              </a:rPr>
              <a:t>develop</a:t>
            </a:r>
            <a:r>
              <a:rPr sz="1950" spc="-15">
                <a:latin typeface="Calibri"/>
                <a:cs typeface="Calibri"/>
              </a:rPr>
              <a:t> </a:t>
            </a:r>
            <a:r>
              <a:rPr sz="1950">
                <a:latin typeface="Calibri"/>
                <a:cs typeface="Calibri"/>
              </a:rPr>
              <a:t>quality</a:t>
            </a:r>
            <a:r>
              <a:rPr sz="1950" spc="-20">
                <a:latin typeface="Calibri"/>
                <a:cs typeface="Calibri"/>
              </a:rPr>
              <a:t> </a:t>
            </a:r>
            <a:r>
              <a:rPr sz="1950">
                <a:latin typeface="Calibri"/>
                <a:cs typeface="Calibri"/>
              </a:rPr>
              <a:t>software</a:t>
            </a:r>
            <a:r>
              <a:rPr sz="1950" spc="-20">
                <a:latin typeface="Calibri"/>
                <a:cs typeface="Calibri"/>
              </a:rPr>
              <a:t> </a:t>
            </a:r>
            <a:r>
              <a:rPr sz="1950">
                <a:latin typeface="Calibri"/>
                <a:cs typeface="Calibri"/>
              </a:rPr>
              <a:t>using</a:t>
            </a:r>
            <a:r>
              <a:rPr sz="1950" spc="-15">
                <a:latin typeface="Calibri"/>
                <a:cs typeface="Calibri"/>
              </a:rPr>
              <a:t> </a:t>
            </a:r>
            <a:r>
              <a:rPr sz="1950" spc="-10">
                <a:latin typeface="Calibri"/>
                <a:cs typeface="Calibri"/>
              </a:rPr>
              <a:t>cutting-</a:t>
            </a:r>
            <a:r>
              <a:rPr sz="1950">
                <a:latin typeface="Calibri"/>
                <a:cs typeface="Calibri"/>
              </a:rPr>
              <a:t>edge</a:t>
            </a:r>
            <a:r>
              <a:rPr sz="1950" spc="-20">
                <a:latin typeface="Calibri"/>
                <a:cs typeface="Calibri"/>
              </a:rPr>
              <a:t> </a:t>
            </a:r>
            <a:r>
              <a:rPr sz="1950">
                <a:latin typeface="Calibri"/>
                <a:cs typeface="Calibri"/>
              </a:rPr>
              <a:t>technologies</a:t>
            </a:r>
            <a:r>
              <a:rPr sz="1950" spc="-15">
                <a:latin typeface="Calibri"/>
                <a:cs typeface="Calibri"/>
              </a:rPr>
              <a:t> </a:t>
            </a:r>
            <a:r>
              <a:rPr sz="1950" spc="-25">
                <a:latin typeface="Calibri"/>
                <a:cs typeface="Calibri"/>
              </a:rPr>
              <a:t>of 	</a:t>
            </a:r>
            <a:r>
              <a:rPr sz="1950">
                <a:latin typeface="Calibri"/>
                <a:cs typeface="Calibri"/>
              </a:rPr>
              <a:t>Computer</a:t>
            </a:r>
            <a:r>
              <a:rPr sz="1950" spc="-35">
                <a:latin typeface="Calibri"/>
                <a:cs typeface="Calibri"/>
              </a:rPr>
              <a:t> </a:t>
            </a:r>
            <a:r>
              <a:rPr sz="1950" spc="-10">
                <a:latin typeface="Calibri"/>
                <a:cs typeface="Calibri"/>
              </a:rPr>
              <a:t>Engineering.</a:t>
            </a:r>
            <a:endParaRPr sz="1950">
              <a:latin typeface="Calibri"/>
              <a:cs typeface="Calibri"/>
            </a:endParaRPr>
          </a:p>
          <a:p>
            <a:pPr marL="201930" marR="255904" indent="-189865">
              <a:lnSpc>
                <a:spcPct val="70400"/>
              </a:lnSpc>
              <a:spcBef>
                <a:spcPts val="994"/>
              </a:spcBef>
              <a:buFont typeface="Arial MT"/>
              <a:buChar char="•"/>
              <a:tabLst>
                <a:tab pos="203835" algn="l"/>
              </a:tabLst>
            </a:pPr>
            <a:r>
              <a:rPr sz="1950">
                <a:latin typeface="Calibri"/>
                <a:cs typeface="Calibri"/>
              </a:rPr>
              <a:t>[PSO</a:t>
            </a:r>
            <a:r>
              <a:rPr sz="1950" spc="-30">
                <a:latin typeface="Calibri"/>
                <a:cs typeface="Calibri"/>
              </a:rPr>
              <a:t> </a:t>
            </a:r>
            <a:r>
              <a:rPr sz="1950">
                <a:latin typeface="Calibri"/>
                <a:cs typeface="Calibri"/>
              </a:rPr>
              <a:t>2]</a:t>
            </a:r>
            <a:r>
              <a:rPr sz="1950" spc="-15">
                <a:latin typeface="Calibri"/>
                <a:cs typeface="Calibri"/>
              </a:rPr>
              <a:t> </a:t>
            </a:r>
            <a:r>
              <a:rPr sz="1950">
                <a:latin typeface="Calibri"/>
                <a:cs typeface="Calibri"/>
              </a:rPr>
              <a:t>An</a:t>
            </a:r>
            <a:r>
              <a:rPr sz="1950" spc="-20">
                <a:latin typeface="Calibri"/>
                <a:cs typeface="Calibri"/>
              </a:rPr>
              <a:t> </a:t>
            </a:r>
            <a:r>
              <a:rPr sz="1950">
                <a:latin typeface="Calibri"/>
                <a:cs typeface="Calibri"/>
              </a:rPr>
              <a:t>ability</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use</a:t>
            </a:r>
            <a:r>
              <a:rPr sz="1950" spc="-15">
                <a:latin typeface="Calibri"/>
                <a:cs typeface="Calibri"/>
              </a:rPr>
              <a:t> </a:t>
            </a:r>
            <a:r>
              <a:rPr sz="1950">
                <a:latin typeface="Calibri"/>
                <a:cs typeface="Calibri"/>
              </a:rPr>
              <a:t>knowledge</a:t>
            </a:r>
            <a:r>
              <a:rPr sz="1950" spc="-15">
                <a:latin typeface="Calibri"/>
                <a:cs typeface="Calibri"/>
              </a:rPr>
              <a:t> </a:t>
            </a:r>
            <a:r>
              <a:rPr sz="1950">
                <a:latin typeface="Calibri"/>
                <a:cs typeface="Calibri"/>
              </a:rPr>
              <a:t>of</a:t>
            </a:r>
            <a:r>
              <a:rPr sz="1950" spc="-20">
                <a:latin typeface="Calibri"/>
                <a:cs typeface="Calibri"/>
              </a:rPr>
              <a:t> </a:t>
            </a:r>
            <a:r>
              <a:rPr sz="1950">
                <a:latin typeface="Calibri"/>
                <a:cs typeface="Calibri"/>
              </a:rPr>
              <a:t>various</a:t>
            </a:r>
            <a:r>
              <a:rPr sz="1950" spc="-15">
                <a:latin typeface="Calibri"/>
                <a:cs typeface="Calibri"/>
              </a:rPr>
              <a:t> </a:t>
            </a:r>
            <a:r>
              <a:rPr sz="1950">
                <a:latin typeface="Calibri"/>
                <a:cs typeface="Calibri"/>
              </a:rPr>
              <a:t>domains</a:t>
            </a:r>
            <a:r>
              <a:rPr sz="1950" spc="-20">
                <a:latin typeface="Calibri"/>
                <a:cs typeface="Calibri"/>
              </a:rPr>
              <a:t> </a:t>
            </a:r>
            <a:r>
              <a:rPr sz="1950">
                <a:latin typeface="Calibri"/>
                <a:cs typeface="Calibri"/>
              </a:rPr>
              <a:t>as</a:t>
            </a:r>
            <a:r>
              <a:rPr sz="1950" spc="-15">
                <a:latin typeface="Calibri"/>
                <a:cs typeface="Calibri"/>
              </a:rPr>
              <a:t> </a:t>
            </a:r>
            <a:r>
              <a:rPr sz="1950">
                <a:latin typeface="Calibri"/>
                <a:cs typeface="Calibri"/>
              </a:rPr>
              <a:t>per</a:t>
            </a:r>
            <a:r>
              <a:rPr sz="1950" spc="-15">
                <a:latin typeface="Calibri"/>
                <a:cs typeface="Calibri"/>
              </a:rPr>
              <a:t> </a:t>
            </a:r>
            <a:r>
              <a:rPr sz="1950">
                <a:latin typeface="Calibri"/>
                <a:cs typeface="Calibri"/>
              </a:rPr>
              <a:t>thrust</a:t>
            </a:r>
            <a:r>
              <a:rPr sz="1950" spc="-20">
                <a:latin typeface="Calibri"/>
                <a:cs typeface="Calibri"/>
              </a:rPr>
              <a:t> </a:t>
            </a:r>
            <a:r>
              <a:rPr sz="1950">
                <a:latin typeface="Calibri"/>
                <a:cs typeface="Calibri"/>
              </a:rPr>
              <a:t>areas</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formulate</a:t>
            </a:r>
            <a:r>
              <a:rPr sz="1950" spc="-15">
                <a:latin typeface="Calibri"/>
                <a:cs typeface="Calibri"/>
              </a:rPr>
              <a:t> </a:t>
            </a:r>
            <a:r>
              <a:rPr sz="1950">
                <a:latin typeface="Calibri"/>
                <a:cs typeface="Calibri"/>
              </a:rPr>
              <a:t>and</a:t>
            </a:r>
            <a:r>
              <a:rPr sz="1950" spc="-15">
                <a:latin typeface="Calibri"/>
                <a:cs typeface="Calibri"/>
              </a:rPr>
              <a:t> </a:t>
            </a:r>
            <a:r>
              <a:rPr sz="1950" spc="-10">
                <a:latin typeface="Calibri"/>
                <a:cs typeface="Calibri"/>
              </a:rPr>
              <a:t>implement 	</a:t>
            </a:r>
            <a:r>
              <a:rPr sz="1950">
                <a:latin typeface="Calibri"/>
                <a:cs typeface="Calibri"/>
              </a:rPr>
              <a:t>ideas</a:t>
            </a:r>
            <a:r>
              <a:rPr sz="1950" spc="-30">
                <a:latin typeface="Calibri"/>
                <a:cs typeface="Calibri"/>
              </a:rPr>
              <a:t> </a:t>
            </a:r>
            <a:r>
              <a:rPr sz="1950">
                <a:latin typeface="Calibri"/>
                <a:cs typeface="Calibri"/>
              </a:rPr>
              <a:t>for</a:t>
            </a:r>
            <a:r>
              <a:rPr sz="1950" spc="-30">
                <a:latin typeface="Calibri"/>
                <a:cs typeface="Calibri"/>
              </a:rPr>
              <a:t> </a:t>
            </a:r>
            <a:r>
              <a:rPr sz="1950">
                <a:latin typeface="Calibri"/>
                <a:cs typeface="Calibri"/>
              </a:rPr>
              <a:t>providing</a:t>
            </a:r>
            <a:r>
              <a:rPr sz="1950" spc="-30">
                <a:latin typeface="Calibri"/>
                <a:cs typeface="Calibri"/>
              </a:rPr>
              <a:t> </a:t>
            </a:r>
            <a:r>
              <a:rPr sz="1950">
                <a:latin typeface="Calibri"/>
                <a:cs typeface="Calibri"/>
              </a:rPr>
              <a:t>innovative</a:t>
            </a:r>
            <a:r>
              <a:rPr sz="1950" spc="-25">
                <a:latin typeface="Calibri"/>
                <a:cs typeface="Calibri"/>
              </a:rPr>
              <a:t> </a:t>
            </a:r>
            <a:r>
              <a:rPr sz="1950" spc="-10">
                <a:latin typeface="Calibri"/>
                <a:cs typeface="Calibri"/>
              </a:rPr>
              <a:t>solutions.</a:t>
            </a:r>
            <a:endParaRPr sz="195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400">
                <a:solidFill>
                  <a:srgbClr val="000000"/>
                </a:solidFill>
              </a:rPr>
              <a:t>Course</a:t>
            </a:r>
            <a:r>
              <a:rPr sz="4400" spc="-30">
                <a:solidFill>
                  <a:srgbClr val="000000"/>
                </a:solidFill>
              </a:rPr>
              <a:t> </a:t>
            </a:r>
            <a:r>
              <a:rPr sz="4400" spc="-10">
                <a:solidFill>
                  <a:srgbClr val="000000"/>
                </a:solidFill>
              </a:rPr>
              <a:t>Outcomes</a:t>
            </a:r>
            <a:endParaRPr sz="4400"/>
          </a:p>
        </p:txBody>
      </p:sp>
      <p:graphicFrame>
        <p:nvGraphicFramePr>
          <p:cNvPr id="3" name="object 3"/>
          <p:cNvGraphicFramePr>
            <a:graphicFrameLocks noGrp="1"/>
          </p:cNvGraphicFramePr>
          <p:nvPr/>
        </p:nvGraphicFramePr>
        <p:xfrm>
          <a:off x="430069" y="1600779"/>
          <a:ext cx="11137258" cy="4775832"/>
        </p:xfrm>
        <a:graphic>
          <a:graphicData uri="http://schemas.openxmlformats.org/drawingml/2006/table">
            <a:tbl>
              <a:tblPr firstRow="1" bandRow="1">
                <a:tableStyleId>{2D5ABB26-0587-4C30-8999-92F81FD0307C}</a:tableStyleId>
              </a:tblPr>
              <a:tblGrid>
                <a:gridCol w="3235325">
                  <a:extLst>
                    <a:ext uri="{9D8B030D-6E8A-4147-A177-3AD203B41FA5}">
                      <a16:colId xmlns:a16="http://schemas.microsoft.com/office/drawing/2014/main" val="20000"/>
                    </a:ext>
                  </a:extLst>
                </a:gridCol>
                <a:gridCol w="582295">
                  <a:extLst>
                    <a:ext uri="{9D8B030D-6E8A-4147-A177-3AD203B41FA5}">
                      <a16:colId xmlns:a16="http://schemas.microsoft.com/office/drawing/2014/main" val="20001"/>
                    </a:ext>
                  </a:extLst>
                </a:gridCol>
                <a:gridCol w="596264">
                  <a:extLst>
                    <a:ext uri="{9D8B030D-6E8A-4147-A177-3AD203B41FA5}">
                      <a16:colId xmlns:a16="http://schemas.microsoft.com/office/drawing/2014/main" val="20002"/>
                    </a:ext>
                  </a:extLst>
                </a:gridCol>
                <a:gridCol w="527050">
                  <a:extLst>
                    <a:ext uri="{9D8B030D-6E8A-4147-A177-3AD203B41FA5}">
                      <a16:colId xmlns:a16="http://schemas.microsoft.com/office/drawing/2014/main" val="20003"/>
                    </a:ext>
                  </a:extLst>
                </a:gridCol>
                <a:gridCol w="638175">
                  <a:extLst>
                    <a:ext uri="{9D8B030D-6E8A-4147-A177-3AD203B41FA5}">
                      <a16:colId xmlns:a16="http://schemas.microsoft.com/office/drawing/2014/main" val="20004"/>
                    </a:ext>
                  </a:extLst>
                </a:gridCol>
                <a:gridCol w="582929">
                  <a:extLst>
                    <a:ext uri="{9D8B030D-6E8A-4147-A177-3AD203B41FA5}">
                      <a16:colId xmlns:a16="http://schemas.microsoft.com/office/drawing/2014/main" val="20005"/>
                    </a:ext>
                  </a:extLst>
                </a:gridCol>
                <a:gridCol w="554989">
                  <a:extLst>
                    <a:ext uri="{9D8B030D-6E8A-4147-A177-3AD203B41FA5}">
                      <a16:colId xmlns:a16="http://schemas.microsoft.com/office/drawing/2014/main" val="20006"/>
                    </a:ext>
                  </a:extLst>
                </a:gridCol>
                <a:gridCol w="582929">
                  <a:extLst>
                    <a:ext uri="{9D8B030D-6E8A-4147-A177-3AD203B41FA5}">
                      <a16:colId xmlns:a16="http://schemas.microsoft.com/office/drawing/2014/main" val="20007"/>
                    </a:ext>
                  </a:extLst>
                </a:gridCol>
                <a:gridCol w="568959">
                  <a:extLst>
                    <a:ext uri="{9D8B030D-6E8A-4147-A177-3AD203B41FA5}">
                      <a16:colId xmlns:a16="http://schemas.microsoft.com/office/drawing/2014/main" val="20008"/>
                    </a:ext>
                  </a:extLst>
                </a:gridCol>
                <a:gridCol w="485775">
                  <a:extLst>
                    <a:ext uri="{9D8B030D-6E8A-4147-A177-3AD203B41FA5}">
                      <a16:colId xmlns:a16="http://schemas.microsoft.com/office/drawing/2014/main" val="20009"/>
                    </a:ext>
                  </a:extLst>
                </a:gridCol>
                <a:gridCol w="672465">
                  <a:extLst>
                    <a:ext uri="{9D8B030D-6E8A-4147-A177-3AD203B41FA5}">
                      <a16:colId xmlns:a16="http://schemas.microsoft.com/office/drawing/2014/main" val="20010"/>
                    </a:ext>
                  </a:extLst>
                </a:gridCol>
                <a:gridCol w="467995">
                  <a:extLst>
                    <a:ext uri="{9D8B030D-6E8A-4147-A177-3AD203B41FA5}">
                      <a16:colId xmlns:a16="http://schemas.microsoft.com/office/drawing/2014/main" val="20011"/>
                    </a:ext>
                  </a:extLst>
                </a:gridCol>
                <a:gridCol w="821054">
                  <a:extLst>
                    <a:ext uri="{9D8B030D-6E8A-4147-A177-3AD203B41FA5}">
                      <a16:colId xmlns:a16="http://schemas.microsoft.com/office/drawing/2014/main" val="20012"/>
                    </a:ext>
                  </a:extLst>
                </a:gridCol>
                <a:gridCol w="821054">
                  <a:extLst>
                    <a:ext uri="{9D8B030D-6E8A-4147-A177-3AD203B41FA5}">
                      <a16:colId xmlns:a16="http://schemas.microsoft.com/office/drawing/2014/main" val="20013"/>
                    </a:ext>
                  </a:extLst>
                </a:gridCol>
              </a:tblGrid>
              <a:tr h="1073150">
                <a:tc>
                  <a:txBody>
                    <a:bodyPr/>
                    <a:lstStyle/>
                    <a:p>
                      <a:pPr marL="85090">
                        <a:lnSpc>
                          <a:spcPct val="100000"/>
                        </a:lnSpc>
                        <a:spcBef>
                          <a:spcPts val="225"/>
                        </a:spcBef>
                      </a:pPr>
                      <a:r>
                        <a:rPr sz="1800" b="1">
                          <a:solidFill>
                            <a:srgbClr val="FFFFFF"/>
                          </a:solidFill>
                          <a:latin typeface="Calibri"/>
                          <a:cs typeface="Calibri"/>
                        </a:rPr>
                        <a:t>Course</a:t>
                      </a:r>
                      <a:r>
                        <a:rPr sz="1800" b="1" spc="-40">
                          <a:solidFill>
                            <a:srgbClr val="FFFFFF"/>
                          </a:solidFill>
                          <a:latin typeface="Calibri"/>
                          <a:cs typeface="Calibri"/>
                        </a:rPr>
                        <a:t> </a:t>
                      </a:r>
                      <a:r>
                        <a:rPr sz="1800" b="1" spc="-10">
                          <a:solidFill>
                            <a:srgbClr val="FFFFFF"/>
                          </a:solidFill>
                          <a:latin typeface="Calibri"/>
                          <a:cs typeface="Calibri"/>
                        </a:rPr>
                        <a:t>Outcomes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gridSpan="11">
                  <a:txBody>
                    <a:bodyPr/>
                    <a:lstStyle/>
                    <a:p>
                      <a:pPr algn="ctr">
                        <a:lnSpc>
                          <a:spcPct val="100000"/>
                        </a:lnSpc>
                        <a:spcBef>
                          <a:spcPts val="225"/>
                        </a:spcBef>
                      </a:pPr>
                      <a:r>
                        <a:rPr sz="1800" b="1">
                          <a:solidFill>
                            <a:srgbClr val="FFFFFF"/>
                          </a:solidFill>
                          <a:latin typeface="Calibri"/>
                          <a:cs typeface="Calibri"/>
                        </a:rPr>
                        <a:t>Program</a:t>
                      </a:r>
                      <a:r>
                        <a:rPr sz="1800" b="1" spc="-45">
                          <a:solidFill>
                            <a:srgbClr val="FFFFFF"/>
                          </a:solidFill>
                          <a:latin typeface="Calibri"/>
                          <a:cs typeface="Calibri"/>
                        </a:rPr>
                        <a:t> </a:t>
                      </a:r>
                      <a:r>
                        <a:rPr sz="1800" b="1" spc="-10">
                          <a:solidFill>
                            <a:srgbClr val="FFFFFF"/>
                          </a:solidFill>
                          <a:latin typeface="Calibri"/>
                          <a:cs typeface="Calibri"/>
                        </a:rPr>
                        <a:t>Outcomes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marL="85725" marR="580390">
                        <a:lnSpc>
                          <a:spcPct val="100000"/>
                        </a:lnSpc>
                        <a:spcBef>
                          <a:spcPts val="225"/>
                        </a:spcBef>
                      </a:pPr>
                      <a:r>
                        <a:rPr sz="1800" b="1" spc="-10">
                          <a:solidFill>
                            <a:srgbClr val="FFFFFF"/>
                          </a:solidFill>
                          <a:latin typeface="Calibri"/>
                          <a:cs typeface="Calibri"/>
                        </a:rPr>
                        <a:t>Program Specific Outcomes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hMerge="1">
                  <a:txBody>
                    <a:bodyPr/>
                    <a:lstStyle/>
                    <a:p>
                      <a:endParaRPr/>
                    </a:p>
                  </a:txBody>
                  <a:tcPr marL="0" marR="0" marT="0" marB="0"/>
                </a:tc>
                <a:extLst>
                  <a:ext uri="{0D108BD9-81ED-4DB2-BD59-A6C34878D82A}">
                    <a16:rowId xmlns:a16="http://schemas.microsoft.com/office/drawing/2014/main" val="10000"/>
                  </a:ext>
                </a:extLst>
              </a:tr>
              <a:tr h="434975">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1</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2</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3</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4</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5</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6</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7</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8</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9</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5">
                          <a:latin typeface="Calibri"/>
                          <a:cs typeface="Calibri"/>
                        </a:rPr>
                        <a:t>10</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5">
                          <a:latin typeface="Calibri"/>
                          <a:cs typeface="Calibri"/>
                        </a:rPr>
                        <a:t>11</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0">
                          <a:latin typeface="Calibri"/>
                          <a:cs typeface="Calibri"/>
                        </a:rPr>
                        <a:t>PSO1</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0">
                          <a:latin typeface="Calibri"/>
                          <a:cs typeface="Calibri"/>
                        </a:rPr>
                        <a:t>PSO2</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extLst>
                  <a:ext uri="{0D108BD9-81ED-4DB2-BD59-A6C34878D82A}">
                    <a16:rowId xmlns:a16="http://schemas.microsoft.com/office/drawing/2014/main" val="10001"/>
                  </a:ext>
                </a:extLst>
              </a:tr>
              <a:tr h="944244">
                <a:tc>
                  <a:txBody>
                    <a:bodyPr/>
                    <a:lstStyle/>
                    <a:p>
                      <a:pPr marL="85090" marR="144780">
                        <a:lnSpc>
                          <a:spcPct val="100000"/>
                        </a:lnSpc>
                        <a:spcBef>
                          <a:spcPts val="244"/>
                        </a:spcBef>
                      </a:pPr>
                      <a:r>
                        <a:rPr sz="1400" spc="-10">
                          <a:latin typeface="Calibri"/>
                          <a:cs typeface="Calibri"/>
                        </a:rPr>
                        <a:t>Identify</a:t>
                      </a:r>
                      <a:r>
                        <a:rPr sz="1400" spc="-25">
                          <a:latin typeface="Calibri"/>
                          <a:cs typeface="Calibri"/>
                        </a:rPr>
                        <a:t> </a:t>
                      </a:r>
                      <a:r>
                        <a:rPr sz="1400">
                          <a:latin typeface="Calibri"/>
                          <a:cs typeface="Calibri"/>
                        </a:rPr>
                        <a:t>a</a:t>
                      </a:r>
                      <a:r>
                        <a:rPr sz="1400" spc="-25">
                          <a:latin typeface="Calibri"/>
                          <a:cs typeface="Calibri"/>
                        </a:rPr>
                        <a:t> </a:t>
                      </a:r>
                      <a:r>
                        <a:rPr sz="1400" spc="-10">
                          <a:latin typeface="Calibri"/>
                          <a:cs typeface="Calibri"/>
                        </a:rPr>
                        <a:t>problem,</a:t>
                      </a:r>
                      <a:r>
                        <a:rPr sz="1400" spc="-20">
                          <a:latin typeface="Calibri"/>
                          <a:cs typeface="Calibri"/>
                        </a:rPr>
                        <a:t> </a:t>
                      </a:r>
                      <a:r>
                        <a:rPr sz="1400">
                          <a:latin typeface="Calibri"/>
                          <a:cs typeface="Calibri"/>
                        </a:rPr>
                        <a:t>analyze</a:t>
                      </a:r>
                      <a:r>
                        <a:rPr sz="1400" spc="-25">
                          <a:latin typeface="Calibri"/>
                          <a:cs typeface="Calibri"/>
                        </a:rPr>
                        <a:t> </a:t>
                      </a:r>
                      <a:r>
                        <a:rPr sz="1400" spc="-10">
                          <a:latin typeface="Calibri"/>
                          <a:cs typeface="Calibri"/>
                        </a:rPr>
                        <a:t>research</a:t>
                      </a:r>
                      <a:r>
                        <a:rPr sz="1400" spc="-20">
                          <a:latin typeface="Calibri"/>
                          <a:cs typeface="Calibri"/>
                        </a:rPr>
                        <a:t> gaps </a:t>
                      </a:r>
                      <a:r>
                        <a:rPr sz="1400" spc="-10">
                          <a:latin typeface="Calibri"/>
                          <a:cs typeface="Calibri"/>
                        </a:rPr>
                        <a:t>through</a:t>
                      </a:r>
                      <a:r>
                        <a:rPr sz="1400" spc="-30">
                          <a:latin typeface="Calibri"/>
                          <a:cs typeface="Calibri"/>
                        </a:rPr>
                        <a:t> </a:t>
                      </a:r>
                      <a:r>
                        <a:rPr sz="1400">
                          <a:latin typeface="Calibri"/>
                          <a:cs typeface="Calibri"/>
                        </a:rPr>
                        <a:t>a</a:t>
                      </a:r>
                      <a:r>
                        <a:rPr sz="1400" spc="-30">
                          <a:latin typeface="Calibri"/>
                          <a:cs typeface="Calibri"/>
                        </a:rPr>
                        <a:t> </a:t>
                      </a:r>
                      <a:r>
                        <a:rPr sz="1400" spc="-10">
                          <a:latin typeface="Calibri"/>
                          <a:cs typeface="Calibri"/>
                        </a:rPr>
                        <a:t>literature</a:t>
                      </a:r>
                      <a:r>
                        <a:rPr sz="1400" spc="-25">
                          <a:latin typeface="Calibri"/>
                          <a:cs typeface="Calibri"/>
                        </a:rPr>
                        <a:t> </a:t>
                      </a:r>
                      <a:r>
                        <a:rPr sz="1400">
                          <a:latin typeface="Calibri"/>
                          <a:cs typeface="Calibri"/>
                        </a:rPr>
                        <a:t>survey,</a:t>
                      </a:r>
                      <a:r>
                        <a:rPr sz="1400" spc="-30">
                          <a:latin typeface="Calibri"/>
                          <a:cs typeface="Calibri"/>
                        </a:rPr>
                        <a:t> </a:t>
                      </a:r>
                      <a:r>
                        <a:rPr sz="1400">
                          <a:latin typeface="Calibri"/>
                          <a:cs typeface="Calibri"/>
                        </a:rPr>
                        <a:t>and</a:t>
                      </a:r>
                      <a:r>
                        <a:rPr sz="1400" spc="-25">
                          <a:latin typeface="Calibri"/>
                          <a:cs typeface="Calibri"/>
                        </a:rPr>
                        <a:t> </a:t>
                      </a:r>
                      <a:r>
                        <a:rPr sz="1400" spc="-10">
                          <a:latin typeface="Calibri"/>
                          <a:cs typeface="Calibri"/>
                        </a:rPr>
                        <a:t>propose </a:t>
                      </a:r>
                      <a:r>
                        <a:rPr sz="1400">
                          <a:latin typeface="Calibri"/>
                          <a:cs typeface="Calibri"/>
                        </a:rPr>
                        <a:t>an</a:t>
                      </a:r>
                      <a:r>
                        <a:rPr sz="1400" spc="-15">
                          <a:latin typeface="Calibri"/>
                          <a:cs typeface="Calibri"/>
                        </a:rPr>
                        <a:t> </a:t>
                      </a:r>
                      <a:r>
                        <a:rPr sz="1400" spc="-10">
                          <a:latin typeface="Calibri"/>
                          <a:cs typeface="Calibri"/>
                        </a:rPr>
                        <a:t>ethical, innovative solution </a:t>
                      </a:r>
                      <a:r>
                        <a:rPr sz="1400" spc="-20">
                          <a:latin typeface="Calibri"/>
                          <a:cs typeface="Calibri"/>
                        </a:rPr>
                        <a:t>with </a:t>
                      </a:r>
                      <a:r>
                        <a:rPr sz="1400" spc="-10">
                          <a:latin typeface="Calibri"/>
                          <a:cs typeface="Calibri"/>
                        </a:rPr>
                        <a:t>societal</a:t>
                      </a:r>
                      <a:r>
                        <a:rPr sz="1400" spc="-5">
                          <a:latin typeface="Calibri"/>
                          <a:cs typeface="Calibri"/>
                        </a:rPr>
                        <a:t> </a:t>
                      </a:r>
                      <a:r>
                        <a:rPr sz="1400" spc="-10">
                          <a:latin typeface="Calibri"/>
                          <a:cs typeface="Calibri"/>
                        </a:rPr>
                        <a:t>impact.</a:t>
                      </a:r>
                      <a:endParaRPr sz="14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extLst>
                  <a:ext uri="{0D108BD9-81ED-4DB2-BD59-A6C34878D82A}">
                    <a16:rowId xmlns:a16="http://schemas.microsoft.com/office/drawing/2014/main" val="10002"/>
                  </a:ext>
                </a:extLst>
              </a:tr>
              <a:tr h="944244">
                <a:tc>
                  <a:txBody>
                    <a:bodyPr/>
                    <a:lstStyle/>
                    <a:p>
                      <a:pPr marL="85090" marR="140970">
                        <a:lnSpc>
                          <a:spcPct val="100000"/>
                        </a:lnSpc>
                        <a:spcBef>
                          <a:spcPts val="244"/>
                        </a:spcBef>
                      </a:pPr>
                      <a:r>
                        <a:rPr sz="1400" spc="-10">
                          <a:latin typeface="Calibri"/>
                          <a:cs typeface="Calibri"/>
                        </a:rPr>
                        <a:t>Develop</a:t>
                      </a:r>
                      <a:r>
                        <a:rPr sz="1400" spc="-30">
                          <a:latin typeface="Calibri"/>
                          <a:cs typeface="Calibri"/>
                        </a:rPr>
                        <a:t> </a:t>
                      </a:r>
                      <a:r>
                        <a:rPr sz="1400">
                          <a:latin typeface="Calibri"/>
                          <a:cs typeface="Calibri"/>
                        </a:rPr>
                        <a:t>a</a:t>
                      </a:r>
                      <a:r>
                        <a:rPr sz="1400" spc="-25">
                          <a:latin typeface="Calibri"/>
                          <a:cs typeface="Calibri"/>
                        </a:rPr>
                        <a:t> </a:t>
                      </a:r>
                      <a:r>
                        <a:rPr sz="1400" spc="-10">
                          <a:latin typeface="Calibri"/>
                          <a:cs typeface="Calibri"/>
                        </a:rPr>
                        <a:t>structured</a:t>
                      </a:r>
                      <a:r>
                        <a:rPr sz="1400" spc="-30">
                          <a:latin typeface="Calibri"/>
                          <a:cs typeface="Calibri"/>
                        </a:rPr>
                        <a:t> </a:t>
                      </a:r>
                      <a:r>
                        <a:rPr sz="1400">
                          <a:latin typeface="Calibri"/>
                          <a:cs typeface="Calibri"/>
                        </a:rPr>
                        <a:t>project</a:t>
                      </a:r>
                      <a:r>
                        <a:rPr sz="1400" spc="-25">
                          <a:latin typeface="Calibri"/>
                          <a:cs typeface="Calibri"/>
                        </a:rPr>
                        <a:t> </a:t>
                      </a:r>
                      <a:r>
                        <a:rPr sz="1400" spc="-10">
                          <a:latin typeface="Calibri"/>
                          <a:cs typeface="Calibri"/>
                        </a:rPr>
                        <a:t>report detailing</a:t>
                      </a:r>
                      <a:r>
                        <a:rPr sz="1400" spc="-20">
                          <a:latin typeface="Calibri"/>
                          <a:cs typeface="Calibri"/>
                        </a:rPr>
                        <a:t> </a:t>
                      </a:r>
                      <a:r>
                        <a:rPr sz="1400">
                          <a:latin typeface="Calibri"/>
                          <a:cs typeface="Calibri"/>
                        </a:rPr>
                        <a:t>the</a:t>
                      </a:r>
                      <a:r>
                        <a:rPr sz="1400" spc="-15">
                          <a:latin typeface="Calibri"/>
                          <a:cs typeface="Calibri"/>
                        </a:rPr>
                        <a:t> </a:t>
                      </a:r>
                      <a:r>
                        <a:rPr sz="1400" spc="-10">
                          <a:latin typeface="Calibri"/>
                          <a:cs typeface="Calibri"/>
                        </a:rPr>
                        <a:t>problem,</a:t>
                      </a:r>
                      <a:r>
                        <a:rPr sz="1400" spc="-20">
                          <a:latin typeface="Calibri"/>
                          <a:cs typeface="Calibri"/>
                        </a:rPr>
                        <a:t> </a:t>
                      </a:r>
                      <a:r>
                        <a:rPr sz="1400" spc="-10">
                          <a:latin typeface="Calibri"/>
                          <a:cs typeface="Calibri"/>
                        </a:rPr>
                        <a:t>methodology, proposed</a:t>
                      </a:r>
                      <a:r>
                        <a:rPr sz="1400" spc="-15">
                          <a:latin typeface="Calibri"/>
                          <a:cs typeface="Calibri"/>
                        </a:rPr>
                        <a:t> </a:t>
                      </a:r>
                      <a:r>
                        <a:rPr sz="1400" spc="-10">
                          <a:latin typeface="Calibri"/>
                          <a:cs typeface="Calibri"/>
                        </a:rPr>
                        <a:t>solution,</a:t>
                      </a:r>
                      <a:r>
                        <a:rPr sz="1400" spc="-15">
                          <a:latin typeface="Calibri"/>
                          <a:cs typeface="Calibri"/>
                        </a:rPr>
                        <a:t> </a:t>
                      </a:r>
                      <a:r>
                        <a:rPr sz="1400">
                          <a:latin typeface="Calibri"/>
                          <a:cs typeface="Calibri"/>
                        </a:rPr>
                        <a:t>and</a:t>
                      </a:r>
                      <a:r>
                        <a:rPr sz="1400" spc="-15">
                          <a:latin typeface="Calibri"/>
                          <a:cs typeface="Calibri"/>
                        </a:rPr>
                        <a:t> </a:t>
                      </a:r>
                      <a:r>
                        <a:rPr sz="1400" spc="-10">
                          <a:latin typeface="Calibri"/>
                          <a:cs typeface="Calibri"/>
                        </a:rPr>
                        <a:t>findings,</a:t>
                      </a:r>
                      <a:r>
                        <a:rPr sz="1400" spc="-15">
                          <a:latin typeface="Calibri"/>
                          <a:cs typeface="Calibri"/>
                        </a:rPr>
                        <a:t> </a:t>
                      </a:r>
                      <a:r>
                        <a:rPr sz="1400" spc="-10">
                          <a:latin typeface="Calibri"/>
                          <a:cs typeface="Calibri"/>
                        </a:rPr>
                        <a:t>adhering </a:t>
                      </a:r>
                      <a:r>
                        <a:rPr sz="1400">
                          <a:latin typeface="Calibri"/>
                          <a:cs typeface="Calibri"/>
                        </a:rPr>
                        <a:t>to</a:t>
                      </a:r>
                      <a:r>
                        <a:rPr sz="1400" spc="-40">
                          <a:latin typeface="Calibri"/>
                          <a:cs typeface="Calibri"/>
                        </a:rPr>
                        <a:t> </a:t>
                      </a:r>
                      <a:r>
                        <a:rPr sz="1400" spc="-10">
                          <a:latin typeface="Calibri"/>
                          <a:cs typeface="Calibri"/>
                        </a:rPr>
                        <a:t>professional</a:t>
                      </a:r>
                      <a:r>
                        <a:rPr sz="1400" spc="-35">
                          <a:latin typeface="Calibri"/>
                          <a:cs typeface="Calibri"/>
                        </a:rPr>
                        <a:t> </a:t>
                      </a:r>
                      <a:r>
                        <a:rPr sz="1400">
                          <a:latin typeface="Calibri"/>
                          <a:cs typeface="Calibri"/>
                        </a:rPr>
                        <a:t>and</a:t>
                      </a:r>
                      <a:r>
                        <a:rPr sz="1400" spc="-35">
                          <a:latin typeface="Calibri"/>
                          <a:cs typeface="Calibri"/>
                        </a:rPr>
                        <a:t> </a:t>
                      </a:r>
                      <a:r>
                        <a:rPr sz="1400">
                          <a:latin typeface="Calibri"/>
                          <a:cs typeface="Calibri"/>
                        </a:rPr>
                        <a:t>ethical</a:t>
                      </a:r>
                      <a:r>
                        <a:rPr sz="1400" spc="-35">
                          <a:latin typeface="Calibri"/>
                          <a:cs typeface="Calibri"/>
                        </a:rPr>
                        <a:t> </a:t>
                      </a:r>
                      <a:r>
                        <a:rPr sz="1400" spc="-10">
                          <a:latin typeface="Calibri"/>
                          <a:cs typeface="Calibri"/>
                        </a:rPr>
                        <a:t>standards.</a:t>
                      </a:r>
                      <a:endParaRPr sz="14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extLst>
                  <a:ext uri="{0D108BD9-81ED-4DB2-BD59-A6C34878D82A}">
                    <a16:rowId xmlns:a16="http://schemas.microsoft.com/office/drawing/2014/main" val="10003"/>
                  </a:ext>
                </a:extLst>
              </a:tr>
              <a:tr h="944244">
                <a:tc>
                  <a:txBody>
                    <a:bodyPr/>
                    <a:lstStyle/>
                    <a:p>
                      <a:pPr marL="85090" marR="337185">
                        <a:lnSpc>
                          <a:spcPct val="100000"/>
                        </a:lnSpc>
                        <a:spcBef>
                          <a:spcPts val="240"/>
                        </a:spcBef>
                      </a:pPr>
                      <a:r>
                        <a:rPr sz="1400" spc="-10">
                          <a:latin typeface="Calibri"/>
                          <a:cs typeface="Calibri"/>
                        </a:rPr>
                        <a:t>Implement</a:t>
                      </a:r>
                      <a:r>
                        <a:rPr sz="1400" spc="-30">
                          <a:latin typeface="Calibri"/>
                          <a:cs typeface="Calibri"/>
                        </a:rPr>
                        <a:t> </a:t>
                      </a:r>
                      <a:r>
                        <a:rPr sz="1400">
                          <a:latin typeface="Calibri"/>
                          <a:cs typeface="Calibri"/>
                        </a:rPr>
                        <a:t>a</a:t>
                      </a:r>
                      <a:r>
                        <a:rPr sz="1400" spc="-25">
                          <a:latin typeface="Calibri"/>
                          <a:cs typeface="Calibri"/>
                        </a:rPr>
                        <a:t> </a:t>
                      </a:r>
                      <a:r>
                        <a:rPr sz="1400">
                          <a:latin typeface="Calibri"/>
                          <a:cs typeface="Calibri"/>
                        </a:rPr>
                        <a:t>basic</a:t>
                      </a:r>
                      <a:r>
                        <a:rPr sz="1400" spc="-30">
                          <a:latin typeface="Calibri"/>
                          <a:cs typeface="Calibri"/>
                        </a:rPr>
                        <a:t> </a:t>
                      </a:r>
                      <a:r>
                        <a:rPr sz="1400" spc="-10">
                          <a:latin typeface="Calibri"/>
                          <a:cs typeface="Calibri"/>
                        </a:rPr>
                        <a:t>prototype/model</a:t>
                      </a:r>
                      <a:r>
                        <a:rPr sz="1400" spc="-25">
                          <a:latin typeface="Calibri"/>
                          <a:cs typeface="Calibri"/>
                        </a:rPr>
                        <a:t> to </a:t>
                      </a:r>
                      <a:r>
                        <a:rPr sz="1400" spc="-10">
                          <a:latin typeface="Calibri"/>
                          <a:cs typeface="Calibri"/>
                        </a:rPr>
                        <a:t>validate</a:t>
                      </a:r>
                      <a:r>
                        <a:rPr sz="1400" spc="-20">
                          <a:latin typeface="Calibri"/>
                          <a:cs typeface="Calibri"/>
                        </a:rPr>
                        <a:t> </a:t>
                      </a:r>
                      <a:r>
                        <a:rPr sz="1400">
                          <a:latin typeface="Calibri"/>
                          <a:cs typeface="Calibri"/>
                        </a:rPr>
                        <a:t>the</a:t>
                      </a:r>
                      <a:r>
                        <a:rPr sz="1400" spc="-20">
                          <a:latin typeface="Calibri"/>
                          <a:cs typeface="Calibri"/>
                        </a:rPr>
                        <a:t> </a:t>
                      </a:r>
                      <a:r>
                        <a:rPr sz="1400" spc="-10">
                          <a:latin typeface="Calibri"/>
                          <a:cs typeface="Calibri"/>
                        </a:rPr>
                        <a:t>proposed</a:t>
                      </a:r>
                      <a:r>
                        <a:rPr sz="1400" spc="-15">
                          <a:latin typeface="Calibri"/>
                          <a:cs typeface="Calibri"/>
                        </a:rPr>
                        <a:t> </a:t>
                      </a:r>
                      <a:r>
                        <a:rPr sz="1400" spc="-10">
                          <a:latin typeface="Calibri"/>
                          <a:cs typeface="Calibri"/>
                        </a:rPr>
                        <a:t>solution, demonstrating</a:t>
                      </a:r>
                      <a:r>
                        <a:rPr sz="1400" spc="-15">
                          <a:latin typeface="Calibri"/>
                          <a:cs typeface="Calibri"/>
                        </a:rPr>
                        <a:t> </a:t>
                      </a:r>
                      <a:r>
                        <a:rPr sz="1400" spc="-10">
                          <a:latin typeface="Calibri"/>
                          <a:cs typeface="Calibri"/>
                        </a:rPr>
                        <a:t>practical application </a:t>
                      </a:r>
                      <a:r>
                        <a:rPr sz="1400" spc="-25">
                          <a:latin typeface="Calibri"/>
                          <a:cs typeface="Calibri"/>
                        </a:rPr>
                        <a:t>of </a:t>
                      </a:r>
                      <a:r>
                        <a:rPr sz="1400" spc="-10">
                          <a:latin typeface="Calibri"/>
                          <a:cs typeface="Calibri"/>
                        </a:rPr>
                        <a:t>knowledge</a:t>
                      </a:r>
                      <a:r>
                        <a:rPr sz="1400" spc="-25">
                          <a:latin typeface="Calibri"/>
                          <a:cs typeface="Calibri"/>
                        </a:rPr>
                        <a:t> </a:t>
                      </a:r>
                      <a:r>
                        <a:rPr sz="1400">
                          <a:latin typeface="Calibri"/>
                          <a:cs typeface="Calibri"/>
                        </a:rPr>
                        <a:t>and</a:t>
                      </a:r>
                      <a:r>
                        <a:rPr sz="1400" spc="-20">
                          <a:latin typeface="Calibri"/>
                          <a:cs typeface="Calibri"/>
                        </a:rPr>
                        <a:t> </a:t>
                      </a:r>
                      <a:r>
                        <a:rPr sz="1400" spc="-10">
                          <a:latin typeface="Calibri"/>
                          <a:cs typeface="Calibri"/>
                        </a:rPr>
                        <a:t>technical</a:t>
                      </a:r>
                      <a:r>
                        <a:rPr sz="1400" spc="-20">
                          <a:latin typeface="Calibri"/>
                          <a:cs typeface="Calibri"/>
                        </a:rPr>
                        <a:t> </a:t>
                      </a:r>
                      <a:r>
                        <a:rPr sz="1400" spc="-10">
                          <a:latin typeface="Calibri"/>
                          <a:cs typeface="Calibri"/>
                        </a:rPr>
                        <a:t>skills.</a:t>
                      </a:r>
                      <a:endParaRPr sz="14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extLst>
                  <a:ext uri="{0D108BD9-81ED-4DB2-BD59-A6C34878D82A}">
                    <a16:rowId xmlns:a16="http://schemas.microsoft.com/office/drawing/2014/main" val="10004"/>
                  </a:ext>
                </a:extLst>
              </a:tr>
              <a:tr h="434975">
                <a:tc>
                  <a:txBody>
                    <a:bodyPr/>
                    <a:lstStyle/>
                    <a:p>
                      <a:pPr marL="85090">
                        <a:lnSpc>
                          <a:spcPct val="100000"/>
                        </a:lnSpc>
                        <a:spcBef>
                          <a:spcPts val="244"/>
                        </a:spcBef>
                      </a:pPr>
                      <a:r>
                        <a:rPr sz="1400" spc="-25">
                          <a:latin typeface="Calibri"/>
                          <a:cs typeface="Calibri"/>
                        </a:rPr>
                        <a:t>Avg</a:t>
                      </a:r>
                      <a:endParaRPr sz="14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25">
                          <a:latin typeface="Times New Roman"/>
                          <a:cs typeface="Times New Roman"/>
                        </a:rPr>
                        <a:t>2.5</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2</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25">
                          <a:latin typeface="Times New Roman"/>
                          <a:cs typeface="Times New Roman"/>
                        </a:rPr>
                        <a:t>2.3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10">
                          <a:latin typeface="Times New Roman"/>
                          <a:cs typeface="Times New Roman"/>
                        </a:rPr>
                        <a:t>2.6667</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400" spc="-10">
                <a:solidFill>
                  <a:srgbClr val="000000"/>
                </a:solidFill>
              </a:rPr>
              <a:t>Contents</a:t>
            </a:r>
            <a:endParaRPr sz="4400"/>
          </a:p>
        </p:txBody>
      </p:sp>
      <p:sp>
        <p:nvSpPr>
          <p:cNvPr id="3" name="object 3"/>
          <p:cNvSpPr txBox="1"/>
          <p:nvPr/>
        </p:nvSpPr>
        <p:spPr>
          <a:xfrm>
            <a:off x="663925" y="1531446"/>
            <a:ext cx="7458075" cy="838200"/>
          </a:xfrm>
          <a:prstGeom prst="rect">
            <a:avLst/>
          </a:prstGeom>
        </p:spPr>
        <p:txBody>
          <a:bodyPr vert="horz" wrap="square" lIns="0" tIns="12700" rIns="0" bIns="0" rtlCol="0">
            <a:spAutoFit/>
          </a:bodyPr>
          <a:lstStyle/>
          <a:p>
            <a:pPr marL="469265" indent="-456565">
              <a:lnSpc>
                <a:spcPct val="100000"/>
              </a:lnSpc>
              <a:spcBef>
                <a:spcPts val="100"/>
              </a:spcBef>
              <a:buAutoNum type="romanLcParenR"/>
              <a:tabLst>
                <a:tab pos="469265" algn="l"/>
              </a:tabLst>
            </a:pPr>
            <a:r>
              <a:rPr sz="2000" spc="-10">
                <a:latin typeface="Calibri"/>
                <a:cs typeface="Calibri"/>
              </a:rPr>
              <a:t>Introduction</a:t>
            </a:r>
            <a:r>
              <a:rPr sz="2000" spc="-45">
                <a:latin typeface="Calibri"/>
                <a:cs typeface="Calibri"/>
              </a:rPr>
              <a:t> </a:t>
            </a:r>
            <a:r>
              <a:rPr sz="2000" spc="-10">
                <a:latin typeface="Calibri"/>
                <a:cs typeface="Calibri"/>
              </a:rPr>
              <a:t>(Including</a:t>
            </a:r>
            <a:r>
              <a:rPr sz="2000" spc="-40">
                <a:latin typeface="Calibri"/>
                <a:cs typeface="Calibri"/>
              </a:rPr>
              <a:t> </a:t>
            </a:r>
            <a:r>
              <a:rPr sz="2000" spc="-10">
                <a:latin typeface="Calibri"/>
                <a:cs typeface="Calibri"/>
              </a:rPr>
              <a:t>Abstract,</a:t>
            </a:r>
            <a:r>
              <a:rPr sz="2000" spc="-40">
                <a:latin typeface="Calibri"/>
                <a:cs typeface="Calibri"/>
              </a:rPr>
              <a:t> </a:t>
            </a:r>
            <a:r>
              <a:rPr sz="2000">
                <a:latin typeface="Calibri"/>
                <a:cs typeface="Calibri"/>
              </a:rPr>
              <a:t>Aims</a:t>
            </a:r>
            <a:r>
              <a:rPr sz="2000" spc="-40">
                <a:latin typeface="Calibri"/>
                <a:cs typeface="Calibri"/>
              </a:rPr>
              <a:t> </a:t>
            </a:r>
            <a:r>
              <a:rPr sz="2000">
                <a:latin typeface="Calibri"/>
                <a:cs typeface="Calibri"/>
              </a:rPr>
              <a:t>and</a:t>
            </a:r>
            <a:r>
              <a:rPr sz="2000" spc="-45">
                <a:latin typeface="Calibri"/>
                <a:cs typeface="Calibri"/>
              </a:rPr>
              <a:t> </a:t>
            </a:r>
            <a:r>
              <a:rPr sz="2000" spc="-10">
                <a:latin typeface="Calibri"/>
                <a:cs typeface="Calibri"/>
              </a:rPr>
              <a:t>Objectives)</a:t>
            </a:r>
            <a:endParaRPr sz="2000">
              <a:latin typeface="Calibri"/>
              <a:cs typeface="Calibri"/>
            </a:endParaRPr>
          </a:p>
          <a:p>
            <a:pPr marL="469265" indent="-456565">
              <a:lnSpc>
                <a:spcPct val="100000"/>
              </a:lnSpc>
              <a:spcBef>
                <a:spcPts val="1600"/>
              </a:spcBef>
              <a:buAutoNum type="romanLcParenR"/>
              <a:tabLst>
                <a:tab pos="469265" algn="l"/>
              </a:tabLst>
            </a:pPr>
            <a:r>
              <a:rPr sz="2000" spc="-10">
                <a:latin typeface="Calibri"/>
                <a:cs typeface="Calibri"/>
              </a:rPr>
              <a:t>Literature</a:t>
            </a:r>
            <a:r>
              <a:rPr sz="2000" spc="-55">
                <a:latin typeface="Calibri"/>
                <a:cs typeface="Calibri"/>
              </a:rPr>
              <a:t> </a:t>
            </a:r>
            <a:r>
              <a:rPr sz="2000" spc="-10">
                <a:latin typeface="Calibri"/>
                <a:cs typeface="Calibri"/>
              </a:rPr>
              <a:t>Review/Patent</a:t>
            </a:r>
            <a:r>
              <a:rPr sz="2000" spc="-55">
                <a:latin typeface="Calibri"/>
                <a:cs typeface="Calibri"/>
              </a:rPr>
              <a:t> </a:t>
            </a:r>
            <a:r>
              <a:rPr sz="2000">
                <a:latin typeface="Calibri"/>
                <a:cs typeface="Calibri"/>
              </a:rPr>
              <a:t>search</a:t>
            </a:r>
            <a:r>
              <a:rPr sz="2000" spc="-50">
                <a:latin typeface="Calibri"/>
                <a:cs typeface="Calibri"/>
              </a:rPr>
              <a:t> </a:t>
            </a:r>
            <a:r>
              <a:rPr sz="2000">
                <a:latin typeface="Calibri"/>
                <a:cs typeface="Calibri"/>
              </a:rPr>
              <a:t>/</a:t>
            </a:r>
            <a:r>
              <a:rPr sz="2000" spc="-55">
                <a:latin typeface="Calibri"/>
                <a:cs typeface="Calibri"/>
              </a:rPr>
              <a:t> </a:t>
            </a:r>
            <a:r>
              <a:rPr sz="2000">
                <a:latin typeface="Calibri"/>
                <a:cs typeface="Calibri"/>
              </a:rPr>
              <a:t>PIR</a:t>
            </a:r>
            <a:r>
              <a:rPr sz="2000" spc="-50">
                <a:latin typeface="Calibri"/>
                <a:cs typeface="Calibri"/>
              </a:rPr>
              <a:t> </a:t>
            </a:r>
            <a:r>
              <a:rPr sz="2000">
                <a:latin typeface="Calibri"/>
                <a:cs typeface="Calibri"/>
              </a:rPr>
              <a:t>(project</a:t>
            </a:r>
            <a:r>
              <a:rPr sz="2000" spc="-55">
                <a:latin typeface="Calibri"/>
                <a:cs typeface="Calibri"/>
              </a:rPr>
              <a:t> </a:t>
            </a:r>
            <a:r>
              <a:rPr sz="2000" spc="-10">
                <a:latin typeface="Calibri"/>
                <a:cs typeface="Calibri"/>
              </a:rPr>
              <a:t>Investigation</a:t>
            </a:r>
            <a:r>
              <a:rPr sz="2000" spc="-50">
                <a:latin typeface="Calibri"/>
                <a:cs typeface="Calibri"/>
              </a:rPr>
              <a:t> </a:t>
            </a:r>
            <a:r>
              <a:rPr sz="2000" spc="-10">
                <a:latin typeface="Calibri"/>
                <a:cs typeface="Calibri"/>
              </a:rPr>
              <a:t>Report)</a:t>
            </a:r>
            <a:endParaRPr sz="2000">
              <a:latin typeface="Calibri"/>
              <a:cs typeface="Calibri"/>
            </a:endParaRPr>
          </a:p>
        </p:txBody>
      </p:sp>
      <p:sp>
        <p:nvSpPr>
          <p:cNvPr id="4" name="object 4"/>
          <p:cNvSpPr txBox="1"/>
          <p:nvPr/>
        </p:nvSpPr>
        <p:spPr>
          <a:xfrm>
            <a:off x="663925" y="2547446"/>
            <a:ext cx="277495" cy="330200"/>
          </a:xfrm>
          <a:prstGeom prst="rect">
            <a:avLst/>
          </a:prstGeom>
        </p:spPr>
        <p:txBody>
          <a:bodyPr vert="horz" wrap="square" lIns="0" tIns="12700" rIns="0" bIns="0" rtlCol="0" anchor="t">
            <a:spAutoFit/>
          </a:bodyPr>
          <a:lstStyle/>
          <a:p>
            <a:pPr marL="12700">
              <a:lnSpc>
                <a:spcPct val="100000"/>
              </a:lnSpc>
              <a:spcBef>
                <a:spcPts val="100"/>
              </a:spcBef>
            </a:pPr>
            <a:r>
              <a:rPr lang="en-US" sz="2000" spc="-20">
                <a:latin typeface="Calibri"/>
                <a:cs typeface="Calibri"/>
              </a:rPr>
              <a:t>3.</a:t>
            </a:r>
            <a:endParaRPr sz="2000" spc="-20">
              <a:latin typeface="Calibri"/>
              <a:cs typeface="Calibri"/>
            </a:endParaRPr>
          </a:p>
        </p:txBody>
      </p:sp>
      <p:sp>
        <p:nvSpPr>
          <p:cNvPr id="5" name="object 5"/>
          <p:cNvSpPr txBox="1"/>
          <p:nvPr/>
        </p:nvSpPr>
        <p:spPr>
          <a:xfrm>
            <a:off x="1121125" y="2547446"/>
            <a:ext cx="1195705" cy="330200"/>
          </a:xfrm>
          <a:prstGeom prst="rect">
            <a:avLst/>
          </a:prstGeom>
        </p:spPr>
        <p:txBody>
          <a:bodyPr vert="horz" wrap="square" lIns="0" tIns="12700" rIns="0" bIns="0" rtlCol="0">
            <a:spAutoFit/>
          </a:bodyPr>
          <a:lstStyle/>
          <a:p>
            <a:pPr marL="12700">
              <a:lnSpc>
                <a:spcPct val="100000"/>
              </a:lnSpc>
              <a:spcBef>
                <a:spcPts val="100"/>
              </a:spcBef>
            </a:pPr>
            <a:r>
              <a:rPr sz="2000">
                <a:latin typeface="Calibri"/>
                <a:cs typeface="Calibri"/>
              </a:rPr>
              <a:t>Work</a:t>
            </a:r>
            <a:r>
              <a:rPr sz="2000" spc="-20">
                <a:latin typeface="Calibri"/>
                <a:cs typeface="Calibri"/>
              </a:rPr>
              <a:t> Done</a:t>
            </a:r>
            <a:endParaRPr sz="2000">
              <a:latin typeface="Calibri"/>
              <a:cs typeface="Calibri"/>
            </a:endParaRPr>
          </a:p>
        </p:txBody>
      </p:sp>
      <p:sp>
        <p:nvSpPr>
          <p:cNvPr id="6" name="object 6"/>
          <p:cNvSpPr txBox="1"/>
          <p:nvPr/>
        </p:nvSpPr>
        <p:spPr>
          <a:xfrm>
            <a:off x="663925" y="3055446"/>
            <a:ext cx="4466590" cy="1346200"/>
          </a:xfrm>
          <a:prstGeom prst="rect">
            <a:avLst/>
          </a:prstGeom>
        </p:spPr>
        <p:txBody>
          <a:bodyPr vert="horz" wrap="square" lIns="0" tIns="12700" rIns="0" bIns="0" rtlCol="0">
            <a:spAutoFit/>
          </a:bodyPr>
          <a:lstStyle/>
          <a:p>
            <a:pPr marL="469265" indent="-456565">
              <a:lnSpc>
                <a:spcPct val="100000"/>
              </a:lnSpc>
              <a:spcBef>
                <a:spcPts val="100"/>
              </a:spcBef>
              <a:buAutoNum type="romanLcParenR" startAt="4"/>
              <a:tabLst>
                <a:tab pos="469265" algn="l"/>
              </a:tabLst>
            </a:pPr>
            <a:r>
              <a:rPr sz="2000" spc="-10">
                <a:latin typeface="Calibri"/>
                <a:cs typeface="Calibri"/>
              </a:rPr>
              <a:t>Conclusion</a:t>
            </a:r>
            <a:endParaRPr sz="2000">
              <a:latin typeface="Calibri"/>
              <a:cs typeface="Calibri"/>
            </a:endParaRPr>
          </a:p>
          <a:p>
            <a:pPr marL="469265" indent="-456565">
              <a:lnSpc>
                <a:spcPct val="100000"/>
              </a:lnSpc>
              <a:spcBef>
                <a:spcPts val="1600"/>
              </a:spcBef>
              <a:buAutoNum type="romanLcParenR" startAt="4"/>
              <a:tabLst>
                <a:tab pos="469265" algn="l"/>
              </a:tabLst>
            </a:pPr>
            <a:r>
              <a:rPr sz="2000" spc="-10">
                <a:latin typeface="Calibri"/>
                <a:cs typeface="Calibri"/>
              </a:rPr>
              <a:t>Patentability</a:t>
            </a:r>
            <a:r>
              <a:rPr sz="2000" spc="-40">
                <a:latin typeface="Calibri"/>
                <a:cs typeface="Calibri"/>
              </a:rPr>
              <a:t> </a:t>
            </a:r>
            <a:r>
              <a:rPr sz="2000">
                <a:latin typeface="Calibri"/>
                <a:cs typeface="Calibri"/>
              </a:rPr>
              <a:t>of</a:t>
            </a:r>
            <a:r>
              <a:rPr sz="2000" spc="-40">
                <a:latin typeface="Calibri"/>
                <a:cs typeface="Calibri"/>
              </a:rPr>
              <a:t> </a:t>
            </a:r>
            <a:r>
              <a:rPr sz="2000">
                <a:latin typeface="Calibri"/>
                <a:cs typeface="Calibri"/>
              </a:rPr>
              <a:t>the</a:t>
            </a:r>
            <a:r>
              <a:rPr sz="2000" spc="-40">
                <a:latin typeface="Calibri"/>
                <a:cs typeface="Calibri"/>
              </a:rPr>
              <a:t> </a:t>
            </a:r>
            <a:r>
              <a:rPr sz="2000">
                <a:latin typeface="Calibri"/>
                <a:cs typeface="Calibri"/>
              </a:rPr>
              <a:t>Project</a:t>
            </a:r>
            <a:r>
              <a:rPr sz="2000" spc="-40">
                <a:latin typeface="Calibri"/>
                <a:cs typeface="Calibri"/>
              </a:rPr>
              <a:t> </a:t>
            </a:r>
            <a:r>
              <a:rPr sz="2000">
                <a:latin typeface="Calibri"/>
                <a:cs typeface="Calibri"/>
              </a:rPr>
              <a:t>/</a:t>
            </a:r>
            <a:r>
              <a:rPr sz="2000" spc="-40">
                <a:latin typeface="Calibri"/>
                <a:cs typeface="Calibri"/>
              </a:rPr>
              <a:t> </a:t>
            </a:r>
            <a:r>
              <a:rPr sz="2000" spc="-10">
                <a:latin typeface="Calibri"/>
                <a:cs typeface="Calibri"/>
              </a:rPr>
              <a:t>Copyright</a:t>
            </a:r>
            <a:endParaRPr sz="2000">
              <a:latin typeface="Calibri"/>
              <a:cs typeface="Calibri"/>
            </a:endParaRPr>
          </a:p>
          <a:p>
            <a:pPr marL="469265" indent="-456565">
              <a:lnSpc>
                <a:spcPct val="100000"/>
              </a:lnSpc>
              <a:spcBef>
                <a:spcPts val="1600"/>
              </a:spcBef>
              <a:buAutoNum type="romanLcParenR" startAt="4"/>
              <a:tabLst>
                <a:tab pos="469265" algn="l"/>
              </a:tabLst>
            </a:pPr>
            <a:r>
              <a:rPr sz="2000">
                <a:latin typeface="Calibri"/>
                <a:cs typeface="Calibri"/>
              </a:rPr>
              <a:t>Social</a:t>
            </a:r>
            <a:r>
              <a:rPr sz="2000" spc="-80">
                <a:latin typeface="Calibri"/>
                <a:cs typeface="Calibri"/>
              </a:rPr>
              <a:t> </a:t>
            </a:r>
            <a:r>
              <a:rPr sz="2000" spc="-10">
                <a:latin typeface="Calibri"/>
                <a:cs typeface="Calibri"/>
              </a:rPr>
              <a:t>Utility</a:t>
            </a:r>
            <a:endParaRPr sz="2000">
              <a:latin typeface="Calibri"/>
              <a:cs typeface="Calibri"/>
            </a:endParaRPr>
          </a:p>
        </p:txBody>
      </p:sp>
      <p:sp>
        <p:nvSpPr>
          <p:cNvPr id="7" name="object 7"/>
          <p:cNvSpPr txBox="1"/>
          <p:nvPr/>
        </p:nvSpPr>
        <p:spPr>
          <a:xfrm>
            <a:off x="663925" y="4579445"/>
            <a:ext cx="334010" cy="330200"/>
          </a:xfrm>
          <a:prstGeom prst="rect">
            <a:avLst/>
          </a:prstGeom>
        </p:spPr>
        <p:txBody>
          <a:bodyPr vert="horz" wrap="square" lIns="0" tIns="12700" rIns="0" bIns="0" rtlCol="0" anchor="t">
            <a:spAutoFit/>
          </a:bodyPr>
          <a:lstStyle/>
          <a:p>
            <a:pPr marL="12700">
              <a:lnSpc>
                <a:spcPct val="100000"/>
              </a:lnSpc>
              <a:spcBef>
                <a:spcPts val="100"/>
              </a:spcBef>
            </a:pPr>
            <a:r>
              <a:rPr lang="en-US" sz="2000" spc="-20">
                <a:latin typeface="Calibri"/>
                <a:cs typeface="Calibri"/>
              </a:rPr>
              <a:t>7.</a:t>
            </a:r>
            <a:endParaRPr sz="2000" spc="-20">
              <a:latin typeface="Calibri"/>
              <a:cs typeface="Calibri"/>
            </a:endParaRPr>
          </a:p>
        </p:txBody>
      </p:sp>
      <p:sp>
        <p:nvSpPr>
          <p:cNvPr id="8" name="object 8"/>
          <p:cNvSpPr txBox="1"/>
          <p:nvPr/>
        </p:nvSpPr>
        <p:spPr>
          <a:xfrm>
            <a:off x="1121125" y="4579445"/>
            <a:ext cx="1175385" cy="330200"/>
          </a:xfrm>
          <a:prstGeom prst="rect">
            <a:avLst/>
          </a:prstGeom>
        </p:spPr>
        <p:txBody>
          <a:bodyPr vert="horz" wrap="square" lIns="0" tIns="12700" rIns="0" bIns="0" rtlCol="0">
            <a:spAutoFit/>
          </a:bodyPr>
          <a:lstStyle/>
          <a:p>
            <a:pPr marL="12700">
              <a:lnSpc>
                <a:spcPct val="100000"/>
              </a:lnSpc>
              <a:spcBef>
                <a:spcPts val="100"/>
              </a:spcBef>
            </a:pPr>
            <a:r>
              <a:rPr sz="2000" spc="-10">
                <a:latin typeface="Calibri"/>
                <a:cs typeface="Calibri"/>
              </a:rPr>
              <a:t>References</a:t>
            </a:r>
            <a:endParaRPr sz="20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10369550" cy="1367041"/>
          </a:xfrm>
          <a:prstGeom prst="rect">
            <a:avLst/>
          </a:prstGeom>
        </p:spPr>
        <p:txBody>
          <a:bodyPr vert="horz" wrap="square" lIns="0" tIns="12700" rIns="0" bIns="0" rtlCol="0" anchor="t">
            <a:spAutoFit/>
          </a:bodyPr>
          <a:lstStyle/>
          <a:p>
            <a:pPr marL="12700">
              <a:spcBef>
                <a:spcPts val="100"/>
              </a:spcBef>
            </a:pPr>
            <a:r>
              <a:rPr sz="4400" spc="-10">
                <a:solidFill>
                  <a:srgbClr val="000000"/>
                </a:solidFill>
              </a:rPr>
              <a:t>Introduction</a:t>
            </a:r>
            <a:br>
              <a:rPr lang="en-US" sz="4400" spc="-10">
                <a:solidFill>
                  <a:srgbClr val="000000"/>
                </a:solidFill>
              </a:rPr>
            </a:br>
            <a:endParaRPr lang="en-US" sz="4400"/>
          </a:p>
        </p:txBody>
      </p:sp>
      <p:sp>
        <p:nvSpPr>
          <p:cNvPr id="3" name="object 3"/>
          <p:cNvSpPr txBox="1"/>
          <p:nvPr/>
        </p:nvSpPr>
        <p:spPr>
          <a:xfrm>
            <a:off x="915727" y="1472012"/>
            <a:ext cx="10146372" cy="4166525"/>
          </a:xfrm>
          <a:prstGeom prst="rect">
            <a:avLst/>
          </a:prstGeom>
        </p:spPr>
        <p:txBody>
          <a:bodyPr vert="horz" wrap="square" lIns="0" tIns="102870" rIns="0" bIns="0" rtlCol="0" anchor="t">
            <a:spAutoFit/>
          </a:bodyPr>
          <a:lstStyle/>
          <a:p>
            <a:pPr algn="just">
              <a:tabLst>
                <a:tab pos="194310" algn="l"/>
              </a:tabLst>
            </a:pPr>
            <a:r>
              <a:rPr lang="en-US" sz="2000" spc="-20">
                <a:latin typeface="Calibri"/>
                <a:ea typeface="Calibri"/>
                <a:cs typeface="Arial"/>
              </a:rPr>
              <a:t>As electric vehicles (EVs) become an integral part of our daily lives, the need for </a:t>
            </a:r>
            <a:r>
              <a:rPr lang="en-US" sz="2000" b="1" spc="-20">
                <a:latin typeface="Calibri"/>
                <a:ea typeface="Calibri"/>
                <a:cs typeface="Arial"/>
              </a:rPr>
              <a:t>smarter and more</a:t>
            </a:r>
            <a:r>
              <a:rPr lang="en-US" sz="2000" spc="-20">
                <a:latin typeface="Calibri"/>
                <a:ea typeface="Calibri"/>
                <a:cs typeface="Arial"/>
              </a:rPr>
              <a:t> </a:t>
            </a:r>
            <a:r>
              <a:rPr lang="en-US" sz="2000" b="1" spc="-20">
                <a:latin typeface="Calibri"/>
                <a:ea typeface="Calibri"/>
                <a:cs typeface="Arial"/>
              </a:rPr>
              <a:t>efficient charging infrastructure</a:t>
            </a:r>
            <a:r>
              <a:rPr lang="en-US" sz="2000" spc="-20">
                <a:latin typeface="Calibri"/>
                <a:ea typeface="Calibri"/>
                <a:cs typeface="Arial"/>
              </a:rPr>
              <a:t> has never been greater. Charging stations must do more than just provide power — they need to be </a:t>
            </a:r>
            <a:r>
              <a:rPr lang="en-US" sz="2000" b="1" spc="-20">
                <a:latin typeface="Calibri"/>
                <a:ea typeface="Calibri"/>
                <a:cs typeface="Arial"/>
              </a:rPr>
              <a:t>reliable, adaptable, and capable</a:t>
            </a:r>
            <a:r>
              <a:rPr lang="en-US" sz="2000" spc="-20">
                <a:latin typeface="Calibri"/>
                <a:ea typeface="Calibri"/>
                <a:cs typeface="Arial"/>
              </a:rPr>
              <a:t> of meeting growing demand while minimizing energy waste.</a:t>
            </a:r>
            <a:endParaRPr lang="en-US" sz="2400" spc="-20">
              <a:latin typeface="Calibri"/>
              <a:ea typeface="Calibri"/>
              <a:cs typeface="Calibri"/>
            </a:endParaRPr>
          </a:p>
          <a:p>
            <a:pPr algn="just">
              <a:spcBef>
                <a:spcPts val="810"/>
              </a:spcBef>
              <a:tabLst>
                <a:tab pos="194310" algn="l"/>
              </a:tabLst>
            </a:pPr>
            <a:r>
              <a:rPr lang="en-US" sz="2000" spc="-20">
                <a:latin typeface="Calibri"/>
                <a:ea typeface="Calibri"/>
                <a:cs typeface="Arial"/>
              </a:rPr>
              <a:t>Our project tackles this challenge by creating a</a:t>
            </a:r>
            <a:r>
              <a:rPr lang="en-US" sz="2000" b="1" spc="-20">
                <a:latin typeface="Calibri"/>
                <a:ea typeface="Calibri"/>
                <a:cs typeface="Arial"/>
              </a:rPr>
              <a:t> predictive model </a:t>
            </a:r>
            <a:r>
              <a:rPr lang="en-US" sz="2000" spc="-20">
                <a:latin typeface="Calibri"/>
                <a:ea typeface="Calibri"/>
                <a:cs typeface="Arial"/>
              </a:rPr>
              <a:t>using a data-driven approach and supervised machine learning. By analyzing both historical and real-time data, the model can forecast charging demand at charging stations, allowing energy to be distributed efficiently, reducing grid stress, and enhancing the user experience.</a:t>
            </a:r>
            <a:endParaRPr lang="en-US">
              <a:latin typeface="Calibri"/>
              <a:ea typeface="Calibri"/>
              <a:cs typeface="Calibri"/>
            </a:endParaRPr>
          </a:p>
          <a:p>
            <a:pPr algn="just">
              <a:spcBef>
                <a:spcPts val="810"/>
              </a:spcBef>
              <a:tabLst>
                <a:tab pos="194310" algn="l"/>
              </a:tabLst>
            </a:pPr>
            <a:r>
              <a:rPr lang="en-US" sz="2000" spc="-20">
                <a:latin typeface="Calibri"/>
                <a:ea typeface="Calibri"/>
                <a:cs typeface="Arial"/>
              </a:rPr>
              <a:t>But it doesn’t stop there. The project also integrates advanced monitoring and control mechanisms, enabling real-time </a:t>
            </a:r>
            <a:r>
              <a:rPr lang="en-US" sz="2000" b="1" spc="-20">
                <a:latin typeface="Calibri"/>
                <a:ea typeface="Calibri"/>
                <a:cs typeface="Arial"/>
              </a:rPr>
              <a:t>fault detection</a:t>
            </a:r>
            <a:r>
              <a:rPr lang="en-US" sz="2000" spc="-20">
                <a:latin typeface="Calibri"/>
                <a:ea typeface="Calibri"/>
                <a:cs typeface="Arial"/>
              </a:rPr>
              <a:t> and better energy management. These features ensure charging stations remain efficient, safe, and capable of adapting to fluctuating energy loads and user needs.</a:t>
            </a:r>
            <a:endParaRPr lang="en-US">
              <a:latin typeface="Calibri"/>
              <a:ea typeface="Calibri"/>
            </a:endParaRPr>
          </a:p>
          <a:p>
            <a:pPr marL="194310" indent="-181610">
              <a:spcBef>
                <a:spcPts val="810"/>
              </a:spcBef>
              <a:buFont typeface="Arial MT"/>
              <a:buChar char="•"/>
              <a:tabLst>
                <a:tab pos="194310" algn="l"/>
              </a:tabLst>
            </a:pPr>
            <a:endParaRPr lang="en-US" sz="2400" spc="-20">
              <a:latin typeface="Calibri"/>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BC06A-4CC8-E481-604E-864A9C13B5CF}"/>
              </a:ext>
            </a:extLst>
          </p:cNvPr>
          <p:cNvSpPr>
            <a:spLocks noGrp="1"/>
          </p:cNvSpPr>
          <p:nvPr>
            <p:ph type="title"/>
          </p:nvPr>
        </p:nvSpPr>
        <p:spPr>
          <a:xfrm>
            <a:off x="388711" y="365315"/>
            <a:ext cx="10369550" cy="677108"/>
          </a:xfrm>
        </p:spPr>
        <p:txBody>
          <a:bodyPr wrap="square" lIns="0" tIns="0" rIns="0" bIns="0" anchor="t">
            <a:spAutoFit/>
          </a:bodyPr>
          <a:lstStyle/>
          <a:p>
            <a:pPr algn="l"/>
            <a:r>
              <a:rPr lang="en-US" sz="4400">
                <a:solidFill>
                  <a:srgbClr val="000000"/>
                </a:solidFill>
                <a:ea typeface="Calibri"/>
              </a:rPr>
              <a:t>Aim</a:t>
            </a:r>
            <a:endParaRPr lang="en-US" sz="4400">
              <a:ea typeface="Calibri"/>
            </a:endParaRPr>
          </a:p>
        </p:txBody>
      </p:sp>
      <p:sp>
        <p:nvSpPr>
          <p:cNvPr id="3" name="Text Placeholder 2">
            <a:extLst>
              <a:ext uri="{FF2B5EF4-FFF2-40B4-BE49-F238E27FC236}">
                <a16:creationId xmlns:a16="http://schemas.microsoft.com/office/drawing/2014/main" id="{2CC6EF65-118D-3221-3217-54D28E80DB2D}"/>
              </a:ext>
            </a:extLst>
          </p:cNvPr>
          <p:cNvSpPr>
            <a:spLocks noGrp="1"/>
          </p:cNvSpPr>
          <p:nvPr>
            <p:ph type="body" idx="1"/>
          </p:nvPr>
        </p:nvSpPr>
        <p:spPr>
          <a:xfrm>
            <a:off x="391969" y="1187122"/>
            <a:ext cx="11214735" cy="1815882"/>
          </a:xfrm>
        </p:spPr>
        <p:txBody>
          <a:bodyPr wrap="square" lIns="0" tIns="0" rIns="0" bIns="0" anchor="t">
            <a:spAutoFit/>
          </a:bodyPr>
          <a:lstStyle/>
          <a:p>
            <a:pPr algn="l"/>
            <a:r>
              <a:rPr lang="en-US" sz="2000">
                <a:ea typeface="+mn-lt"/>
                <a:cs typeface="+mn-lt"/>
              </a:rPr>
              <a:t>Our goal is to make </a:t>
            </a:r>
            <a:r>
              <a:rPr lang="en-US" sz="2000" b="1">
                <a:ea typeface="+mn-lt"/>
                <a:cs typeface="+mn-lt"/>
              </a:rPr>
              <a:t>EV charging smarter, safer, and more efficient</a:t>
            </a:r>
            <a:r>
              <a:rPr lang="en-US" sz="2000">
                <a:ea typeface="+mn-lt"/>
                <a:cs typeface="+mn-lt"/>
              </a:rPr>
              <a:t> using </a:t>
            </a:r>
            <a:r>
              <a:rPr lang="en-US" sz="2000" b="1">
                <a:ea typeface="+mn-lt"/>
                <a:cs typeface="+mn-lt"/>
              </a:rPr>
              <a:t>machine learning</a:t>
            </a:r>
            <a:r>
              <a:rPr lang="en-US" sz="2000">
                <a:ea typeface="+mn-lt"/>
                <a:cs typeface="+mn-lt"/>
              </a:rPr>
              <a:t>. This system will analyze real-time data to predict the </a:t>
            </a:r>
            <a:r>
              <a:rPr lang="en-US" sz="2000" b="1">
                <a:ea typeface="+mn-lt"/>
                <a:cs typeface="+mn-lt"/>
              </a:rPr>
              <a:t>best charging current</a:t>
            </a:r>
            <a:r>
              <a:rPr lang="en-US" sz="2000">
                <a:ea typeface="+mn-lt"/>
                <a:cs typeface="+mn-lt"/>
              </a:rPr>
              <a:t>, ensuring faster charging while protecting battery health. It will also have a built-in </a:t>
            </a:r>
            <a:r>
              <a:rPr lang="en-US" sz="2000" b="1">
                <a:ea typeface="+mn-lt"/>
                <a:cs typeface="+mn-lt"/>
              </a:rPr>
              <a:t>fault detection system</a:t>
            </a:r>
            <a:r>
              <a:rPr lang="en-US" sz="2000">
                <a:ea typeface="+mn-lt"/>
                <a:cs typeface="+mn-lt"/>
              </a:rPr>
              <a:t> that can fix common issues automatically and alert technicians if needed. By optimizing energy use and reducing downtime, this project aims to improve the overall EV charging experience and contribute to a more sustainable future.</a:t>
            </a:r>
            <a:endParaRPr lang="en-US" sz="2000"/>
          </a:p>
          <a:p>
            <a:endParaRPr lang="en-US">
              <a:ea typeface="Calibri"/>
              <a:cs typeface="Calibri"/>
            </a:endParaRPr>
          </a:p>
        </p:txBody>
      </p:sp>
      <p:pic>
        <p:nvPicPr>
          <p:cNvPr id="7" name="Picture 6">
            <a:extLst>
              <a:ext uri="{FF2B5EF4-FFF2-40B4-BE49-F238E27FC236}">
                <a16:creationId xmlns:a16="http://schemas.microsoft.com/office/drawing/2014/main" id="{6CFF3F5F-BC79-5AE8-8087-0F3D9CA53562}"/>
              </a:ext>
            </a:extLst>
          </p:cNvPr>
          <p:cNvPicPr>
            <a:picLocks noChangeAspect="1"/>
          </p:cNvPicPr>
          <p:nvPr/>
        </p:nvPicPr>
        <p:blipFill>
          <a:blip r:embed="rId2"/>
          <a:stretch>
            <a:fillRect/>
          </a:stretch>
        </p:blipFill>
        <p:spPr>
          <a:xfrm>
            <a:off x="6094867" y="3006499"/>
            <a:ext cx="5876925" cy="3152775"/>
          </a:xfrm>
          <a:prstGeom prst="rect">
            <a:avLst/>
          </a:prstGeom>
          <a:ln>
            <a:solidFill>
              <a:schemeClr val="bg1"/>
            </a:solidFill>
          </a:ln>
        </p:spPr>
      </p:pic>
    </p:spTree>
    <p:extLst>
      <p:ext uri="{BB962C8B-B14F-4D97-AF65-F5344CB8AC3E}">
        <p14:creationId xmlns:p14="http://schemas.microsoft.com/office/powerpoint/2010/main" val="427591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3FC32-8C87-88B7-B277-0D7E07F4D967}"/>
              </a:ext>
            </a:extLst>
          </p:cNvPr>
          <p:cNvSpPr>
            <a:spLocks noGrp="1"/>
          </p:cNvSpPr>
          <p:nvPr>
            <p:ph type="title"/>
          </p:nvPr>
        </p:nvSpPr>
        <p:spPr>
          <a:xfrm>
            <a:off x="671739" y="463793"/>
            <a:ext cx="10369550" cy="677108"/>
          </a:xfrm>
        </p:spPr>
        <p:txBody>
          <a:bodyPr wrap="square" lIns="0" tIns="0" rIns="0" bIns="0" anchor="t">
            <a:spAutoFit/>
          </a:bodyPr>
          <a:lstStyle/>
          <a:p>
            <a:r>
              <a:rPr lang="en-US" sz="4400">
                <a:solidFill>
                  <a:srgbClr val="000000"/>
                </a:solidFill>
                <a:latin typeface="Arial"/>
                <a:cs typeface="Arial"/>
              </a:rPr>
              <a:t>Objective</a:t>
            </a:r>
            <a:endParaRPr lang="en-US" sz="4400"/>
          </a:p>
        </p:txBody>
      </p:sp>
      <p:sp>
        <p:nvSpPr>
          <p:cNvPr id="3" name="Text Placeholder 2">
            <a:extLst>
              <a:ext uri="{FF2B5EF4-FFF2-40B4-BE49-F238E27FC236}">
                <a16:creationId xmlns:a16="http://schemas.microsoft.com/office/drawing/2014/main" id="{9A16552F-410D-FAE6-8350-3090D89AC3CE}"/>
              </a:ext>
            </a:extLst>
          </p:cNvPr>
          <p:cNvSpPr>
            <a:spLocks noGrp="1"/>
          </p:cNvSpPr>
          <p:nvPr>
            <p:ph type="body" idx="1"/>
          </p:nvPr>
        </p:nvSpPr>
        <p:spPr>
          <a:xfrm>
            <a:off x="667348" y="1278863"/>
            <a:ext cx="10689573" cy="4739759"/>
          </a:xfrm>
        </p:spPr>
        <p:txBody>
          <a:bodyPr wrap="square" lIns="0" tIns="0" rIns="0" bIns="0" anchor="ctr">
            <a:spAutoFit/>
          </a:bodyPr>
          <a:lstStyle/>
          <a:p>
            <a:pPr algn="just"/>
            <a:r>
              <a:rPr lang="en-US" b="1">
                <a:latin typeface="Calibri"/>
                <a:ea typeface="+mn-lt"/>
                <a:cs typeface="Arial"/>
              </a:rPr>
              <a:t>Primary Objective/Problem Definition: </a:t>
            </a:r>
            <a:endParaRPr lang="en-US">
              <a:latin typeface="Calibri"/>
              <a:ea typeface="Calibri"/>
              <a:cs typeface="Calibri"/>
            </a:endParaRPr>
          </a:p>
          <a:p>
            <a:pPr algn="just"/>
            <a:r>
              <a:rPr lang="en-US">
                <a:latin typeface="Calibri"/>
                <a:ea typeface="+mn-lt"/>
                <a:cs typeface="Arial"/>
              </a:rPr>
              <a:t>To design and develop a data-driven predictive model using supervised machine learning regression methods to accurately forecast charging demand at public charging stations, and to propose advanced monitoring and control mechanisms to optimize energy management, reduce peak demand, and enhance the overall charging experience.</a:t>
            </a:r>
            <a:endParaRPr lang="en-US">
              <a:latin typeface="Calibri"/>
              <a:ea typeface="Calibri"/>
              <a:cs typeface="Calibri"/>
            </a:endParaRPr>
          </a:p>
          <a:p>
            <a:pPr algn="just"/>
            <a:endParaRPr lang="en-US">
              <a:latin typeface="Calibri"/>
              <a:ea typeface="+mn-lt"/>
              <a:cs typeface="Arial"/>
            </a:endParaRPr>
          </a:p>
          <a:p>
            <a:pPr algn="just"/>
            <a:r>
              <a:rPr lang="en-US" b="1">
                <a:latin typeface="Calibri"/>
                <a:ea typeface="+mn-lt"/>
                <a:cs typeface="Arial"/>
              </a:rPr>
              <a:t>Specific Objectives:</a:t>
            </a:r>
            <a:endParaRPr lang="en-US">
              <a:latin typeface="Calibri"/>
              <a:ea typeface="Calibri"/>
              <a:cs typeface="Calibri"/>
            </a:endParaRPr>
          </a:p>
          <a:p>
            <a:pPr algn="just"/>
            <a:endParaRPr lang="en-US">
              <a:latin typeface="Calibri"/>
              <a:ea typeface="Calibri"/>
              <a:cs typeface="Arial"/>
            </a:endParaRPr>
          </a:p>
          <a:p>
            <a:pPr algn="just"/>
            <a:r>
              <a:rPr lang="en-US" b="1">
                <a:latin typeface="Calibri"/>
                <a:ea typeface="+mn-lt"/>
                <a:cs typeface="Arial"/>
              </a:rPr>
              <a:t>1.Develop model for Predictive </a:t>
            </a:r>
            <a:r>
              <a:rPr lang="en-US" b="1" err="1">
                <a:latin typeface="Calibri"/>
                <a:ea typeface="+mn-lt"/>
                <a:cs typeface="Arial"/>
              </a:rPr>
              <a:t>analysis:</a:t>
            </a:r>
            <a:r>
              <a:rPr lang="en-US" err="1">
                <a:latin typeface="Calibri"/>
                <a:ea typeface="+mn-lt"/>
                <a:cs typeface="Arial"/>
              </a:rPr>
              <a:t>Develop</a:t>
            </a:r>
            <a:r>
              <a:rPr lang="en-US">
                <a:latin typeface="Calibri"/>
                <a:ea typeface="+mn-lt"/>
                <a:cs typeface="Arial"/>
              </a:rPr>
              <a:t> a machine learning-based predictive model that utilizes collected data to forecast charging demand and energy consumption.</a:t>
            </a:r>
            <a:endParaRPr lang="en-US">
              <a:latin typeface="Calibri"/>
              <a:ea typeface="Calibri"/>
              <a:cs typeface="Calibri"/>
            </a:endParaRPr>
          </a:p>
          <a:p>
            <a:pPr algn="just"/>
            <a:endParaRPr lang="en-US">
              <a:latin typeface="Calibri"/>
              <a:ea typeface="+mn-lt"/>
              <a:cs typeface="Arial"/>
            </a:endParaRPr>
          </a:p>
          <a:p>
            <a:pPr algn="just"/>
            <a:r>
              <a:rPr lang="en-US" b="1">
                <a:latin typeface="Calibri"/>
                <a:ea typeface="+mn-lt"/>
                <a:cs typeface="Arial"/>
              </a:rPr>
              <a:t>2.To monitor and Predict:</a:t>
            </a:r>
            <a:r>
              <a:rPr lang="en-US">
                <a:latin typeface="Calibri"/>
                <a:ea typeface="+mn-lt"/>
                <a:cs typeface="Arial"/>
              </a:rPr>
              <a:t>  Design a real-time monitoring system that utilizes predictive analytics to forecast charging demand, detect anomalies, and optimize charging station operations.</a:t>
            </a:r>
            <a:endParaRPr lang="en-US">
              <a:latin typeface="Calibri"/>
              <a:ea typeface="Calibri"/>
              <a:cs typeface="Arial"/>
            </a:endParaRPr>
          </a:p>
          <a:p>
            <a:pPr algn="just"/>
            <a:endParaRPr lang="en-US">
              <a:latin typeface="Calibri"/>
              <a:ea typeface="+mn-lt"/>
              <a:cs typeface="Arial"/>
            </a:endParaRPr>
          </a:p>
          <a:p>
            <a:pPr algn="just"/>
            <a:r>
              <a:rPr lang="en-US" b="1">
                <a:latin typeface="Calibri"/>
                <a:ea typeface="+mn-lt"/>
                <a:cs typeface="Arial"/>
              </a:rPr>
              <a:t>3.To detect and manage fault:</a:t>
            </a:r>
            <a:r>
              <a:rPr lang="en-US">
                <a:latin typeface="Calibri"/>
                <a:ea typeface="+mn-lt"/>
                <a:cs typeface="Arial"/>
              </a:rPr>
              <a:t> Develop a fault detection and management system that uses automated control mechanism  to identify potential faults, alert operators, and provide recommendations for maintenance and repair.</a:t>
            </a:r>
            <a:endParaRPr lang="en-US">
              <a:latin typeface="Calibri"/>
              <a:cs typeface="Arial"/>
            </a:endParaRPr>
          </a:p>
          <a:p>
            <a:pPr algn="l"/>
            <a:endParaRPr lang="en-US" sz="2000">
              <a:ea typeface="Calibri"/>
              <a:cs typeface="Calibri"/>
            </a:endParaRPr>
          </a:p>
        </p:txBody>
      </p:sp>
    </p:spTree>
    <p:extLst>
      <p:ext uri="{BB962C8B-B14F-4D97-AF65-F5344CB8AC3E}">
        <p14:creationId xmlns:p14="http://schemas.microsoft.com/office/powerpoint/2010/main" val="3235545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168F-AA61-26A7-2065-1C59D026CB60}"/>
              </a:ext>
            </a:extLst>
          </p:cNvPr>
          <p:cNvSpPr>
            <a:spLocks noGrp="1"/>
          </p:cNvSpPr>
          <p:nvPr>
            <p:ph type="title"/>
          </p:nvPr>
        </p:nvSpPr>
        <p:spPr>
          <a:xfrm>
            <a:off x="390364" y="364342"/>
            <a:ext cx="10369550" cy="707886"/>
          </a:xfrm>
        </p:spPr>
        <p:txBody>
          <a:bodyPr wrap="square" lIns="0" tIns="0" rIns="0" bIns="0" anchor="t">
            <a:spAutoFit/>
          </a:bodyPr>
          <a:lstStyle/>
          <a:p>
            <a:pPr marL="12700">
              <a:spcBef>
                <a:spcPts val="1600"/>
              </a:spcBef>
            </a:pPr>
            <a:r>
              <a:rPr lang="en-US" sz="2800">
                <a:solidFill>
                  <a:srgbClr val="000000"/>
                </a:solidFill>
                <a:ea typeface="Calibri"/>
              </a:rPr>
              <a:t>Literature Review/Patent search / PIR (project Investigation Report)</a:t>
            </a:r>
            <a:endParaRPr lang="en-US" sz="2800"/>
          </a:p>
          <a:p>
            <a:endParaRPr lang="en-US">
              <a:ea typeface="Calibri"/>
            </a:endParaRPr>
          </a:p>
        </p:txBody>
      </p:sp>
      <p:graphicFrame>
        <p:nvGraphicFramePr>
          <p:cNvPr id="7" name="Table 6">
            <a:extLst>
              <a:ext uri="{FF2B5EF4-FFF2-40B4-BE49-F238E27FC236}">
                <a16:creationId xmlns:a16="http://schemas.microsoft.com/office/drawing/2014/main" id="{606F589B-4C14-6F9E-169F-DF795B626EFD}"/>
              </a:ext>
            </a:extLst>
          </p:cNvPr>
          <p:cNvGraphicFramePr>
            <a:graphicFrameLocks noGrp="1"/>
          </p:cNvGraphicFramePr>
          <p:nvPr>
            <p:extLst>
              <p:ext uri="{D42A27DB-BD31-4B8C-83A1-F6EECF244321}">
                <p14:modId xmlns:p14="http://schemas.microsoft.com/office/powerpoint/2010/main" val="3013049194"/>
              </p:ext>
            </p:extLst>
          </p:nvPr>
        </p:nvGraphicFramePr>
        <p:xfrm>
          <a:off x="386218" y="1075150"/>
          <a:ext cx="11314380" cy="5587671"/>
        </p:xfrm>
        <a:graphic>
          <a:graphicData uri="http://schemas.openxmlformats.org/drawingml/2006/table">
            <a:tbl>
              <a:tblPr firstRow="1" bandRow="1">
                <a:tableStyleId>{5C22544A-7EE6-4342-B048-85BDC9FD1C3A}</a:tableStyleId>
              </a:tblPr>
              <a:tblGrid>
                <a:gridCol w="975596">
                  <a:extLst>
                    <a:ext uri="{9D8B030D-6E8A-4147-A177-3AD203B41FA5}">
                      <a16:colId xmlns:a16="http://schemas.microsoft.com/office/drawing/2014/main" val="4103532984"/>
                    </a:ext>
                  </a:extLst>
                </a:gridCol>
                <a:gridCol w="1735801">
                  <a:extLst>
                    <a:ext uri="{9D8B030D-6E8A-4147-A177-3AD203B41FA5}">
                      <a16:colId xmlns:a16="http://schemas.microsoft.com/office/drawing/2014/main" val="2660196735"/>
                    </a:ext>
                  </a:extLst>
                </a:gridCol>
                <a:gridCol w="1634440">
                  <a:extLst>
                    <a:ext uri="{9D8B030D-6E8A-4147-A177-3AD203B41FA5}">
                      <a16:colId xmlns:a16="http://schemas.microsoft.com/office/drawing/2014/main" val="2001016329"/>
                    </a:ext>
                  </a:extLst>
                </a:gridCol>
                <a:gridCol w="2115904">
                  <a:extLst>
                    <a:ext uri="{9D8B030D-6E8A-4147-A177-3AD203B41FA5}">
                      <a16:colId xmlns:a16="http://schemas.microsoft.com/office/drawing/2014/main" val="3486423741"/>
                    </a:ext>
                  </a:extLst>
                </a:gridCol>
                <a:gridCol w="1520409">
                  <a:extLst>
                    <a:ext uri="{9D8B030D-6E8A-4147-A177-3AD203B41FA5}">
                      <a16:colId xmlns:a16="http://schemas.microsoft.com/office/drawing/2014/main" val="980846558"/>
                    </a:ext>
                  </a:extLst>
                </a:gridCol>
                <a:gridCol w="1520409">
                  <a:extLst>
                    <a:ext uri="{9D8B030D-6E8A-4147-A177-3AD203B41FA5}">
                      <a16:colId xmlns:a16="http://schemas.microsoft.com/office/drawing/2014/main" val="2165559757"/>
                    </a:ext>
                  </a:extLst>
                </a:gridCol>
                <a:gridCol w="1811821">
                  <a:extLst>
                    <a:ext uri="{9D8B030D-6E8A-4147-A177-3AD203B41FA5}">
                      <a16:colId xmlns:a16="http://schemas.microsoft.com/office/drawing/2014/main" val="4168812065"/>
                    </a:ext>
                  </a:extLst>
                </a:gridCol>
              </a:tblGrid>
              <a:tr h="1128828">
                <a:tc>
                  <a:txBody>
                    <a:bodyPr/>
                    <a:lstStyle/>
                    <a:p>
                      <a:pPr marL="0" marR="0" indent="0" algn="l" rtl="0" fontAlgn="t"/>
                      <a:r>
                        <a:rPr lang="en-US" sz="1700" b="1" i="0" u="none" strike="noStrike">
                          <a:solidFill>
                            <a:srgbClr val="FFFFFF"/>
                          </a:solidFill>
                          <a:effectLst/>
                          <a:latin typeface="Arial"/>
                          <a:ea typeface="Arial" panose="020B0604020202020204" pitchFamily="34" charset="0"/>
                          <a:cs typeface="Arial"/>
                        </a:rPr>
                        <a:t>Ref no, Year of publication</a:t>
                      </a:r>
                      <a:endParaRPr lang="en-US" sz="1800" b="0" i="0" u="none" strike="noStrike">
                        <a:effectLst/>
                        <a:latin typeface="Arial"/>
                        <a:cs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a:ea typeface="Arial" panose="020B0604020202020204" pitchFamily="34" charset="0"/>
                          <a:cs typeface="Arial"/>
                        </a:rPr>
                        <a:t>Methodology Used</a:t>
                      </a:r>
                      <a:endParaRPr lang="en-US" sz="1800" b="0" i="0" u="none" strike="noStrike">
                        <a:effectLst/>
                        <a:latin typeface="Arial"/>
                        <a:cs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a:ea typeface="Arial" panose="020B0604020202020204" pitchFamily="34" charset="0"/>
                          <a:cs typeface="Arial"/>
                        </a:rPr>
                        <a:t>Dataset Used/Existing real time application</a:t>
                      </a:r>
                      <a:endParaRPr lang="en-US" sz="1800" b="0" i="0" u="none" strike="noStrike">
                        <a:effectLst/>
                        <a:latin typeface="Arial"/>
                        <a:cs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a:ea typeface="Arial" panose="020B0604020202020204" pitchFamily="34" charset="0"/>
                          <a:cs typeface="Arial"/>
                        </a:rPr>
                        <a:t>Performance parameters used</a:t>
                      </a:r>
                      <a:endParaRPr lang="en-US" sz="1800" b="0" i="0" u="none" strike="noStrike">
                        <a:effectLst/>
                        <a:latin typeface="Arial"/>
                        <a:cs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3972935058"/>
                  </a:ext>
                </a:extLst>
              </a:tr>
              <a:tr h="1832834">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[1],2020</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Data-Driven Charging Demand Prediction at Public Charging Stations Using Supervised Machine Learning Regression Methods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Gradient Boosting (XGBoost),</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random Forest (RF),</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Support Vector Machine (SVM)</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The research utilized seven years of charging data from Nebraska to explore applications in scheduling, grid stability, and smart grids.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Coefficient of Determination</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Root Mean Square Error (RMSE),</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Mean Absolute Error (MAE)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XGBoost achieved an RMSE of 6.68 kWh and an R-squared of 51.9%.</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dataset, potential difficulties in real-world application, and unforeseen challenges.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760537260"/>
                  </a:ext>
                </a:extLst>
              </a:tr>
              <a:tr h="2051306">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[2],2024</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Automatic Fault Detection And Analysis Of Electric Vehicle Charging Station By Machine learning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 SVM, tree-based models, neural networks, semi-supervised learning, XGBoost.</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Real-world EV data (charging rate, temperature, SOC, mileage),  load resistance, simulated fault datasets.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Fault detection accuracy, training/execution time, algorithm generalizability, statistical error distribution, precision, recall.</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 XGBoost achieved 90.34% accuracy; proposed ML algo. reached 94.59% accuracy;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spcAft>
                          <a:spcPts val="1200"/>
                        </a:spcAft>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Inefficient traditional methods, limited real-world datasets, lack of scalability, need for higher accuracy/ speed.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1357784248"/>
                  </a:ext>
                </a:extLst>
              </a:tr>
            </a:tbl>
          </a:graphicData>
        </a:graphic>
      </p:graphicFrame>
    </p:spTree>
    <p:extLst>
      <p:ext uri="{BB962C8B-B14F-4D97-AF65-F5344CB8AC3E}">
        <p14:creationId xmlns:p14="http://schemas.microsoft.com/office/powerpoint/2010/main" val="310116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2A8FD9-F220-EF3F-5CA4-C1AB9A78767F}"/>
              </a:ext>
            </a:extLst>
          </p:cNvPr>
          <p:cNvGraphicFramePr>
            <a:graphicFrameLocks noGrp="1"/>
          </p:cNvGraphicFramePr>
          <p:nvPr>
            <p:extLst>
              <p:ext uri="{D42A27DB-BD31-4B8C-83A1-F6EECF244321}">
                <p14:modId xmlns:p14="http://schemas.microsoft.com/office/powerpoint/2010/main" val="3955057419"/>
              </p:ext>
            </p:extLst>
          </p:nvPr>
        </p:nvGraphicFramePr>
        <p:xfrm>
          <a:off x="444500" y="573087"/>
          <a:ext cx="11302999" cy="5711825"/>
        </p:xfrm>
        <a:graphic>
          <a:graphicData uri="http://schemas.openxmlformats.org/drawingml/2006/table">
            <a:tbl>
              <a:tblPr firstRow="1" bandRow="1">
                <a:tableStyleId>{5C22544A-7EE6-4342-B048-85BDC9FD1C3A}</a:tableStyleId>
              </a:tblPr>
              <a:tblGrid>
                <a:gridCol w="1093429">
                  <a:extLst>
                    <a:ext uri="{9D8B030D-6E8A-4147-A177-3AD203B41FA5}">
                      <a16:colId xmlns:a16="http://schemas.microsoft.com/office/drawing/2014/main" val="1200430574"/>
                    </a:ext>
                  </a:extLst>
                </a:gridCol>
                <a:gridCol w="1525714">
                  <a:extLst>
                    <a:ext uri="{9D8B030D-6E8A-4147-A177-3AD203B41FA5}">
                      <a16:colId xmlns:a16="http://schemas.microsoft.com/office/drawing/2014/main" val="1821482593"/>
                    </a:ext>
                  </a:extLst>
                </a:gridCol>
                <a:gridCol w="1652857">
                  <a:extLst>
                    <a:ext uri="{9D8B030D-6E8A-4147-A177-3AD203B41FA5}">
                      <a16:colId xmlns:a16="http://schemas.microsoft.com/office/drawing/2014/main" val="1524586135"/>
                    </a:ext>
                  </a:extLst>
                </a:gridCol>
                <a:gridCol w="1869000">
                  <a:extLst>
                    <a:ext uri="{9D8B030D-6E8A-4147-A177-3AD203B41FA5}">
                      <a16:colId xmlns:a16="http://schemas.microsoft.com/office/drawing/2014/main" val="3278903756"/>
                    </a:ext>
                  </a:extLst>
                </a:gridCol>
                <a:gridCol w="1652857">
                  <a:extLst>
                    <a:ext uri="{9D8B030D-6E8A-4147-A177-3AD203B41FA5}">
                      <a16:colId xmlns:a16="http://schemas.microsoft.com/office/drawing/2014/main" val="1246366371"/>
                    </a:ext>
                  </a:extLst>
                </a:gridCol>
                <a:gridCol w="1309571">
                  <a:extLst>
                    <a:ext uri="{9D8B030D-6E8A-4147-A177-3AD203B41FA5}">
                      <a16:colId xmlns:a16="http://schemas.microsoft.com/office/drawing/2014/main" val="2601793101"/>
                    </a:ext>
                  </a:extLst>
                </a:gridCol>
                <a:gridCol w="2199571">
                  <a:extLst>
                    <a:ext uri="{9D8B030D-6E8A-4147-A177-3AD203B41FA5}">
                      <a16:colId xmlns:a16="http://schemas.microsoft.com/office/drawing/2014/main" val="2879126499"/>
                    </a:ext>
                  </a:extLst>
                </a:gridCol>
              </a:tblGrid>
              <a:tr h="1165479">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Ref no, Year of publication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      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Methodology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Dataset Used/Existing real time application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parameters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3564814143"/>
                  </a:ext>
                </a:extLst>
              </a:tr>
              <a:tr h="2024126">
                <a:tc>
                  <a:txBody>
                    <a:bodyPr/>
                    <a:lstStyle/>
                    <a:p>
                      <a:pPr marL="0" marR="0" indent="0" algn="l" rtl="0" fontAlgn="t"/>
                      <a:r>
                        <a:rPr lang="en-US" sz="15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[3],2024</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Data-driven Short-term Electric Vehicle Charging Station Demand Forecasting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pP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Random Forest,Support Vector Machine,Reinforcement Learning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-Battery Performance Data, Charging and Discharging Cycles Data.</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-Charging Stations, Battery Management Systems.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Mean Absolute Error,Root Mean Square Error,</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Coefficient of Determination (R²),Mean Absolute Percentage Error</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High prediction accuracy achieved but requires optimization for real-time deployment.</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pP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 scarcity, integration challenges, and limited adaptability to dynamic conditions.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2203412019"/>
                  </a:ext>
                </a:extLst>
              </a:tr>
              <a:tr h="853948">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[4],2023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Machine Learning-based Electric Vehicle User Behavior Prediction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supervised learning techniques, feature engineering, data cleaning, and preprocessing.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Public charging dataset from Caltech Adaptive Charging Network (ACN), weather data from local station, and U.S. federal holidays calendar (2019)</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Mean Absolute Error (MAE), Symmetric Mean Absolute Percentage Error (SMAPE), Root Mean Squared Error (RMSE), R² score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Achieved MAE of 1.45 kWh (energy consumption) and 66.5 minutes (session duration); improved prediction errors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spcAft>
                          <a:spcPts val="1200"/>
                        </a:spcAft>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Highly stochastic nature of public charging behavior compared to residential; dataset limited to a single location and year.</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4143292853"/>
                  </a:ext>
                </a:extLst>
              </a:tr>
            </a:tbl>
          </a:graphicData>
        </a:graphic>
      </p:graphicFrame>
    </p:spTree>
    <p:extLst>
      <p:ext uri="{BB962C8B-B14F-4D97-AF65-F5344CB8AC3E}">
        <p14:creationId xmlns:p14="http://schemas.microsoft.com/office/powerpoint/2010/main" val="2344494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FEED2DF-5310-1B97-E2E1-C8EC8A2EA3C1}"/>
              </a:ext>
            </a:extLst>
          </p:cNvPr>
          <p:cNvGraphicFramePr>
            <a:graphicFrameLocks noGrp="1"/>
          </p:cNvGraphicFramePr>
          <p:nvPr>
            <p:extLst>
              <p:ext uri="{D42A27DB-BD31-4B8C-83A1-F6EECF244321}">
                <p14:modId xmlns:p14="http://schemas.microsoft.com/office/powerpoint/2010/main" val="429592382"/>
              </p:ext>
            </p:extLst>
          </p:nvPr>
        </p:nvGraphicFramePr>
        <p:xfrm>
          <a:off x="438150" y="323342"/>
          <a:ext cx="11315700" cy="6211316"/>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976655462"/>
                    </a:ext>
                  </a:extLst>
                </a:gridCol>
                <a:gridCol w="1689100">
                  <a:extLst>
                    <a:ext uri="{9D8B030D-6E8A-4147-A177-3AD203B41FA5}">
                      <a16:colId xmlns:a16="http://schemas.microsoft.com/office/drawing/2014/main" val="3956327004"/>
                    </a:ext>
                  </a:extLst>
                </a:gridCol>
                <a:gridCol w="1765300">
                  <a:extLst>
                    <a:ext uri="{9D8B030D-6E8A-4147-A177-3AD203B41FA5}">
                      <a16:colId xmlns:a16="http://schemas.microsoft.com/office/drawing/2014/main" val="495329734"/>
                    </a:ext>
                  </a:extLst>
                </a:gridCol>
                <a:gridCol w="1714500">
                  <a:extLst>
                    <a:ext uri="{9D8B030D-6E8A-4147-A177-3AD203B41FA5}">
                      <a16:colId xmlns:a16="http://schemas.microsoft.com/office/drawing/2014/main" val="3816175020"/>
                    </a:ext>
                  </a:extLst>
                </a:gridCol>
                <a:gridCol w="1651000">
                  <a:extLst>
                    <a:ext uri="{9D8B030D-6E8A-4147-A177-3AD203B41FA5}">
                      <a16:colId xmlns:a16="http://schemas.microsoft.com/office/drawing/2014/main" val="1779291453"/>
                    </a:ext>
                  </a:extLst>
                </a:gridCol>
                <a:gridCol w="1739900">
                  <a:extLst>
                    <a:ext uri="{9D8B030D-6E8A-4147-A177-3AD203B41FA5}">
                      <a16:colId xmlns:a16="http://schemas.microsoft.com/office/drawing/2014/main" val="1689995411"/>
                    </a:ext>
                  </a:extLst>
                </a:gridCol>
                <a:gridCol w="1739900">
                  <a:extLst>
                    <a:ext uri="{9D8B030D-6E8A-4147-A177-3AD203B41FA5}">
                      <a16:colId xmlns:a16="http://schemas.microsoft.com/office/drawing/2014/main" val="1297100125"/>
                    </a:ext>
                  </a:extLst>
                </a:gridCol>
              </a:tblGrid>
              <a:tr h="1072134">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Ref no, Year of publication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Methodology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Dataset Used/Existing real time application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parameters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1863374157"/>
                  </a:ext>
                </a:extLst>
              </a:tr>
              <a:tr h="2553462">
                <a:tc>
                  <a:txBody>
                    <a:bodyPr/>
                    <a:lstStyle/>
                    <a:p>
                      <a:pPr marL="0" marR="0" indent="0" algn="l" rtl="0" fontAlgn="t"/>
                      <a:r>
                        <a:rPr lang="en-US" sz="15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[5],2023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Quality of Service Evaluation and Forecast for EV Charging Based on Real-World Data.</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spcAft>
                          <a:spcPts val="1200"/>
                        </a:spcAft>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M/G/K queue model, SARIMAX forecasting, simulation framework.</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6M records from Hydro-Quebec (2018-2022).</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Charging Requests, Site Utilization, Occupancy, Blocking Probability, Waiting EVs, Avg. Waiting Time, QoS Evaluation.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QoS evaluation, demand forecasting, simulation of charging behavior.</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 gaps, regional generalization, COVID data gaps, limited exogenous factors, scalability issues.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4196583020"/>
                  </a:ext>
                </a:extLst>
              </a:tr>
              <a:tr h="2530094">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[6],2023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Optimizing Electric Vehicle Charging Station Placement in Urban Areas: A Data-Driven Approach.</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 Analysis,</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ML( k-means clustering,),Optimization Algorithm</a:t>
                      </a:r>
                      <a:r>
                        <a:rPr lang="en-US" sz="13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Real-world driving and charging data from metropolitan urban areas.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Peak-to-Average Ratio (PAR)</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Charging Waiting Time</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Operating Cost.</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spcAft>
                          <a:spcPts val="1200"/>
                        </a:spcAft>
                      </a:pP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Reduced waiting time (67.6 to 22.8 min), power consumption (PAR 3.17 to 1.23), and costs (electricity 17.4%, maintenance 31.8%)</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dataset and user behavior variability</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Missing real-time traffic/weather data, generalization issues.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2738299984"/>
                  </a:ext>
                </a:extLst>
              </a:tr>
            </a:tbl>
          </a:graphicData>
        </a:graphic>
      </p:graphicFrame>
    </p:spTree>
    <p:extLst>
      <p:ext uri="{BB962C8B-B14F-4D97-AF65-F5344CB8AC3E}">
        <p14:creationId xmlns:p14="http://schemas.microsoft.com/office/powerpoint/2010/main" val="2246027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456D389-5C8C-98ED-E2D1-01892A27A012}"/>
              </a:ext>
            </a:extLst>
          </p:cNvPr>
          <p:cNvGraphicFramePr>
            <a:graphicFrameLocks noGrp="1"/>
          </p:cNvGraphicFramePr>
          <p:nvPr>
            <p:extLst>
              <p:ext uri="{D42A27DB-BD31-4B8C-83A1-F6EECF244321}">
                <p14:modId xmlns:p14="http://schemas.microsoft.com/office/powerpoint/2010/main" val="2915731922"/>
              </p:ext>
            </p:extLst>
          </p:nvPr>
        </p:nvGraphicFramePr>
        <p:xfrm>
          <a:off x="444500" y="459168"/>
          <a:ext cx="11303000" cy="5939663"/>
        </p:xfrm>
        <a:graphic>
          <a:graphicData uri="http://schemas.openxmlformats.org/drawingml/2006/table">
            <a:tbl>
              <a:tblPr firstRow="1" bandRow="1">
                <a:tableStyleId>{5C22544A-7EE6-4342-B048-85BDC9FD1C3A}</a:tableStyleId>
              </a:tblPr>
              <a:tblGrid>
                <a:gridCol w="1104900">
                  <a:extLst>
                    <a:ext uri="{9D8B030D-6E8A-4147-A177-3AD203B41FA5}">
                      <a16:colId xmlns:a16="http://schemas.microsoft.com/office/drawing/2014/main" val="3131090677"/>
                    </a:ext>
                  </a:extLst>
                </a:gridCol>
                <a:gridCol w="1651000">
                  <a:extLst>
                    <a:ext uri="{9D8B030D-6E8A-4147-A177-3AD203B41FA5}">
                      <a16:colId xmlns:a16="http://schemas.microsoft.com/office/drawing/2014/main" val="3538951984"/>
                    </a:ext>
                  </a:extLst>
                </a:gridCol>
                <a:gridCol w="1701800">
                  <a:extLst>
                    <a:ext uri="{9D8B030D-6E8A-4147-A177-3AD203B41FA5}">
                      <a16:colId xmlns:a16="http://schemas.microsoft.com/office/drawing/2014/main" val="795016165"/>
                    </a:ext>
                  </a:extLst>
                </a:gridCol>
                <a:gridCol w="1714500">
                  <a:extLst>
                    <a:ext uri="{9D8B030D-6E8A-4147-A177-3AD203B41FA5}">
                      <a16:colId xmlns:a16="http://schemas.microsoft.com/office/drawing/2014/main" val="1810533939"/>
                    </a:ext>
                  </a:extLst>
                </a:gridCol>
                <a:gridCol w="1663700">
                  <a:extLst>
                    <a:ext uri="{9D8B030D-6E8A-4147-A177-3AD203B41FA5}">
                      <a16:colId xmlns:a16="http://schemas.microsoft.com/office/drawing/2014/main" val="3628972359"/>
                    </a:ext>
                  </a:extLst>
                </a:gridCol>
                <a:gridCol w="1524000">
                  <a:extLst>
                    <a:ext uri="{9D8B030D-6E8A-4147-A177-3AD203B41FA5}">
                      <a16:colId xmlns:a16="http://schemas.microsoft.com/office/drawing/2014/main" val="1096728505"/>
                    </a:ext>
                  </a:extLst>
                </a:gridCol>
                <a:gridCol w="1943100">
                  <a:extLst>
                    <a:ext uri="{9D8B030D-6E8A-4147-A177-3AD203B41FA5}">
                      <a16:colId xmlns:a16="http://schemas.microsoft.com/office/drawing/2014/main" val="1819676358"/>
                    </a:ext>
                  </a:extLst>
                </a:gridCol>
              </a:tblGrid>
              <a:tr h="1301115">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Ref no, Year of publication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Methodology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Dataset Used/Existing real time application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parameters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866155102"/>
                  </a:ext>
                </a:extLst>
              </a:tr>
              <a:tr h="2337308">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[7],2023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Enhancement of Charging Efficiency of Batteries for Electric Vehicles: Review.</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Support Vector Machines,Fuzzy Logic Systems,Artificial Neural Networks (ANN).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Datasets: Battery performance, charge cycles.</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Applications: EV stations, BMS.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Charging efficiency, state of charge (SOC) prediction accuracy, battery health monitoring effectiveness.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Machine learning improves SOC prediction accuracy, advanced BMS enhances battery monitoring and protection.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High Computational Demands,Data Availability,affordable charging challenges.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3945589721"/>
                  </a:ext>
                </a:extLst>
              </a:tr>
              <a:tr h="853948">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[8],2023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Design and Development of Smart Charging Infrastructure for Electric Vehicles.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Cloud-based intelligent models, , Linear and Binary Search for station filtering, priority scheduling for slot allocation..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Combined dataset of 24,740 US EV stations and 3,395 charging sessions from Harvard Dataverse.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Accuracy , classification metrics (confusion matrix), price and distance prediction accuracy, scheduling efficiency.</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spcAft>
                          <a:spcPts val="1200"/>
                        </a:spcAft>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Gradient Boosting showed high accuracy,, effective station filtering with search algorithms.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real-time dynamic factors, less personalized user preferences, V2G functionality not implemented.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1387892967"/>
                  </a:ext>
                </a:extLst>
              </a:tr>
            </a:tbl>
          </a:graphicData>
        </a:graphic>
      </p:graphicFrame>
    </p:spTree>
    <p:extLst>
      <p:ext uri="{BB962C8B-B14F-4D97-AF65-F5344CB8AC3E}">
        <p14:creationId xmlns:p14="http://schemas.microsoft.com/office/powerpoint/2010/main" val="2481740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0893ED0-715B-FEF5-8AE4-3143B8DA5282}"/>
              </a:ext>
            </a:extLst>
          </p:cNvPr>
          <p:cNvGraphicFramePr>
            <a:graphicFrameLocks noGrp="1"/>
          </p:cNvGraphicFramePr>
          <p:nvPr>
            <p:extLst>
              <p:ext uri="{D42A27DB-BD31-4B8C-83A1-F6EECF244321}">
                <p14:modId xmlns:p14="http://schemas.microsoft.com/office/powerpoint/2010/main" val="3538339790"/>
              </p:ext>
            </p:extLst>
          </p:nvPr>
        </p:nvGraphicFramePr>
        <p:xfrm>
          <a:off x="431800" y="367030"/>
          <a:ext cx="11328400" cy="612394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683840421"/>
                    </a:ext>
                  </a:extLst>
                </a:gridCol>
                <a:gridCol w="1803400">
                  <a:extLst>
                    <a:ext uri="{9D8B030D-6E8A-4147-A177-3AD203B41FA5}">
                      <a16:colId xmlns:a16="http://schemas.microsoft.com/office/drawing/2014/main" val="3770763803"/>
                    </a:ext>
                  </a:extLst>
                </a:gridCol>
                <a:gridCol w="1600200">
                  <a:extLst>
                    <a:ext uri="{9D8B030D-6E8A-4147-A177-3AD203B41FA5}">
                      <a16:colId xmlns:a16="http://schemas.microsoft.com/office/drawing/2014/main" val="2532908054"/>
                    </a:ext>
                  </a:extLst>
                </a:gridCol>
                <a:gridCol w="1714500">
                  <a:extLst>
                    <a:ext uri="{9D8B030D-6E8A-4147-A177-3AD203B41FA5}">
                      <a16:colId xmlns:a16="http://schemas.microsoft.com/office/drawing/2014/main" val="1027046120"/>
                    </a:ext>
                  </a:extLst>
                </a:gridCol>
                <a:gridCol w="1536700">
                  <a:extLst>
                    <a:ext uri="{9D8B030D-6E8A-4147-A177-3AD203B41FA5}">
                      <a16:colId xmlns:a16="http://schemas.microsoft.com/office/drawing/2014/main" val="2263589154"/>
                    </a:ext>
                  </a:extLst>
                </a:gridCol>
                <a:gridCol w="1663700">
                  <a:extLst>
                    <a:ext uri="{9D8B030D-6E8A-4147-A177-3AD203B41FA5}">
                      <a16:colId xmlns:a16="http://schemas.microsoft.com/office/drawing/2014/main" val="3466477305"/>
                    </a:ext>
                  </a:extLst>
                </a:gridCol>
                <a:gridCol w="1943100">
                  <a:extLst>
                    <a:ext uri="{9D8B030D-6E8A-4147-A177-3AD203B41FA5}">
                      <a16:colId xmlns:a16="http://schemas.microsoft.com/office/drawing/2014/main" val="886566295"/>
                    </a:ext>
                  </a:extLst>
                </a:gridCol>
              </a:tblGrid>
              <a:tr h="969391">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Ref no, Year of publication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Methodology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Dataset Used/Existing real time application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parameters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3448555056"/>
                  </a:ext>
                </a:extLst>
              </a:tr>
              <a:tr h="2307844">
                <a:tc>
                  <a:txBody>
                    <a:bodyPr/>
                    <a:lstStyle/>
                    <a:p>
                      <a:pPr marL="0" marR="0" indent="0" algn="l" rtl="0" fontAlgn="t"/>
                      <a:r>
                        <a:rPr lang="en-US" sz="16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[9],2022</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Electric Vehicle Charging Behavior Prediction using Machine Learning Models</a:t>
                      </a:r>
                      <a:endParaRPr lang="en-US" sz="1800" b="0" i="0" u="none" strike="noStrike">
                        <a:effectLst/>
                        <a:latin typeface="Arial" panose="020B0604020202020204" pitchFamily="34" charset="0"/>
                      </a:endParaRPr>
                    </a:p>
                  </a:txBody>
                  <a:tcPr marL="68580" marR="68580" marT="91440" marB="91440">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spcAft>
                          <a:spcPts val="1200"/>
                        </a:spcAft>
                      </a:pP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K-means clustering,Machine Learning models (Random Forest, XGBoost).</a:t>
                      </a:r>
                      <a:endParaRPr lang="en-US" sz="1800" b="0" i="0" u="none" strike="noStrike">
                        <a:effectLst/>
                        <a:latin typeface="Arial" panose="020B0604020202020204" pitchFamily="34" charset="0"/>
                      </a:endParaRPr>
                    </a:p>
                  </a:txBody>
                  <a:tcPr marL="68580" marR="68580" marT="91440" marB="91440">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Adaptive Charging Network (ACN) dataset with over 30,000 charging sessions from Pasadena, California.</a:t>
                      </a:r>
                      <a:endParaRPr lang="en-US" sz="1800" b="0" i="0" u="none" strike="noStrike">
                        <a:effectLst/>
                        <a:latin typeface="Arial" panose="020B0604020202020204" pitchFamily="34" charset="0"/>
                      </a:endParaRPr>
                    </a:p>
                  </a:txBody>
                  <a:tcPr marL="68580" marR="68580" marT="91440" marB="91440">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Silhouette Index for clustering; Mean Absolute Percentage Error (MAPE) for prediction</a:t>
                      </a:r>
                      <a:endParaRPr lang="en-US" sz="1800" b="0" i="0" u="none" strike="noStrike">
                        <a:effectLst/>
                        <a:latin typeface="Arial" panose="020B0604020202020204" pitchFamily="34" charset="0"/>
                      </a:endParaRPr>
                    </a:p>
                  </a:txBody>
                  <a:tcPr marL="68580" marR="68580" marT="91440" marB="91440">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K-means clustering (0.7726–0.7879). XGBoost achieved a MAPE of 0.146%, outperforming Random Forest (0.151%)</a:t>
                      </a:r>
                      <a:endParaRPr lang="en-US" sz="1800" b="0" i="0" u="none" strike="noStrike">
                        <a:effectLst/>
                        <a:latin typeface="Arial" panose="020B0604020202020204" pitchFamily="34" charset="0"/>
                      </a:endParaRPr>
                    </a:p>
                  </a:txBody>
                  <a:tcPr marL="68580" marR="68580" marT="91440" marB="91440">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lnSpc>
                          <a:spcPct val="115000"/>
                        </a:lnSpc>
                        <a:spcBef>
                          <a:spcPts val="1200"/>
                        </a:spcBef>
                        <a:spcAft>
                          <a:spcPts val="1200"/>
                        </a:spcAft>
                      </a:pP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to charging sessions from a specific location; cannot generalize findings globally, exploration needed for scalability and variations in real-world conditions.</a:t>
                      </a:r>
                      <a:endParaRPr lang="en-US" sz="1800" b="0" i="0" u="none" strike="noStrike">
                        <a:effectLst/>
                        <a:latin typeface="Arial" panose="020B0604020202020204" pitchFamily="34" charset="0"/>
                      </a:endParaRPr>
                    </a:p>
                  </a:txBody>
                  <a:tcPr>
                    <a:lnL w="762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154949894"/>
                  </a:ext>
                </a:extLst>
              </a:tr>
              <a:tr h="2688336">
                <a:tc>
                  <a:txBody>
                    <a:bodyPr/>
                    <a:lstStyle/>
                    <a:p>
                      <a:pPr marL="0" marR="0" indent="0" algn="l" rtl="0" fontAlgn="t"/>
                      <a:r>
                        <a:rPr lang="en-US" sz="15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[10],2022</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Machine Learning for Solving Charging Infrastructure Planning: A Comprehensive Review</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Reinforcement Learning (RL),</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Linear Regression Mode,</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Support Vector Machine,Deep Learning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Real-world applications in Helsinki and Dundee for hotspot detection and grid planning.</a:t>
                      </a:r>
                      <a:endParaRPr lang="en-US" sz="1800" b="0" i="0" u="none" strike="noStrike">
                        <a:effectLst/>
                        <a:latin typeface="Arial" panose="020B0604020202020204" pitchFamily="34" charset="0"/>
                      </a:endParaRPr>
                    </a:p>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Accuracy, error rates, costs, battery capacity, and efficiency</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Supervised for accuracy; reinforcement for management</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spcAft>
                          <a:spcPts val="1200"/>
                        </a:spcAft>
                      </a:pP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 scarcity, integration issues, limited adaptability, and V2G gaps</a:t>
                      </a:r>
                      <a:r>
                        <a:rPr lang="en-US" sz="15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t>
                      </a:r>
                      <a:r>
                        <a:rPr lang="en-US" sz="140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4001320914"/>
                  </a:ext>
                </a:extLst>
              </a:tr>
            </a:tbl>
          </a:graphicData>
        </a:graphic>
      </p:graphicFrame>
    </p:spTree>
    <p:extLst>
      <p:ext uri="{BB962C8B-B14F-4D97-AF65-F5344CB8AC3E}">
        <p14:creationId xmlns:p14="http://schemas.microsoft.com/office/powerpoint/2010/main" val="5402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136D048-1852-A092-5644-F51BA99306B8}"/>
              </a:ext>
            </a:extLst>
          </p:cNvPr>
          <p:cNvGraphicFramePr>
            <a:graphicFrameLocks noGrp="1"/>
          </p:cNvGraphicFramePr>
          <p:nvPr>
            <p:extLst>
              <p:ext uri="{D42A27DB-BD31-4B8C-83A1-F6EECF244321}">
                <p14:modId xmlns:p14="http://schemas.microsoft.com/office/powerpoint/2010/main" val="345404998"/>
              </p:ext>
            </p:extLst>
          </p:nvPr>
        </p:nvGraphicFramePr>
        <p:xfrm>
          <a:off x="444500" y="262636"/>
          <a:ext cx="11303000" cy="6332728"/>
        </p:xfrm>
        <a:graphic>
          <a:graphicData uri="http://schemas.openxmlformats.org/drawingml/2006/table">
            <a:tbl>
              <a:tblPr firstRow="1" bandRow="1">
                <a:tableStyleId>{5C22544A-7EE6-4342-B048-85BDC9FD1C3A}</a:tableStyleId>
              </a:tblPr>
              <a:tblGrid>
                <a:gridCol w="1106143">
                  <a:extLst>
                    <a:ext uri="{9D8B030D-6E8A-4147-A177-3AD203B41FA5}">
                      <a16:colId xmlns:a16="http://schemas.microsoft.com/office/drawing/2014/main" val="2024399394"/>
                    </a:ext>
                  </a:extLst>
                </a:gridCol>
                <a:gridCol w="1754571">
                  <a:extLst>
                    <a:ext uri="{9D8B030D-6E8A-4147-A177-3AD203B41FA5}">
                      <a16:colId xmlns:a16="http://schemas.microsoft.com/office/drawing/2014/main" val="938520728"/>
                    </a:ext>
                  </a:extLst>
                </a:gridCol>
                <a:gridCol w="1678286">
                  <a:extLst>
                    <a:ext uri="{9D8B030D-6E8A-4147-A177-3AD203B41FA5}">
                      <a16:colId xmlns:a16="http://schemas.microsoft.com/office/drawing/2014/main" val="3715508155"/>
                    </a:ext>
                  </a:extLst>
                </a:gridCol>
                <a:gridCol w="1627429">
                  <a:extLst>
                    <a:ext uri="{9D8B030D-6E8A-4147-A177-3AD203B41FA5}">
                      <a16:colId xmlns:a16="http://schemas.microsoft.com/office/drawing/2014/main" val="606057997"/>
                    </a:ext>
                  </a:extLst>
                </a:gridCol>
                <a:gridCol w="1652857">
                  <a:extLst>
                    <a:ext uri="{9D8B030D-6E8A-4147-A177-3AD203B41FA5}">
                      <a16:colId xmlns:a16="http://schemas.microsoft.com/office/drawing/2014/main" val="1722871175"/>
                    </a:ext>
                  </a:extLst>
                </a:gridCol>
                <a:gridCol w="1741857">
                  <a:extLst>
                    <a:ext uri="{9D8B030D-6E8A-4147-A177-3AD203B41FA5}">
                      <a16:colId xmlns:a16="http://schemas.microsoft.com/office/drawing/2014/main" val="3207949046"/>
                    </a:ext>
                  </a:extLst>
                </a:gridCol>
                <a:gridCol w="1741857">
                  <a:extLst>
                    <a:ext uri="{9D8B030D-6E8A-4147-A177-3AD203B41FA5}">
                      <a16:colId xmlns:a16="http://schemas.microsoft.com/office/drawing/2014/main" val="2552034985"/>
                    </a:ext>
                  </a:extLst>
                </a:gridCol>
              </a:tblGrid>
              <a:tr h="1222756">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Ref no, Year of publication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Methodology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Dataset Used/Existing real time application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parameters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8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831288364"/>
                  </a:ext>
                </a:extLst>
              </a:tr>
              <a:tr h="2554986">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[11],2023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 Data-Driven Analysis of EV Energy Prediction and Planning of EV Charging Infrastructure.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SARIMAX,</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Meta Fusion Regression,</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K-Means Clustering Algorithm.</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California EV Charging Station Dataset</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Palo Alto Charging Station Dataset.</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Mean Absolute Error (MAE),</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Root Mean Square Error,</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Coefficient of Determination.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SARIMAX: R² = 0.97, MAE = 6.50, RMSE = 17.43</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Meta Fusion Regression: R² = 0.98, MAE = 0.91, RMSE = 2.26</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dataset and user behavior variability,</a:t>
                      </a:r>
                      <a:endParaRPr lang="en-US" sz="1800" b="0" i="0" u="none" strike="noStrike">
                        <a:effectLst/>
                        <a:latin typeface="Arial" panose="020B0604020202020204" pitchFamily="34" charset="0"/>
                      </a:endParaRPr>
                    </a:p>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missing real-time traffic/weather data, generalization issues, and need for more resources.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4055943864"/>
                  </a:ext>
                </a:extLst>
              </a:tr>
              <a:tr h="2554986">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[12],2021</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Analysis of Energy Consumption at slow Charging Infrastructure for Electric Vehicle.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Statistical analysis, transformed beta distribution, machine learning.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Geospatial datasets, historical electricity data, EV infrastructure planning.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Energy  consumption distribution, location features, charging events, statistical significance.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High income/expensive housing increases usage, social assistance areas decrease it, XGBoost performs well.</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spcAft>
                          <a:spcPts val="1200"/>
                        </a:spcAft>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inclusion of location- specific features, insufficient focus on dynamic spatial and temporal aspects, reliance on deterministic models.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3918968721"/>
                  </a:ext>
                </a:extLst>
              </a:tr>
            </a:tbl>
          </a:graphicData>
        </a:graphic>
      </p:graphicFrame>
    </p:spTree>
    <p:extLst>
      <p:ext uri="{BB962C8B-B14F-4D97-AF65-F5344CB8AC3E}">
        <p14:creationId xmlns:p14="http://schemas.microsoft.com/office/powerpoint/2010/main" val="630386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C16B879-1B85-2375-B3F3-3FA4D8593089}"/>
              </a:ext>
            </a:extLst>
          </p:cNvPr>
          <p:cNvGraphicFramePr>
            <a:graphicFrameLocks noGrp="1"/>
          </p:cNvGraphicFramePr>
          <p:nvPr>
            <p:extLst>
              <p:ext uri="{D42A27DB-BD31-4B8C-83A1-F6EECF244321}">
                <p14:modId xmlns:p14="http://schemas.microsoft.com/office/powerpoint/2010/main" val="1029302424"/>
              </p:ext>
            </p:extLst>
          </p:nvPr>
        </p:nvGraphicFramePr>
        <p:xfrm>
          <a:off x="495300" y="432562"/>
          <a:ext cx="11201400" cy="5992876"/>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1996280680"/>
                    </a:ext>
                  </a:extLst>
                </a:gridCol>
                <a:gridCol w="1727200">
                  <a:extLst>
                    <a:ext uri="{9D8B030D-6E8A-4147-A177-3AD203B41FA5}">
                      <a16:colId xmlns:a16="http://schemas.microsoft.com/office/drawing/2014/main" val="1874508161"/>
                    </a:ext>
                  </a:extLst>
                </a:gridCol>
                <a:gridCol w="1574800">
                  <a:extLst>
                    <a:ext uri="{9D8B030D-6E8A-4147-A177-3AD203B41FA5}">
                      <a16:colId xmlns:a16="http://schemas.microsoft.com/office/drawing/2014/main" val="2457691810"/>
                    </a:ext>
                  </a:extLst>
                </a:gridCol>
                <a:gridCol w="1676400">
                  <a:extLst>
                    <a:ext uri="{9D8B030D-6E8A-4147-A177-3AD203B41FA5}">
                      <a16:colId xmlns:a16="http://schemas.microsoft.com/office/drawing/2014/main" val="3759305274"/>
                    </a:ext>
                  </a:extLst>
                </a:gridCol>
                <a:gridCol w="1625600">
                  <a:extLst>
                    <a:ext uri="{9D8B030D-6E8A-4147-A177-3AD203B41FA5}">
                      <a16:colId xmlns:a16="http://schemas.microsoft.com/office/drawing/2014/main" val="2220763549"/>
                    </a:ext>
                  </a:extLst>
                </a:gridCol>
                <a:gridCol w="1701800">
                  <a:extLst>
                    <a:ext uri="{9D8B030D-6E8A-4147-A177-3AD203B41FA5}">
                      <a16:colId xmlns:a16="http://schemas.microsoft.com/office/drawing/2014/main" val="3373608473"/>
                    </a:ext>
                  </a:extLst>
                </a:gridCol>
                <a:gridCol w="1714500">
                  <a:extLst>
                    <a:ext uri="{9D8B030D-6E8A-4147-A177-3AD203B41FA5}">
                      <a16:colId xmlns:a16="http://schemas.microsoft.com/office/drawing/2014/main" val="1183977895"/>
                    </a:ext>
                  </a:extLst>
                </a:gridCol>
              </a:tblGrid>
              <a:tr h="1166622">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Ref no, Year of publication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Title </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Methodology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Dataset Used/Existing real time application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parameters used</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Performance Analysis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tc>
                  <a:txBody>
                    <a:bodyPr/>
                    <a:lstStyle/>
                    <a:p>
                      <a:pPr marL="0" marR="0" indent="0" algn="l" rtl="0" fontAlgn="t"/>
                      <a:r>
                        <a:rPr lang="en-US" sz="1700" b="1" i="0" u="none" strike="noStrike">
                          <a:solidFill>
                            <a:srgbClr val="FFFFFF"/>
                          </a:solidFill>
                          <a:effectLst/>
                          <a:latin typeface="Arial" panose="020B0604020202020204" pitchFamily="34" charset="0"/>
                          <a:ea typeface="Arial" panose="020B0604020202020204" pitchFamily="34" charset="0"/>
                          <a:cs typeface="Arial" panose="020B0604020202020204" pitchFamily="34" charset="0"/>
                        </a:rPr>
                        <a:t>Limitations /Gaps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285F4"/>
                    </a:solidFill>
                  </a:tcPr>
                </a:tc>
                <a:extLst>
                  <a:ext uri="{0D108BD9-81ED-4DB2-BD59-A6C34878D82A}">
                    <a16:rowId xmlns:a16="http://schemas.microsoft.com/office/drawing/2014/main" val="3310322395"/>
                  </a:ext>
                </a:extLst>
              </a:tr>
              <a:tr h="2037207">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[13],2020</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Machine Learning Approaches for EV Charging Behavior: A Review.</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Decision trees,SVMs,neural networks, clustering, and regression models.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EV charging station logs,user behaviour patterns and simulation data.</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Accuracy, precision, recall, and latency.</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Decision trees,SVMs, and neural networks can effectively predict and optimize charging behaviour.</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Limited diversity in datasets, lacks of real-world implementation and scalability testing in varied geographic regions.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4EA"/>
                    </a:solidFill>
                  </a:tcPr>
                </a:tc>
                <a:extLst>
                  <a:ext uri="{0D108BD9-81ED-4DB2-BD59-A6C34878D82A}">
                    <a16:rowId xmlns:a16="http://schemas.microsoft.com/office/drawing/2014/main" val="1945779209"/>
                  </a:ext>
                </a:extLst>
              </a:tr>
              <a:tr h="2789047">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[14],2021</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Analysis of Energy Consumption at Public Charging station.</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Data-centric analysis, statistical methods.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Geospatial and socioeconomic datasets; charging events.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Energy modeled by transformed beta distribution; key factors include transactions, income, housing proximity, and social assistance.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Higher consumption linked to prosperous areas and businesses; lower in areas with high social assistance.</a:t>
                      </a:r>
                      <a:endParaRPr lang="en-US" sz="1800" b="0" i="0" u="none" strike="noStrike">
                        <a:effectLst/>
                        <a:latin typeface="Arial" panose="020B0604020202020204" pitchFamily="34" charset="0"/>
                      </a:endParaRPr>
                    </a:p>
                  </a:txBody>
                  <a:tcPr marL="88900" marR="88900" marT="50800" marB="508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8EBF5"/>
                    </a:solidFill>
                  </a:tcPr>
                </a:tc>
                <a:tc>
                  <a:txBody>
                    <a:bodyPr/>
                    <a:lstStyle/>
                    <a:p>
                      <a:pPr marL="0" marR="0" indent="0" algn="l" rtl="0" fontAlgn="t">
                        <a:lnSpc>
                          <a:spcPct val="115000"/>
                        </a:lnSpc>
                        <a:spcBef>
                          <a:spcPts val="1200"/>
                        </a:spcBef>
                      </a:pPr>
                      <a:r>
                        <a:rPr lang="en-US" sz="1450" b="0" i="0" u="none" strike="noStrike">
                          <a:solidFill>
                            <a:srgbClr val="000000"/>
                          </a:solidFill>
                          <a:effectLst/>
                          <a:latin typeface="Arial" panose="020B0604020202020204" pitchFamily="34" charset="0"/>
                          <a:ea typeface="Arial" panose="020B0604020202020204" pitchFamily="34" charset="0"/>
                          <a:cs typeface="Arial" panose="020B0604020202020204" pitchFamily="34" charset="0"/>
                        </a:rPr>
                        <a:t>Time-intensive data collection; needs refined prediction models for deployment and grid planning.</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5"/>
                    </a:solidFill>
                  </a:tcPr>
                </a:tc>
                <a:extLst>
                  <a:ext uri="{0D108BD9-81ED-4DB2-BD59-A6C34878D82A}">
                    <a16:rowId xmlns:a16="http://schemas.microsoft.com/office/drawing/2014/main" val="207839520"/>
                  </a:ext>
                </a:extLst>
              </a:tr>
            </a:tbl>
          </a:graphicData>
        </a:graphic>
      </p:graphicFrame>
    </p:spTree>
    <p:extLst>
      <p:ext uri="{BB962C8B-B14F-4D97-AF65-F5344CB8AC3E}">
        <p14:creationId xmlns:p14="http://schemas.microsoft.com/office/powerpoint/2010/main" val="3925509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8388-087F-4F37-E4B3-7656C3F880C1}"/>
              </a:ext>
            </a:extLst>
          </p:cNvPr>
          <p:cNvSpPr>
            <a:spLocks noGrp="1"/>
          </p:cNvSpPr>
          <p:nvPr>
            <p:ph type="title"/>
          </p:nvPr>
        </p:nvSpPr>
        <p:spPr>
          <a:xfrm>
            <a:off x="911225" y="564389"/>
            <a:ext cx="10369550" cy="738664"/>
          </a:xfrm>
        </p:spPr>
        <p:txBody>
          <a:bodyPr wrap="square" lIns="0" tIns="0" rIns="0" bIns="0" anchor="t">
            <a:spAutoFit/>
          </a:bodyPr>
          <a:lstStyle/>
          <a:p>
            <a:r>
              <a:rPr lang="en-US" sz="4800">
                <a:solidFill>
                  <a:schemeClr val="tx1"/>
                </a:solidFill>
                <a:ea typeface="Calibri"/>
              </a:rPr>
              <a:t>Work Done</a:t>
            </a:r>
            <a:r>
              <a:rPr lang="en-US" sz="4800" b="0">
                <a:solidFill>
                  <a:schemeClr val="tx1"/>
                </a:solidFill>
                <a:ea typeface="Calibri"/>
              </a:rPr>
              <a:t> </a:t>
            </a:r>
            <a:endParaRPr lang="en-US" sz="4800">
              <a:solidFill>
                <a:schemeClr val="tx1"/>
              </a:solidFill>
            </a:endParaRPr>
          </a:p>
        </p:txBody>
      </p:sp>
      <p:sp>
        <p:nvSpPr>
          <p:cNvPr id="3" name="Text Placeholder 2">
            <a:extLst>
              <a:ext uri="{FF2B5EF4-FFF2-40B4-BE49-F238E27FC236}">
                <a16:creationId xmlns:a16="http://schemas.microsoft.com/office/drawing/2014/main" id="{4B579A9D-9CAD-DFDB-9AB1-5EA85C096EE0}"/>
              </a:ext>
            </a:extLst>
          </p:cNvPr>
          <p:cNvSpPr>
            <a:spLocks noGrp="1"/>
          </p:cNvSpPr>
          <p:nvPr>
            <p:ph type="body" idx="1"/>
          </p:nvPr>
        </p:nvSpPr>
        <p:spPr>
          <a:xfrm>
            <a:off x="485467" y="1209341"/>
            <a:ext cx="3312900" cy="6370975"/>
          </a:xfrm>
        </p:spPr>
        <p:txBody>
          <a:bodyPr wrap="square" lIns="0" tIns="0" rIns="0" bIns="0" anchor="t">
            <a:spAutoFit/>
          </a:bodyPr>
          <a:lstStyle/>
          <a:p>
            <a:pPr algn="l"/>
            <a:endParaRPr lang="en-US" b="1">
              <a:ea typeface="Calibri"/>
              <a:cs typeface="Calibri"/>
            </a:endParaRPr>
          </a:p>
          <a:p>
            <a:pPr algn="l"/>
            <a:r>
              <a:rPr lang="en-US" b="1"/>
              <a:t>1. System Design &amp; Architecture</a:t>
            </a:r>
            <a:endParaRPr lang="en-US"/>
          </a:p>
          <a:p>
            <a:pPr marL="285750" indent="-285750" algn="l">
              <a:buFont typeface="Arial"/>
              <a:buChar char="•"/>
            </a:pPr>
            <a:r>
              <a:rPr lang="en-US">
                <a:ea typeface="+mn-lt"/>
                <a:cs typeface="+mn-lt"/>
              </a:rPr>
              <a:t>Designed a high-level architecture for data collection, processing, and decision-making.</a:t>
            </a:r>
            <a:endParaRPr lang="en-US"/>
          </a:p>
          <a:p>
            <a:pPr marL="285750" indent="-285750" algn="l">
              <a:buFont typeface="Arial"/>
              <a:buChar char="•"/>
            </a:pPr>
            <a:endParaRPr lang="en-US">
              <a:ea typeface="+mn-lt"/>
              <a:cs typeface="+mn-lt"/>
            </a:endParaRPr>
          </a:p>
          <a:p>
            <a:pPr marL="285750" indent="-285750" algn="l">
              <a:buFont typeface="Arial"/>
              <a:buChar char="•"/>
            </a:pPr>
            <a:r>
              <a:rPr lang="en-US">
                <a:ea typeface="+mn-lt"/>
                <a:cs typeface="+mn-lt"/>
              </a:rPr>
              <a:t>Defined system components: sensors, cloud storage, ML model, and alert mechanism.</a:t>
            </a:r>
            <a:endParaRPr lang="en-US">
              <a:ea typeface="Calibri"/>
              <a:cs typeface="Calibri"/>
            </a:endParaRPr>
          </a:p>
          <a:p>
            <a:pPr algn="l"/>
            <a:endParaRPr lang="en-US">
              <a:ea typeface="+mn-lt"/>
              <a:cs typeface="+mn-lt"/>
            </a:endParaRPr>
          </a:p>
          <a:p>
            <a:pPr marL="285750" indent="-285750" algn="l">
              <a:buFont typeface="Arial"/>
              <a:buChar char="•"/>
            </a:pPr>
            <a:r>
              <a:rPr lang="en-US">
                <a:ea typeface="+mn-lt"/>
                <a:cs typeface="+mn-lt"/>
              </a:rPr>
              <a:t>Developed block diagram and data flow models for implementation.</a:t>
            </a:r>
            <a:endParaRPr lang="en-US"/>
          </a:p>
          <a:p>
            <a:pPr marL="285750" indent="-285750" algn="l">
              <a:buFont typeface="Arial"/>
              <a:buChar char="•"/>
            </a:pPr>
            <a:endParaRPr lang="en-US">
              <a:ea typeface="+mn-lt"/>
              <a:cs typeface="+mn-lt"/>
            </a:endParaRPr>
          </a:p>
          <a:p>
            <a:pPr marL="285750" indent="-285750" algn="l">
              <a:buFont typeface="Arial"/>
              <a:buChar char="•"/>
            </a:pPr>
            <a:r>
              <a:rPr lang="en-US">
                <a:ea typeface="+mn-lt"/>
                <a:cs typeface="+mn-lt"/>
              </a:rPr>
              <a:t>Developed Software Requirements Specification (SRS)</a:t>
            </a:r>
            <a:endParaRPr lang="en-US">
              <a:ea typeface="Calibri"/>
              <a:cs typeface="Calibri"/>
            </a:endParaRPr>
          </a:p>
          <a:p>
            <a:pPr marL="285750" indent="-285750" algn="l">
              <a:buFont typeface="Arial"/>
              <a:buChar char="•"/>
            </a:pPr>
            <a:endParaRPr lang="en-US">
              <a:ea typeface="Calibri"/>
              <a:cs typeface="Calibri"/>
            </a:endParaRPr>
          </a:p>
          <a:p>
            <a:pPr marL="285750" indent="-285750" algn="l">
              <a:buFont typeface="Arial"/>
              <a:buChar char="•"/>
            </a:pPr>
            <a:endParaRPr lang="en-US">
              <a:ea typeface="Calibri"/>
              <a:cs typeface="Calibri"/>
            </a:endParaRPr>
          </a:p>
          <a:p>
            <a:pPr marL="285750" indent="-285750" algn="l">
              <a:buFont typeface="Arial"/>
              <a:buChar char="•"/>
            </a:pPr>
            <a:endParaRPr lang="en-US"/>
          </a:p>
          <a:p>
            <a:pPr algn="l"/>
            <a:endParaRPr lang="en-US">
              <a:ea typeface="Calibri"/>
              <a:cs typeface="Calibri"/>
            </a:endParaRPr>
          </a:p>
          <a:p>
            <a:endParaRPr lang="en-US">
              <a:ea typeface="Calibri"/>
              <a:cs typeface="Calibri"/>
            </a:endParaRPr>
          </a:p>
        </p:txBody>
      </p:sp>
      <p:pic>
        <p:nvPicPr>
          <p:cNvPr id="5" name="Picture 4" descr="A diagram of a software system">
            <a:extLst>
              <a:ext uri="{FF2B5EF4-FFF2-40B4-BE49-F238E27FC236}">
                <a16:creationId xmlns:a16="http://schemas.microsoft.com/office/drawing/2014/main" id="{3B2AAD34-AC7C-BF58-B058-474A04AD7BD6}"/>
              </a:ext>
            </a:extLst>
          </p:cNvPr>
          <p:cNvPicPr>
            <a:picLocks noChangeAspect="1"/>
          </p:cNvPicPr>
          <p:nvPr/>
        </p:nvPicPr>
        <p:blipFill>
          <a:blip r:embed="rId3"/>
          <a:stretch>
            <a:fillRect/>
          </a:stretch>
        </p:blipFill>
        <p:spPr>
          <a:xfrm>
            <a:off x="4063637" y="1204784"/>
            <a:ext cx="7885023" cy="5334000"/>
          </a:xfrm>
          <a:prstGeom prst="rect">
            <a:avLst/>
          </a:prstGeom>
        </p:spPr>
      </p:pic>
    </p:spTree>
    <p:extLst>
      <p:ext uri="{BB962C8B-B14F-4D97-AF65-F5344CB8AC3E}">
        <p14:creationId xmlns:p14="http://schemas.microsoft.com/office/powerpoint/2010/main" val="717126241"/>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3D70-029C-9FC2-AD06-08BF2B0D2CF4}"/>
              </a:ext>
            </a:extLst>
          </p:cNvPr>
          <p:cNvSpPr>
            <a:spLocks noGrp="1"/>
          </p:cNvSpPr>
          <p:nvPr>
            <p:ph type="title"/>
          </p:nvPr>
        </p:nvSpPr>
        <p:spPr>
          <a:xfrm>
            <a:off x="390364" y="386672"/>
            <a:ext cx="3387983" cy="1015663"/>
          </a:xfrm>
        </p:spPr>
        <p:txBody>
          <a:bodyPr wrap="square" lIns="0" tIns="0" rIns="0" bIns="0" anchor="t">
            <a:spAutoFit/>
          </a:bodyPr>
          <a:lstStyle/>
          <a:p>
            <a:pPr algn="l"/>
            <a:r>
              <a:rPr lang="en-US" sz="4800">
                <a:solidFill>
                  <a:schemeClr val="tx1"/>
                </a:solidFill>
                <a:ea typeface="Calibri"/>
              </a:rPr>
              <a:t>Work Done</a:t>
            </a:r>
            <a:r>
              <a:rPr lang="en-US" sz="4800" b="0">
                <a:solidFill>
                  <a:schemeClr val="tx1"/>
                </a:solidFill>
                <a:ea typeface="Calibri"/>
              </a:rPr>
              <a:t> </a:t>
            </a:r>
          </a:p>
          <a:p>
            <a:endParaRPr lang="en-US">
              <a:ea typeface="Calibri"/>
            </a:endParaRPr>
          </a:p>
        </p:txBody>
      </p:sp>
      <p:sp>
        <p:nvSpPr>
          <p:cNvPr id="3" name="Text Placeholder 2">
            <a:extLst>
              <a:ext uri="{FF2B5EF4-FFF2-40B4-BE49-F238E27FC236}">
                <a16:creationId xmlns:a16="http://schemas.microsoft.com/office/drawing/2014/main" id="{BCFC7DF7-432A-AA7D-178E-BD65A3D4D305}"/>
              </a:ext>
            </a:extLst>
          </p:cNvPr>
          <p:cNvSpPr>
            <a:spLocks noGrp="1"/>
          </p:cNvSpPr>
          <p:nvPr>
            <p:ph type="body" idx="1"/>
          </p:nvPr>
        </p:nvSpPr>
        <p:spPr>
          <a:xfrm>
            <a:off x="391969" y="1199184"/>
            <a:ext cx="11214735" cy="1938992"/>
          </a:xfrm>
        </p:spPr>
        <p:txBody>
          <a:bodyPr wrap="square" lIns="0" tIns="0" rIns="0" bIns="0" anchor="t">
            <a:spAutoFit/>
          </a:bodyPr>
          <a:lstStyle/>
          <a:p>
            <a:pPr algn="l"/>
            <a:endParaRPr lang="en-US" b="1">
              <a:ea typeface="Calibri"/>
              <a:cs typeface="Calibri"/>
            </a:endParaRPr>
          </a:p>
          <a:p>
            <a:pPr algn="l"/>
            <a:r>
              <a:rPr lang="en-US" b="1">
                <a:ea typeface="Calibri"/>
                <a:cs typeface="Calibri"/>
              </a:rPr>
              <a:t>2.Create </a:t>
            </a:r>
            <a:r>
              <a:rPr lang="en-US" b="1" err="1">
                <a:ea typeface="Calibri"/>
                <a:cs typeface="Calibri"/>
              </a:rPr>
              <a:t>github</a:t>
            </a:r>
            <a:r>
              <a:rPr lang="en-US" b="1">
                <a:ea typeface="Calibri"/>
                <a:cs typeface="Calibri"/>
              </a:rPr>
              <a:t> repository</a:t>
            </a:r>
          </a:p>
          <a:p>
            <a:pPr marL="285750" indent="-285750" algn="l">
              <a:buFont typeface="Arial"/>
              <a:buChar char="•"/>
            </a:pPr>
            <a:r>
              <a:rPr lang="en-US">
                <a:ea typeface="Calibri"/>
                <a:cs typeface="Calibri"/>
              </a:rPr>
              <a:t>For collaborative work and better efficiency we use </a:t>
            </a:r>
            <a:r>
              <a:rPr lang="en-US" err="1">
                <a:ea typeface="Calibri"/>
                <a:cs typeface="Calibri"/>
              </a:rPr>
              <a:t>github</a:t>
            </a:r>
            <a:r>
              <a:rPr lang="en-US">
                <a:ea typeface="Calibri"/>
                <a:cs typeface="Calibri"/>
              </a:rPr>
              <a:t> for project</a:t>
            </a:r>
          </a:p>
          <a:p>
            <a:pPr marL="285750" indent="-285750" algn="l">
              <a:buFont typeface="Arial"/>
              <a:buChar char="•"/>
            </a:pPr>
            <a:r>
              <a:rPr lang="en-US">
                <a:ea typeface="+mn-lt"/>
                <a:cs typeface="+mn-lt"/>
                <a:hlinkClick r:id="rId2"/>
              </a:rPr>
              <a:t>https://github.com/hariom710/Advanced-Monitoring-and-Control-Mechanism-for-Electric-Vehicle-Charging-Using-Machine-Learning.git</a:t>
            </a:r>
            <a:endParaRPr lang="en-US">
              <a:ea typeface="Calibri"/>
              <a:cs typeface="Calibri"/>
            </a:endParaRPr>
          </a:p>
          <a:p>
            <a:pPr algn="l"/>
            <a:endParaRPr lang="en-US">
              <a:ea typeface="Calibri"/>
              <a:cs typeface="Calibri"/>
            </a:endParaRPr>
          </a:p>
          <a:p>
            <a:endParaRPr lang="en-US">
              <a:ea typeface="Calibri"/>
              <a:cs typeface="Calibri"/>
            </a:endParaRPr>
          </a:p>
        </p:txBody>
      </p:sp>
      <p:pic>
        <p:nvPicPr>
          <p:cNvPr id="8" name="Picture 7" descr="A screenshot of a computer&#10;&#10;AI-generated content may be incorrect.">
            <a:extLst>
              <a:ext uri="{FF2B5EF4-FFF2-40B4-BE49-F238E27FC236}">
                <a16:creationId xmlns:a16="http://schemas.microsoft.com/office/drawing/2014/main" id="{E3810E9A-94FA-75FF-3930-A95509B28893}"/>
              </a:ext>
            </a:extLst>
          </p:cNvPr>
          <p:cNvPicPr>
            <a:picLocks noChangeAspect="1"/>
          </p:cNvPicPr>
          <p:nvPr/>
        </p:nvPicPr>
        <p:blipFill>
          <a:blip r:embed="rId3"/>
          <a:stretch>
            <a:fillRect/>
          </a:stretch>
        </p:blipFill>
        <p:spPr>
          <a:xfrm>
            <a:off x="103089" y="2800865"/>
            <a:ext cx="5704469" cy="3562866"/>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56283172-C0C3-0043-82FF-C705E09E3B72}"/>
              </a:ext>
            </a:extLst>
          </p:cNvPr>
          <p:cNvPicPr>
            <a:picLocks noChangeAspect="1"/>
          </p:cNvPicPr>
          <p:nvPr/>
        </p:nvPicPr>
        <p:blipFill>
          <a:blip r:embed="rId4"/>
          <a:stretch>
            <a:fillRect/>
          </a:stretch>
        </p:blipFill>
        <p:spPr>
          <a:xfrm>
            <a:off x="5975264" y="2796874"/>
            <a:ext cx="6028553" cy="3570846"/>
          </a:xfrm>
          <a:prstGeom prst="rect">
            <a:avLst/>
          </a:prstGeom>
        </p:spPr>
      </p:pic>
    </p:spTree>
    <p:extLst>
      <p:ext uri="{BB962C8B-B14F-4D97-AF65-F5344CB8AC3E}">
        <p14:creationId xmlns:p14="http://schemas.microsoft.com/office/powerpoint/2010/main" val="1529540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02A0-EC75-50C3-51C4-F01B79706F9D}"/>
              </a:ext>
            </a:extLst>
          </p:cNvPr>
          <p:cNvSpPr>
            <a:spLocks noGrp="1"/>
          </p:cNvSpPr>
          <p:nvPr>
            <p:ph type="title"/>
          </p:nvPr>
        </p:nvSpPr>
        <p:spPr>
          <a:xfrm>
            <a:off x="389307" y="376498"/>
            <a:ext cx="10369550" cy="1015663"/>
          </a:xfrm>
        </p:spPr>
        <p:txBody>
          <a:bodyPr wrap="square" lIns="0" tIns="0" rIns="0" bIns="0" anchor="t">
            <a:spAutoFit/>
          </a:bodyPr>
          <a:lstStyle/>
          <a:p>
            <a:pPr algn="l"/>
            <a:r>
              <a:rPr lang="en-US" sz="4800">
                <a:solidFill>
                  <a:schemeClr val="tx1"/>
                </a:solidFill>
                <a:ea typeface="Calibri"/>
              </a:rPr>
              <a:t>Work Done</a:t>
            </a:r>
            <a:r>
              <a:rPr lang="en-US" sz="4800" b="0">
                <a:solidFill>
                  <a:schemeClr val="tx1"/>
                </a:solidFill>
                <a:ea typeface="Calibri"/>
              </a:rPr>
              <a:t> </a:t>
            </a:r>
          </a:p>
          <a:p>
            <a:endParaRPr lang="en-US">
              <a:ea typeface="Calibri"/>
            </a:endParaRPr>
          </a:p>
        </p:txBody>
      </p:sp>
      <p:sp>
        <p:nvSpPr>
          <p:cNvPr id="3" name="Text Placeholder 2">
            <a:extLst>
              <a:ext uri="{FF2B5EF4-FFF2-40B4-BE49-F238E27FC236}">
                <a16:creationId xmlns:a16="http://schemas.microsoft.com/office/drawing/2014/main" id="{2071B886-0338-1D6B-3495-9D44F5502EB1}"/>
              </a:ext>
            </a:extLst>
          </p:cNvPr>
          <p:cNvSpPr>
            <a:spLocks noGrp="1"/>
          </p:cNvSpPr>
          <p:nvPr>
            <p:ph type="body" idx="1"/>
          </p:nvPr>
        </p:nvSpPr>
        <p:spPr>
          <a:xfrm>
            <a:off x="391969" y="1600779"/>
            <a:ext cx="11214735" cy="2215991"/>
          </a:xfrm>
        </p:spPr>
        <p:txBody>
          <a:bodyPr wrap="square" lIns="0" tIns="0" rIns="0" bIns="0" anchor="t">
            <a:spAutoFit/>
          </a:bodyPr>
          <a:lstStyle/>
          <a:p>
            <a:pPr algn="l"/>
            <a:r>
              <a:rPr lang="en-US" b="1">
                <a:ea typeface="Calibri"/>
                <a:cs typeface="Calibri"/>
              </a:rPr>
              <a:t>3. Data Acquisition &amp; Pre-processing</a:t>
            </a:r>
            <a:endParaRPr lang="en-US">
              <a:ea typeface="Calibri"/>
              <a:cs typeface="Calibri"/>
            </a:endParaRPr>
          </a:p>
          <a:p>
            <a:pPr marL="285750" indent="-285750" algn="l">
              <a:buFont typeface="Arial,Sans-Serif"/>
              <a:buChar char="•"/>
            </a:pPr>
            <a:r>
              <a:rPr lang="en-US">
                <a:ea typeface="Calibri"/>
                <a:cs typeface="Calibri"/>
              </a:rPr>
              <a:t>Collected real-world EV charging data.</a:t>
            </a:r>
          </a:p>
          <a:p>
            <a:pPr marL="285750" indent="-285750" algn="l">
              <a:buFont typeface="Arial,Sans-Serif"/>
              <a:buChar char="•"/>
            </a:pPr>
            <a:r>
              <a:rPr lang="en-US">
                <a:ea typeface="Calibri"/>
                <a:cs typeface="Calibri"/>
              </a:rPr>
              <a:t>Identified key parameters: voltage, current, temperature, battery temperature etc.</a:t>
            </a:r>
          </a:p>
          <a:p>
            <a:pPr marL="285750" indent="-285750" algn="l">
              <a:buFont typeface="Arial,Sans-Serif"/>
              <a:buChar char="•"/>
            </a:pPr>
            <a:r>
              <a:rPr lang="en-US">
                <a:ea typeface="Calibri"/>
                <a:cs typeface="Calibri"/>
              </a:rPr>
              <a:t>Cleaned and normalized data to ensure consistency and remove anomalies.</a:t>
            </a:r>
          </a:p>
          <a:p>
            <a:pPr algn="l"/>
            <a:endParaRPr lang="en-US">
              <a:ea typeface="Calibri"/>
              <a:cs typeface="Calibri"/>
            </a:endParaRPr>
          </a:p>
          <a:p>
            <a:pPr algn="l"/>
            <a:endParaRPr lang="en-US">
              <a:ea typeface="Calibri"/>
              <a:cs typeface="Calibri"/>
            </a:endParaRPr>
          </a:p>
          <a:p>
            <a:pPr algn="l"/>
            <a:endParaRPr lang="en-US">
              <a:ea typeface="Calibri"/>
              <a:cs typeface="Calibri"/>
            </a:endParaRPr>
          </a:p>
          <a:p>
            <a:endParaRPr lang="en-US">
              <a:ea typeface="Calibri"/>
              <a:cs typeface="Calibri"/>
            </a:endParaRPr>
          </a:p>
        </p:txBody>
      </p:sp>
      <p:pic>
        <p:nvPicPr>
          <p:cNvPr id="4" name="Picture 3" descr="A screenshot of a graph&#10;&#10;AI-generated content may be incorrect.">
            <a:extLst>
              <a:ext uri="{FF2B5EF4-FFF2-40B4-BE49-F238E27FC236}">
                <a16:creationId xmlns:a16="http://schemas.microsoft.com/office/drawing/2014/main" id="{08A1D6F8-0BE7-0092-C8F9-C61C508D3221}"/>
              </a:ext>
            </a:extLst>
          </p:cNvPr>
          <p:cNvPicPr>
            <a:picLocks noChangeAspect="1"/>
          </p:cNvPicPr>
          <p:nvPr/>
        </p:nvPicPr>
        <p:blipFill>
          <a:blip r:embed="rId2"/>
          <a:srcRect t="-5556" b="61111"/>
          <a:stretch/>
        </p:blipFill>
        <p:spPr>
          <a:xfrm>
            <a:off x="152399" y="2996891"/>
            <a:ext cx="11887213" cy="2407631"/>
          </a:xfrm>
          <a:prstGeom prst="rect">
            <a:avLst/>
          </a:prstGeom>
        </p:spPr>
      </p:pic>
    </p:spTree>
    <p:extLst>
      <p:ext uri="{BB962C8B-B14F-4D97-AF65-F5344CB8AC3E}">
        <p14:creationId xmlns:p14="http://schemas.microsoft.com/office/powerpoint/2010/main" val="2983744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178CE-39D8-C3EE-C0FB-0C4FF1F419CF}"/>
              </a:ext>
            </a:extLst>
          </p:cNvPr>
          <p:cNvSpPr>
            <a:spLocks noGrp="1"/>
          </p:cNvSpPr>
          <p:nvPr>
            <p:ph type="title"/>
          </p:nvPr>
        </p:nvSpPr>
        <p:spPr>
          <a:xfrm>
            <a:off x="388711" y="430628"/>
            <a:ext cx="10369550" cy="1292662"/>
          </a:xfrm>
        </p:spPr>
        <p:txBody>
          <a:bodyPr wrap="square" lIns="0" tIns="0" rIns="0" bIns="0" anchor="t">
            <a:spAutoFit/>
          </a:bodyPr>
          <a:lstStyle/>
          <a:p>
            <a:pPr algn="l"/>
            <a:r>
              <a:rPr lang="en-US" sz="4800">
                <a:solidFill>
                  <a:schemeClr val="tx1"/>
                </a:solidFill>
                <a:ea typeface="Calibri"/>
              </a:rPr>
              <a:t>Work Done</a:t>
            </a:r>
            <a:r>
              <a:rPr lang="en-US" sz="4800" b="0">
                <a:solidFill>
                  <a:schemeClr val="tx1"/>
                </a:solidFill>
                <a:ea typeface="Calibri"/>
              </a:rPr>
              <a:t> </a:t>
            </a:r>
          </a:p>
          <a:p>
            <a:endParaRPr lang="en-US" b="0">
              <a:solidFill>
                <a:srgbClr val="000000"/>
              </a:solidFill>
              <a:ea typeface="Calibri"/>
            </a:endParaRPr>
          </a:p>
          <a:p>
            <a:endParaRPr lang="en-US">
              <a:ea typeface="Calibri"/>
            </a:endParaRPr>
          </a:p>
        </p:txBody>
      </p:sp>
      <p:sp>
        <p:nvSpPr>
          <p:cNvPr id="3" name="Text Placeholder 2">
            <a:extLst>
              <a:ext uri="{FF2B5EF4-FFF2-40B4-BE49-F238E27FC236}">
                <a16:creationId xmlns:a16="http://schemas.microsoft.com/office/drawing/2014/main" id="{A279DE58-2173-5DE4-0CDE-43A43F2417C8}"/>
              </a:ext>
            </a:extLst>
          </p:cNvPr>
          <p:cNvSpPr>
            <a:spLocks noGrp="1"/>
          </p:cNvSpPr>
          <p:nvPr>
            <p:ph type="body" idx="1"/>
          </p:nvPr>
        </p:nvSpPr>
        <p:spPr>
          <a:xfrm>
            <a:off x="391969" y="1600779"/>
            <a:ext cx="11214735" cy="553998"/>
          </a:xfrm>
        </p:spPr>
        <p:txBody>
          <a:bodyPr wrap="square" lIns="0" tIns="0" rIns="0" bIns="0" anchor="t">
            <a:spAutoFit/>
          </a:bodyPr>
          <a:lstStyle/>
          <a:p>
            <a:pPr marL="285750" indent="-285750">
              <a:buFont typeface="Arial"/>
              <a:buChar char="•"/>
            </a:pPr>
            <a:r>
              <a:rPr lang="en-US">
                <a:ea typeface="Calibri"/>
                <a:cs typeface="Calibri"/>
              </a:rPr>
              <a:t>We visualize given data using scatterplot to draw conclusion</a:t>
            </a:r>
          </a:p>
          <a:p>
            <a:pPr marL="285750" indent="-285750">
              <a:buFont typeface="Arial"/>
              <a:buChar char="•"/>
            </a:pPr>
            <a:r>
              <a:rPr lang="en-US">
                <a:ea typeface="Calibri"/>
                <a:cs typeface="Calibri"/>
              </a:rPr>
              <a:t>Run the preprocessed data on basic ML model.</a:t>
            </a:r>
          </a:p>
        </p:txBody>
      </p:sp>
      <p:pic>
        <p:nvPicPr>
          <p:cNvPr id="4" name="Picture 3" descr="A screen shot of a graph&#10;&#10;AI-generated content may be incorrect.">
            <a:extLst>
              <a:ext uri="{FF2B5EF4-FFF2-40B4-BE49-F238E27FC236}">
                <a16:creationId xmlns:a16="http://schemas.microsoft.com/office/drawing/2014/main" id="{4295D16E-40A6-CC29-C9F6-1F28F4427A0E}"/>
              </a:ext>
            </a:extLst>
          </p:cNvPr>
          <p:cNvPicPr>
            <a:picLocks noChangeAspect="1"/>
          </p:cNvPicPr>
          <p:nvPr/>
        </p:nvPicPr>
        <p:blipFill>
          <a:blip r:embed="rId2"/>
          <a:srcRect l="7715" t="4435" r="8108" b="3505"/>
          <a:stretch/>
        </p:blipFill>
        <p:spPr>
          <a:xfrm>
            <a:off x="7972734" y="432628"/>
            <a:ext cx="3843982" cy="2992102"/>
          </a:xfrm>
          <a:prstGeom prst="rect">
            <a:avLst/>
          </a:prstGeom>
        </p:spPr>
      </p:pic>
      <p:pic>
        <p:nvPicPr>
          <p:cNvPr id="5" name="Picture 4" descr="A graph of red dots&#10;&#10;AI-generated content may be incorrect.">
            <a:extLst>
              <a:ext uri="{FF2B5EF4-FFF2-40B4-BE49-F238E27FC236}">
                <a16:creationId xmlns:a16="http://schemas.microsoft.com/office/drawing/2014/main" id="{8515E54F-A05B-7B1A-61E3-055B85DB2A86}"/>
              </a:ext>
            </a:extLst>
          </p:cNvPr>
          <p:cNvPicPr>
            <a:picLocks noChangeAspect="1"/>
          </p:cNvPicPr>
          <p:nvPr/>
        </p:nvPicPr>
        <p:blipFill>
          <a:blip r:embed="rId3"/>
          <a:srcRect l="3741" t="4454" r="6484" b="3555"/>
          <a:stretch/>
        </p:blipFill>
        <p:spPr>
          <a:xfrm>
            <a:off x="8046172" y="3429714"/>
            <a:ext cx="3678566" cy="299229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91D1B71-5C43-053A-FE29-4BE53391C0A7}"/>
              </a:ext>
            </a:extLst>
          </p:cNvPr>
          <p:cNvPicPr>
            <a:picLocks noChangeAspect="1"/>
          </p:cNvPicPr>
          <p:nvPr/>
        </p:nvPicPr>
        <p:blipFill>
          <a:blip r:embed="rId4"/>
          <a:srcRect l="33204" t="29292" r="1085" b="47268"/>
          <a:stretch/>
        </p:blipFill>
        <p:spPr>
          <a:xfrm>
            <a:off x="659053" y="3325091"/>
            <a:ext cx="6356336" cy="1607537"/>
          </a:xfrm>
          <a:prstGeom prst="rect">
            <a:avLst/>
          </a:prstGeom>
        </p:spPr>
      </p:pic>
    </p:spTree>
    <p:extLst>
      <p:ext uri="{BB962C8B-B14F-4D97-AF65-F5344CB8AC3E}">
        <p14:creationId xmlns:p14="http://schemas.microsoft.com/office/powerpoint/2010/main" val="3315531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00A07-0513-5DF8-5ABF-E202901FD80A}"/>
              </a:ext>
            </a:extLst>
          </p:cNvPr>
          <p:cNvSpPr>
            <a:spLocks noGrp="1"/>
          </p:cNvSpPr>
          <p:nvPr>
            <p:ph type="title"/>
          </p:nvPr>
        </p:nvSpPr>
        <p:spPr>
          <a:xfrm>
            <a:off x="389307" y="647895"/>
            <a:ext cx="10369550" cy="1292662"/>
          </a:xfrm>
        </p:spPr>
        <p:txBody>
          <a:bodyPr wrap="square" lIns="0" tIns="0" rIns="0" bIns="0" anchor="t">
            <a:spAutoFit/>
          </a:bodyPr>
          <a:lstStyle/>
          <a:p>
            <a:pPr algn="l"/>
            <a:r>
              <a:rPr lang="en-US" sz="4800">
                <a:solidFill>
                  <a:schemeClr val="tx1"/>
                </a:solidFill>
                <a:ea typeface="Calibri"/>
              </a:rPr>
              <a:t>Work Done</a:t>
            </a:r>
            <a:r>
              <a:rPr lang="en-US" sz="4800" b="0">
                <a:solidFill>
                  <a:schemeClr val="tx1"/>
                </a:solidFill>
                <a:ea typeface="Calibri"/>
              </a:rPr>
              <a:t> </a:t>
            </a:r>
          </a:p>
          <a:p>
            <a:endParaRPr lang="en-US" b="0">
              <a:solidFill>
                <a:srgbClr val="000000"/>
              </a:solidFill>
              <a:ea typeface="Calibri"/>
            </a:endParaRPr>
          </a:p>
          <a:p>
            <a:endParaRPr lang="en-US">
              <a:ea typeface="Calibri"/>
            </a:endParaRPr>
          </a:p>
        </p:txBody>
      </p:sp>
      <p:sp>
        <p:nvSpPr>
          <p:cNvPr id="3" name="Text Placeholder 2">
            <a:extLst>
              <a:ext uri="{FF2B5EF4-FFF2-40B4-BE49-F238E27FC236}">
                <a16:creationId xmlns:a16="http://schemas.microsoft.com/office/drawing/2014/main" id="{9B789386-3552-16D4-EB12-24E705E69F66}"/>
              </a:ext>
            </a:extLst>
          </p:cNvPr>
          <p:cNvSpPr>
            <a:spLocks noGrp="1"/>
          </p:cNvSpPr>
          <p:nvPr>
            <p:ph type="body" idx="1"/>
          </p:nvPr>
        </p:nvSpPr>
        <p:spPr>
          <a:xfrm>
            <a:off x="391969" y="1600779"/>
            <a:ext cx="9093492" cy="3600986"/>
          </a:xfrm>
          <a:ln>
            <a:solidFill>
              <a:schemeClr val="bg1"/>
            </a:solidFill>
          </a:ln>
        </p:spPr>
        <p:txBody>
          <a:bodyPr wrap="square" lIns="0" tIns="0" rIns="0" bIns="0" anchor="t">
            <a:spAutoFit/>
          </a:bodyPr>
          <a:lstStyle/>
          <a:p>
            <a:pPr algn="l"/>
            <a:r>
              <a:rPr lang="en-US" b="1">
                <a:ea typeface="Calibri"/>
                <a:cs typeface="Calibri"/>
              </a:rPr>
              <a:t>4. Initial Model Building Steps</a:t>
            </a:r>
            <a:endParaRPr lang="en-US">
              <a:ea typeface="Calibri"/>
              <a:cs typeface="Calibri"/>
            </a:endParaRPr>
          </a:p>
          <a:p>
            <a:pPr marL="285750" indent="-285750" algn="l">
              <a:buFont typeface="Arial,Sans-Serif"/>
              <a:buChar char="•"/>
            </a:pPr>
            <a:r>
              <a:rPr lang="en-US">
                <a:ea typeface="Calibri"/>
                <a:cs typeface="Calibri"/>
              </a:rPr>
              <a:t>Explored platforms like </a:t>
            </a:r>
            <a:r>
              <a:rPr lang="en-US" b="1">
                <a:ea typeface="Calibri"/>
                <a:cs typeface="Calibri"/>
              </a:rPr>
              <a:t>Google </a:t>
            </a:r>
            <a:r>
              <a:rPr lang="en-US" b="1" err="1">
                <a:ea typeface="Calibri"/>
                <a:cs typeface="Calibri"/>
              </a:rPr>
              <a:t>Colab</a:t>
            </a:r>
            <a:r>
              <a:rPr lang="en-US">
                <a:ea typeface="Calibri"/>
                <a:cs typeface="Calibri"/>
              </a:rPr>
              <a:t> and </a:t>
            </a:r>
            <a:r>
              <a:rPr lang="en-US" b="1" err="1">
                <a:ea typeface="Calibri"/>
                <a:cs typeface="Calibri"/>
              </a:rPr>
              <a:t>Jupyter</a:t>
            </a:r>
            <a:r>
              <a:rPr lang="en-US" b="1">
                <a:ea typeface="Calibri"/>
                <a:cs typeface="Calibri"/>
              </a:rPr>
              <a:t> Notebook</a:t>
            </a:r>
            <a:r>
              <a:rPr lang="en-US">
                <a:ea typeface="Calibri"/>
                <a:cs typeface="Calibri"/>
              </a:rPr>
              <a:t> for model training.</a:t>
            </a:r>
          </a:p>
          <a:p>
            <a:pPr marL="285750" indent="-285750" algn="l">
              <a:buFont typeface="Arial,Sans-Serif"/>
              <a:buChar char="•"/>
            </a:pPr>
            <a:r>
              <a:rPr lang="en-US">
                <a:ea typeface="Calibri"/>
                <a:cs typeface="Calibri"/>
              </a:rPr>
              <a:t>Experimented with </a:t>
            </a:r>
            <a:r>
              <a:rPr lang="en-US" b="1">
                <a:ea typeface="Calibri"/>
                <a:cs typeface="Calibri"/>
              </a:rPr>
              <a:t>Random Forest, </a:t>
            </a:r>
            <a:r>
              <a:rPr lang="en-US" b="1" err="1">
                <a:ea typeface="Calibri"/>
                <a:cs typeface="Calibri"/>
              </a:rPr>
              <a:t>XGBoost</a:t>
            </a:r>
            <a:r>
              <a:rPr lang="en-US" b="1">
                <a:ea typeface="Calibri"/>
                <a:cs typeface="Calibri"/>
              </a:rPr>
              <a:t>, and other ML algorithms</a:t>
            </a:r>
            <a:r>
              <a:rPr lang="en-US">
                <a:ea typeface="Calibri"/>
                <a:cs typeface="Calibri"/>
              </a:rPr>
              <a:t> for pattern detection.</a:t>
            </a:r>
          </a:p>
          <a:p>
            <a:pPr marL="285750" indent="-285750" algn="l">
              <a:buFont typeface="Arial,Sans-Serif"/>
              <a:buChar char="•"/>
            </a:pPr>
            <a:r>
              <a:rPr lang="en-US">
                <a:ea typeface="Calibri"/>
                <a:cs typeface="Calibri"/>
              </a:rPr>
              <a:t>Conducted initial feature selection and performance evaluation.</a:t>
            </a:r>
            <a:endParaRPr lang="en-US"/>
          </a:p>
          <a:p>
            <a:pPr algn="l"/>
            <a:endParaRPr lang="en-US" b="1">
              <a:ea typeface="Calibri"/>
              <a:cs typeface="Calibri"/>
            </a:endParaRPr>
          </a:p>
          <a:p>
            <a:pPr algn="l"/>
            <a:endParaRPr lang="en-US" b="1">
              <a:ea typeface="Calibri"/>
              <a:cs typeface="Calibri"/>
            </a:endParaRPr>
          </a:p>
          <a:p>
            <a:pPr algn="l"/>
            <a:endParaRPr lang="en-US" b="1">
              <a:ea typeface="Calibri"/>
              <a:cs typeface="Calibri"/>
            </a:endParaRPr>
          </a:p>
          <a:p>
            <a:pPr algn="l"/>
            <a:endParaRPr lang="en-US" b="1">
              <a:ea typeface="Calibri"/>
              <a:cs typeface="Calibri"/>
            </a:endParaRPr>
          </a:p>
          <a:p>
            <a:pPr algn="l"/>
            <a:r>
              <a:rPr lang="en-US" b="1">
                <a:ea typeface="Calibri"/>
                <a:cs typeface="Calibri"/>
              </a:rPr>
              <a:t>5. Challenges &amp; Next Steps</a:t>
            </a:r>
            <a:endParaRPr lang="en-US">
              <a:ea typeface="Calibri"/>
              <a:cs typeface="Calibri"/>
            </a:endParaRPr>
          </a:p>
          <a:p>
            <a:pPr marL="285750" indent="-285750" algn="l">
              <a:buFont typeface="Arial,Sans-Serif"/>
              <a:buChar char="•"/>
            </a:pPr>
            <a:r>
              <a:rPr lang="en-US" b="1">
                <a:ea typeface="Calibri"/>
                <a:cs typeface="Calibri"/>
              </a:rPr>
              <a:t>Challenges:</a:t>
            </a:r>
            <a:r>
              <a:rPr lang="en-US">
                <a:ea typeface="Calibri"/>
                <a:cs typeface="Calibri"/>
              </a:rPr>
              <a:t> Real-time deployment.</a:t>
            </a:r>
          </a:p>
          <a:p>
            <a:pPr marL="285750" indent="-285750" algn="l">
              <a:buFont typeface="Arial,Sans-Serif"/>
              <a:buChar char="•"/>
            </a:pPr>
            <a:r>
              <a:rPr lang="en-US" b="1">
                <a:ea typeface="Calibri"/>
                <a:cs typeface="Calibri"/>
              </a:rPr>
              <a:t>Next Steps:</a:t>
            </a:r>
            <a:r>
              <a:rPr lang="en-US">
                <a:ea typeface="Calibri"/>
                <a:cs typeface="Calibri"/>
              </a:rPr>
              <a:t> Model training, evaluation, integration with hardware, and real-time testing.</a:t>
            </a:r>
          </a:p>
          <a:p>
            <a:pPr algn="l"/>
            <a:endParaRPr lang="en-US">
              <a:ea typeface="Calibri"/>
              <a:cs typeface="Calibri"/>
            </a:endParaRPr>
          </a:p>
          <a:p>
            <a:endParaRPr lang="en-US">
              <a:ea typeface="Calibri"/>
              <a:cs typeface="Calibri"/>
            </a:endParaRPr>
          </a:p>
        </p:txBody>
      </p:sp>
      <p:pic>
        <p:nvPicPr>
          <p:cNvPr id="4" name="Picture 3" descr="File:Google Colaboratory SVG Logo.svg - Wikimedia Commons">
            <a:extLst>
              <a:ext uri="{FF2B5EF4-FFF2-40B4-BE49-F238E27FC236}">
                <a16:creationId xmlns:a16="http://schemas.microsoft.com/office/drawing/2014/main" id="{8F003F92-9D97-FD39-10F4-10348CE69430}"/>
              </a:ext>
            </a:extLst>
          </p:cNvPr>
          <p:cNvPicPr>
            <a:picLocks noChangeAspect="1"/>
          </p:cNvPicPr>
          <p:nvPr/>
        </p:nvPicPr>
        <p:blipFill>
          <a:blip r:embed="rId2"/>
          <a:stretch>
            <a:fillRect/>
          </a:stretch>
        </p:blipFill>
        <p:spPr>
          <a:xfrm>
            <a:off x="9603002" y="1288063"/>
            <a:ext cx="1924050" cy="1419225"/>
          </a:xfrm>
          <a:prstGeom prst="rect">
            <a:avLst/>
          </a:prstGeom>
        </p:spPr>
      </p:pic>
      <p:pic>
        <p:nvPicPr>
          <p:cNvPr id="5" name="Picture 4" descr="File:Jupyter logo.svg - Wikipedia">
            <a:extLst>
              <a:ext uri="{FF2B5EF4-FFF2-40B4-BE49-F238E27FC236}">
                <a16:creationId xmlns:a16="http://schemas.microsoft.com/office/drawing/2014/main" id="{5D672459-6855-739D-17AD-B2C1950C906D}"/>
              </a:ext>
            </a:extLst>
          </p:cNvPr>
          <p:cNvPicPr>
            <a:picLocks noChangeAspect="1"/>
          </p:cNvPicPr>
          <p:nvPr/>
        </p:nvPicPr>
        <p:blipFill>
          <a:blip r:embed="rId3"/>
          <a:stretch>
            <a:fillRect/>
          </a:stretch>
        </p:blipFill>
        <p:spPr>
          <a:xfrm>
            <a:off x="10051063" y="2971285"/>
            <a:ext cx="1419225" cy="1409700"/>
          </a:xfrm>
          <a:prstGeom prst="rect">
            <a:avLst/>
          </a:prstGeom>
        </p:spPr>
      </p:pic>
    </p:spTree>
    <p:extLst>
      <p:ext uri="{BB962C8B-B14F-4D97-AF65-F5344CB8AC3E}">
        <p14:creationId xmlns:p14="http://schemas.microsoft.com/office/powerpoint/2010/main" val="1568166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F3F4-9E7A-C0B7-55A6-CB638306987F}"/>
              </a:ext>
            </a:extLst>
          </p:cNvPr>
          <p:cNvSpPr>
            <a:spLocks noGrp="1"/>
          </p:cNvSpPr>
          <p:nvPr>
            <p:ph type="title"/>
          </p:nvPr>
        </p:nvSpPr>
        <p:spPr>
          <a:xfrm>
            <a:off x="392182" y="284066"/>
            <a:ext cx="10369550" cy="677108"/>
          </a:xfrm>
        </p:spPr>
        <p:txBody>
          <a:bodyPr wrap="square" lIns="0" tIns="0" rIns="0" bIns="0" anchor="t">
            <a:spAutoFit/>
          </a:bodyPr>
          <a:lstStyle/>
          <a:p>
            <a:r>
              <a:rPr lang="en-US" sz="4400">
                <a:solidFill>
                  <a:schemeClr val="tx1"/>
                </a:solidFill>
                <a:ea typeface="Calibri"/>
              </a:rPr>
              <a:t>Conclusion</a:t>
            </a:r>
          </a:p>
        </p:txBody>
      </p:sp>
      <p:sp>
        <p:nvSpPr>
          <p:cNvPr id="3" name="Text Placeholder 2">
            <a:extLst>
              <a:ext uri="{FF2B5EF4-FFF2-40B4-BE49-F238E27FC236}">
                <a16:creationId xmlns:a16="http://schemas.microsoft.com/office/drawing/2014/main" id="{66282F19-7231-4A65-0A83-09D829093D79}"/>
              </a:ext>
            </a:extLst>
          </p:cNvPr>
          <p:cNvSpPr>
            <a:spLocks noGrp="1"/>
          </p:cNvSpPr>
          <p:nvPr>
            <p:ph type="body" idx="1"/>
          </p:nvPr>
        </p:nvSpPr>
        <p:spPr>
          <a:xfrm>
            <a:off x="488632" y="1435127"/>
            <a:ext cx="11214735" cy="4431983"/>
          </a:xfrm>
        </p:spPr>
        <p:txBody>
          <a:bodyPr wrap="square" lIns="0" tIns="0" rIns="0" bIns="0" anchor="t">
            <a:spAutoFit/>
          </a:bodyPr>
          <a:lstStyle/>
          <a:p>
            <a:pPr algn="l"/>
            <a:r>
              <a:rPr lang="en-US" b="1">
                <a:ea typeface="+mn-lt"/>
                <a:cs typeface="+mn-lt"/>
              </a:rPr>
              <a:t>Innovative Solution for EV Charging  </a:t>
            </a:r>
            <a:endParaRPr lang="en-US" b="1"/>
          </a:p>
          <a:p>
            <a:pPr marL="285750" indent="-285750" algn="l">
              <a:buFont typeface="Arial"/>
              <a:buChar char="•"/>
            </a:pPr>
            <a:r>
              <a:rPr lang="en-US">
                <a:ea typeface="+mn-lt"/>
                <a:cs typeface="+mn-lt"/>
              </a:rPr>
              <a:t>Our project provides an advanced monitoring and control mechanism to enhance the efficiency and reliability of EV charging stations.  </a:t>
            </a:r>
            <a:endParaRPr lang="en-US">
              <a:ea typeface="Calibri"/>
              <a:cs typeface="Calibri"/>
            </a:endParaRPr>
          </a:p>
          <a:p>
            <a:pPr algn="l"/>
            <a:endParaRPr lang="en-US"/>
          </a:p>
          <a:p>
            <a:pPr algn="l"/>
            <a:r>
              <a:rPr lang="en-US" b="1">
                <a:ea typeface="+mn-lt"/>
                <a:cs typeface="+mn-lt"/>
              </a:rPr>
              <a:t>Enhancing Safety &amp; Performance </a:t>
            </a:r>
            <a:r>
              <a:rPr lang="en-US">
                <a:ea typeface="+mn-lt"/>
                <a:cs typeface="+mn-lt"/>
              </a:rPr>
              <a:t> </a:t>
            </a:r>
            <a:endParaRPr lang="en-US"/>
          </a:p>
          <a:p>
            <a:pPr marL="285750" indent="-285750" algn="l">
              <a:buFont typeface="Arial"/>
              <a:buChar char="•"/>
            </a:pPr>
            <a:r>
              <a:rPr lang="en-US">
                <a:ea typeface="+mn-lt"/>
                <a:cs typeface="+mn-lt"/>
              </a:rPr>
              <a:t>With real-time fault detection and correction, the system ensures safe and uninterrupted charging while reducing downtime.  </a:t>
            </a:r>
            <a:endParaRPr lang="en-US">
              <a:ea typeface="Calibri"/>
              <a:cs typeface="Calibri"/>
            </a:endParaRPr>
          </a:p>
          <a:p>
            <a:pPr algn="l"/>
            <a:endParaRPr lang="en-US" b="1">
              <a:ea typeface="Calibri"/>
              <a:cs typeface="Calibri"/>
            </a:endParaRPr>
          </a:p>
          <a:p>
            <a:pPr algn="l"/>
            <a:r>
              <a:rPr lang="en-US" b="1">
                <a:ea typeface="+mn-lt"/>
                <a:cs typeface="+mn-lt"/>
              </a:rPr>
              <a:t> Energy-Efficient &amp; Cost-Effective</a:t>
            </a:r>
            <a:endParaRPr lang="en-US" b="1"/>
          </a:p>
          <a:p>
            <a:pPr marL="285750" indent="-285750" algn="l">
              <a:buFont typeface="Arial"/>
              <a:buChar char="•"/>
            </a:pPr>
            <a:r>
              <a:rPr lang="en-US">
                <a:ea typeface="+mn-lt"/>
                <a:cs typeface="+mn-lt"/>
              </a:rPr>
              <a:t>The intelligent system optimizes power consumption, minimizes energy wastage, and reduces operational costs for both users and station operators.  </a:t>
            </a:r>
            <a:endParaRPr lang="en-US">
              <a:ea typeface="Calibri"/>
              <a:cs typeface="Calibri"/>
            </a:endParaRPr>
          </a:p>
          <a:p>
            <a:pPr algn="l"/>
            <a:endParaRPr lang="en-US" b="1">
              <a:ea typeface="Calibri"/>
              <a:cs typeface="Calibri"/>
            </a:endParaRPr>
          </a:p>
          <a:p>
            <a:pPr algn="l"/>
            <a:r>
              <a:rPr lang="en-US" b="1">
                <a:ea typeface="+mn-lt"/>
                <a:cs typeface="+mn-lt"/>
              </a:rPr>
              <a:t>Future-Ready &amp; Scalable </a:t>
            </a:r>
            <a:r>
              <a:rPr lang="en-US">
                <a:ea typeface="+mn-lt"/>
                <a:cs typeface="+mn-lt"/>
              </a:rPr>
              <a:t> </a:t>
            </a:r>
            <a:endParaRPr lang="en-US"/>
          </a:p>
          <a:p>
            <a:pPr marL="285750" indent="-285750" algn="l">
              <a:buFont typeface="Arial"/>
              <a:buChar char="•"/>
            </a:pPr>
            <a:r>
              <a:rPr lang="en-US">
                <a:ea typeface="+mn-lt"/>
                <a:cs typeface="+mn-lt"/>
              </a:rPr>
              <a:t>This solution supports smart city infrastructure and can be scaled for widespread EV adoption, contributing to a sustainable and greener future.  </a:t>
            </a: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668165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9707-75B8-BE78-8B06-BE52E45C82B3}"/>
              </a:ext>
            </a:extLst>
          </p:cNvPr>
          <p:cNvSpPr>
            <a:spLocks noGrp="1"/>
          </p:cNvSpPr>
          <p:nvPr>
            <p:ph type="title"/>
          </p:nvPr>
        </p:nvSpPr>
        <p:spPr>
          <a:xfrm>
            <a:off x="715576" y="4746079"/>
            <a:ext cx="10369550" cy="553998"/>
          </a:xfrm>
        </p:spPr>
        <p:txBody>
          <a:bodyPr wrap="square" lIns="0" tIns="0" rIns="0" bIns="0" anchor="t">
            <a:spAutoFit/>
          </a:bodyPr>
          <a:lstStyle/>
          <a:p>
            <a:br>
              <a:rPr lang="en-US">
                <a:ea typeface="Calibri"/>
              </a:rPr>
            </a:br>
            <a:endParaRPr lang="en-US">
              <a:ea typeface="Calibri"/>
            </a:endParaRPr>
          </a:p>
        </p:txBody>
      </p:sp>
      <p:sp>
        <p:nvSpPr>
          <p:cNvPr id="3" name="Text Placeholder 2">
            <a:extLst>
              <a:ext uri="{FF2B5EF4-FFF2-40B4-BE49-F238E27FC236}">
                <a16:creationId xmlns:a16="http://schemas.microsoft.com/office/drawing/2014/main" id="{C50692D7-B637-3AF3-DA3C-A9CDE083E3B3}"/>
              </a:ext>
            </a:extLst>
          </p:cNvPr>
          <p:cNvSpPr>
            <a:spLocks noGrp="1"/>
          </p:cNvSpPr>
          <p:nvPr>
            <p:ph type="body" idx="1"/>
          </p:nvPr>
        </p:nvSpPr>
        <p:spPr>
          <a:xfrm>
            <a:off x="978915" y="2012671"/>
            <a:ext cx="11214735" cy="2215991"/>
          </a:xfrm>
        </p:spPr>
        <p:txBody>
          <a:bodyPr wrap="square" lIns="0" tIns="0" rIns="0" bIns="0" anchor="t">
            <a:spAutoFit/>
          </a:bodyPr>
          <a:lstStyle/>
          <a:p>
            <a:pPr algn="l"/>
            <a:r>
              <a:rPr lang="en-US">
                <a:ea typeface="+mn-lt"/>
                <a:cs typeface="+mn-lt"/>
              </a:rPr>
              <a:t>•</a:t>
            </a:r>
            <a:r>
              <a:rPr lang="en-US" b="1">
                <a:ea typeface="+mn-lt"/>
                <a:cs typeface="+mn-lt"/>
              </a:rPr>
              <a:t>Patent: </a:t>
            </a:r>
            <a:r>
              <a:rPr lang="en-US">
                <a:ea typeface="+mn-lt"/>
                <a:cs typeface="+mn-lt"/>
              </a:rPr>
              <a:t>Yes/NO (*To be decided by Committee and Guide)</a:t>
            </a:r>
            <a:endParaRPr lang="en-US"/>
          </a:p>
          <a:p>
            <a:pPr algn="l"/>
            <a:endParaRPr lang="en-US">
              <a:ea typeface="+mn-lt"/>
              <a:cs typeface="+mn-lt"/>
            </a:endParaRPr>
          </a:p>
          <a:p>
            <a:pPr algn="l"/>
            <a:r>
              <a:rPr lang="en-US">
                <a:ea typeface="+mn-lt"/>
                <a:cs typeface="+mn-lt"/>
              </a:rPr>
              <a:t>•</a:t>
            </a:r>
            <a:r>
              <a:rPr lang="en-US" b="1">
                <a:ea typeface="+mn-lt"/>
                <a:cs typeface="+mn-lt"/>
              </a:rPr>
              <a:t>Research Paper: Conference/Journal (*To be decided by Committee and Guide)</a:t>
            </a:r>
            <a:endParaRPr lang="en-US" b="1"/>
          </a:p>
          <a:p>
            <a:r>
              <a:rPr lang="en-US">
                <a:ea typeface="+mn-lt"/>
                <a:cs typeface="+mn-lt"/>
              </a:rPr>
              <a:t>         (*Note: POST - PROJECT SUBMISSION REQUIREMENT:  : As mentioned earlier, the project titles and the scope of projects shall be such that at least ONE SCOPUS / </a:t>
            </a:r>
            <a:r>
              <a:rPr lang="en-US" err="1">
                <a:ea typeface="+mn-lt"/>
                <a:cs typeface="+mn-lt"/>
              </a:rPr>
              <a:t>WoS</a:t>
            </a:r>
            <a:r>
              <a:rPr lang="en-US">
                <a:ea typeface="+mn-lt"/>
                <a:cs typeface="+mn-lt"/>
              </a:rPr>
              <a:t> indexed publication / Book Chapter / Patent is derived out of the project work. The student has to pay the fees for publication. It shall clarify to all Project Guides and the project students that if the desired aim is not achieved before ESE Viva Voce of VII Sem ESE, the project may be extended to next SIX months and the final viva voce of project shall be conducted at the time of VIII Sem ESE.)</a:t>
            </a:r>
            <a:endParaRPr lang="en-US"/>
          </a:p>
        </p:txBody>
      </p:sp>
      <p:sp>
        <p:nvSpPr>
          <p:cNvPr id="4" name="TextBox 3">
            <a:extLst>
              <a:ext uri="{FF2B5EF4-FFF2-40B4-BE49-F238E27FC236}">
                <a16:creationId xmlns:a16="http://schemas.microsoft.com/office/drawing/2014/main" id="{E7B6C1DC-76A8-72C0-AFC8-B3FB1642D501}"/>
              </a:ext>
            </a:extLst>
          </p:cNvPr>
          <p:cNvSpPr txBox="1"/>
          <p:nvPr/>
        </p:nvSpPr>
        <p:spPr>
          <a:xfrm>
            <a:off x="841874" y="552048"/>
            <a:ext cx="71766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b="1" err="1"/>
              <a:t>Patentibility</a:t>
            </a:r>
            <a:r>
              <a:rPr lang="en-US" sz="4800" b="1"/>
              <a:t>/Copyright</a:t>
            </a:r>
          </a:p>
        </p:txBody>
      </p:sp>
    </p:spTree>
    <p:extLst>
      <p:ext uri="{BB962C8B-B14F-4D97-AF65-F5344CB8AC3E}">
        <p14:creationId xmlns:p14="http://schemas.microsoft.com/office/powerpoint/2010/main" val="121479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B18D7-6E46-102D-EF41-974E4BA6654B}"/>
              </a:ext>
            </a:extLst>
          </p:cNvPr>
          <p:cNvSpPr>
            <a:spLocks noGrp="1"/>
          </p:cNvSpPr>
          <p:nvPr>
            <p:ph type="title"/>
          </p:nvPr>
        </p:nvSpPr>
        <p:spPr>
          <a:xfrm>
            <a:off x="355171" y="328538"/>
            <a:ext cx="10369550" cy="677108"/>
          </a:xfrm>
        </p:spPr>
        <p:txBody>
          <a:bodyPr wrap="square" lIns="0" tIns="0" rIns="0" bIns="0" anchor="t">
            <a:spAutoFit/>
          </a:bodyPr>
          <a:lstStyle/>
          <a:p>
            <a:r>
              <a:rPr lang="en-US" sz="4400">
                <a:solidFill>
                  <a:schemeClr val="tx1"/>
                </a:solidFill>
                <a:ea typeface="Calibri"/>
              </a:rPr>
              <a:t>Social Utility</a:t>
            </a:r>
          </a:p>
        </p:txBody>
      </p:sp>
      <p:sp>
        <p:nvSpPr>
          <p:cNvPr id="5" name="Text Placeholder 4">
            <a:extLst>
              <a:ext uri="{FF2B5EF4-FFF2-40B4-BE49-F238E27FC236}">
                <a16:creationId xmlns:a16="http://schemas.microsoft.com/office/drawing/2014/main" id="{0EB77585-8E62-22AB-8E28-E907BE04C447}"/>
              </a:ext>
            </a:extLst>
          </p:cNvPr>
          <p:cNvSpPr>
            <a:spLocks noGrp="1"/>
          </p:cNvSpPr>
          <p:nvPr>
            <p:ph type="body" idx="1"/>
          </p:nvPr>
        </p:nvSpPr>
        <p:spPr>
          <a:xfrm>
            <a:off x="391969" y="1065320"/>
            <a:ext cx="11214735" cy="5816977"/>
          </a:xfrm>
        </p:spPr>
        <p:txBody>
          <a:bodyPr wrap="square" lIns="0" tIns="0" rIns="0" bIns="0" anchor="t">
            <a:spAutoFit/>
          </a:bodyPr>
          <a:lstStyle/>
          <a:p>
            <a:pPr algn="l"/>
            <a:r>
              <a:rPr lang="en-US" b="1"/>
              <a:t>1. Promoting EV Adoption &amp; Green Mobility</a:t>
            </a:r>
            <a:endParaRPr lang="en-US">
              <a:ea typeface="Calibri"/>
              <a:cs typeface="Calibri"/>
            </a:endParaRPr>
          </a:p>
          <a:p>
            <a:pPr marL="285750" indent="-285750" algn="l">
              <a:buFont typeface="Arial"/>
              <a:buChar char="•"/>
            </a:pPr>
            <a:r>
              <a:rPr lang="en-US" b="1">
                <a:ea typeface="+mn-lt"/>
                <a:cs typeface="+mn-lt"/>
              </a:rPr>
              <a:t>Efficient &amp; reliable</a:t>
            </a:r>
            <a:r>
              <a:rPr lang="en-US">
                <a:ea typeface="+mn-lt"/>
                <a:cs typeface="+mn-lt"/>
              </a:rPr>
              <a:t> charging encourages more users to switch to EVs.</a:t>
            </a:r>
            <a:endParaRPr lang="en-US">
              <a:ea typeface="Calibri"/>
              <a:cs typeface="Calibri"/>
            </a:endParaRPr>
          </a:p>
          <a:p>
            <a:pPr marL="285750" indent="-285750" algn="l">
              <a:buFont typeface="Arial"/>
              <a:buChar char="•"/>
            </a:pPr>
            <a:r>
              <a:rPr lang="en-US" b="1">
                <a:ea typeface="+mn-lt"/>
                <a:cs typeface="+mn-lt"/>
              </a:rPr>
              <a:t>Reduces range anxiety</a:t>
            </a:r>
            <a:r>
              <a:rPr lang="en-US">
                <a:ea typeface="+mn-lt"/>
                <a:cs typeface="+mn-lt"/>
              </a:rPr>
              <a:t> by preventing failures and optimizing charging performance.</a:t>
            </a:r>
            <a:endParaRPr lang="en-US">
              <a:ea typeface="Calibri"/>
              <a:cs typeface="Calibri"/>
            </a:endParaRPr>
          </a:p>
          <a:p>
            <a:pPr algn="l"/>
            <a:endParaRPr lang="en-US">
              <a:ea typeface="Calibri"/>
              <a:cs typeface="Calibri"/>
            </a:endParaRPr>
          </a:p>
          <a:p>
            <a:pPr algn="l"/>
            <a:r>
              <a:rPr lang="en-US" b="1"/>
              <a:t>2. Energy Efficiency &amp; Sustainability</a:t>
            </a:r>
            <a:endParaRPr lang="en-US">
              <a:ea typeface="Calibri"/>
              <a:cs typeface="Calibri"/>
            </a:endParaRPr>
          </a:p>
          <a:p>
            <a:pPr marL="285750" indent="-285750" algn="l">
              <a:buFont typeface="Arial"/>
              <a:buChar char="•"/>
            </a:pPr>
            <a:r>
              <a:rPr lang="en-US" b="1">
                <a:ea typeface="+mn-lt"/>
                <a:cs typeface="+mn-lt"/>
              </a:rPr>
              <a:t>Minimizes energy wastage</a:t>
            </a:r>
            <a:r>
              <a:rPr lang="en-US">
                <a:ea typeface="+mn-lt"/>
                <a:cs typeface="+mn-lt"/>
              </a:rPr>
              <a:t> by dynamically adjusting the charging current.</a:t>
            </a:r>
            <a:endParaRPr lang="en-US">
              <a:ea typeface="Calibri"/>
              <a:cs typeface="Calibri"/>
            </a:endParaRPr>
          </a:p>
          <a:p>
            <a:pPr marL="285750" indent="-285750" algn="l">
              <a:buFont typeface="Arial"/>
              <a:buChar char="•"/>
            </a:pPr>
            <a:r>
              <a:rPr lang="en-US" b="1">
                <a:ea typeface="+mn-lt"/>
                <a:cs typeface="+mn-lt"/>
              </a:rPr>
              <a:t>Supports renewable energy integration</a:t>
            </a:r>
            <a:r>
              <a:rPr lang="en-US">
                <a:ea typeface="+mn-lt"/>
                <a:cs typeface="+mn-lt"/>
              </a:rPr>
              <a:t> for a more eco-friendly charging process.</a:t>
            </a:r>
            <a:endParaRPr lang="en-US">
              <a:ea typeface="Calibri"/>
              <a:cs typeface="Calibri"/>
            </a:endParaRPr>
          </a:p>
          <a:p>
            <a:pPr algn="l"/>
            <a:endParaRPr lang="en-US">
              <a:ea typeface="Calibri"/>
              <a:cs typeface="Calibri"/>
            </a:endParaRPr>
          </a:p>
          <a:p>
            <a:pPr algn="l"/>
            <a:r>
              <a:rPr lang="en-US" b="1"/>
              <a:t>3. Enhancing Safety &amp; Reliability</a:t>
            </a:r>
            <a:endParaRPr lang="en-US">
              <a:ea typeface="Calibri"/>
              <a:cs typeface="Calibri"/>
            </a:endParaRPr>
          </a:p>
          <a:p>
            <a:pPr marL="285750" indent="-285750" algn="l">
              <a:buFont typeface="Arial"/>
              <a:buChar char="•"/>
            </a:pPr>
            <a:r>
              <a:rPr lang="en-US" b="1">
                <a:ea typeface="+mn-lt"/>
                <a:cs typeface="+mn-lt"/>
              </a:rPr>
              <a:t>Real-time fault detection</a:t>
            </a:r>
            <a:r>
              <a:rPr lang="en-US">
                <a:ea typeface="+mn-lt"/>
                <a:cs typeface="+mn-lt"/>
              </a:rPr>
              <a:t> prevents hazards and improves system safety.</a:t>
            </a:r>
            <a:endParaRPr lang="en-US">
              <a:ea typeface="Calibri"/>
              <a:cs typeface="Calibri"/>
            </a:endParaRPr>
          </a:p>
          <a:p>
            <a:pPr marL="285750" indent="-285750" algn="l">
              <a:buFont typeface="Arial"/>
              <a:buChar char="•"/>
            </a:pPr>
            <a:r>
              <a:rPr lang="en-US" b="1">
                <a:ea typeface="+mn-lt"/>
                <a:cs typeface="+mn-lt"/>
              </a:rPr>
              <a:t>Automated correction mechanisms</a:t>
            </a:r>
            <a:r>
              <a:rPr lang="en-US">
                <a:ea typeface="+mn-lt"/>
                <a:cs typeface="+mn-lt"/>
              </a:rPr>
              <a:t> ensure uninterrupted charging services.</a:t>
            </a:r>
            <a:endParaRPr lang="en-US">
              <a:ea typeface="Calibri"/>
              <a:cs typeface="Calibri"/>
            </a:endParaRPr>
          </a:p>
          <a:p>
            <a:pPr algn="l"/>
            <a:endParaRPr lang="en-US">
              <a:ea typeface="Calibri"/>
              <a:cs typeface="Calibri"/>
            </a:endParaRPr>
          </a:p>
          <a:p>
            <a:pPr algn="l"/>
            <a:r>
              <a:rPr lang="en-US" b="1"/>
              <a:t>4. Cost Savings for Users &amp; Operators</a:t>
            </a:r>
            <a:endParaRPr lang="en-US">
              <a:ea typeface="Calibri"/>
              <a:cs typeface="Calibri"/>
            </a:endParaRPr>
          </a:p>
          <a:p>
            <a:pPr marL="285750" indent="-285750" algn="l">
              <a:buFont typeface="Arial"/>
              <a:buChar char="•"/>
            </a:pPr>
            <a:r>
              <a:rPr lang="en-US" b="1">
                <a:ea typeface="+mn-lt"/>
                <a:cs typeface="+mn-lt"/>
              </a:rPr>
              <a:t>Optimized power usage</a:t>
            </a:r>
            <a:r>
              <a:rPr lang="en-US">
                <a:ea typeface="+mn-lt"/>
                <a:cs typeface="+mn-lt"/>
              </a:rPr>
              <a:t> reduces electricity bills and unnecessary energy consumption.</a:t>
            </a:r>
            <a:endParaRPr lang="en-US">
              <a:ea typeface="Calibri"/>
              <a:cs typeface="Calibri"/>
            </a:endParaRPr>
          </a:p>
          <a:p>
            <a:pPr marL="285750" indent="-285750" algn="l">
              <a:buFont typeface="Arial"/>
              <a:buChar char="•"/>
            </a:pPr>
            <a:r>
              <a:rPr lang="en-US" b="1">
                <a:ea typeface="+mn-lt"/>
                <a:cs typeface="+mn-lt"/>
              </a:rPr>
              <a:t>Predictive maintenance</a:t>
            </a:r>
            <a:r>
              <a:rPr lang="en-US">
                <a:ea typeface="+mn-lt"/>
                <a:cs typeface="+mn-lt"/>
              </a:rPr>
              <a:t> lowers repair costs and extends equipment lifespan.</a:t>
            </a:r>
            <a:endParaRPr lang="en-US">
              <a:ea typeface="Calibri"/>
              <a:cs typeface="Calibri"/>
            </a:endParaRPr>
          </a:p>
          <a:p>
            <a:pPr algn="l"/>
            <a:endParaRPr lang="en-US">
              <a:ea typeface="Calibri"/>
              <a:cs typeface="Calibri"/>
            </a:endParaRPr>
          </a:p>
          <a:p>
            <a:pPr algn="l"/>
            <a:r>
              <a:rPr lang="en-US" b="1"/>
              <a:t>5. Supporting Smart Cities &amp; Urban Planning</a:t>
            </a:r>
            <a:endParaRPr lang="en-US">
              <a:ea typeface="Calibri"/>
              <a:cs typeface="Calibri"/>
            </a:endParaRPr>
          </a:p>
          <a:p>
            <a:pPr marL="285750" indent="-285750" algn="l">
              <a:buFont typeface="Arial"/>
              <a:buChar char="•"/>
            </a:pPr>
            <a:r>
              <a:rPr lang="en-US">
                <a:ea typeface="+mn-lt"/>
                <a:cs typeface="+mn-lt"/>
              </a:rPr>
              <a:t>Helps build </a:t>
            </a:r>
            <a:r>
              <a:rPr lang="en-US" b="1">
                <a:ea typeface="+mn-lt"/>
                <a:cs typeface="+mn-lt"/>
              </a:rPr>
              <a:t>intelligent &amp; sustainable urban infrastructure</a:t>
            </a:r>
            <a:r>
              <a:rPr lang="en-US">
                <a:ea typeface="+mn-lt"/>
                <a:cs typeface="+mn-lt"/>
              </a:rPr>
              <a:t> with data-driven insights.</a:t>
            </a:r>
            <a:endParaRPr lang="en-US">
              <a:ea typeface="Calibri"/>
              <a:cs typeface="Calibri"/>
            </a:endParaRPr>
          </a:p>
          <a:p>
            <a:pPr marL="285750" indent="-285750" algn="l">
              <a:buFont typeface="Arial"/>
              <a:buChar char="•"/>
            </a:pPr>
            <a:r>
              <a:rPr lang="en-US">
                <a:ea typeface="+mn-lt"/>
                <a:cs typeface="+mn-lt"/>
              </a:rPr>
              <a:t>Contributes to </a:t>
            </a:r>
            <a:r>
              <a:rPr lang="en-US" b="1">
                <a:ea typeface="+mn-lt"/>
                <a:cs typeface="+mn-lt"/>
              </a:rPr>
              <a:t>carbon footprint reduction</a:t>
            </a:r>
            <a:r>
              <a:rPr lang="en-US">
                <a:ea typeface="+mn-lt"/>
                <a:cs typeface="+mn-lt"/>
              </a:rPr>
              <a:t> by ensuring optimal EV charging.</a:t>
            </a:r>
            <a:endParaRPr lang="en-US">
              <a:ea typeface="Calibri"/>
              <a:cs typeface="Calibri"/>
            </a:endParaRPr>
          </a:p>
          <a:p>
            <a:pPr algn="l"/>
            <a:endParaRPr lang="en-US">
              <a:ea typeface="Calibri"/>
              <a:cs typeface="Calibri"/>
            </a:endParaRPr>
          </a:p>
          <a:p>
            <a:pPr algn="l"/>
            <a:endParaRPr lang="en-US" b="1">
              <a:ea typeface="Calibri"/>
              <a:cs typeface="Calibri"/>
            </a:endParaRPr>
          </a:p>
        </p:txBody>
      </p:sp>
    </p:spTree>
    <p:extLst>
      <p:ext uri="{BB962C8B-B14F-4D97-AF65-F5344CB8AC3E}">
        <p14:creationId xmlns:p14="http://schemas.microsoft.com/office/powerpoint/2010/main" val="1960076771"/>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4211" y="230361"/>
            <a:ext cx="10369550" cy="695960"/>
          </a:xfrm>
          <a:prstGeom prst="rect">
            <a:avLst/>
          </a:prstGeom>
        </p:spPr>
        <p:txBody>
          <a:bodyPr vert="horz" wrap="square" lIns="0" tIns="12700" rIns="0" bIns="0" rtlCol="0">
            <a:spAutoFit/>
          </a:bodyPr>
          <a:lstStyle/>
          <a:p>
            <a:pPr marL="12700">
              <a:lnSpc>
                <a:spcPct val="100000"/>
              </a:lnSpc>
              <a:spcBef>
                <a:spcPts val="100"/>
              </a:spcBef>
            </a:pPr>
            <a:r>
              <a:rPr sz="4400">
                <a:solidFill>
                  <a:srgbClr val="000000"/>
                </a:solidFill>
              </a:rPr>
              <a:t>References</a:t>
            </a:r>
            <a:r>
              <a:t>(*Strictly</a:t>
            </a:r>
            <a:r>
              <a:rPr spc="-35"/>
              <a:t> </a:t>
            </a:r>
            <a:r>
              <a:t>in</a:t>
            </a:r>
            <a:r>
              <a:rPr spc="-30"/>
              <a:t> </a:t>
            </a:r>
            <a:r>
              <a:t>IEEE</a:t>
            </a:r>
            <a:r>
              <a:rPr spc="-30"/>
              <a:t> </a:t>
            </a:r>
            <a:r>
              <a:rPr spc="-10"/>
              <a:t>format)</a:t>
            </a:r>
            <a:endParaRPr sz="4400"/>
          </a:p>
        </p:txBody>
      </p:sp>
      <p:sp>
        <p:nvSpPr>
          <p:cNvPr id="3" name="TextBox 2">
            <a:extLst>
              <a:ext uri="{FF2B5EF4-FFF2-40B4-BE49-F238E27FC236}">
                <a16:creationId xmlns:a16="http://schemas.microsoft.com/office/drawing/2014/main" id="{78A18F83-E506-B7BC-19F4-DC44D46DAC45}"/>
              </a:ext>
            </a:extLst>
          </p:cNvPr>
          <p:cNvSpPr txBox="1"/>
          <p:nvPr/>
        </p:nvSpPr>
        <p:spPr>
          <a:xfrm>
            <a:off x="574037" y="994064"/>
            <a:ext cx="1113072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solidFill>
                  <a:srgbClr val="222222"/>
                </a:solidFill>
                <a:latin typeface="Arial"/>
                <a:cs typeface="Arial"/>
              </a:rPr>
              <a:t>1.Almaghrebi, A.; </a:t>
            </a:r>
            <a:r>
              <a:rPr lang="en-US" sz="1400" err="1">
                <a:solidFill>
                  <a:srgbClr val="222222"/>
                </a:solidFill>
                <a:latin typeface="Arial"/>
                <a:cs typeface="Arial"/>
              </a:rPr>
              <a:t>Aljuheshi</a:t>
            </a:r>
            <a:r>
              <a:rPr lang="en-US" sz="1400" dirty="0">
                <a:solidFill>
                  <a:srgbClr val="222222"/>
                </a:solidFill>
                <a:latin typeface="Arial"/>
                <a:cs typeface="Arial"/>
              </a:rPr>
              <a:t>, F.; </a:t>
            </a:r>
            <a:r>
              <a:rPr lang="en-US" sz="1400" err="1">
                <a:solidFill>
                  <a:srgbClr val="222222"/>
                </a:solidFill>
                <a:latin typeface="Arial"/>
                <a:cs typeface="Arial"/>
              </a:rPr>
              <a:t>Rafaie</a:t>
            </a:r>
            <a:r>
              <a:rPr lang="en-US" sz="1400" dirty="0">
                <a:solidFill>
                  <a:srgbClr val="222222"/>
                </a:solidFill>
                <a:latin typeface="Arial"/>
                <a:cs typeface="Arial"/>
              </a:rPr>
              <a:t>, M.; James, K.; Alahmad, M. Data-Driven Charging Demand Prediction at Public Charging Stations Using Supervised Machine Learning Regression Methods. </a:t>
            </a:r>
            <a:r>
              <a:rPr lang="en-US" sz="1400" i="1" dirty="0">
                <a:solidFill>
                  <a:srgbClr val="222222"/>
                </a:solidFill>
                <a:latin typeface="Arial"/>
                <a:cs typeface="Arial"/>
              </a:rPr>
              <a:t>Energies</a:t>
            </a:r>
            <a:r>
              <a:rPr lang="en-US" sz="1400" dirty="0">
                <a:solidFill>
                  <a:srgbClr val="222222"/>
                </a:solidFill>
                <a:latin typeface="Arial"/>
                <a:cs typeface="Arial"/>
              </a:rPr>
              <a:t> </a:t>
            </a:r>
            <a:r>
              <a:rPr lang="en-US" sz="1400" b="1" dirty="0">
                <a:solidFill>
                  <a:srgbClr val="222222"/>
                </a:solidFill>
                <a:latin typeface="Arial"/>
                <a:cs typeface="Arial"/>
              </a:rPr>
              <a:t>2020</a:t>
            </a:r>
            <a:r>
              <a:rPr lang="en-US" sz="1400" dirty="0">
                <a:solidFill>
                  <a:srgbClr val="222222"/>
                </a:solidFill>
                <a:latin typeface="Arial"/>
                <a:cs typeface="Arial"/>
              </a:rPr>
              <a:t>, </a:t>
            </a:r>
            <a:r>
              <a:rPr lang="en-US" sz="1400" i="1" dirty="0">
                <a:solidFill>
                  <a:srgbClr val="222222"/>
                </a:solidFill>
                <a:latin typeface="Arial"/>
                <a:cs typeface="Arial"/>
              </a:rPr>
              <a:t>13</a:t>
            </a:r>
            <a:r>
              <a:rPr lang="en-US" sz="1400" dirty="0">
                <a:solidFill>
                  <a:srgbClr val="222222"/>
                </a:solidFill>
                <a:latin typeface="Arial"/>
                <a:cs typeface="Arial"/>
              </a:rPr>
              <a:t>, 4231. </a:t>
            </a:r>
            <a:r>
              <a:rPr lang="en-US" sz="1400" u="sng" dirty="0">
                <a:solidFill>
                  <a:srgbClr val="0097A7"/>
                </a:solidFill>
                <a:latin typeface="Arial"/>
                <a:cs typeface="Arial"/>
                <a:hlinkClick r:id="rId2"/>
              </a:rPr>
              <a:t>https://doi.org/10.3390/en13164231</a:t>
            </a:r>
            <a:endParaRPr lang="en-US" sz="1400" u="sng" dirty="0">
              <a:solidFill>
                <a:srgbClr val="0097A7"/>
              </a:solidFill>
              <a:latin typeface="Arial"/>
              <a:cs typeface="Arial"/>
            </a:endParaRPr>
          </a:p>
          <a:p>
            <a:pPr algn="just"/>
            <a:endParaRPr lang="en-US" sz="1400" u="sng" dirty="0">
              <a:solidFill>
                <a:srgbClr val="0097A7"/>
              </a:solidFill>
              <a:latin typeface="Arial"/>
              <a:cs typeface="Arial"/>
            </a:endParaRPr>
          </a:p>
          <a:p>
            <a:pPr algn="just"/>
            <a:r>
              <a:rPr lang="en-US" sz="1400" dirty="0">
                <a:solidFill>
                  <a:srgbClr val="222222"/>
                </a:solidFill>
                <a:latin typeface="Arial"/>
                <a:cs typeface="Arial"/>
              </a:rPr>
              <a:t>2.Shufian, Abu &amp; Hannan, Nasif &amp; Emon, </a:t>
            </a:r>
            <a:r>
              <a:rPr lang="en-US" sz="1400" dirty="0" err="1">
                <a:solidFill>
                  <a:srgbClr val="222222"/>
                </a:solidFill>
                <a:latin typeface="Arial"/>
                <a:cs typeface="Arial"/>
              </a:rPr>
              <a:t>Mukter</a:t>
            </a:r>
            <a:r>
              <a:rPr lang="en-US" sz="1400" dirty="0">
                <a:solidFill>
                  <a:srgbClr val="222222"/>
                </a:solidFill>
                <a:latin typeface="Arial"/>
                <a:cs typeface="Arial"/>
              </a:rPr>
              <a:t> Hossain &amp; Kabir, </a:t>
            </a:r>
            <a:r>
              <a:rPr lang="en-US" sz="1400" dirty="0" err="1">
                <a:solidFill>
                  <a:srgbClr val="222222"/>
                </a:solidFill>
                <a:latin typeface="Arial"/>
                <a:cs typeface="Arial"/>
              </a:rPr>
              <a:t>Shaharier</a:t>
            </a:r>
            <a:r>
              <a:rPr lang="en-US" sz="1400" dirty="0">
                <a:solidFill>
                  <a:srgbClr val="222222"/>
                </a:solidFill>
                <a:latin typeface="Arial"/>
                <a:cs typeface="Arial"/>
              </a:rPr>
              <a:t> &amp; Fattah, Shaikh </a:t>
            </a:r>
            <a:r>
              <a:rPr lang="en-US" sz="1400" dirty="0" err="1">
                <a:solidFill>
                  <a:srgbClr val="222222"/>
                </a:solidFill>
                <a:latin typeface="Arial"/>
                <a:cs typeface="Arial"/>
              </a:rPr>
              <a:t>Anowarul</a:t>
            </a:r>
            <a:r>
              <a:rPr lang="en-US" sz="1400" dirty="0">
                <a:solidFill>
                  <a:srgbClr val="222222"/>
                </a:solidFill>
                <a:latin typeface="Arial"/>
                <a:cs typeface="Arial"/>
              </a:rPr>
              <a:t> &amp; Hossain, Md Sajid. (2024). Automatic Fault Detection and Analysis Of Electric Vehicle Charging Station by Machine Learning. 10.1109/TENSYMP61132.2024.10752256.</a:t>
            </a:r>
            <a:endParaRPr lang="en-US" sz="1400" dirty="0">
              <a:solidFill>
                <a:srgbClr val="000000"/>
              </a:solidFill>
            </a:endParaRPr>
          </a:p>
          <a:p>
            <a:pPr algn="just"/>
            <a:endParaRPr lang="en-US" sz="1400" dirty="0"/>
          </a:p>
          <a:p>
            <a:pPr algn="just"/>
            <a:r>
              <a:rPr lang="en-US" sz="1400" dirty="0">
                <a:solidFill>
                  <a:srgbClr val="222222"/>
                </a:solidFill>
                <a:latin typeface="Arial"/>
                <a:cs typeface="Arial"/>
              </a:rPr>
              <a:t>3.</a:t>
            </a:r>
            <a:r>
              <a:rPr lang="en-US" sz="1400" dirty="0">
                <a:solidFill>
                  <a:srgbClr val="333333"/>
                </a:solidFill>
                <a:latin typeface="Arial"/>
                <a:cs typeface="Arial"/>
              </a:rPr>
              <a:t>S. Shahriar, A. R. Al-Ali, A. H. Osman, S. </a:t>
            </a:r>
            <a:r>
              <a:rPr lang="en-US" sz="1400" err="1">
                <a:solidFill>
                  <a:srgbClr val="333333"/>
                </a:solidFill>
                <a:latin typeface="Arial"/>
                <a:cs typeface="Arial"/>
              </a:rPr>
              <a:t>Dhou</a:t>
            </a:r>
            <a:r>
              <a:rPr lang="en-US" sz="1400" dirty="0">
                <a:solidFill>
                  <a:srgbClr val="333333"/>
                </a:solidFill>
                <a:latin typeface="Arial"/>
                <a:cs typeface="Arial"/>
              </a:rPr>
              <a:t> and M. </a:t>
            </a:r>
            <a:r>
              <a:rPr lang="en-US" sz="1400" err="1">
                <a:solidFill>
                  <a:srgbClr val="333333"/>
                </a:solidFill>
                <a:latin typeface="Arial"/>
                <a:cs typeface="Arial"/>
              </a:rPr>
              <a:t>Nijim</a:t>
            </a:r>
            <a:r>
              <a:rPr lang="en-US" sz="1400" dirty="0">
                <a:solidFill>
                  <a:srgbClr val="333333"/>
                </a:solidFill>
                <a:latin typeface="Arial"/>
                <a:cs typeface="Arial"/>
              </a:rPr>
              <a:t>, "Prediction of EV Charging Behavior Using Machine Learning," in </a:t>
            </a:r>
            <a:r>
              <a:rPr lang="en-US" sz="1400" i="1" dirty="0">
                <a:solidFill>
                  <a:srgbClr val="333333"/>
                </a:solidFill>
                <a:latin typeface="Arial"/>
                <a:cs typeface="Arial"/>
              </a:rPr>
              <a:t>IEEE Access</a:t>
            </a:r>
            <a:r>
              <a:rPr lang="en-US" sz="1400" dirty="0">
                <a:solidFill>
                  <a:srgbClr val="333333"/>
                </a:solidFill>
                <a:latin typeface="Arial"/>
                <a:cs typeface="Arial"/>
              </a:rPr>
              <a:t>, vol. 9, pp. 111576-111586</a:t>
            </a:r>
          </a:p>
          <a:p>
            <a:pPr algn="just"/>
            <a:endParaRPr lang="en-US" sz="1400" dirty="0">
              <a:solidFill>
                <a:srgbClr val="333333"/>
              </a:solidFill>
              <a:latin typeface="Arial"/>
              <a:cs typeface="Arial"/>
            </a:endParaRPr>
          </a:p>
          <a:p>
            <a:pPr algn="just"/>
            <a:r>
              <a:rPr lang="en-US" sz="1400" dirty="0">
                <a:solidFill>
                  <a:srgbClr val="333333"/>
                </a:solidFill>
                <a:latin typeface="Arial"/>
                <a:cs typeface="Arial"/>
              </a:rPr>
              <a:t>4.K. N. B. S. Hitesh, P. S. Teja and J. R. Kumar, "Electric Vehicle Charging Demand Prediction using Machine Learning Algorithms," </a:t>
            </a:r>
            <a:r>
              <a:rPr lang="en-US" sz="1400" i="1" dirty="0">
                <a:solidFill>
                  <a:srgbClr val="333333"/>
                </a:solidFill>
                <a:latin typeface="Arial"/>
                <a:cs typeface="Arial"/>
              </a:rPr>
              <a:t>2024 8th International Conference on Inventive Systems and Control (ICISC)</a:t>
            </a:r>
            <a:r>
              <a:rPr lang="en-US" sz="1400" dirty="0">
                <a:solidFill>
                  <a:srgbClr val="333333"/>
                </a:solidFill>
                <a:latin typeface="Arial"/>
                <a:cs typeface="Arial"/>
              </a:rPr>
              <a:t>, Coimbatore, India, 2024, pp. 47-54, </a:t>
            </a:r>
            <a:r>
              <a:rPr lang="en-US" sz="1400" err="1">
                <a:solidFill>
                  <a:srgbClr val="333333"/>
                </a:solidFill>
                <a:latin typeface="Arial"/>
                <a:cs typeface="Arial"/>
              </a:rPr>
              <a:t>doi</a:t>
            </a:r>
            <a:r>
              <a:rPr lang="en-US" sz="1400" dirty="0">
                <a:solidFill>
                  <a:srgbClr val="333333"/>
                </a:solidFill>
                <a:latin typeface="Arial"/>
                <a:cs typeface="Arial"/>
              </a:rPr>
              <a:t>: 10.1109/ICISC62624.2024.00015.</a:t>
            </a:r>
          </a:p>
          <a:p>
            <a:pPr algn="just"/>
            <a:endParaRPr lang="en-US" sz="1400" dirty="0">
              <a:solidFill>
                <a:srgbClr val="333333"/>
              </a:solidFill>
              <a:latin typeface="Arial"/>
              <a:cs typeface="Arial"/>
            </a:endParaRPr>
          </a:p>
          <a:p>
            <a:pPr algn="just"/>
            <a:r>
              <a:rPr lang="en-US" sz="1400" dirty="0">
                <a:solidFill>
                  <a:srgbClr val="333333"/>
                </a:solidFill>
                <a:latin typeface="Arial"/>
                <a:cs typeface="Arial"/>
              </a:rPr>
              <a:t>5.</a:t>
            </a:r>
            <a:r>
              <a:rPr lang="en-US" sz="1400" dirty="0">
                <a:solidFill>
                  <a:srgbClr val="222222"/>
                </a:solidFill>
                <a:latin typeface="Calibri"/>
                <a:ea typeface="Roboto"/>
                <a:cs typeface="Roboto"/>
              </a:rPr>
              <a:t>Aghsaee, R.; Hecht, C.; Schwinger, F.; </a:t>
            </a:r>
            <a:r>
              <a:rPr lang="en-US" sz="1400" err="1">
                <a:solidFill>
                  <a:srgbClr val="222222"/>
                </a:solidFill>
                <a:latin typeface="Calibri"/>
                <a:ea typeface="Roboto"/>
                <a:cs typeface="Roboto"/>
              </a:rPr>
              <a:t>Figgener</a:t>
            </a:r>
            <a:r>
              <a:rPr lang="en-US" sz="1400" dirty="0">
                <a:solidFill>
                  <a:srgbClr val="222222"/>
                </a:solidFill>
                <a:latin typeface="Calibri"/>
                <a:ea typeface="Roboto"/>
                <a:cs typeface="Roboto"/>
              </a:rPr>
              <a:t>, J.; Jarke, M.; Sauer, D.U. Data-Driven, Short-Term Prediction of Charging Station Occupation. </a:t>
            </a:r>
            <a:r>
              <a:rPr lang="en-US" sz="1400" i="1" dirty="0">
                <a:solidFill>
                  <a:srgbClr val="222222"/>
                </a:solidFill>
                <a:latin typeface="Calibri"/>
                <a:ea typeface="Roboto"/>
                <a:cs typeface="Roboto"/>
              </a:rPr>
              <a:t>Electricity</a:t>
            </a:r>
            <a:r>
              <a:rPr lang="en-US" sz="1400" dirty="0">
                <a:solidFill>
                  <a:srgbClr val="222222"/>
                </a:solidFill>
                <a:latin typeface="Calibri"/>
                <a:ea typeface="Roboto"/>
                <a:cs typeface="Roboto"/>
              </a:rPr>
              <a:t> 2023, </a:t>
            </a:r>
            <a:r>
              <a:rPr lang="en-US" sz="1400" i="1" dirty="0">
                <a:solidFill>
                  <a:srgbClr val="222222"/>
                </a:solidFill>
                <a:latin typeface="Calibri"/>
                <a:ea typeface="Roboto"/>
                <a:cs typeface="Roboto"/>
              </a:rPr>
              <a:t>4</a:t>
            </a:r>
            <a:r>
              <a:rPr lang="en-US" sz="1400" dirty="0">
                <a:solidFill>
                  <a:srgbClr val="222222"/>
                </a:solidFill>
                <a:latin typeface="Calibri"/>
                <a:ea typeface="Roboto"/>
                <a:cs typeface="Roboto"/>
              </a:rPr>
              <a:t>, 134-153. </a:t>
            </a:r>
            <a:r>
              <a:rPr lang="en-US" sz="1400" dirty="0">
                <a:solidFill>
                  <a:srgbClr val="222222"/>
                </a:solidFill>
                <a:latin typeface="Calibri"/>
                <a:ea typeface="Roboto"/>
                <a:cs typeface="Roboto"/>
                <a:hlinkClick r:id="rId3"/>
              </a:rPr>
              <a:t>https://doi.org/10.3390/electricity4020009</a:t>
            </a:r>
            <a:endParaRPr lang="en-US" sz="1400">
              <a:solidFill>
                <a:srgbClr val="222222"/>
              </a:solidFill>
              <a:latin typeface="Calibri"/>
              <a:ea typeface="Roboto"/>
              <a:cs typeface="Roboto"/>
            </a:endParaRPr>
          </a:p>
          <a:p>
            <a:pPr algn="just"/>
            <a:endParaRPr lang="en-US" sz="1400" dirty="0">
              <a:solidFill>
                <a:srgbClr val="222222"/>
              </a:solidFill>
              <a:latin typeface="Roboto"/>
              <a:ea typeface="Roboto"/>
              <a:cs typeface="Roboto"/>
            </a:endParaRPr>
          </a:p>
          <a:p>
            <a:pPr algn="just"/>
            <a:r>
              <a:rPr lang="en-US" sz="1400" dirty="0">
                <a:latin typeface="Arial"/>
                <a:cs typeface="Arial"/>
              </a:rPr>
              <a:t>6.</a:t>
            </a:r>
            <a:r>
              <a:rPr lang="en-US" sz="1400" dirty="0">
                <a:solidFill>
                  <a:srgbClr val="595959"/>
                </a:solidFill>
                <a:latin typeface="Arial"/>
                <a:cs typeface="Arial"/>
              </a:rPr>
              <a:t>S. M. S and R. Gunabalan, "Enhancement of Charging Efficiency of Batteries for Electric Vehicles: Review," 2022 Fourth International Conference on Emerging Research in Electronics, Computer Science and Technology (ICERECT), Mandya, India, 2022, pp. 1-6, </a:t>
            </a:r>
            <a:r>
              <a:rPr lang="en-US" sz="1400" err="1">
                <a:solidFill>
                  <a:srgbClr val="595959"/>
                </a:solidFill>
                <a:latin typeface="Arial"/>
                <a:cs typeface="Arial"/>
              </a:rPr>
              <a:t>doi</a:t>
            </a:r>
            <a:r>
              <a:rPr lang="en-US" sz="1400" dirty="0">
                <a:solidFill>
                  <a:srgbClr val="595959"/>
                </a:solidFill>
                <a:latin typeface="Arial"/>
                <a:cs typeface="Arial"/>
              </a:rPr>
              <a:t>: 10.1109/ICERECT56837.2022.10060243.</a:t>
            </a:r>
          </a:p>
          <a:p>
            <a:pPr algn="just"/>
            <a:endParaRPr lang="en-US" sz="1400" dirty="0">
              <a:solidFill>
                <a:srgbClr val="595959"/>
              </a:solidFill>
              <a:latin typeface="Arial"/>
              <a:cs typeface="Arial"/>
            </a:endParaRPr>
          </a:p>
          <a:p>
            <a:pPr algn="just"/>
            <a:r>
              <a:rPr lang="en-US" sz="1400" dirty="0">
                <a:solidFill>
                  <a:srgbClr val="333333"/>
                </a:solidFill>
                <a:latin typeface="Arial"/>
                <a:cs typeface="Arial"/>
              </a:rPr>
              <a:t>7.S. Deb, "Machine Learning for Solving Charging Infrastructure Planning: A Comprehensive Review," </a:t>
            </a:r>
            <a:r>
              <a:rPr lang="en-US" sz="1400" i="1" dirty="0">
                <a:solidFill>
                  <a:srgbClr val="333333"/>
                </a:solidFill>
                <a:latin typeface="Arial"/>
                <a:cs typeface="Arial"/>
              </a:rPr>
              <a:t>2021 5th International Conference on Smart Grid and Smart Cities (ICSGSC)</a:t>
            </a:r>
            <a:r>
              <a:rPr lang="en-US" sz="1400" dirty="0">
                <a:solidFill>
                  <a:srgbClr val="333333"/>
                </a:solidFill>
                <a:latin typeface="Arial"/>
                <a:cs typeface="Arial"/>
              </a:rPr>
              <a:t>, Tokyo, Japan, 2021, pp. 16-22, </a:t>
            </a:r>
            <a:r>
              <a:rPr lang="en-US" sz="1400" err="1">
                <a:solidFill>
                  <a:srgbClr val="333333"/>
                </a:solidFill>
                <a:latin typeface="Arial"/>
                <a:cs typeface="Arial"/>
              </a:rPr>
              <a:t>doi</a:t>
            </a:r>
            <a:r>
              <a:rPr lang="en-US" sz="1400" dirty="0">
                <a:solidFill>
                  <a:srgbClr val="333333"/>
                </a:solidFill>
                <a:latin typeface="Arial"/>
                <a:cs typeface="Arial"/>
              </a:rPr>
              <a:t>: 10.1109/ICSGSC52434.2021.9490407.</a:t>
            </a:r>
            <a:endParaRPr lang="en-US" sz="1400" dirty="0"/>
          </a:p>
          <a:p>
            <a:pPr algn="l"/>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0332-C44A-D851-FFE3-B08D7432EE4E}"/>
              </a:ext>
            </a:extLst>
          </p:cNvPr>
          <p:cNvSpPr>
            <a:spLocks noGrp="1"/>
          </p:cNvSpPr>
          <p:nvPr>
            <p:ph type="title"/>
          </p:nvPr>
        </p:nvSpPr>
        <p:spPr>
          <a:xfrm>
            <a:off x="390364" y="348090"/>
            <a:ext cx="10369550" cy="954107"/>
          </a:xfrm>
        </p:spPr>
        <p:txBody>
          <a:bodyPr wrap="square" lIns="0" tIns="0" rIns="0" bIns="0" anchor="t">
            <a:spAutoFit/>
          </a:bodyPr>
          <a:lstStyle/>
          <a:p>
            <a:pPr algn="l"/>
            <a:r>
              <a:rPr lang="en-US" sz="4400" dirty="0">
                <a:solidFill>
                  <a:srgbClr val="000000"/>
                </a:solidFill>
                <a:ea typeface="Calibri"/>
              </a:rPr>
              <a:t>References</a:t>
            </a:r>
            <a:r>
              <a:rPr lang="en-US" dirty="0">
                <a:ea typeface="Calibri"/>
              </a:rPr>
              <a:t>(*Strictly in IEEE format)</a:t>
            </a:r>
            <a:endParaRPr lang="en-US" b="0" dirty="0">
              <a:solidFill>
                <a:srgbClr val="000000"/>
              </a:solidFill>
              <a:ea typeface="Calibri"/>
            </a:endParaRPr>
          </a:p>
          <a:p>
            <a:endParaRPr lang="en-US" dirty="0">
              <a:ea typeface="Calibri"/>
            </a:endParaRPr>
          </a:p>
        </p:txBody>
      </p:sp>
      <p:sp>
        <p:nvSpPr>
          <p:cNvPr id="3" name="Text Placeholder 2">
            <a:extLst>
              <a:ext uri="{FF2B5EF4-FFF2-40B4-BE49-F238E27FC236}">
                <a16:creationId xmlns:a16="http://schemas.microsoft.com/office/drawing/2014/main" id="{2D69E5DB-5DDC-CE7F-4438-083B9E2E67B1}"/>
              </a:ext>
            </a:extLst>
          </p:cNvPr>
          <p:cNvSpPr>
            <a:spLocks noGrp="1"/>
          </p:cNvSpPr>
          <p:nvPr>
            <p:ph type="body" idx="1"/>
          </p:nvPr>
        </p:nvSpPr>
        <p:spPr>
          <a:xfrm>
            <a:off x="391969" y="1108855"/>
            <a:ext cx="11214735" cy="5447645"/>
          </a:xfrm>
          <a:solidFill>
            <a:schemeClr val="bg1"/>
          </a:solidFill>
        </p:spPr>
        <p:txBody>
          <a:bodyPr wrap="square" lIns="0" tIns="0" rIns="0" bIns="0" anchor="t">
            <a:spAutoFit/>
          </a:bodyPr>
          <a:lstStyle/>
          <a:p>
            <a:pPr algn="just"/>
            <a:r>
              <a:rPr lang="en-US" sz="1400" dirty="0">
                <a:solidFill>
                  <a:srgbClr val="333333"/>
                </a:solidFill>
                <a:latin typeface="Arial"/>
                <a:cs typeface="Arial"/>
              </a:rPr>
              <a:t>8.M. Straka, R. Carvalho, G. V. D. Poel and L. </a:t>
            </a:r>
            <a:r>
              <a:rPr lang="en-US" sz="1400" err="1">
                <a:solidFill>
                  <a:srgbClr val="333333"/>
                </a:solidFill>
                <a:latin typeface="Arial"/>
                <a:cs typeface="Arial"/>
              </a:rPr>
              <a:t>Buzna</a:t>
            </a:r>
            <a:r>
              <a:rPr lang="en-US" sz="1400" dirty="0">
                <a:solidFill>
                  <a:srgbClr val="333333"/>
                </a:solidFill>
                <a:latin typeface="Arial"/>
                <a:cs typeface="Arial"/>
              </a:rPr>
              <a:t>, "Analysis of Energy Consumption at Slow Charging Infrastructure for Electric Vehicles," in </a:t>
            </a:r>
            <a:r>
              <a:rPr lang="en-US" sz="1400" i="1" dirty="0">
                <a:solidFill>
                  <a:srgbClr val="333333"/>
                </a:solidFill>
                <a:latin typeface="Arial"/>
                <a:cs typeface="Arial"/>
              </a:rPr>
              <a:t>IEEE Access</a:t>
            </a:r>
            <a:r>
              <a:rPr lang="en-US" sz="1400" dirty="0">
                <a:solidFill>
                  <a:srgbClr val="333333"/>
                </a:solidFill>
                <a:latin typeface="Arial"/>
                <a:cs typeface="Arial"/>
              </a:rPr>
              <a:t>, vol. 9, pp. 53885-53901, 2021, </a:t>
            </a:r>
            <a:r>
              <a:rPr lang="en-US" sz="1400" err="1">
                <a:solidFill>
                  <a:srgbClr val="333333"/>
                </a:solidFill>
                <a:latin typeface="Arial"/>
                <a:cs typeface="Arial"/>
              </a:rPr>
              <a:t>doi</a:t>
            </a:r>
            <a:r>
              <a:rPr lang="en-US" sz="1400" dirty="0">
                <a:solidFill>
                  <a:srgbClr val="333333"/>
                </a:solidFill>
                <a:latin typeface="Arial"/>
                <a:cs typeface="Arial"/>
              </a:rPr>
              <a:t>: 10.1109/ACCESS.2021.3071180.</a:t>
            </a:r>
            <a:endParaRPr lang="en-US" sz="1400">
              <a:latin typeface="Arial"/>
              <a:cs typeface="Arial"/>
            </a:endParaRPr>
          </a:p>
          <a:p>
            <a:pPr algn="just"/>
            <a:endParaRPr lang="en-US" sz="1400" dirty="0">
              <a:solidFill>
                <a:srgbClr val="333333"/>
              </a:solidFill>
              <a:latin typeface="Arial"/>
              <a:cs typeface="Arial"/>
            </a:endParaRPr>
          </a:p>
          <a:p>
            <a:pPr algn="just"/>
            <a:r>
              <a:rPr lang="en-US" sz="1400" dirty="0">
                <a:solidFill>
                  <a:srgbClr val="333333"/>
                </a:solidFill>
                <a:latin typeface="Arial"/>
                <a:cs typeface="Arial"/>
              </a:rPr>
              <a:t>9.A. </a:t>
            </a:r>
            <a:r>
              <a:rPr lang="en-US" sz="1400" err="1">
                <a:solidFill>
                  <a:srgbClr val="333333"/>
                </a:solidFill>
                <a:latin typeface="Arial"/>
                <a:cs typeface="Arial"/>
              </a:rPr>
              <a:t>Shufian</a:t>
            </a:r>
            <a:r>
              <a:rPr lang="en-US" sz="1400" dirty="0">
                <a:solidFill>
                  <a:srgbClr val="333333"/>
                </a:solidFill>
                <a:latin typeface="Arial"/>
                <a:cs typeface="Arial"/>
              </a:rPr>
              <a:t>, N. Hannan, M. M. Hossain Emon, S. Kabir, S. A. Fattah and M. S. Hossain, "Automatic Fault Detection and Analysis Of Electric Vehicle Charging Station by Machine Learning," </a:t>
            </a:r>
            <a:r>
              <a:rPr lang="en-US" sz="1400" i="1" dirty="0">
                <a:solidFill>
                  <a:srgbClr val="333333"/>
                </a:solidFill>
                <a:latin typeface="Arial"/>
                <a:cs typeface="Arial"/>
              </a:rPr>
              <a:t>2024 IEEE Region 10 Symposium (TENSYMP)</a:t>
            </a:r>
            <a:r>
              <a:rPr lang="en-US" sz="1400" dirty="0">
                <a:solidFill>
                  <a:srgbClr val="333333"/>
                </a:solidFill>
                <a:latin typeface="Arial"/>
                <a:cs typeface="Arial"/>
              </a:rPr>
              <a:t>, New Delhi, India, 2024, pp. 1-6, </a:t>
            </a:r>
            <a:r>
              <a:rPr lang="en-US" sz="1400" err="1">
                <a:solidFill>
                  <a:srgbClr val="333333"/>
                </a:solidFill>
                <a:latin typeface="Arial"/>
                <a:cs typeface="Arial"/>
              </a:rPr>
              <a:t>doi</a:t>
            </a:r>
            <a:r>
              <a:rPr lang="en-US" sz="1400" dirty="0">
                <a:solidFill>
                  <a:srgbClr val="333333"/>
                </a:solidFill>
                <a:latin typeface="Arial"/>
                <a:cs typeface="Arial"/>
              </a:rPr>
              <a:t>: 10.1109/TENSYMP61132.2024.10752256.</a:t>
            </a:r>
            <a:endParaRPr lang="en-US" sz="1400">
              <a:latin typeface="Arial"/>
              <a:cs typeface="Arial"/>
            </a:endParaRPr>
          </a:p>
          <a:p>
            <a:pPr algn="just"/>
            <a:endParaRPr lang="en-US" sz="1400" dirty="0">
              <a:solidFill>
                <a:srgbClr val="333333"/>
              </a:solidFill>
              <a:latin typeface="Arial"/>
              <a:cs typeface="Arial"/>
            </a:endParaRPr>
          </a:p>
          <a:p>
            <a:pPr algn="just"/>
            <a:r>
              <a:rPr lang="en-US" sz="1400" dirty="0">
                <a:solidFill>
                  <a:srgbClr val="333333"/>
                </a:solidFill>
                <a:latin typeface="Arial"/>
                <a:cs typeface="Arial"/>
              </a:rPr>
              <a:t>10.R. Atallah </a:t>
            </a:r>
            <a:r>
              <a:rPr lang="en-US" sz="1400" i="1" dirty="0">
                <a:solidFill>
                  <a:srgbClr val="333333"/>
                </a:solidFill>
                <a:latin typeface="Arial"/>
                <a:cs typeface="Arial"/>
              </a:rPr>
              <a:t>et al</a:t>
            </a:r>
            <a:r>
              <a:rPr lang="en-US" sz="1400" dirty="0">
                <a:solidFill>
                  <a:srgbClr val="333333"/>
                </a:solidFill>
                <a:latin typeface="Arial"/>
                <a:cs typeface="Arial"/>
              </a:rPr>
              <a:t>., "Quality of Service Evaluation and Forecast for EV Charging Based on Real-World Data," </a:t>
            </a:r>
            <a:r>
              <a:rPr lang="en-US" sz="1400" i="1" dirty="0">
                <a:solidFill>
                  <a:srgbClr val="333333"/>
                </a:solidFill>
                <a:latin typeface="Arial"/>
                <a:cs typeface="Arial"/>
              </a:rPr>
              <a:t>2023 19th International Conference on Wireless and Mobile Computing, Networking and Communications (</a:t>
            </a:r>
            <a:r>
              <a:rPr lang="en-US" sz="1400" i="1" err="1">
                <a:solidFill>
                  <a:srgbClr val="333333"/>
                </a:solidFill>
                <a:latin typeface="Arial"/>
                <a:cs typeface="Arial"/>
              </a:rPr>
              <a:t>WiMob</a:t>
            </a:r>
            <a:r>
              <a:rPr lang="en-US" sz="1400" i="1" dirty="0">
                <a:solidFill>
                  <a:srgbClr val="333333"/>
                </a:solidFill>
                <a:latin typeface="Arial"/>
                <a:cs typeface="Arial"/>
              </a:rPr>
              <a:t>)</a:t>
            </a:r>
            <a:r>
              <a:rPr lang="en-US" sz="1400" dirty="0">
                <a:solidFill>
                  <a:srgbClr val="333333"/>
                </a:solidFill>
                <a:latin typeface="Arial"/>
                <a:cs typeface="Arial"/>
              </a:rPr>
              <a:t>, Montreal, QC, Canada, 2023, pp. 280-285, </a:t>
            </a:r>
            <a:r>
              <a:rPr lang="en-US" sz="1400" err="1">
                <a:solidFill>
                  <a:srgbClr val="333333"/>
                </a:solidFill>
                <a:latin typeface="Arial"/>
                <a:cs typeface="Arial"/>
              </a:rPr>
              <a:t>doi</a:t>
            </a:r>
            <a:r>
              <a:rPr lang="en-US" sz="1400" dirty="0">
                <a:solidFill>
                  <a:srgbClr val="333333"/>
                </a:solidFill>
                <a:latin typeface="Arial"/>
                <a:cs typeface="Arial"/>
              </a:rPr>
              <a:t>: 10.1109/WiMob58348.2023.10187855.</a:t>
            </a:r>
            <a:endParaRPr lang="en-US" sz="1400">
              <a:latin typeface="Arial"/>
              <a:cs typeface="Arial"/>
            </a:endParaRPr>
          </a:p>
          <a:p>
            <a:pPr algn="just"/>
            <a:endParaRPr lang="en-US" sz="1400" dirty="0">
              <a:solidFill>
                <a:srgbClr val="333333"/>
              </a:solidFill>
              <a:latin typeface="Arial"/>
              <a:cs typeface="Arial"/>
            </a:endParaRPr>
          </a:p>
          <a:p>
            <a:pPr algn="just"/>
            <a:r>
              <a:rPr lang="en-US" sz="1400" dirty="0">
                <a:solidFill>
                  <a:srgbClr val="333333"/>
                </a:solidFill>
                <a:latin typeface="Arial"/>
                <a:cs typeface="Arial"/>
              </a:rPr>
              <a:t>11.S. Shahriar, A. R. Al-Ali, A. H. Osman, S. </a:t>
            </a:r>
            <a:r>
              <a:rPr lang="en-US" sz="1400" err="1">
                <a:solidFill>
                  <a:srgbClr val="333333"/>
                </a:solidFill>
                <a:latin typeface="Arial"/>
                <a:cs typeface="Arial"/>
              </a:rPr>
              <a:t>Dhou</a:t>
            </a:r>
            <a:r>
              <a:rPr lang="en-US" sz="1400" dirty="0">
                <a:solidFill>
                  <a:srgbClr val="333333"/>
                </a:solidFill>
                <a:latin typeface="Arial"/>
                <a:cs typeface="Arial"/>
              </a:rPr>
              <a:t> and M. </a:t>
            </a:r>
            <a:r>
              <a:rPr lang="en-US" sz="1400" err="1">
                <a:solidFill>
                  <a:srgbClr val="333333"/>
                </a:solidFill>
                <a:latin typeface="Arial"/>
                <a:cs typeface="Arial"/>
              </a:rPr>
              <a:t>Nijim</a:t>
            </a:r>
            <a:r>
              <a:rPr lang="en-US" sz="1400" dirty="0">
                <a:solidFill>
                  <a:srgbClr val="333333"/>
                </a:solidFill>
                <a:latin typeface="Arial"/>
                <a:cs typeface="Arial"/>
              </a:rPr>
              <a:t>, "Machine Learning Approaches for EV Charging Behavior: A Review," in </a:t>
            </a:r>
            <a:r>
              <a:rPr lang="en-US" sz="1400" i="1" dirty="0">
                <a:solidFill>
                  <a:srgbClr val="333333"/>
                </a:solidFill>
                <a:latin typeface="Arial"/>
                <a:cs typeface="Arial"/>
              </a:rPr>
              <a:t>IEEE Access</a:t>
            </a:r>
            <a:r>
              <a:rPr lang="en-US" sz="1400" dirty="0">
                <a:solidFill>
                  <a:srgbClr val="333333"/>
                </a:solidFill>
                <a:latin typeface="Arial"/>
                <a:cs typeface="Arial"/>
              </a:rPr>
              <a:t>, vol. 8, pp. 168980-168993, 2020, </a:t>
            </a:r>
            <a:r>
              <a:rPr lang="en-US" sz="1400" err="1">
                <a:solidFill>
                  <a:srgbClr val="333333"/>
                </a:solidFill>
                <a:latin typeface="Arial"/>
                <a:cs typeface="Arial"/>
              </a:rPr>
              <a:t>doi</a:t>
            </a:r>
            <a:r>
              <a:rPr lang="en-US" sz="1400" dirty="0">
                <a:solidFill>
                  <a:srgbClr val="333333"/>
                </a:solidFill>
                <a:latin typeface="Arial"/>
                <a:cs typeface="Arial"/>
              </a:rPr>
              <a:t>: 10.1109/ACCESS.2020.3023388.</a:t>
            </a:r>
            <a:endParaRPr lang="en-US" sz="1400">
              <a:latin typeface="Arial"/>
              <a:cs typeface="Arial"/>
            </a:endParaRPr>
          </a:p>
          <a:p>
            <a:pPr algn="just"/>
            <a:endParaRPr lang="en-US" sz="1400" dirty="0">
              <a:solidFill>
                <a:srgbClr val="333333"/>
              </a:solidFill>
              <a:latin typeface="Arial"/>
              <a:cs typeface="Arial"/>
            </a:endParaRPr>
          </a:p>
          <a:p>
            <a:pPr algn="just"/>
            <a:r>
              <a:rPr lang="en-US" sz="1400" dirty="0">
                <a:solidFill>
                  <a:srgbClr val="333333"/>
                </a:solidFill>
                <a:latin typeface="Arial"/>
                <a:cs typeface="Arial"/>
              </a:rPr>
              <a:t>12.M. Shukla, D. K. Singh, A. Yadav, A. K. Singh, N. A. </a:t>
            </a:r>
            <a:r>
              <a:rPr lang="en-US" sz="1400" err="1">
                <a:solidFill>
                  <a:srgbClr val="333333"/>
                </a:solidFill>
                <a:latin typeface="Arial"/>
                <a:cs typeface="Arial"/>
              </a:rPr>
              <a:t>Jumaa</a:t>
            </a:r>
            <a:r>
              <a:rPr lang="en-US" sz="1400" dirty="0">
                <a:solidFill>
                  <a:srgbClr val="333333"/>
                </a:solidFill>
                <a:latin typeface="Arial"/>
                <a:cs typeface="Arial"/>
              </a:rPr>
              <a:t> and A. Mohammed, "Optimizing Electric Vehicle Charging Station Placement in Urban Areas: A Data-Driven Approach," </a:t>
            </a:r>
            <a:r>
              <a:rPr lang="en-US" sz="1400" i="1" dirty="0">
                <a:solidFill>
                  <a:srgbClr val="333333"/>
                </a:solidFill>
                <a:latin typeface="Arial"/>
                <a:cs typeface="Arial"/>
              </a:rPr>
              <a:t>2023 3rd International Conference on Advance Computing and Innovative Technologies in Engineering (ICACITE)</a:t>
            </a:r>
            <a:r>
              <a:rPr lang="en-US" sz="1400" dirty="0">
                <a:solidFill>
                  <a:srgbClr val="333333"/>
                </a:solidFill>
                <a:latin typeface="Arial"/>
                <a:cs typeface="Arial"/>
              </a:rPr>
              <a:t>, Greater Noida, India, 2023, pp. 2835-2838, </a:t>
            </a:r>
            <a:r>
              <a:rPr lang="en-US" sz="1400" err="1">
                <a:solidFill>
                  <a:srgbClr val="333333"/>
                </a:solidFill>
                <a:latin typeface="Arial"/>
                <a:cs typeface="Arial"/>
              </a:rPr>
              <a:t>doi</a:t>
            </a:r>
            <a:r>
              <a:rPr lang="en-US" sz="1400" dirty="0">
                <a:solidFill>
                  <a:srgbClr val="333333"/>
                </a:solidFill>
                <a:latin typeface="Arial"/>
                <a:cs typeface="Arial"/>
              </a:rPr>
              <a:t>: 10.1109/ICACITE57410.2023.10183075.</a:t>
            </a:r>
            <a:endParaRPr lang="en-US" sz="1400">
              <a:latin typeface="Arial"/>
              <a:cs typeface="Arial"/>
            </a:endParaRPr>
          </a:p>
          <a:p>
            <a:pPr algn="just"/>
            <a:endParaRPr lang="en-US" sz="1400" dirty="0">
              <a:solidFill>
                <a:srgbClr val="333333"/>
              </a:solidFill>
              <a:latin typeface="Arial"/>
              <a:cs typeface="Arial"/>
            </a:endParaRPr>
          </a:p>
          <a:p>
            <a:pPr algn="l"/>
            <a:r>
              <a:rPr lang="en-US" sz="1400" dirty="0">
                <a:solidFill>
                  <a:srgbClr val="333333"/>
                </a:solidFill>
                <a:latin typeface="Arial"/>
                <a:cs typeface="Arial"/>
              </a:rPr>
              <a:t>13.A. Palaniappan, P. Bhukya, S. K. Chitti and J. Gao, "Data-Driven Analysis of EV Energy Prediction and Planning of EV Charging Infrastructure," </a:t>
            </a:r>
            <a:r>
              <a:rPr lang="en-US" sz="1400" i="1" dirty="0">
                <a:solidFill>
                  <a:srgbClr val="333333"/>
                </a:solidFill>
                <a:latin typeface="Arial"/>
                <a:cs typeface="Arial"/>
              </a:rPr>
              <a:t>2023 IEEE Ninth International Conference on Big Data Computing Service and Applications (</a:t>
            </a:r>
            <a:r>
              <a:rPr lang="en-US" sz="1400" i="1" err="1">
                <a:solidFill>
                  <a:srgbClr val="333333"/>
                </a:solidFill>
                <a:latin typeface="Arial"/>
                <a:cs typeface="Arial"/>
              </a:rPr>
              <a:t>BigDataService</a:t>
            </a:r>
            <a:r>
              <a:rPr lang="en-US" sz="1400" i="1" dirty="0">
                <a:solidFill>
                  <a:srgbClr val="333333"/>
                </a:solidFill>
                <a:latin typeface="Arial"/>
                <a:cs typeface="Arial"/>
              </a:rPr>
              <a:t>)</a:t>
            </a:r>
            <a:r>
              <a:rPr lang="en-US" sz="1400" dirty="0">
                <a:solidFill>
                  <a:srgbClr val="333333"/>
                </a:solidFill>
                <a:latin typeface="Arial"/>
                <a:cs typeface="Arial"/>
              </a:rPr>
              <a:t>, Athens, Greece, 2023, pp. 17-24, </a:t>
            </a:r>
            <a:r>
              <a:rPr lang="en-US" sz="1400" err="1">
                <a:solidFill>
                  <a:srgbClr val="333333"/>
                </a:solidFill>
                <a:latin typeface="Arial"/>
                <a:cs typeface="Arial"/>
              </a:rPr>
              <a:t>doi</a:t>
            </a:r>
            <a:r>
              <a:rPr lang="en-US" sz="1400" dirty="0">
                <a:solidFill>
                  <a:srgbClr val="333333"/>
                </a:solidFill>
                <a:latin typeface="Arial"/>
                <a:cs typeface="Arial"/>
              </a:rPr>
              <a:t>: 10.1109/BigDataService58306.2023.00009</a:t>
            </a:r>
            <a:endParaRPr lang="en-US" sz="1400" dirty="0">
              <a:latin typeface="Arial"/>
              <a:cs typeface="Arial"/>
            </a:endParaRPr>
          </a:p>
          <a:p>
            <a:pPr algn="l"/>
            <a:endParaRPr lang="en-US" sz="1400" dirty="0">
              <a:solidFill>
                <a:srgbClr val="333333"/>
              </a:solidFill>
              <a:latin typeface="Arial"/>
              <a:ea typeface="+mn-lt"/>
              <a:cs typeface="Arial"/>
            </a:endParaRPr>
          </a:p>
          <a:p>
            <a:pPr algn="l"/>
            <a:r>
              <a:rPr lang="en-US" sz="1400" dirty="0">
                <a:solidFill>
                  <a:srgbClr val="333333"/>
                </a:solidFill>
                <a:ea typeface="+mn-lt"/>
                <a:cs typeface="+mn-lt"/>
              </a:rPr>
              <a:t>14.A. </a:t>
            </a:r>
            <a:r>
              <a:rPr lang="en-US" sz="1400" dirty="0" err="1">
                <a:solidFill>
                  <a:srgbClr val="333333"/>
                </a:solidFill>
                <a:ea typeface="+mn-lt"/>
                <a:cs typeface="+mn-lt"/>
              </a:rPr>
              <a:t>Almaghrebi</a:t>
            </a:r>
            <a:r>
              <a:rPr lang="en-US" sz="1400" dirty="0">
                <a:solidFill>
                  <a:srgbClr val="333333"/>
                </a:solidFill>
                <a:ea typeface="+mn-lt"/>
                <a:cs typeface="+mn-lt"/>
              </a:rPr>
              <a:t>, F. A. </a:t>
            </a:r>
            <a:r>
              <a:rPr lang="en-US" sz="1400" dirty="0" err="1">
                <a:solidFill>
                  <a:srgbClr val="333333"/>
                </a:solidFill>
                <a:ea typeface="+mn-lt"/>
                <a:cs typeface="+mn-lt"/>
              </a:rPr>
              <a:t>Juheshi</a:t>
            </a:r>
            <a:r>
              <a:rPr lang="en-US" sz="1400" dirty="0">
                <a:solidFill>
                  <a:srgbClr val="333333"/>
                </a:solidFill>
                <a:ea typeface="+mn-lt"/>
                <a:cs typeface="+mn-lt"/>
              </a:rPr>
              <a:t>, J. </a:t>
            </a:r>
            <a:r>
              <a:rPr lang="en-US" sz="1400" dirty="0" err="1">
                <a:solidFill>
                  <a:srgbClr val="333333"/>
                </a:solidFill>
                <a:ea typeface="+mn-lt"/>
                <a:cs typeface="+mn-lt"/>
              </a:rPr>
              <a:t>Nekl</a:t>
            </a:r>
            <a:r>
              <a:rPr lang="en-US" sz="1400" dirty="0">
                <a:solidFill>
                  <a:srgbClr val="333333"/>
                </a:solidFill>
                <a:ea typeface="+mn-lt"/>
                <a:cs typeface="+mn-lt"/>
              </a:rPr>
              <a:t>, K. James and M. Alahmad, "Analysis of Energy Consumption at Public Charging Stations, a Nebraska Case Study," </a:t>
            </a:r>
            <a:r>
              <a:rPr lang="en-US" sz="1400" i="1" dirty="0">
                <a:solidFill>
                  <a:srgbClr val="333333"/>
                </a:solidFill>
                <a:ea typeface="+mn-lt"/>
                <a:cs typeface="+mn-lt"/>
              </a:rPr>
              <a:t>2020 IEEE Transportation Electrification Conference &amp; Expo (ITEC)</a:t>
            </a:r>
            <a:r>
              <a:rPr lang="en-US" sz="1400" dirty="0">
                <a:solidFill>
                  <a:srgbClr val="333333"/>
                </a:solidFill>
                <a:ea typeface="+mn-lt"/>
                <a:cs typeface="+mn-lt"/>
              </a:rPr>
              <a:t>, Chicago, IL, USA, 2020, pp. 1-6, </a:t>
            </a:r>
            <a:r>
              <a:rPr lang="en-US" sz="1400" dirty="0" err="1">
                <a:solidFill>
                  <a:srgbClr val="333333"/>
                </a:solidFill>
                <a:ea typeface="+mn-lt"/>
                <a:cs typeface="+mn-lt"/>
              </a:rPr>
              <a:t>doi</a:t>
            </a:r>
            <a:r>
              <a:rPr lang="en-US" sz="1400" dirty="0">
                <a:solidFill>
                  <a:srgbClr val="333333"/>
                </a:solidFill>
                <a:ea typeface="+mn-lt"/>
                <a:cs typeface="+mn-lt"/>
              </a:rPr>
              <a:t>: 10.1109/ITEC48692.2020.9161456.</a:t>
            </a:r>
            <a:endParaRPr lang="en-US" sz="1400" dirty="0"/>
          </a:p>
          <a:p>
            <a:endParaRPr lang="en-US" dirty="0">
              <a:ea typeface="Calibri"/>
              <a:cs typeface="Calibri"/>
            </a:endParaRPr>
          </a:p>
        </p:txBody>
      </p:sp>
    </p:spTree>
    <p:extLst>
      <p:ext uri="{BB962C8B-B14F-4D97-AF65-F5344CB8AC3E}">
        <p14:creationId xmlns:p14="http://schemas.microsoft.com/office/powerpoint/2010/main" val="3030491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44546A"/>
          </a:solidFill>
        </p:spPr>
        <p:txBody>
          <a:bodyPr wrap="square" lIns="0" tIns="0" rIns="0" bIns="0" rtlCol="0"/>
          <a:lstStyle/>
          <a:p>
            <a:endParaRPr/>
          </a:p>
        </p:txBody>
      </p:sp>
      <p:grpSp>
        <p:nvGrpSpPr>
          <p:cNvPr id="3" name="object 3"/>
          <p:cNvGrpSpPr/>
          <p:nvPr/>
        </p:nvGrpSpPr>
        <p:grpSpPr>
          <a:xfrm>
            <a:off x="0" y="14860"/>
            <a:ext cx="12192000" cy="6843395"/>
            <a:chOff x="0" y="14860"/>
            <a:chExt cx="12192000" cy="6843395"/>
          </a:xfrm>
        </p:grpSpPr>
        <p:sp>
          <p:nvSpPr>
            <p:cNvPr id="4" name="object 4"/>
            <p:cNvSpPr/>
            <p:nvPr/>
          </p:nvSpPr>
          <p:spPr>
            <a:xfrm>
              <a:off x="4776799" y="2067600"/>
              <a:ext cx="7415530" cy="4790440"/>
            </a:xfrm>
            <a:custGeom>
              <a:avLst/>
              <a:gdLst/>
              <a:ahLst/>
              <a:cxnLst/>
              <a:rect l="l" t="t" r="r" b="b"/>
              <a:pathLst>
                <a:path w="7415530" h="4790440">
                  <a:moveTo>
                    <a:pt x="7415199" y="4790399"/>
                  </a:moveTo>
                  <a:lnTo>
                    <a:pt x="0" y="4790399"/>
                  </a:lnTo>
                  <a:lnTo>
                    <a:pt x="7415199" y="0"/>
                  </a:lnTo>
                  <a:lnTo>
                    <a:pt x="7415199" y="4790399"/>
                  </a:lnTo>
                  <a:close/>
                </a:path>
              </a:pathLst>
            </a:custGeom>
            <a:solidFill>
              <a:srgbClr val="E7E6E6"/>
            </a:solidFill>
          </p:spPr>
          <p:txBody>
            <a:bodyPr wrap="square" lIns="0" tIns="0" rIns="0" bIns="0" rtlCol="0"/>
            <a:lstStyle/>
            <a:p>
              <a:endParaRPr/>
            </a:p>
          </p:txBody>
        </p:sp>
        <p:sp>
          <p:nvSpPr>
            <p:cNvPr id="5" name="object 5"/>
            <p:cNvSpPr/>
            <p:nvPr/>
          </p:nvSpPr>
          <p:spPr>
            <a:xfrm>
              <a:off x="40" y="3766000"/>
              <a:ext cx="9827260" cy="3092450"/>
            </a:xfrm>
            <a:custGeom>
              <a:avLst/>
              <a:gdLst/>
              <a:ahLst/>
              <a:cxnLst/>
              <a:rect l="l" t="t" r="r" b="b"/>
              <a:pathLst>
                <a:path w="9827260" h="3092450">
                  <a:moveTo>
                    <a:pt x="9827199" y="3091999"/>
                  </a:moveTo>
                  <a:lnTo>
                    <a:pt x="0" y="3091999"/>
                  </a:lnTo>
                  <a:lnTo>
                    <a:pt x="0" y="0"/>
                  </a:lnTo>
                  <a:lnTo>
                    <a:pt x="9827199" y="3091999"/>
                  </a:lnTo>
                  <a:close/>
                </a:path>
              </a:pathLst>
            </a:custGeom>
            <a:solidFill>
              <a:srgbClr val="A5A5A5"/>
            </a:solidFill>
          </p:spPr>
          <p:txBody>
            <a:bodyPr wrap="square" lIns="0" tIns="0" rIns="0" bIns="0" rtlCol="0"/>
            <a:lstStyle/>
            <a:p>
              <a:endParaRPr/>
            </a:p>
          </p:txBody>
        </p:sp>
        <p:pic>
          <p:nvPicPr>
            <p:cNvPr id="6" name="object 6"/>
            <p:cNvPicPr/>
            <p:nvPr/>
          </p:nvPicPr>
          <p:blipFill>
            <a:blip r:embed="rId2" cstate="print"/>
            <a:stretch>
              <a:fillRect/>
            </a:stretch>
          </p:blipFill>
          <p:spPr>
            <a:xfrm>
              <a:off x="0" y="14860"/>
              <a:ext cx="12192000" cy="6828280"/>
            </a:xfrm>
            <a:prstGeom prst="rect">
              <a:avLst/>
            </a:prstGeom>
          </p:spPr>
        </p:pic>
        <p:sp>
          <p:nvSpPr>
            <p:cNvPr id="7" name="object 7"/>
            <p:cNvSpPr/>
            <p:nvPr/>
          </p:nvSpPr>
          <p:spPr>
            <a:xfrm>
              <a:off x="270966" y="275000"/>
              <a:ext cx="11650345" cy="6308090"/>
            </a:xfrm>
            <a:custGeom>
              <a:avLst/>
              <a:gdLst/>
              <a:ahLst/>
              <a:cxnLst/>
              <a:rect l="l" t="t" r="r" b="b"/>
              <a:pathLst>
                <a:path w="11650345" h="6308090">
                  <a:moveTo>
                    <a:pt x="11650000" y="6307999"/>
                  </a:moveTo>
                  <a:lnTo>
                    <a:pt x="0" y="6307999"/>
                  </a:lnTo>
                  <a:lnTo>
                    <a:pt x="0" y="0"/>
                  </a:lnTo>
                  <a:lnTo>
                    <a:pt x="11650000" y="0"/>
                  </a:lnTo>
                  <a:lnTo>
                    <a:pt x="11650000" y="6307999"/>
                  </a:lnTo>
                  <a:close/>
                </a:path>
              </a:pathLst>
            </a:custGeom>
            <a:solidFill>
              <a:srgbClr val="000000"/>
            </a:solidFill>
          </p:spPr>
          <p:txBody>
            <a:bodyPr wrap="square" lIns="0" tIns="0" rIns="0" bIns="0" rtlCol="0"/>
            <a:lstStyle/>
            <a:p>
              <a:endParaRPr/>
            </a:p>
          </p:txBody>
        </p:sp>
        <p:pic>
          <p:nvPicPr>
            <p:cNvPr id="8" name="object 8"/>
            <p:cNvPicPr/>
            <p:nvPr/>
          </p:nvPicPr>
          <p:blipFill>
            <a:blip r:embed="rId3" cstate="print"/>
            <a:stretch>
              <a:fillRect/>
            </a:stretch>
          </p:blipFill>
          <p:spPr>
            <a:xfrm>
              <a:off x="0" y="81995"/>
              <a:ext cx="12191999" cy="6694010"/>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